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备注（讲稿）：项目名称——7. 基于智能体的轨道交通装备性能数字样机关键技术研究；本课题——7.3 轨道交通装备性能验证的多智能体协同运行与调度引擎技术研究。总预算 100 万元，当年（2027 年）预算 50 万元；直接投入 50 万元为 GPU+NPU 异构算力服务器 40 万、仿真与调度一体化工作站 10 万，人员 30 万，折旧、外协、成果、其他各 5 万。</a:t>
            </a:r>
          </a:p>
          <a:p>
            <a:r>
              <a:t>边界细节——7.1 采用其数据规范与接口，不承担建库（7.1 建库、7.3 按需生成）；7.2 仅自建控制系统、车辆动力学与线路等验证必需的智能体，不覆盖弓网/牵引/制动等全部关键系统；7.3 核心攻关引擎，数字样机是引擎承载智能体后的集成产物；7.4 承接智能体集成与协同运行；7.5 为优化提供验证支撑；6.2 通用智能体调度平台是通用编排，本课题强调实时协同与多物理域时序。</a:t>
            </a:r>
          </a:p>
          <a:p>
            <a:r>
              <a:t>数字样机由关键系统仿真智能体／智能孪生模型经调度引擎集成而成：智能体可单独核验、复用，数字样机作为整车级验证系统交付。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备注（讲稿）：验证现状——控制软件每次迭代，HIL 台架＋经验数据模拟运用工况，重点工况再到现场验证；一次投入 40 人（研发 20 ＋ 测试 10 ＋ 现场 10），周期约 2 个月。</a:t>
            </a:r>
          </a:p>
          <a:p>
            <a:r>
              <a:t>冻结案例：控制、冷却、动力、线路四个系统耦合，且是回手柄后持续一段时间才出现的长时序过程，HIL 只有控制器在环、其他系统靠经验数据近似，因此复现不出来。</a:t>
            </a:r>
          </a:p>
          <a:p>
            <a:r>
              <a:t>技术表述——研制多智能体协同运行与调度引擎，以 FXN5C 为对象建成列车级数字样机，实现列车关键性能的快速、可复现、全覆盖验证。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备注（讲稿）：用起来的样子——输入一句话需求，引擎自动生成工况、装配智能体、分配精度与算力、协同求解、对标判据，输出验证报告与异常定位，全程可回放，工程师只看异常项（完整流程见第 12 页典型应用场景）。</a:t>
            </a:r>
          </a:p>
          <a:p>
            <a:r>
              <a:t>对领域发展的推动作用——性能验证成为研发体系中可持续使用的基础能力；输出的构建方法体系与技术规范，主机企业可按同一流程构建自己的数字样机；新增系统按标准接口接入智能体即可，引擎不需重构。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《“***”铁路科技创新规划》（****〔****〕**号）将数字孪生列为智能铁路关键技术，要求开展数字孪生平台研发应用，“到****年智能铁路技术全面突破”；用户端年软件支出达数百万元且年均涨价约 5%；指南已将“研发设计软件受制于人”“设计仿真数据割裂”列为待解决事项。数字孪生与智能体技术正从概念验证走向工程落地，等国外工具链先做成，验证环节将重演工业软件受制于人的路径。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备注（讲稿）：闭环——判据与流程 → 分解与调度 → 协同执行与判读 → 报告 → 数据回归、更新判据；全程留痕，可回放、可回归。各阶段检验见第 14 页。</a:t>
            </a:r>
          </a:p>
          <a:p>
            <a:r>
              <a:t>与课题要求的对应——高效实时协同运行 → ③④；调度引擎 → ②；列车级数字样机及构建方法体系 → ④；支持关键性能验证与智能运维 → ④。对接项目7总体目标——模型自动标定 → ③；指标实时推演 → ④；性能自动评估 → 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知识库与工作流是②“任务理解与编排调度”的知识与规则来源；判据首批覆盖速度跟踪、牵引能耗、运行平稳性。没有判据知识库，任务理解只能靠通用大模型“猜”；没有工作流，编排调度无章可循。判据条目示例：验证对象——牵引控制系统；关键性能——速度跟踪偏差；适用工况——长大下坡、湿轨；判定规则——|实测 − 目标| ≤ 允许偏差；来源——设计规范条款。</a:t>
            </a:r>
          </a:p>
          <a:p>
            <a:r>
              <a:t>说明：“工程场景”可替换为本单位的实际案例；“示意图”为临时附图（形状组合，可直接编辑），如有实际图片，选中该组合删除后插入即可。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备注（讲稿）：上下游——向下承接①的知识与规则，向③下发执行方案（智能体组合、工况、算力）。目标解析时匹配知识库中的判据条目；保真度调度中关键与极端工况强制全保真（极端工况不能外推），GPU 跑多物理域并行仿真，NPU 做推理与编排决策。算力为本课题配置的 GPU＋NPU 异构服务器 1 台、一体化工作站 2 台。</a:t>
            </a:r>
          </a:p>
          <a:p>
            <a:r>
              <a:t>说明：“工程场景”可替换为本单位的实际案例；“示意图”为临时附图（形状组合，可直接编辑），如有实际图片，选中该组合删除后插入即可。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备注（讲稿）：对接项目7总体目标——模型自动标定 → 仿真智能体；性能自动评估 → 测试识别。标定数据来自型式试验、线路试验与运用记录；用例生成的线路数据包括平纵断面、曲线、超高、坡度、不平顺谱。测试识别同时输出结果可信性判断，解决极端工况实测数据少、结论难以自证的问题。数据回归：结果回流，迭代模型标定、判据与工况集；设计修改后，低温工况全量回归重跑。</a:t>
            </a:r>
          </a:p>
          <a:p>
            <a:r>
              <a:t>示意图：数据据 2024 年 12 月临哈线现场记录，曲线为示意；防冻限值线仅示意位置，请按设计规范取值；如有现场记录曲线，选中附图组合删除后替换即可。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备注（讲稿）：对接项目7总体目标——指标实时推演 → 协同运行。总体架构定义四层的接口、数据流与控制流，已有模型与 HIL 台架经标准接口接入，不重复建设；可复现沙箱——隔离（单路发散不扩散）、记录（参数、模型版本、随机种子）、回放（任意一次验证可复现）；数字样机以 FXN5C 为示范对象，支持性能验证与智能运维。</a:t>
            </a:r>
          </a:p>
          <a:p>
            <a:r>
              <a:t>说明：“工程场景”可替换为本单位的实际案例；“示意图”为临时附图（形状组合，可直接编辑），如有实际图片，选中该组合删除后插入即可。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备注（讲稿）：这一次验证里，工况没人手写、线路数据没人准备、环境没人搭、异常没人看图判断。判据取自知识库；工况组合为临哈线线路数据 × 轨面（干／湿）× 载荷（满／空）× 线路条件（长大坡道／小半径曲线／隧道）；执行中自动标定。追溯原因示例：黏着利用不足？控制参数不匹配？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备注（讲稿）：不做仿真软件、不做接口标准、不做试验台。其他现有手段——线路试验：结果权威，但周期长、不可复现；降阶模型：提速，但极端工况不能外推。</a:t>
            </a:r>
          </a:p>
          <a:p>
            <a:r>
              <a:t>与同类工作的差异——现有工作多聚焦单一系统仿真或通用智能体平台，本课题把协同运行与调度做成可交付的引擎和可复用的方法体系。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备注（讲稿）：阶段起止与里程碑——阶段一 2027.01—06（M1 架构与接口规范）；阶段二 2027.07—2028.03（M2 智能体与引擎）；阶段三 2028.04—09（M3 数字样机与验证）；阶段四 2028.10—12（M4 示范应用与验收）。</a:t>
            </a:r>
          </a:p>
          <a:p>
            <a:r>
              <a:t>阶段交付——一：总体架构、判据知识化方法、接口规范；二：关键系统仿真智能体／智能孪生模型、调度引擎原理样机；三：列车级数字样机、典型工况协同验证结果；四：示范应用与效能评估、方法体系与技术规范、标准草案。前一阶段交付物即后一阶段输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备注（讲稿）：知识产权方向——发明专利：任务编排调度、保真度与算力调度、实时时序同步、工况自生成；论文：多智能体协同仿真与性能验证方法；标准草案：列车级数字样机构建、智能体接口。</a:t>
            </a:r>
          </a:p>
          <a:p>
            <a:r>
              <a:t>子任务分工——子任务1 知识库与工作流（目标 1、3）；子任务2 调度引擎（目标 1）；子任务3 智能体执行（目标 2）；子任务4 集成与示范（目标 2、3、4）。各子任务交付物逐级成为下一任务输入，验证数据回流更新判据与工作流。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备注（讲稿）：目标值由课题组提供（【待填】）。效益评估依据——成果交付 ＋ 示范验证 ＋ 与现状对比；技术效益的成果形式见第 15 页：发明专利 4 项、核心论文 2 篇、企业标准草案 2 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算力满足实时协同与保真度切换；人员属智力密集型研究。折旧——利用现有仿真与测试设备，避免重复购置；外协——数据采集与第三方验证；成果——专利、论文与标准草案；其他——示范应用差旅与会议。人员人工费用测算依据中【待填】为占位，请按“投入人月 × 人月费用标准”填写，合计应为 30 万元。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各组主要任务——子任务1组：判据知识化、工作流建模；子任务2组：任务解析、环境装配、保真度与算力调度；子任务3组：智能体研制、用例生成、识别与报告；子任务4组：架构、沙箱、样机集成、FXN5C 示范。</a:t>
            </a:r>
          </a:p>
          <a:p>
            <a:r>
              <a:t>管理节奏——双周例会：子任务进展同步与问题协调；月度：对照里程碑核查交付物；季度：技术方案与阶段成果评审；年度：目标评估与计划调整。</a:t>
            </a:r>
          </a:p>
          <a:p>
            <a:r>
              <a:t>时间安排——M1 架构与接口规范（2027.06）；M2 智能体与引擎（2028.03）；M3 数字样机与验证（2028.09）；M4 示范应用与验收（2028.12）。接口与进度风险——接口规范在阶段一先行交付，里程碑绑定考核。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备注（讲稿）：本页需填入单位实际基础，它是“为什么由我们承担”的直接依据。虚线框内【待填】为占位内容，请替换为牵头单位实际情况。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备注（讲稿）：成果 1 支持异构仿真智能体统一接入；成果 2 标准接口可扩展；成果 3 由成果 2 经成果 1 集成，预留制动、辅助系统接口，支撑智能运维。</a:t>
            </a:r>
          </a:p>
          <a:p>
            <a:r>
              <a:t>成果 1—3 中的虚线框为附图预留位置（形状组合）；选中该组合删除后插入实际图片即可。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0"/>
            <a:ext cx="1463040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00" y="838200"/>
            <a:ext cx="50800" cy="190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8800" y="812800"/>
            <a:ext cx="88900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250" b="1" spc="15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****“***”科技重大专项课题申报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400" y="1244600"/>
            <a:ext cx="11379200" cy="146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5500"/>
              </a:lnSpc>
              <a:buNone/>
            </a:pPr>
            <a:r>
              <a:rPr lang="zh-CN" altLang="en-US" sz="3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7.3</a:t>
            </a:r>
            <a:r>
              <a:rPr lang="zh-CN" altLang="en-US" sz="3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轨道交通装备性能验证的</a:t>
            </a:r>
          </a:p>
          <a:p>
            <a:pPr algn="l" marL="0" indent="0">
              <a:lnSpc>
                <a:spcPts val="5500"/>
              </a:lnSpc>
              <a:buNone/>
            </a:pPr>
            <a:r>
              <a:rPr lang="zh-CN" altLang="en-US" sz="3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多智能体协同运行与调度引擎技术研究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2832100"/>
            <a:ext cx="571500" cy="381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3009900"/>
            <a:ext cx="113792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所属项目：7. 基于智能体的轨道交通装备性能数字样机关键技术研究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400" y="3352800"/>
            <a:ext cx="1137920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500"/>
              </a:lnSpc>
              <a:buNone/>
            </a:pPr>
            <a:r>
              <a:rPr lang="zh-CN" altLang="en-US" sz="17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让现场才暴露的问题，在研发阶段先跑出来。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4013200"/>
            <a:ext cx="1905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牵头单位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4254500"/>
            <a:ext cx="1905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01900" y="4038600"/>
            <a:ext cx="12700" cy="5588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2400" y="4013200"/>
            <a:ext cx="1524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2400" y="4254500"/>
            <a:ext cx="1524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16400" y="4038600"/>
            <a:ext cx="12700" cy="5588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6900" y="4013200"/>
            <a:ext cx="1397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申报层级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6900" y="4254500"/>
            <a:ext cx="1397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课题级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3900" y="4038600"/>
            <a:ext cx="12700" cy="5588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94400" y="4013200"/>
            <a:ext cx="31115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研究周期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4400" y="4254500"/>
            <a:ext cx="31115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2027年1月—2028年12月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400" y="5994400"/>
            <a:ext cx="11379200" cy="190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6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5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44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524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03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082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362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41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921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79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59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38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18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97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76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56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35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715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94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3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53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832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12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91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70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950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29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509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788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067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47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626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906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185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464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744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023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303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582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2" name="Picture 61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0" y="5320386"/>
            <a:ext cx="2717800" cy="679450"/>
          </a:xfrm>
          <a:prstGeom prst="rect">
            <a:avLst/>
          </a:prstGeom>
        </p:spPr>
      </p:pic>
      <p:pic>
        <p:nvPicPr>
          <p:cNvPr id="63" name="Picture 62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5320386"/>
            <a:ext cx="2717800" cy="679450"/>
          </a:xfrm>
          <a:prstGeom prst="rect">
            <a:avLst/>
          </a:prstGeom>
        </p:spPr>
      </p:pic>
      <p:pic>
        <p:nvPicPr>
          <p:cNvPr id="64" name="Picture 63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3200" y="5320386"/>
            <a:ext cx="2717800" cy="679450"/>
          </a:xfrm>
          <a:prstGeom prst="rect">
            <a:avLst/>
          </a:prstGeom>
        </p:spPr>
      </p:pic>
      <p:sp>
        <p:nvSpPr>
          <p:cNvPr id="65" name="Rectangle 64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研究周期 2027.01—2028.12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汇报提纲：七个部分，核心是研究内容、技术路线与方法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七个部分 · 第三部分为核心章节（第 7—14 页）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汇报提纲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02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1409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10" name="Oval 9"/>
          <p:cNvSpPr/>
          <p:nvPr/>
        </p:nvSpPr>
        <p:spPr>
          <a:xfrm>
            <a:off x="1320800" y="15557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file-description-666666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50" y="1651000"/>
            <a:ext cx="215900" cy="215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905000" y="1511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5000" y="1790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基本信息 · 子课题与成果物 · 预计经费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0" y="1778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3 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05000" y="2108200"/>
            <a:ext cx="9880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584200" y="2108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17" name="Oval 16"/>
          <p:cNvSpPr/>
          <p:nvPr/>
        </p:nvSpPr>
        <p:spPr>
          <a:xfrm>
            <a:off x="1320800" y="22542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8" name="Picture 17" descr="bulb-666666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6050" y="2349500"/>
            <a:ext cx="215900" cy="215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5000" y="2209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5000" y="2489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背景与目的 · 应用价值与效益 · 为什么是现在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0000" y="2476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4—6 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" y="2832100"/>
            <a:ext cx="11379200" cy="6477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400" y="2832100"/>
            <a:ext cx="19050" cy="6477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4200" y="2806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25" name="Oval 24"/>
          <p:cNvSpPr/>
          <p:nvPr/>
        </p:nvSpPr>
        <p:spPr>
          <a:xfrm>
            <a:off x="1320800" y="2952750"/>
            <a:ext cx="406400" cy="406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6" name="Picture 25" descr="route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6050" y="3048000"/>
            <a:ext cx="215900" cy="2159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905000" y="2908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主要研究内容、技术路线与方法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5000" y="3187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总体路线 · 研究内容①—④ · 典型场景 · 创新点 · 阶段与检验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86300" y="2946400"/>
            <a:ext cx="635000" cy="2032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核心章节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60000" y="3175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第 7—14 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505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32" name="Oval 31"/>
          <p:cNvSpPr/>
          <p:nvPr/>
        </p:nvSpPr>
        <p:spPr>
          <a:xfrm>
            <a:off x="1320800" y="36512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3" name="Picture 32" descr="target-arrow-666666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6050" y="3746500"/>
            <a:ext cx="215900" cy="2159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905000" y="3606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05000" y="3886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成果与考核 · 量化指标与效益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60000" y="3873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15—16 页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905000" y="4203700"/>
            <a:ext cx="9880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8" name="TextBox 37"/>
          <p:cNvSpPr txBox="1"/>
          <p:nvPr/>
        </p:nvSpPr>
        <p:spPr>
          <a:xfrm>
            <a:off x="584200" y="4203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39" name="Oval 38"/>
          <p:cNvSpPr/>
          <p:nvPr/>
        </p:nvSpPr>
        <p:spPr>
          <a:xfrm>
            <a:off x="1320800" y="43497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0" name="Picture 39" descr="coins-666666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6050" y="4445000"/>
            <a:ext cx="215900" cy="2159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905000" y="4305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经费预算合理性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05000" y="4584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预算明细 · 分年度 · 合理性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60000" y="4572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17 页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05000" y="4902200"/>
            <a:ext cx="9880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5" name="TextBox 44"/>
          <p:cNvSpPr txBox="1"/>
          <p:nvPr/>
        </p:nvSpPr>
        <p:spPr>
          <a:xfrm>
            <a:off x="584200" y="4902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46" name="Oval 45"/>
          <p:cNvSpPr/>
          <p:nvPr/>
        </p:nvSpPr>
        <p:spPr>
          <a:xfrm>
            <a:off x="1320800" y="50482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7" name="Picture 46" descr="sitemap-666666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6050" y="5143500"/>
            <a:ext cx="215900" cy="2159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905000" y="5003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项目管理计划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05000" y="5283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 · 流程 · 时间 · 保障 ｜ 团队能力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60000" y="5270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18—19 页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05000" y="5600700"/>
            <a:ext cx="9880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2" name="TextBox 51"/>
          <p:cNvSpPr txBox="1"/>
          <p:nvPr/>
        </p:nvSpPr>
        <p:spPr>
          <a:xfrm>
            <a:off x="584200" y="5600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53" name="Oval 52"/>
          <p:cNvSpPr/>
          <p:nvPr/>
        </p:nvSpPr>
        <p:spPr>
          <a:xfrm>
            <a:off x="1320800" y="57467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4" name="Picture 53" descr="trophy-666666-1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6050" y="5842000"/>
            <a:ext cx="215900" cy="2159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905000" y="5702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成果介绍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05000" y="5981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五项成果 · 知识产权与标准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60000" y="5969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20 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项目简介：研究重心是引擎，数字样机是引擎的集成产物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项目基本信息 · 子课题与本课题边界 · 预计成果物 · 预计经费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03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项目基本信息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6400" y="16256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1" name="TextBox 10"/>
          <p:cNvSpPr txBox="1"/>
          <p:nvPr/>
        </p:nvSpPr>
        <p:spPr>
          <a:xfrm>
            <a:off x="469900" y="1625600"/>
            <a:ext cx="5588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牵头单位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5700" y="1625600"/>
            <a:ext cx="17526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5300" y="1625600"/>
            <a:ext cx="6604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2700" y="1625600"/>
            <a:ext cx="18542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6400" y="19685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469900" y="1968500"/>
            <a:ext cx="5588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主管部门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5700" y="1968500"/>
            <a:ext cx="17526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********部（***）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300" y="1968500"/>
            <a:ext cx="6604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产业领域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2700" y="1968500"/>
            <a:ext cx="18542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轨道交通装备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6400" y="23114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1" name="TextBox 20"/>
          <p:cNvSpPr txBox="1"/>
          <p:nvPr/>
        </p:nvSpPr>
        <p:spPr>
          <a:xfrm>
            <a:off x="469900" y="2311400"/>
            <a:ext cx="5588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项目目的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5700" y="2311400"/>
            <a:ext cx="17526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基础前瞻共性技术研究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35300" y="2311400"/>
            <a:ext cx="6604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研究周期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22700" y="2311400"/>
            <a:ext cx="18542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2027.01—2028.12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6400" y="26543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6" name="TextBox 25"/>
          <p:cNvSpPr txBox="1"/>
          <p:nvPr/>
        </p:nvSpPr>
        <p:spPr>
          <a:xfrm>
            <a:off x="406400" y="28829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预计成果物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06400" y="31750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8" name="TextBox 27"/>
          <p:cNvSpPr txBox="1"/>
          <p:nvPr/>
        </p:nvSpPr>
        <p:spPr>
          <a:xfrm>
            <a:off x="469900" y="3175000"/>
            <a:ext cx="3746500" cy="342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多智能体协同运行与调度引擎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16400" y="3175000"/>
            <a:ext cx="1460500" cy="342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软件 1 套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06400" y="35179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1" name="TextBox 30"/>
          <p:cNvSpPr txBox="1"/>
          <p:nvPr/>
        </p:nvSpPr>
        <p:spPr>
          <a:xfrm>
            <a:off x="469900" y="3517900"/>
            <a:ext cx="3746500" cy="342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关键系统仿真智能体／智能孪生模型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16400" y="3517900"/>
            <a:ext cx="1460500" cy="342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模型 1 套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06400" y="38608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4" name="TextBox 33"/>
          <p:cNvSpPr txBox="1"/>
          <p:nvPr/>
        </p:nvSpPr>
        <p:spPr>
          <a:xfrm>
            <a:off x="469900" y="3860800"/>
            <a:ext cx="3746500" cy="342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16400" y="3860800"/>
            <a:ext cx="1460500" cy="342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系统 1 套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06400" y="42037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7" name="TextBox 36"/>
          <p:cNvSpPr txBox="1"/>
          <p:nvPr/>
        </p:nvSpPr>
        <p:spPr>
          <a:xfrm>
            <a:off x="469900" y="4203700"/>
            <a:ext cx="3746500" cy="342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列车级数字样机构建方法体系与技术规范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16400" y="4203700"/>
            <a:ext cx="1460500" cy="342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规范 1 套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06400" y="45466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0" name="TextBox 39"/>
          <p:cNvSpPr txBox="1"/>
          <p:nvPr/>
        </p:nvSpPr>
        <p:spPr>
          <a:xfrm>
            <a:off x="469900" y="4546600"/>
            <a:ext cx="3746500" cy="342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示范应用与验证报告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16400" y="4546600"/>
            <a:ext cx="1460500" cy="342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报告 1 份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6400" y="48895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3" name="TextBox 42"/>
          <p:cNvSpPr txBox="1"/>
          <p:nvPr/>
        </p:nvSpPr>
        <p:spPr>
          <a:xfrm>
            <a:off x="469900" y="4889500"/>
            <a:ext cx="3746500" cy="342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知识产权与标准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16400" y="4889500"/>
            <a:ext cx="1460500" cy="342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专利 4 · 论文 2 · 标准 2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06400" y="52324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6" name="TextBox 45"/>
          <p:cNvSpPr txBox="1"/>
          <p:nvPr/>
        </p:nvSpPr>
        <p:spPr>
          <a:xfrm>
            <a:off x="406400" y="54610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预计经费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" y="5461000"/>
            <a:ext cx="4597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总预算 100 万元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6400" y="5778500"/>
            <a:ext cx="2635250" cy="1397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054350" y="5778500"/>
            <a:ext cx="1581150" cy="139700"/>
          </a:xfrm>
          <a:prstGeom prst="rect">
            <a:avLst/>
          </a:prstGeom>
          <a:solidFill>
            <a:srgbClr val="B45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48200" y="5778500"/>
            <a:ext cx="263525" cy="1397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924425" y="5778500"/>
            <a:ext cx="263525" cy="1397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200650" y="5778500"/>
            <a:ext cx="263525" cy="1397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76875" y="5778500"/>
            <a:ext cx="263525" cy="1397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06400" y="5969000"/>
            <a:ext cx="5334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直接投入 50</a:t>
            </a: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　算力服务器 40 · 工作站 10　　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人员 30</a:t>
            </a: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　　折旧／外协／成果／其他 各 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94400" y="1346200"/>
            <a:ext cx="5791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项目子课题与本课题边界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994400" y="1625600"/>
            <a:ext cx="5791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7" name="TextBox 56"/>
          <p:cNvSpPr txBox="1"/>
          <p:nvPr/>
        </p:nvSpPr>
        <p:spPr>
          <a:xfrm>
            <a:off x="5994400" y="1625600"/>
            <a:ext cx="533400" cy="697442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7.1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54800" y="1755246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高质量数据集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54800" y="2009246"/>
            <a:ext cx="49784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用其数据规范与接口，不重复建库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994400" y="2323042"/>
            <a:ext cx="5791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61" name="TextBox 60"/>
          <p:cNvSpPr txBox="1"/>
          <p:nvPr/>
        </p:nvSpPr>
        <p:spPr>
          <a:xfrm>
            <a:off x="5994400" y="2323042"/>
            <a:ext cx="533400" cy="697442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7.2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54800" y="2452688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多物理域建模与仿真智能体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54800" y="2706688"/>
            <a:ext cx="49784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只建验证必需的智能体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994400" y="3020483"/>
            <a:ext cx="5791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65" name="Rectangle 64"/>
          <p:cNvSpPr/>
          <p:nvPr/>
        </p:nvSpPr>
        <p:spPr>
          <a:xfrm>
            <a:off x="5994400" y="3020483"/>
            <a:ext cx="5791200" cy="881592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994400" y="3020483"/>
            <a:ext cx="533400" cy="881592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Consolas"/>
                <a:ea typeface="微软雅黑"/>
                <a:cs typeface="Consolas"/>
              </a:rPr>
              <a:t>7.3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54800" y="3150129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协同运行与调度引擎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01000" y="3169179"/>
            <a:ext cx="4318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本课题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54800" y="3404129"/>
            <a:ext cx="49784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核心攻关：多专业智能体“接得上、跑得动、调得灵”</a:t>
            </a:r>
            <a:br>
              <a:rPr lang="zh-CN" altLang="en-US" sz="950"/>
            </a:b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4 个子任务：知识 → 调度 → 执行 → 集成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994400" y="3902075"/>
            <a:ext cx="5791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71" name="TextBox 70"/>
          <p:cNvSpPr txBox="1"/>
          <p:nvPr/>
        </p:nvSpPr>
        <p:spPr>
          <a:xfrm>
            <a:off x="5994400" y="3902075"/>
            <a:ext cx="533400" cy="697442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7.4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54800" y="4031721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数字样机构建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654800" y="4285721"/>
            <a:ext cx="49784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承接智能体集成与协同运行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994400" y="4599517"/>
            <a:ext cx="5791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75" name="TextBox 74"/>
          <p:cNvSpPr txBox="1"/>
          <p:nvPr/>
        </p:nvSpPr>
        <p:spPr>
          <a:xfrm>
            <a:off x="5994400" y="4599517"/>
            <a:ext cx="533400" cy="697442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7.5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54800" y="4729163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方案优化与智能生成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54800" y="4983163"/>
            <a:ext cx="49784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为优化提供验证支撑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5994400" y="5296958"/>
            <a:ext cx="5791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cxnSp>
        <p:nvCxnSpPr>
          <p:cNvPr id="79" name="Connector 78"/>
          <p:cNvCxnSpPr/>
          <p:nvPr/>
        </p:nvCxnSpPr>
        <p:spPr>
          <a:xfrm>
            <a:off x="5994400" y="5449358"/>
            <a:ext cx="5791200" cy="0"/>
          </a:xfrm>
          <a:prstGeom prst="line">
            <a:avLst/>
          </a:prstGeom>
          <a:ln w="9525">
            <a:solidFill>
              <a:srgbClr val="DEDEDE"/>
            </a:solidFill>
            <a:prstDash val="dash"/>
            <a:round/>
          </a:ln>
        </p:spPr>
      </p:cxnSp>
      <p:sp>
        <p:nvSpPr>
          <p:cNvPr id="80" name="TextBox 79"/>
          <p:cNvSpPr txBox="1"/>
          <p:nvPr/>
        </p:nvSpPr>
        <p:spPr>
          <a:xfrm>
            <a:off x="5994400" y="5449358"/>
            <a:ext cx="533400" cy="697442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6.2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54800" y="5579004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通用智能体调度平台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01000" y="5598054"/>
            <a:ext cx="533400" cy="1778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相邻项目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54800" y="5833004"/>
            <a:ext cx="49784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本课题专注面向性能验证的领域化编排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994400" y="6146800"/>
            <a:ext cx="5791200" cy="0"/>
          </a:xfrm>
          <a:prstGeom prst="line">
            <a:avLst/>
          </a:prstGeom>
          <a:ln w="9525">
            <a:solidFill>
              <a:srgbClr val="DEDEDE"/>
            </a:solidFill>
            <a:prstDash val="dash"/>
            <a:round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研究背景与重要性：一次验证 40 人、2 个月，问题仍到现场才暴露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验证现状 · 真实案例 · 症结 · 研究目的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04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1794933" cy="60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8000" y="1358900"/>
            <a:ext cx="1591733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40</a:t>
            </a:r>
            <a:r>
              <a:rPr lang="zh-CN" altLang="en-US" sz="8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0733" y="1358900"/>
            <a:ext cx="8890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研发＋测试＋现场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77533" y="1358900"/>
            <a:ext cx="1794933" cy="60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9133" y="1358900"/>
            <a:ext cx="1591733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900" b="0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约</a:t>
            </a:r>
            <a:r>
              <a:rPr lang="zh-CN" altLang="en-US" sz="16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2</a:t>
            </a:r>
            <a:r>
              <a:rPr lang="zh-CN" altLang="en-US" sz="8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个月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81867" y="1358900"/>
            <a:ext cx="8890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一次迭代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48667" y="1358900"/>
            <a:ext cx="1794933" cy="60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0267" y="1358900"/>
            <a:ext cx="1591733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−10</a:t>
            </a:r>
            <a:r>
              <a:rPr lang="zh-CN" altLang="en-US" sz="8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000" y="1358900"/>
            <a:ext cx="8890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现场案例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400" y="2298700"/>
            <a:ext cx="5537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即便如此，问题还是在现场才暴露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" y="2578100"/>
            <a:ext cx="5537200" cy="17653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6400" y="2578100"/>
            <a:ext cx="19050" cy="17653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1" name="Picture 20" descr="quote-8C8C8C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2743200"/>
            <a:ext cx="203200" cy="2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63600" y="2578100"/>
            <a:ext cx="4876800" cy="17653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2024 年 12 月，FXN5C 在临哈线长大下坡，约 −10℃：回手柄后风扇仍以 40Hz 运行，低温水 25℃ → 0℃、高温水 78℃，</a:t>
            </a: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散热器冻结</a:t>
            </a:r>
            <a:r>
              <a:rPr lang="zh-CN" altLang="en-US"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br>
              <a:rPr lang="zh-CN" altLang="en-US" sz="1150"/>
            </a:br>
            <a:r>
              <a:rPr lang="zh-CN" altLang="en-US"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台架没有复现出来。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7600" y="1358900"/>
            <a:ext cx="5588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症结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7600" y="1638300"/>
            <a:ext cx="5588000" cy="825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7600" y="1638300"/>
            <a:ext cx="19050" cy="8255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5400" y="1778000"/>
            <a:ext cx="52324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复杂工况模拟不了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5400" y="2095500"/>
            <a:ext cx="5303520" cy="2921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多系统耦合、长时序，台架覆盖不到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2578100"/>
            <a:ext cx="5588000" cy="825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2578100"/>
            <a:ext cx="19050" cy="8255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5400" y="2717800"/>
            <a:ext cx="52324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验证靠人，跟不上迭代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5400" y="3035300"/>
            <a:ext cx="5303520" cy="2921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工况人工编、环境人工搭、结果人工看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7600" y="3517900"/>
            <a:ext cx="5588000" cy="825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97600" y="3517900"/>
            <a:ext cx="19050" cy="8255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5400" y="3657600"/>
            <a:ext cx="52324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经验散在人手里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5400" y="3975100"/>
            <a:ext cx="5303520" cy="2921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判据散在标准、大纲和专家经验里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6400" y="4724400"/>
            <a:ext cx="19050" cy="952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4200" y="4943475"/>
            <a:ext cx="11201400" cy="2476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研究目的：让控制软件每改一版，复杂运用工况都能在数字样机上自动跑一遍、自动判读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5241925"/>
            <a:ext cx="11201400" cy="241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问题在研发阶段暴露，现场只做确认。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应用价值：一句话需求进去，全工况报告出来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用在三个环节 · 对领域发展的推动 · 社会经济效益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05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用在三个环节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25600"/>
            <a:ext cx="3623733" cy="1689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25600"/>
            <a:ext cx="3623733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4200" y="1778000"/>
            <a:ext cx="3268133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研发</a:t>
            </a:r>
            <a:r>
              <a:rPr lang="zh-CN" altLang="en-US" sz="14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 · </a:t>
            </a: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软件迭代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2197100"/>
            <a:ext cx="3268133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现在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2374900"/>
            <a:ext cx="3268133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台架＋现场验证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4200" y="2692400"/>
            <a:ext cx="3268133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584200" y="2794000"/>
            <a:ext cx="3268133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应用引擎后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4200" y="2971800"/>
            <a:ext cx="3268133" cy="4191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全工况在数字样机上自动回归</a:t>
            </a:r>
          </a:p>
        </p:txBody>
      </p:sp>
      <p:sp>
        <p:nvSpPr>
          <p:cNvPr id="18" name="Isosceles Triangle 17"/>
          <p:cNvSpPr/>
          <p:nvPr/>
        </p:nvSpPr>
        <p:spPr>
          <a:xfrm rot="5400000">
            <a:off x="4087283" y="2419350"/>
            <a:ext cx="139700" cy="1016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4133" y="1625600"/>
            <a:ext cx="3623733" cy="1689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84133" y="1625600"/>
            <a:ext cx="3623733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1933" y="1778000"/>
            <a:ext cx="3268133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试验</a:t>
            </a:r>
            <a:r>
              <a:rPr lang="zh-CN" altLang="en-US" sz="14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 · </a:t>
            </a: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上线前预试验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1933" y="2197100"/>
            <a:ext cx="3268133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现在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1933" y="2374900"/>
            <a:ext cx="3268133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低温等工况受季节、线路限制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461933" y="2692400"/>
            <a:ext cx="3268134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5" name="TextBox 24"/>
          <p:cNvSpPr txBox="1"/>
          <p:nvPr/>
        </p:nvSpPr>
        <p:spPr>
          <a:xfrm>
            <a:off x="4461933" y="2794000"/>
            <a:ext cx="3268133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应用引擎后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1933" y="2971800"/>
            <a:ext cx="3268133" cy="4191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先在数字样机上预演，缩减上线项目</a:t>
            </a:r>
          </a:p>
        </p:txBody>
      </p:sp>
      <p:sp>
        <p:nvSpPr>
          <p:cNvPr id="27" name="Isosceles Triangle 26"/>
          <p:cNvSpPr/>
          <p:nvPr/>
        </p:nvSpPr>
        <p:spPr>
          <a:xfrm rot="5400000">
            <a:off x="7965017" y="2419350"/>
            <a:ext cx="139700" cy="1016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61867" y="1625600"/>
            <a:ext cx="3623733" cy="1689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61867" y="1625600"/>
            <a:ext cx="3623733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9667" y="1778000"/>
            <a:ext cx="3268133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运用</a:t>
            </a:r>
            <a:r>
              <a:rPr lang="zh-CN" altLang="en-US" sz="14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 · </a:t>
            </a: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问题复现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667" y="2197100"/>
            <a:ext cx="3268133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现在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667" y="2374900"/>
            <a:ext cx="3268133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靠经验排查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39667" y="2692400"/>
            <a:ext cx="3268133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4" name="TextBox 33"/>
          <p:cNvSpPr txBox="1"/>
          <p:nvPr/>
        </p:nvSpPr>
        <p:spPr>
          <a:xfrm>
            <a:off x="8339667" y="2794000"/>
            <a:ext cx="3268133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应用引擎后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9667" y="2971800"/>
            <a:ext cx="3268133" cy="4191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用运行记录复现问题、定位原因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400" y="35941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社会经济效益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6400" y="3873500"/>
            <a:ext cx="3623733" cy="711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06400" y="3873500"/>
            <a:ext cx="19050" cy="7112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4200" y="3962400"/>
            <a:ext cx="3268133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经济效益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4203700"/>
            <a:ext cx="3268133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减少现场验证与线路试验投入，缩短迭代周期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84133" y="3873500"/>
            <a:ext cx="3623733" cy="711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84133" y="3873500"/>
            <a:ext cx="19050" cy="7112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61933" y="3962400"/>
            <a:ext cx="3268133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社会效益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61933" y="4203700"/>
            <a:ext cx="3268133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复杂工况覆盖更全、结论更可信，减少运用故障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61867" y="3873500"/>
            <a:ext cx="3623733" cy="711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61867" y="3873500"/>
            <a:ext cx="19050" cy="7112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39667" y="3962400"/>
            <a:ext cx="3268133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产业效益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39667" y="4203700"/>
            <a:ext cx="3268133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方法可扩展到制动、辅助系统，在**内主机企业推广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6400" y="4864100"/>
            <a:ext cx="19050" cy="7620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200" y="4864100"/>
            <a:ext cx="11201400" cy="762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推动领域发展：性能验证从“单系统、离线、靠现场”，走向“列车级、实时协同、研发阶段可回归”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立项必要性与紧迫性：为什么是现在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技术条件 · 工程需求 · 自主可控 ｜ 三个条件刚刚同时具备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06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3657600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36576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0400" y="1562100"/>
            <a:ext cx="457200" cy="4572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2" name="Picture 11" descr="cpu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" y="1666875"/>
            <a:ext cx="247650" cy="247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57300" y="1562100"/>
            <a:ext cx="1854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技术条件刚成熟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1000" y="14859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60400" y="2159000"/>
            <a:ext cx="3149600" cy="0"/>
          </a:xfrm>
          <a:prstGeom prst="line">
            <a:avLst/>
          </a:prstGeom>
          <a:ln w="9525">
            <a:solidFill>
              <a:srgbClr val="E9E9E9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660400" y="2311400"/>
            <a:ext cx="3149600" cy="1397000"/>
          </a:xfrm>
          <a:prstGeom prst="rect">
            <a:avLst/>
          </a:prstGeom>
          <a:noFill/>
        </p:spPr>
        <p:txBody>
          <a:bodyPr wrap="square" anchor="t" lIns="0" tIns="0" rIns="20955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1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智能体技术让“任务理解—编排—执行”可自动化；GPU＋NPU 异构算力让实时协同与全保真计算可负担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67200" y="1358900"/>
            <a:ext cx="3657600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67200" y="1358900"/>
            <a:ext cx="36576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1200" y="1562100"/>
            <a:ext cx="457200" cy="4572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0" name="Picture 19" descr="trending-up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975" y="1666875"/>
            <a:ext cx="247650" cy="2476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118100" y="1562100"/>
            <a:ext cx="1854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工程需求在加压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14859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21200" y="2159000"/>
            <a:ext cx="3149600" cy="0"/>
          </a:xfrm>
          <a:prstGeom prst="line">
            <a:avLst/>
          </a:prstGeom>
          <a:ln w="9525">
            <a:solidFill>
              <a:srgbClr val="E9E9E9"/>
            </a:solidFill>
            <a:round/>
          </a:ln>
        </p:spPr>
      </p:cxnSp>
      <p:sp>
        <p:nvSpPr>
          <p:cNvPr id="24" name="TextBox 23"/>
          <p:cNvSpPr txBox="1"/>
          <p:nvPr/>
        </p:nvSpPr>
        <p:spPr>
          <a:xfrm>
            <a:off x="4521200" y="2311400"/>
            <a:ext cx="3149600" cy="1397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1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软件迭代加快</a:t>
            </a:r>
            <a:r>
              <a:rPr lang="zh-CN" altLang="en-US" sz="11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【可补充：近年迭代次数】</a:t>
            </a:r>
            <a:r>
              <a:rPr lang="zh-CN" altLang="en-US" sz="11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，复杂工况问题增多，“台架＋现场”已跟不上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0" y="1358900"/>
            <a:ext cx="3657600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8000" y="1358900"/>
            <a:ext cx="36576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82000" y="1562100"/>
            <a:ext cx="457200" cy="4572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8" name="Picture 27" descr="shield-check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6775" y="1666875"/>
            <a:ext cx="247650" cy="2476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78900" y="1562100"/>
            <a:ext cx="1854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自主可控有窗口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42600" y="14859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382000" y="2159000"/>
            <a:ext cx="3149600" cy="0"/>
          </a:xfrm>
          <a:prstGeom prst="line">
            <a:avLst/>
          </a:prstGeom>
          <a:ln w="9525">
            <a:solidFill>
              <a:srgbClr val="E9E9E9"/>
            </a:solidFill>
            <a:round/>
          </a:ln>
        </p:spPr>
      </p:cxnSp>
      <p:sp>
        <p:nvSpPr>
          <p:cNvPr id="32" name="TextBox 31"/>
          <p:cNvSpPr txBox="1"/>
          <p:nvPr/>
        </p:nvSpPr>
        <p:spPr>
          <a:xfrm>
            <a:off x="8382000" y="2311400"/>
            <a:ext cx="3149600" cy="1397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1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研发设计类工业软件国产化率约 5%；验证引擎这一层现在自己做，就掌握在自己手里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6400" y="4572000"/>
            <a:ext cx="19050" cy="952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200" y="4791075"/>
            <a:ext cx="11201400" cy="2476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结论：本课题要做的是</a:t>
            </a:r>
            <a:r>
              <a:rPr lang="zh-CN" altLang="en-US" sz="14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验证环节的自主引擎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200" y="5089525"/>
            <a:ext cx="11201400" cy="241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晚一年布局，就多一年被动。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总体技术路线：四层引擎，把验证工作流交给智能体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目标：像软件回归测试一样——设计改一次，全工况在数字样机上自动重跑一遍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总体技术路线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07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6045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四层架构与分工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25600"/>
            <a:ext cx="6045200" cy="66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25600"/>
            <a:ext cx="1587500" cy="660400"/>
          </a:xfrm>
          <a:prstGeom prst="rect">
            <a:avLst/>
          </a:prstGeom>
          <a:solidFill>
            <a:srgbClr val="F8F1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6400" y="1625600"/>
            <a:ext cx="19050" cy="6604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17399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19812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9000" y="1625600"/>
            <a:ext cx="4140200" cy="660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智能体在沙箱中协同运行，集成为数字样机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" y="2362200"/>
            <a:ext cx="6045200" cy="66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6400" y="2362200"/>
            <a:ext cx="1587500" cy="660400"/>
          </a:xfrm>
          <a:prstGeom prst="rect">
            <a:avLst/>
          </a:prstGeom>
          <a:solidFill>
            <a:srgbClr val="FA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2362200"/>
            <a:ext cx="19050" cy="6604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" y="24765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" y="27178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59000" y="2362200"/>
            <a:ext cx="4140200" cy="660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跑工况、自动判读、生成报告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" y="3098800"/>
            <a:ext cx="6045200" cy="66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400" y="3098800"/>
            <a:ext cx="1587500" cy="6604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6400" y="3098800"/>
            <a:ext cx="19050" cy="6604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" y="32131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9A3B41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" y="34544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59000" y="3098800"/>
            <a:ext cx="4140200" cy="660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需求 → 任务；自动装配智能体、分配精度与算力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3835400"/>
            <a:ext cx="6045200" cy="66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400" y="3835400"/>
            <a:ext cx="1587500" cy="660400"/>
          </a:xfrm>
          <a:prstGeom prst="rect">
            <a:avLst/>
          </a:prstGeom>
          <a:solidFill>
            <a:srgbClr val="FC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6400" y="3835400"/>
            <a:ext cx="19050" cy="6604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500" y="39497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" y="41910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9000" y="3835400"/>
            <a:ext cx="4140200" cy="660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标准、大纲、案例 → 可自动比对的判据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05600" y="1346200"/>
            <a:ext cx="508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接入现有体系，不另起炉灶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705600" y="1905000"/>
            <a:ext cx="50800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36" name="TextBox 35"/>
          <p:cNvSpPr txBox="1"/>
          <p:nvPr/>
        </p:nvSpPr>
        <p:spPr>
          <a:xfrm>
            <a:off x="6807200" y="1625600"/>
            <a:ext cx="1955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现有资源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6200" y="1625600"/>
            <a:ext cx="2717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接入方式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07200" y="1905000"/>
            <a:ext cx="1955800" cy="6477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设计规范、试验大纲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6200" y="1905000"/>
            <a:ext cx="2717800" cy="6477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提取为判据与流程模板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705600" y="2552700"/>
            <a:ext cx="5080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1" name="TextBox 40"/>
          <p:cNvSpPr txBox="1"/>
          <p:nvPr/>
        </p:nvSpPr>
        <p:spPr>
          <a:xfrm>
            <a:off x="6807200" y="2552700"/>
            <a:ext cx="1955800" cy="6477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已有仿真模型、HIL 台架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6200" y="2552700"/>
            <a:ext cx="2717800" cy="6477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标准接口接入，不重复建模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705600" y="3200400"/>
            <a:ext cx="5080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4" name="TextBox 43"/>
          <p:cNvSpPr txBox="1"/>
          <p:nvPr/>
        </p:nvSpPr>
        <p:spPr>
          <a:xfrm>
            <a:off x="6807200" y="3200400"/>
            <a:ext cx="1955800" cy="6477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试验与运用数据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6200" y="3200400"/>
            <a:ext cx="2717800" cy="6477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用于智能体自动标定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705600" y="3848100"/>
            <a:ext cx="5080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7" name="TextBox 46"/>
          <p:cNvSpPr txBox="1"/>
          <p:nvPr/>
        </p:nvSpPr>
        <p:spPr>
          <a:xfrm>
            <a:off x="6807200" y="3848100"/>
            <a:ext cx="1955800" cy="6477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验证报告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6200" y="3848100"/>
            <a:ext cx="2717800" cy="6477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作为设计评审、软件放行的依据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705600" y="4495800"/>
            <a:ext cx="5080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0" name="Rectangle 49"/>
          <p:cNvSpPr/>
          <p:nvPr/>
        </p:nvSpPr>
        <p:spPr>
          <a:xfrm>
            <a:off x="406400" y="4889500"/>
            <a:ext cx="19050" cy="825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4200" y="5057775"/>
            <a:ext cx="1120140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怎么算成功：数字样机复现临哈线散热器冻结；一次软件迭代完成全工况回归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4200" y="5337175"/>
            <a:ext cx="11201400" cy="2349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验证周期由约 2 个月缩短至</a:t>
            </a:r>
            <a:r>
              <a:rPr lang="zh-CN" altLang="en-US" sz="10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研究内容① 测试知识库与任务工作流：把判据和流程从人手里拿出来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现状与问题 · 研究内容 · 研究方法 · 示意图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研究内容① 基础层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08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51000"/>
            <a:ext cx="1651000" cy="275167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51000"/>
            <a:ext cx="19050" cy="275167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51000"/>
            <a:ext cx="1460500" cy="275167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1989667"/>
            <a:ext cx="1651000" cy="275167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6400" y="1989667"/>
            <a:ext cx="19050" cy="275167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1989667"/>
            <a:ext cx="1460500" cy="275167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" y="2328333"/>
            <a:ext cx="1651000" cy="275167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6400" y="2328333"/>
            <a:ext cx="19050" cy="275167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3400" y="2328333"/>
            <a:ext cx="1460500" cy="275167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" y="2667000"/>
            <a:ext cx="1651000" cy="3810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400" y="27114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400" y="28765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400" y="51816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400" y="5461000"/>
            <a:ext cx="1651000" cy="304800"/>
          </a:xfrm>
          <a:prstGeom prst="rect">
            <a:avLst/>
          </a:prstGeom>
          <a:solidFill>
            <a:srgbClr val="FC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6400" y="5461000"/>
            <a:ext cx="19050" cy="3048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650" y="5461000"/>
            <a:ext cx="14795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✓ 验证判据知识库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6400" y="5816600"/>
            <a:ext cx="1651000" cy="469900"/>
          </a:xfrm>
          <a:prstGeom prst="rect">
            <a:avLst/>
          </a:prstGeom>
          <a:solidFill>
            <a:srgbClr val="FC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6400" y="5816600"/>
            <a:ext cx="19050" cy="4699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650" y="5816600"/>
            <a:ext cx="147955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✓ 任务工作流定义</a:t>
            </a:r>
            <a:br>
              <a:rPr lang="zh-CN" altLang="en-US" sz="900"/>
            </a:br>
            <a:r>
              <a:rPr lang="zh-CN" altLang="en-US" sz="90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与配置规范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0600" y="1358900"/>
            <a:ext cx="9525000" cy="673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60600" y="1358900"/>
            <a:ext cx="19050" cy="6731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13000" y="1435100"/>
            <a:ext cx="6350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现状与问题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13000" y="1651000"/>
            <a:ext cx="53848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判一个工况合不合格，依据散在国标、行标、企标、试验大纲和专家经验里，查找比对全靠人工。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975600" y="1460500"/>
            <a:ext cx="0" cy="469900"/>
          </a:xfrm>
          <a:prstGeom prst="line">
            <a:avLst/>
          </a:prstGeom>
          <a:ln w="6350">
            <a:solidFill>
              <a:srgbClr val="DEDEDE"/>
            </a:solidFill>
            <a:round/>
          </a:ln>
        </p:spPr>
      </p:cxnSp>
      <p:sp>
        <p:nvSpPr>
          <p:cNvPr id="34" name="TextBox 33"/>
          <p:cNvSpPr txBox="1"/>
          <p:nvPr/>
        </p:nvSpPr>
        <p:spPr>
          <a:xfrm>
            <a:off x="8153400" y="1435100"/>
            <a:ext cx="1524000" cy="1778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53400" y="1651000"/>
            <a:ext cx="34544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知识工程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：规范形式化、领域知识建模、工作流建模。难点：判据多藏在经验和文档里。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60600" y="2095500"/>
            <a:ext cx="30734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60600" y="2095500"/>
            <a:ext cx="3073400" cy="1905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00300" y="2197100"/>
            <a:ext cx="2794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0525A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验证判据知识化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00300" y="2463800"/>
            <a:ext cx="27940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从规范、大纲与问题记录中提取判据，变成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可自动比对</a:t>
            </a: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的条目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0" y="2095500"/>
            <a:ext cx="30734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86400" y="2095500"/>
            <a:ext cx="3073400" cy="1905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26100" y="2197100"/>
            <a:ext cx="2794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0525A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任务工作流建模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6100" y="2463800"/>
            <a:ext cx="27940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定义分解、顺序、流转与异常分支，形成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可配置</a:t>
            </a: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的流程模板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12200" y="2095500"/>
            <a:ext cx="30734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12200" y="2095500"/>
            <a:ext cx="3073400" cy="1905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51900" y="2197100"/>
            <a:ext cx="2794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0525A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知识与流程迭代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51900" y="2463800"/>
            <a:ext cx="27940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验证结果回流，持续补充判据、修订流程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60600" y="31496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从规范到判据、从判据到工作流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21200" y="3149600"/>
            <a:ext cx="7264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示意图</a:t>
            </a:r>
          </a:p>
        </p:txBody>
      </p:sp>
      <p:grpSp>
        <p:nvGrpSpPr>
          <p:cNvPr id="50" name="附图 · 从规范到判据、从判据到工作流"/>
          <p:cNvGrpSpPr/>
          <p:nvPr/>
        </p:nvGrpSpPr>
        <p:grpSpPr>
          <a:xfrm>
            <a:off x="2260600" y="3441700"/>
            <a:ext cx="9525000" cy="2844800"/>
            <a:chOff x="2260600" y="3441700"/>
            <a:chExt cx="9525000" cy="2844800"/>
          </a:xfrm>
        </p:grpSpPr>
        <p:sp>
          <p:nvSpPr>
            <p:cNvPr id="51" name="Rectangle 50"/>
            <p:cNvSpPr/>
            <p:nvPr/>
          </p:nvSpPr>
          <p:spPr>
            <a:xfrm>
              <a:off x="2260600" y="3441700"/>
              <a:ext cx="9525000" cy="28448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2413000" y="3606800"/>
              <a:ext cx="777954" cy="177800"/>
            </a:xfrm>
            <a:prstGeom prst="rect">
              <a:avLst/>
            </a:prstGeom>
            <a:solidFill>
              <a:srgbClr val="FCF6F6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01 判据知识化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2413000" y="3860800"/>
              <a:ext cx="1333500" cy="330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54" name="Picture 53" descr="file-text-8C8C8C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89200" y="3937000"/>
              <a:ext cx="177800" cy="1778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2730500" y="3892550"/>
              <a:ext cx="952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设计规范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2730500" y="4038600"/>
              <a:ext cx="9525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条款与限值要求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2413000" y="4241800"/>
              <a:ext cx="1333500" cy="330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58" name="Picture 57" descr="file-text-8C8C8C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89200" y="4318000"/>
              <a:ext cx="177800" cy="1778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2730500" y="4273550"/>
              <a:ext cx="952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运用要求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2730500" y="4419600"/>
              <a:ext cx="9525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运用条件与指标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2413000" y="4622800"/>
              <a:ext cx="1333500" cy="330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62" name="Picture 61" descr="file-text-8C8C8C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89200" y="4699000"/>
              <a:ext cx="177800" cy="177800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2730500" y="4654550"/>
              <a:ext cx="952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历史案例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730500" y="4800600"/>
              <a:ext cx="9525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故障与异常记录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3810000" y="4406900"/>
              <a:ext cx="5969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66" name="TextBox 65"/>
            <p:cNvSpPr txBox="1"/>
            <p:nvPr/>
          </p:nvSpPr>
          <p:spPr>
            <a:xfrm>
              <a:off x="3746500" y="4216400"/>
              <a:ext cx="7239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提取 · 形式化</a:t>
              </a:r>
            </a:p>
          </p:txBody>
        </p:sp>
        <p:sp>
          <p:nvSpPr>
            <p:cNvPr id="67" name="Rectangle 66"/>
            <p:cNvSpPr/>
            <p:nvPr/>
          </p:nvSpPr>
          <p:spPr>
            <a:xfrm>
              <a:off x="4483100" y="3860800"/>
              <a:ext cx="2489200" cy="10922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F7ECEC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4483100" y="3860800"/>
              <a:ext cx="2489200" cy="228600"/>
            </a:xfrm>
            <a:prstGeom prst="rect">
              <a:avLst/>
            </a:prstGeom>
            <a:solidFill>
              <a:srgbClr val="FCF6F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4572000" y="3860800"/>
              <a:ext cx="23114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判据条目（结构化，可自动比对）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4572000" y="411480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验证对象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5143500" y="411480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牵引控制系统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4572000" y="427355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关键性能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5143500" y="427355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速度跟踪偏差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4572000" y="443230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适用工况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5143500" y="443230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长大下坡 · 湿轨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4572000" y="459105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判定规则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5143500" y="459105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|实测 − 目标| ≤ 允许偏差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4572000" y="474980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来源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5143500" y="474980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设计规范条款</a:t>
              </a:r>
            </a:p>
          </p:txBody>
        </p:sp>
        <p:cxnSp>
          <p:nvCxnSpPr>
            <p:cNvPr id="80" name="Connector 79"/>
            <p:cNvCxnSpPr/>
            <p:nvPr/>
          </p:nvCxnSpPr>
          <p:spPr>
            <a:xfrm>
              <a:off x="7035800" y="4406900"/>
              <a:ext cx="4445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81" name="TextBox 80"/>
            <p:cNvSpPr txBox="1"/>
            <p:nvPr/>
          </p:nvSpPr>
          <p:spPr>
            <a:xfrm>
              <a:off x="7035800" y="4216400"/>
              <a:ext cx="444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入库</a:t>
              </a:r>
            </a:p>
          </p:txBody>
        </p:sp>
        <p:sp>
          <p:nvSpPr>
            <p:cNvPr id="82" name="Can 81"/>
            <p:cNvSpPr/>
            <p:nvPr/>
          </p:nvSpPr>
          <p:spPr>
            <a:xfrm>
              <a:off x="7594600" y="3886200"/>
              <a:ext cx="952500" cy="1041400"/>
            </a:xfrm>
            <a:prstGeom prst="can">
              <a:avLst/>
            </a:prstGeom>
            <a:solidFill>
              <a:srgbClr val="FCF6F6"/>
            </a:solidFill>
            <a:ln w="7620">
              <a:solidFill>
                <a:srgbClr val="C47C80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7594600" y="4140200"/>
              <a:ext cx="952500" cy="7112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400"/>
                </a:lnSpc>
                <a:buNone/>
              </a:pPr>
              <a:r>
                <a:rPr lang="zh-CN" altLang="en-US" sz="10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  <a:br>
                <a:rPr lang="zh-CN" altLang="en-US" sz="1000"/>
              </a:br>
              <a:r>
                <a:rPr lang="zh-CN" altLang="en-US" sz="10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知识库</a:t>
              </a:r>
            </a:p>
          </p:txBody>
        </p:sp>
        <p:sp>
          <p:nvSpPr>
            <p:cNvPr id="84" name="Rectangle 83"/>
            <p:cNvSpPr/>
            <p:nvPr/>
          </p:nvSpPr>
          <p:spPr>
            <a:xfrm>
              <a:off x="8737600" y="3924300"/>
              <a:ext cx="2895600" cy="2667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8737600" y="3924300"/>
              <a:ext cx="25400" cy="266700"/>
            </a:xfrm>
            <a:prstGeom prst="rect">
              <a:avLst/>
            </a:prstGeom>
            <a:solidFill>
              <a:srgbClr val="C47C80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8851900" y="3924300"/>
              <a:ext cx="2032000" cy="2667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　速度跟踪偏差</a:t>
              </a:r>
            </a:p>
          </p:txBody>
        </p:sp>
        <p:sp>
          <p:nvSpPr>
            <p:cNvPr id="87" name="Rectangle 86"/>
            <p:cNvSpPr/>
            <p:nvPr/>
          </p:nvSpPr>
          <p:spPr>
            <a:xfrm>
              <a:off x="8737600" y="4254500"/>
              <a:ext cx="2895600" cy="2667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8737600" y="4254500"/>
              <a:ext cx="25400" cy="266700"/>
            </a:xfrm>
            <a:prstGeom prst="rect">
              <a:avLst/>
            </a:prstGeom>
            <a:solidFill>
              <a:srgbClr val="C47C80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8851900" y="4254500"/>
              <a:ext cx="2032000" cy="2667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　牵引能耗</a:t>
              </a:r>
            </a:p>
          </p:txBody>
        </p:sp>
        <p:sp>
          <p:nvSpPr>
            <p:cNvPr id="90" name="Rectangle 89"/>
            <p:cNvSpPr/>
            <p:nvPr/>
          </p:nvSpPr>
          <p:spPr>
            <a:xfrm>
              <a:off x="8737600" y="4584700"/>
              <a:ext cx="2895600" cy="2667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1" name="Rectangle 90"/>
            <p:cNvSpPr/>
            <p:nvPr/>
          </p:nvSpPr>
          <p:spPr>
            <a:xfrm>
              <a:off x="8737600" y="4584700"/>
              <a:ext cx="25400" cy="266700"/>
            </a:xfrm>
            <a:prstGeom prst="rect">
              <a:avLst/>
            </a:prstGeom>
            <a:solidFill>
              <a:srgbClr val="C47C80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8851900" y="4584700"/>
              <a:ext cx="2032000" cy="2667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　运行平稳性</a:t>
              </a:r>
            </a:p>
          </p:txBody>
        </p:sp>
        <p:sp>
          <p:nvSpPr>
            <p:cNvPr id="93" name="Rectangle 92"/>
            <p:cNvSpPr/>
            <p:nvPr/>
          </p:nvSpPr>
          <p:spPr>
            <a:xfrm>
              <a:off x="2413000" y="5105400"/>
              <a:ext cx="777954" cy="177800"/>
            </a:xfrm>
            <a:prstGeom prst="rect">
              <a:avLst/>
            </a:prstGeom>
            <a:solidFill>
              <a:srgbClr val="FCF6F6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02 任务工作流</a:t>
              </a:r>
            </a:p>
          </p:txBody>
        </p:sp>
        <p:sp>
          <p:nvSpPr>
            <p:cNvPr id="94" name="Rounded Rectangle 93"/>
            <p:cNvSpPr/>
            <p:nvPr/>
          </p:nvSpPr>
          <p:spPr>
            <a:xfrm>
              <a:off x="2413000" y="53721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验证目标</a:t>
              </a:r>
            </a:p>
          </p:txBody>
        </p:sp>
        <p:cxnSp>
          <p:nvCxnSpPr>
            <p:cNvPr id="95" name="Connector 94"/>
            <p:cNvCxnSpPr/>
            <p:nvPr/>
          </p:nvCxnSpPr>
          <p:spPr>
            <a:xfrm>
              <a:off x="3403600" y="5511800"/>
              <a:ext cx="2667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96" name="Rounded Rectangle 95"/>
            <p:cNvSpPr/>
            <p:nvPr/>
          </p:nvSpPr>
          <p:spPr>
            <a:xfrm>
              <a:off x="3708400" y="53721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任务分解</a:t>
              </a:r>
            </a:p>
          </p:txBody>
        </p:sp>
        <p:cxnSp>
          <p:nvCxnSpPr>
            <p:cNvPr id="97" name="Connector 96"/>
            <p:cNvCxnSpPr/>
            <p:nvPr/>
          </p:nvCxnSpPr>
          <p:spPr>
            <a:xfrm>
              <a:off x="4699000" y="5511800"/>
              <a:ext cx="2667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98" name="Rounded Rectangle 97"/>
            <p:cNvSpPr/>
            <p:nvPr/>
          </p:nvSpPr>
          <p:spPr>
            <a:xfrm>
              <a:off x="5003800" y="53721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环境装配</a:t>
              </a:r>
            </a:p>
          </p:txBody>
        </p:sp>
        <p:cxnSp>
          <p:nvCxnSpPr>
            <p:cNvPr id="99" name="Connector 98"/>
            <p:cNvCxnSpPr/>
            <p:nvPr/>
          </p:nvCxnSpPr>
          <p:spPr>
            <a:xfrm>
              <a:off x="5994400" y="5511800"/>
              <a:ext cx="2667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100" name="Rounded Rectangle 99"/>
            <p:cNvSpPr/>
            <p:nvPr/>
          </p:nvSpPr>
          <p:spPr>
            <a:xfrm>
              <a:off x="6299200" y="53721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仿真执行</a:t>
              </a:r>
            </a:p>
          </p:txBody>
        </p:sp>
        <p:cxnSp>
          <p:nvCxnSpPr>
            <p:cNvPr id="101" name="Connector 100"/>
            <p:cNvCxnSpPr/>
            <p:nvPr/>
          </p:nvCxnSpPr>
          <p:spPr>
            <a:xfrm>
              <a:off x="7289800" y="5511800"/>
              <a:ext cx="2667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102" name="Rounded Rectangle 101"/>
            <p:cNvSpPr/>
            <p:nvPr/>
          </p:nvSpPr>
          <p:spPr>
            <a:xfrm>
              <a:off x="7594600" y="53721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CF6F6"/>
            </a:solidFill>
            <a:ln w="7620">
              <a:solidFill>
                <a:srgbClr val="F7ECEC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结果比对</a:t>
              </a:r>
            </a:p>
          </p:txBody>
        </p:sp>
        <p:cxnSp>
          <p:nvCxnSpPr>
            <p:cNvPr id="103" name="Connector 102"/>
            <p:cNvCxnSpPr/>
            <p:nvPr/>
          </p:nvCxnSpPr>
          <p:spPr>
            <a:xfrm>
              <a:off x="8585200" y="5511800"/>
              <a:ext cx="2667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104" name="Rounded Rectangle 103"/>
            <p:cNvSpPr/>
            <p:nvPr/>
          </p:nvSpPr>
          <p:spPr>
            <a:xfrm>
              <a:off x="8890000" y="53721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C47C80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验证报告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8547100" y="5334000"/>
              <a:ext cx="3429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900"/>
                </a:lnSpc>
                <a:buNone/>
              </a:pPr>
              <a:r>
                <a:rPr lang="zh-CN" altLang="en-US" sz="70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通过</a:t>
              </a:r>
            </a:p>
          </p:txBody>
        </p:sp>
        <p:sp>
          <p:nvSpPr>
            <p:cNvPr id="106" name="Freeform 105"/>
            <p:cNvSpPr/>
            <p:nvPr/>
          </p:nvSpPr>
          <p:spPr>
            <a:xfrm>
              <a:off x="5480050" y="5651500"/>
              <a:ext cx="2590800" cy="215900"/>
            </a:xfrm>
            <a:custGeom>
              <a:avLst/>
              <a:gdLst/>
              <a:ahLst/>
              <a:cxnLst/>
              <a:rect l="l" t="t" r="r" b="b"/>
              <a:pathLst>
                <a:path w="408" h="34">
                  <a:moveTo>
                    <a:pt x="408" y="0"/>
                  </a:moveTo>
                  <a:lnTo>
                    <a:pt x="408" y="34"/>
                  </a:lnTo>
                  <a:lnTo>
                    <a:pt x="0" y="34"/>
                  </a:lnTo>
                  <a:lnTo>
                    <a:pt x="0" y="2"/>
                  </a:lnTo>
                </a:path>
              </a:pathLst>
            </a:custGeom>
            <a:noFill/>
            <a:ln w="12700">
              <a:solidFill>
                <a:srgbClr val="A61C22"/>
              </a:solidFill>
              <a:round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5480050" y="5905500"/>
              <a:ext cx="2590800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75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未通过 → 异常分支：调整后重跑</a:t>
              </a:r>
            </a:p>
          </p:txBody>
        </p:sp>
        <p:cxnSp>
          <p:nvCxnSpPr>
            <p:cNvPr id="108" name="Connector 107"/>
            <p:cNvCxnSpPr/>
            <p:nvPr/>
          </p:nvCxnSpPr>
          <p:spPr>
            <a:xfrm>
              <a:off x="8070850" y="4940300"/>
              <a:ext cx="0" cy="406400"/>
            </a:xfrm>
            <a:prstGeom prst="line">
              <a:avLst/>
            </a:prstGeom>
            <a:ln w="9525">
              <a:solidFill>
                <a:srgbClr val="C47C80"/>
              </a:solidFill>
              <a:prstDash val="dash"/>
              <a:round/>
              <a:tailEnd type="triangle" w="med" len="med"/>
            </a:ln>
          </p:spPr>
        </p:cxnSp>
        <p:sp>
          <p:nvSpPr>
            <p:cNvPr id="109" name="TextBox 108"/>
            <p:cNvSpPr txBox="1"/>
            <p:nvPr/>
          </p:nvSpPr>
          <p:spPr>
            <a:xfrm>
              <a:off x="8140700" y="5086350"/>
              <a:ext cx="635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调用判据</a:t>
              </a:r>
            </a:p>
          </p:txBody>
        </p:sp>
        <p:sp>
          <p:nvSpPr>
            <p:cNvPr id="110" name="Freeform 109"/>
            <p:cNvSpPr/>
            <p:nvPr/>
          </p:nvSpPr>
          <p:spPr>
            <a:xfrm>
              <a:off x="9867900" y="4889500"/>
              <a:ext cx="1663700" cy="622300"/>
            </a:xfrm>
            <a:custGeom>
              <a:avLst/>
              <a:gdLst/>
              <a:ahLst/>
              <a:cxnLst/>
              <a:rect l="l" t="t" r="r" b="b"/>
              <a:pathLst>
                <a:path w="262" h="98">
                  <a:moveTo>
                    <a:pt x="0" y="98"/>
                  </a:moveTo>
                  <a:lnTo>
                    <a:pt x="262" y="98"/>
                  </a:lnTo>
                  <a:lnTo>
                    <a:pt x="262" y="0"/>
                  </a:lnTo>
                </a:path>
              </a:pathLst>
            </a:custGeom>
            <a:noFill/>
            <a:ln w="12700">
              <a:solidFill>
                <a:srgbClr val="4A4A4A"/>
              </a:solidFill>
              <a:round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Rectangle 110"/>
            <p:cNvSpPr/>
            <p:nvPr/>
          </p:nvSpPr>
          <p:spPr>
            <a:xfrm>
              <a:off x="9969500" y="4991100"/>
              <a:ext cx="676354" cy="177800"/>
            </a:xfrm>
            <a:prstGeom prst="rect">
              <a:avLst/>
            </a:prstGeom>
            <a:solidFill>
              <a:srgbClr val="FCF6F6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03 迭代机制</a:t>
              </a:r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9969500" y="5194300"/>
              <a:ext cx="1460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结果回流，更新判据与工作流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研究内容② 任务理解与智能编排调度：引擎在此落地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现状与问题 · 研究内容 · 研究方法 · 示意图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研究内容② 决策层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09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51000"/>
            <a:ext cx="1651000" cy="275167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51000"/>
            <a:ext cx="19050" cy="275167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51000"/>
            <a:ext cx="1460500" cy="275167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1989667"/>
            <a:ext cx="1651000" cy="275167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6400" y="1989667"/>
            <a:ext cx="19050" cy="275167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1989667"/>
            <a:ext cx="1460500" cy="275167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" y="2328333"/>
            <a:ext cx="1651000" cy="3810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400" y="2372783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2537883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" y="2772833"/>
            <a:ext cx="1651000" cy="275167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6400" y="2772833"/>
            <a:ext cx="19050" cy="275167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3400" y="2772833"/>
            <a:ext cx="1460500" cy="275167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400" y="55372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400" y="5816600"/>
            <a:ext cx="1651000" cy="4699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6400" y="5816600"/>
            <a:ext cx="19050" cy="4699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650" y="5816600"/>
            <a:ext cx="147955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9A3B41"/>
                </a:solidFill>
                <a:latin typeface="微软雅黑"/>
                <a:ea typeface="微软雅黑"/>
                <a:cs typeface="微软雅黑"/>
              </a:rPr>
              <a:t>✓ 多智能体协同运行与调度引擎（软件1套）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600" y="1358900"/>
            <a:ext cx="9525000" cy="673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60600" y="1358900"/>
            <a:ext cx="19050" cy="6731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413000" y="1435100"/>
            <a:ext cx="6350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现状与问题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3000" y="1651000"/>
            <a:ext cx="53848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区段、温度、轨面、载重、手柄序列组合起来：全用高精度模型算不完，全用简化模型又不可信。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975600" y="1460500"/>
            <a:ext cx="0" cy="469900"/>
          </a:xfrm>
          <a:prstGeom prst="line">
            <a:avLst/>
          </a:prstGeom>
          <a:ln w="6350">
            <a:solidFill>
              <a:srgbClr val="DEDEDE"/>
            </a:solidFill>
            <a:round/>
          </a:ln>
        </p:spPr>
      </p:cxnSp>
      <p:sp>
        <p:nvSpPr>
          <p:cNvPr id="31" name="TextBox 30"/>
          <p:cNvSpPr txBox="1"/>
          <p:nvPr/>
        </p:nvSpPr>
        <p:spPr>
          <a:xfrm>
            <a:off x="8153400" y="1435100"/>
            <a:ext cx="1524000" cy="1778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3400" y="1651000"/>
            <a:ext cx="34544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智能调度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：任务分解与匹配、多目标寻优、保真度—算力协同配置。难点：在线权衡精度与效率。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60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60600" y="2095500"/>
            <a:ext cx="22860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00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9A3B41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目标解析与任务分解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00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一句话需求 → 验证对象、关键性能、判据条目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73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73600" y="2095500"/>
            <a:ext cx="22860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13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9A3B41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测试环境自动装配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13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24130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自动组合智能体、连接接口、配置算力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86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086600" y="2095500"/>
            <a:ext cx="22860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26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9A3B41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保真度与算力自适应调度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6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12065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常规工况降阶提速，关键工况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强制全保真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99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499600" y="2095500"/>
            <a:ext cx="22860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39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9A3B41"/>
                </a:solidFill>
                <a:latin typeface="Consolas"/>
                <a:ea typeface="微软雅黑"/>
                <a:cs typeface="Consolas"/>
              </a:rPr>
              <a:t>04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执行监控与失败重规划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39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异常中断后自动重规划，支撑指标实时推演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60600" y="31496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一次验证中的调度过程：按工况切换保真度、分配算力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45200" y="3149600"/>
            <a:ext cx="5740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示意图</a:t>
            </a:r>
          </a:p>
        </p:txBody>
      </p:sp>
      <p:grpSp>
        <p:nvGrpSpPr>
          <p:cNvPr id="51" name="附图 · 一次验证中的调度过程：按工况切换保真度、分配算力"/>
          <p:cNvGrpSpPr/>
          <p:nvPr/>
        </p:nvGrpSpPr>
        <p:grpSpPr>
          <a:xfrm>
            <a:off x="2260600" y="3441700"/>
            <a:ext cx="9525000" cy="2844800"/>
            <a:chOff x="2260600" y="3441700"/>
            <a:chExt cx="9525000" cy="2844800"/>
          </a:xfrm>
        </p:grpSpPr>
        <p:sp>
          <p:nvSpPr>
            <p:cNvPr id="52" name="Rectangle 51"/>
            <p:cNvSpPr/>
            <p:nvPr/>
          </p:nvSpPr>
          <p:spPr>
            <a:xfrm>
              <a:off x="2260600" y="3441700"/>
              <a:ext cx="9525000" cy="28448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2413000" y="3556000"/>
              <a:ext cx="1671129" cy="25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验证任务</a:t>
              </a:r>
              <a:r>
                <a:rPr lang="zh-CN" altLang="en-US" sz="8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　速度跟踪 ＋ 牵引能耗</a:t>
              </a:r>
            </a:p>
          </p:txBody>
        </p:sp>
        <p:sp>
          <p:nvSpPr>
            <p:cNvPr id="54" name="Isosceles Triangle 53"/>
            <p:cNvSpPr/>
            <p:nvPr/>
          </p:nvSpPr>
          <p:spPr>
            <a:xfrm rot="5400000">
              <a:off x="4173029" y="3644900"/>
              <a:ext cx="101600" cy="76200"/>
            </a:xfrm>
            <a:prstGeom prst="triangle">
              <a:avLst/>
            </a:prstGeom>
            <a:solidFill>
              <a:srgbClr val="D2D2D2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55" name="Rounded Rectangle 54"/>
            <p:cNvSpPr/>
            <p:nvPr/>
          </p:nvSpPr>
          <p:spPr>
            <a:xfrm>
              <a:off x="4363530" y="3556000"/>
              <a:ext cx="1750600" cy="25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01 任务分解</a:t>
              </a:r>
              <a:r>
                <a:rPr lang="zh-CN" altLang="en-US" sz="8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　对象 · 性能 · 判据</a:t>
              </a:r>
            </a:p>
          </p:txBody>
        </p:sp>
        <p:sp>
          <p:nvSpPr>
            <p:cNvPr id="56" name="Isosceles Triangle 55"/>
            <p:cNvSpPr/>
            <p:nvPr/>
          </p:nvSpPr>
          <p:spPr>
            <a:xfrm rot="5400000">
              <a:off x="6203029" y="3644900"/>
              <a:ext cx="101600" cy="76200"/>
            </a:xfrm>
            <a:prstGeom prst="triangle">
              <a:avLst/>
            </a:prstGeom>
            <a:solidFill>
              <a:srgbClr val="D2D2D2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6393529" y="3556000"/>
              <a:ext cx="2563400" cy="25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02 环境装配</a:t>
              </a:r>
              <a:r>
                <a:rPr lang="zh-CN" altLang="en-US" sz="8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　控制系统 · 车辆动力学 · 线路智能体</a:t>
              </a:r>
            </a:p>
          </p:txBody>
        </p:sp>
        <p:sp>
          <p:nvSpPr>
            <p:cNvPr id="58" name="Isosceles Triangle 57"/>
            <p:cNvSpPr/>
            <p:nvPr/>
          </p:nvSpPr>
          <p:spPr>
            <a:xfrm rot="5400000">
              <a:off x="9045829" y="3644900"/>
              <a:ext cx="101600" cy="76200"/>
            </a:xfrm>
            <a:prstGeom prst="triangle">
              <a:avLst/>
            </a:prstGeom>
            <a:solidFill>
              <a:srgbClr val="D2D2D2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59" name="Rounded Rectangle 58"/>
            <p:cNvSpPr/>
            <p:nvPr/>
          </p:nvSpPr>
          <p:spPr>
            <a:xfrm>
              <a:off x="9236329" y="3556000"/>
              <a:ext cx="1253554" cy="25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03—04 调度执行与监控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2413000" y="3924300"/>
              <a:ext cx="990600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工况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2413000" y="4229100"/>
              <a:ext cx="990600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03</a:t>
              </a: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 模型保真度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2413000" y="4559300"/>
              <a:ext cx="990600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03</a:t>
              </a: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 算力 · GPU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413000" y="4991100"/>
              <a:ext cx="990600" cy="1905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03</a:t>
              </a: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 算力 · NPU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413000" y="5334000"/>
              <a:ext cx="990600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04</a:t>
              </a: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 执行监控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4987798" y="3886200"/>
              <a:ext cx="0" cy="1727200"/>
            </a:xfrm>
            <a:prstGeom prst="line">
              <a:avLst/>
            </a:prstGeom>
            <a:ln w="6350">
              <a:solidFill>
                <a:srgbClr val="DEDEDE"/>
              </a:solidFill>
              <a:prstDash val="dash"/>
              <a:round/>
            </a:ln>
          </p:spPr>
        </p:cxnSp>
        <p:cxnSp>
          <p:nvCxnSpPr>
            <p:cNvPr id="66" name="Connector 65"/>
            <p:cNvCxnSpPr/>
            <p:nvPr/>
          </p:nvCxnSpPr>
          <p:spPr>
            <a:xfrm>
              <a:off x="6300470" y="3886200"/>
              <a:ext cx="0" cy="1727200"/>
            </a:xfrm>
            <a:prstGeom prst="line">
              <a:avLst/>
            </a:prstGeom>
            <a:ln w="6350">
              <a:solidFill>
                <a:srgbClr val="DEDEDE"/>
              </a:solidFill>
              <a:prstDash val="dash"/>
              <a:round/>
            </a:ln>
          </p:spPr>
        </p:cxnSp>
        <p:cxnSp>
          <p:nvCxnSpPr>
            <p:cNvPr id="67" name="Connector 66"/>
            <p:cNvCxnSpPr/>
            <p:nvPr/>
          </p:nvCxnSpPr>
          <p:spPr>
            <a:xfrm>
              <a:off x="7859268" y="3886200"/>
              <a:ext cx="0" cy="1727200"/>
            </a:xfrm>
            <a:prstGeom prst="line">
              <a:avLst/>
            </a:prstGeom>
            <a:ln w="6350">
              <a:solidFill>
                <a:srgbClr val="DEDEDE"/>
              </a:solidFill>
              <a:prstDash val="dash"/>
              <a:round/>
            </a:ln>
          </p:spPr>
        </p:cxnSp>
        <p:cxnSp>
          <p:nvCxnSpPr>
            <p:cNvPr id="68" name="Connector 67"/>
            <p:cNvCxnSpPr/>
            <p:nvPr/>
          </p:nvCxnSpPr>
          <p:spPr>
            <a:xfrm>
              <a:off x="10074402" y="3886200"/>
              <a:ext cx="0" cy="1727200"/>
            </a:xfrm>
            <a:prstGeom prst="line">
              <a:avLst/>
            </a:prstGeom>
            <a:ln w="6350">
              <a:solidFill>
                <a:srgbClr val="DEDEDE"/>
              </a:solidFill>
              <a:prstDash val="dash"/>
              <a:round/>
            </a:ln>
          </p:spPr>
        </p:cxnSp>
        <p:sp>
          <p:nvSpPr>
            <p:cNvPr id="69" name="Rectangle 68"/>
            <p:cNvSpPr/>
            <p:nvPr/>
          </p:nvSpPr>
          <p:spPr>
            <a:xfrm>
              <a:off x="3441700" y="3924300"/>
              <a:ext cx="1533398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3441700" y="39243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常规直线</a:t>
              </a:r>
            </a:p>
          </p:txBody>
        </p:sp>
        <p:sp>
          <p:nvSpPr>
            <p:cNvPr id="71" name="Rectangle 70"/>
            <p:cNvSpPr/>
            <p:nvPr/>
          </p:nvSpPr>
          <p:spPr>
            <a:xfrm>
              <a:off x="3441700" y="4229100"/>
              <a:ext cx="1533398" cy="254000"/>
            </a:xfrm>
            <a:prstGeom prst="rect">
              <a:avLst/>
            </a:prstGeom>
            <a:solidFill>
              <a:srgbClr val="FBF4F4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3441700" y="42291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降阶模型 · 快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5000498" y="3924300"/>
              <a:ext cx="1287272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5000498" y="3924300"/>
              <a:ext cx="1287272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小半径曲线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5000498" y="4229100"/>
              <a:ext cx="1287272" cy="254000"/>
            </a:xfrm>
            <a:prstGeom prst="rect">
              <a:avLst/>
            </a:prstGeom>
            <a:solidFill>
              <a:srgbClr val="AC454B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5000498" y="4229100"/>
              <a:ext cx="1287272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全保真 · 准</a:t>
              </a:r>
            </a:p>
          </p:txBody>
        </p:sp>
        <p:sp>
          <p:nvSpPr>
            <p:cNvPr id="77" name="Rectangle 76"/>
            <p:cNvSpPr/>
            <p:nvPr/>
          </p:nvSpPr>
          <p:spPr>
            <a:xfrm>
              <a:off x="6313170" y="3924300"/>
              <a:ext cx="1533398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6313170" y="39243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常规直线</a:t>
              </a:r>
            </a:p>
          </p:txBody>
        </p:sp>
        <p:sp>
          <p:nvSpPr>
            <p:cNvPr id="79" name="Rectangle 78"/>
            <p:cNvSpPr/>
            <p:nvPr/>
          </p:nvSpPr>
          <p:spPr>
            <a:xfrm>
              <a:off x="6313170" y="4229100"/>
              <a:ext cx="1533398" cy="254000"/>
            </a:xfrm>
            <a:prstGeom prst="rect">
              <a:avLst/>
            </a:prstGeom>
            <a:solidFill>
              <a:srgbClr val="FBF4F4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6313170" y="42291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降阶模型 · 快</a:t>
              </a:r>
            </a:p>
          </p:txBody>
        </p:sp>
        <p:sp>
          <p:nvSpPr>
            <p:cNvPr id="81" name="Rectangle 80"/>
            <p:cNvSpPr/>
            <p:nvPr/>
          </p:nvSpPr>
          <p:spPr>
            <a:xfrm>
              <a:off x="7871968" y="3924300"/>
              <a:ext cx="2189734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7871968" y="3924300"/>
              <a:ext cx="2189734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长大下坡 · 湿轨</a:t>
              </a:r>
            </a:p>
          </p:txBody>
        </p:sp>
        <p:sp>
          <p:nvSpPr>
            <p:cNvPr id="83" name="Rectangle 82"/>
            <p:cNvSpPr/>
            <p:nvPr/>
          </p:nvSpPr>
          <p:spPr>
            <a:xfrm>
              <a:off x="7871968" y="4229100"/>
              <a:ext cx="2189734" cy="254000"/>
            </a:xfrm>
            <a:prstGeom prst="rect">
              <a:avLst/>
            </a:prstGeom>
            <a:solidFill>
              <a:srgbClr val="AC454B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7871968" y="4229100"/>
              <a:ext cx="2189734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全保真 · 准</a:t>
              </a:r>
            </a:p>
          </p:txBody>
        </p:sp>
        <p:sp>
          <p:nvSpPr>
            <p:cNvPr id="85" name="Rectangle 84"/>
            <p:cNvSpPr/>
            <p:nvPr/>
          </p:nvSpPr>
          <p:spPr>
            <a:xfrm>
              <a:off x="10087102" y="3924300"/>
              <a:ext cx="1533398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10087102" y="39243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常规直线</a:t>
              </a:r>
            </a:p>
          </p:txBody>
        </p:sp>
        <p:sp>
          <p:nvSpPr>
            <p:cNvPr id="87" name="Rectangle 86"/>
            <p:cNvSpPr/>
            <p:nvPr/>
          </p:nvSpPr>
          <p:spPr>
            <a:xfrm>
              <a:off x="10087102" y="4229100"/>
              <a:ext cx="1533398" cy="254000"/>
            </a:xfrm>
            <a:prstGeom prst="rect">
              <a:avLst/>
            </a:prstGeom>
            <a:solidFill>
              <a:srgbClr val="FBF4F4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10087102" y="42291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降阶模型 · 快</a:t>
              </a:r>
            </a:p>
          </p:txBody>
        </p:sp>
        <p:sp>
          <p:nvSpPr>
            <p:cNvPr id="89" name="Freeform 88"/>
            <p:cNvSpPr/>
            <p:nvPr/>
          </p:nvSpPr>
          <p:spPr>
            <a:xfrm>
              <a:off x="3429000" y="4622800"/>
              <a:ext cx="8204200" cy="292100"/>
            </a:xfrm>
            <a:custGeom>
              <a:avLst/>
              <a:gdLst/>
              <a:ahLst/>
              <a:cxnLst/>
              <a:rect l="l" t="t" r="r" b="b"/>
              <a:pathLst>
                <a:path w="1292" h="46">
                  <a:moveTo>
                    <a:pt x="0" y="46"/>
                  </a:moveTo>
                  <a:lnTo>
                    <a:pt x="0" y="30"/>
                  </a:lnTo>
                  <a:lnTo>
                    <a:pt x="245" y="30"/>
                  </a:lnTo>
                  <a:lnTo>
                    <a:pt x="245" y="0"/>
                  </a:lnTo>
                  <a:lnTo>
                    <a:pt x="452" y="0"/>
                  </a:lnTo>
                  <a:lnTo>
                    <a:pt x="452" y="30"/>
                  </a:lnTo>
                  <a:lnTo>
                    <a:pt x="698" y="30"/>
                  </a:lnTo>
                  <a:lnTo>
                    <a:pt x="698" y="0"/>
                  </a:lnTo>
                  <a:lnTo>
                    <a:pt x="1047" y="0"/>
                  </a:lnTo>
                  <a:lnTo>
                    <a:pt x="1047" y="30"/>
                  </a:lnTo>
                  <a:lnTo>
                    <a:pt x="1292" y="30"/>
                  </a:lnTo>
                  <a:lnTo>
                    <a:pt x="1292" y="46"/>
                  </a:lnTo>
                  <a:close/>
                </a:path>
              </a:pathLst>
            </a:custGeom>
            <a:solidFill>
              <a:srgbClr val="F5E7E7"/>
            </a:solidFill>
            <a:ln w="9525">
              <a:solidFill>
                <a:srgbClr val="AC454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Freeform 89"/>
            <p:cNvSpPr/>
            <p:nvPr/>
          </p:nvSpPr>
          <p:spPr>
            <a:xfrm>
              <a:off x="3429000" y="5035550"/>
              <a:ext cx="8204200" cy="146050"/>
            </a:xfrm>
            <a:custGeom>
              <a:avLst/>
              <a:gdLst/>
              <a:ahLst/>
              <a:cxnLst/>
              <a:rect l="l" t="t" r="r" b="b"/>
              <a:pathLst>
                <a:path w="1292" h="23">
                  <a:moveTo>
                    <a:pt x="0" y="23"/>
                  </a:moveTo>
                  <a:lnTo>
                    <a:pt x="0" y="16"/>
                  </a:lnTo>
                  <a:lnTo>
                    <a:pt x="230" y="16"/>
                  </a:lnTo>
                  <a:lnTo>
                    <a:pt x="245" y="0"/>
                  </a:lnTo>
                  <a:lnTo>
                    <a:pt x="260" y="16"/>
                  </a:lnTo>
                  <a:lnTo>
                    <a:pt x="437" y="16"/>
                  </a:lnTo>
                  <a:lnTo>
                    <a:pt x="452" y="0"/>
                  </a:lnTo>
                  <a:lnTo>
                    <a:pt x="467" y="16"/>
                  </a:lnTo>
                  <a:lnTo>
                    <a:pt x="683" y="16"/>
                  </a:lnTo>
                  <a:lnTo>
                    <a:pt x="698" y="0"/>
                  </a:lnTo>
                  <a:lnTo>
                    <a:pt x="713" y="16"/>
                  </a:lnTo>
                  <a:lnTo>
                    <a:pt x="1032" y="16"/>
                  </a:lnTo>
                  <a:lnTo>
                    <a:pt x="1047" y="0"/>
                  </a:lnTo>
                  <a:lnTo>
                    <a:pt x="1062" y="16"/>
                  </a:lnTo>
                  <a:lnTo>
                    <a:pt x="1292" y="16"/>
                  </a:lnTo>
                  <a:lnTo>
                    <a:pt x="1292" y="23"/>
                  </a:lnTo>
                  <a:close/>
                </a:path>
              </a:pathLst>
            </a:custGeom>
            <a:solidFill>
              <a:srgbClr val="F5E7E7"/>
            </a:solidFill>
            <a:ln w="9525">
              <a:solidFill>
                <a:srgbClr val="AC454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9728200" y="4584700"/>
              <a:ext cx="18542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多物理域模型并行仿真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9728200" y="5003800"/>
              <a:ext cx="18542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切换时的推理与编排决策</a:t>
              </a:r>
            </a:p>
          </p:txBody>
        </p:sp>
        <p:cxnSp>
          <p:nvCxnSpPr>
            <p:cNvPr id="93" name="Connector 92"/>
            <p:cNvCxnSpPr/>
            <p:nvPr/>
          </p:nvCxnSpPr>
          <p:spPr>
            <a:xfrm>
              <a:off x="3429000" y="5461000"/>
              <a:ext cx="8204200" cy="0"/>
            </a:xfrm>
            <a:prstGeom prst="line">
              <a:avLst/>
            </a:prstGeom>
            <a:ln w="12700">
              <a:solidFill>
                <a:srgbClr val="DEDEDE"/>
              </a:solidFill>
              <a:round/>
            </a:ln>
          </p:spPr>
        </p:cxnSp>
        <p:pic>
          <p:nvPicPr>
            <p:cNvPr id="94" name="Picture 93" descr="circle-check-4A4A4A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38549" y="5391150"/>
              <a:ext cx="139700" cy="139700"/>
            </a:xfrm>
            <a:prstGeom prst="rect">
              <a:avLst/>
            </a:prstGeom>
          </p:spPr>
        </p:pic>
        <p:pic>
          <p:nvPicPr>
            <p:cNvPr id="95" name="Picture 94" descr="circle-check-4A4A4A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74284" y="5391150"/>
              <a:ext cx="139700" cy="139700"/>
            </a:xfrm>
            <a:prstGeom prst="rect">
              <a:avLst/>
            </a:prstGeom>
          </p:spPr>
        </p:pic>
        <p:pic>
          <p:nvPicPr>
            <p:cNvPr id="96" name="Picture 95" descr="circle-check-4A4A4A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10019" y="5391150"/>
              <a:ext cx="139700" cy="139700"/>
            </a:xfrm>
            <a:prstGeom prst="rect">
              <a:avLst/>
            </a:prstGeom>
          </p:spPr>
        </p:pic>
        <p:pic>
          <p:nvPicPr>
            <p:cNvPr id="97" name="Picture 96" descr="circle-check-4A4A4A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43202" y="5391150"/>
              <a:ext cx="139700" cy="139700"/>
            </a:xfrm>
            <a:prstGeom prst="rect">
              <a:avLst/>
            </a:prstGeom>
          </p:spPr>
        </p:pic>
        <p:pic>
          <p:nvPicPr>
            <p:cNvPr id="98" name="Picture 97" descr="alert-circle-A61C22-1_6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50101" y="5378450"/>
              <a:ext cx="165100" cy="165100"/>
            </a:xfrm>
            <a:prstGeom prst="rect">
              <a:avLst/>
            </a:prstGeom>
          </p:spPr>
        </p:pic>
        <p:sp>
          <p:nvSpPr>
            <p:cNvPr id="99" name="TextBox 98"/>
            <p:cNvSpPr txBox="1"/>
            <p:nvPr/>
          </p:nvSpPr>
          <p:spPr>
            <a:xfrm>
              <a:off x="9346951" y="5270500"/>
              <a:ext cx="762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异常中断</a:t>
              </a:r>
            </a:p>
          </p:txBody>
        </p:sp>
        <p:sp>
          <p:nvSpPr>
            <p:cNvPr id="100" name="Freeform 99"/>
            <p:cNvSpPr/>
            <p:nvPr/>
          </p:nvSpPr>
          <p:spPr>
            <a:xfrm>
              <a:off x="7962900" y="5537200"/>
              <a:ext cx="1270000" cy="101600"/>
            </a:xfrm>
            <a:custGeom>
              <a:avLst/>
              <a:gdLst/>
              <a:ahLst/>
              <a:cxnLst/>
              <a:rect l="l" t="t" r="r" b="b"/>
              <a:pathLst>
                <a:path w="200" h="16">
                  <a:moveTo>
                    <a:pt x="200" y="1"/>
                  </a:moveTo>
                  <a:lnTo>
                    <a:pt x="200" y="16"/>
                  </a:lnTo>
                  <a:lnTo>
                    <a:pt x="0" y="16"/>
                  </a:ln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A61C22"/>
              </a:solidFill>
              <a:round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7960868" y="5651500"/>
              <a:ext cx="1271783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重规划</a:t>
              </a:r>
            </a:p>
          </p:txBody>
        </p:sp>
        <p:pic>
          <p:nvPicPr>
            <p:cNvPr id="102" name="Picture 101" descr="circle-check-4A4A4A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783951" y="5391150"/>
              <a:ext cx="139700" cy="139700"/>
            </a:xfrm>
            <a:prstGeom prst="rect">
              <a:avLst/>
            </a:prstGeom>
          </p:spPr>
        </p:pic>
        <p:cxnSp>
          <p:nvCxnSpPr>
            <p:cNvPr id="103" name="Connector 102"/>
            <p:cNvCxnSpPr/>
            <p:nvPr/>
          </p:nvCxnSpPr>
          <p:spPr>
            <a:xfrm>
              <a:off x="3429000" y="6007100"/>
              <a:ext cx="8204200" cy="0"/>
            </a:xfrm>
            <a:prstGeom prst="line">
              <a:avLst/>
            </a:prstGeom>
            <a:ln w="12700">
              <a:solidFill>
                <a:srgbClr val="C6C6C6"/>
              </a:solidFill>
              <a:round/>
              <a:tailEnd type="triangle" w="med" len="med"/>
            </a:ln>
          </p:spPr>
        </p:cxnSp>
        <p:sp>
          <p:nvSpPr>
            <p:cNvPr id="104" name="TextBox 103"/>
            <p:cNvSpPr txBox="1"/>
            <p:nvPr/>
          </p:nvSpPr>
          <p:spPr>
            <a:xfrm>
              <a:off x="10109200" y="5842000"/>
              <a:ext cx="14986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仿真推进（里程）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研究内容③ 智能体执行：把 −10℃ 现场的问题在研发室里跑出来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现状与问题 · 研究内容 · 研究方法 · 示意图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研究内容③ 执行层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10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51000"/>
            <a:ext cx="1651000" cy="275167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51000"/>
            <a:ext cx="19050" cy="275167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51000"/>
            <a:ext cx="1460500" cy="275167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1989667"/>
            <a:ext cx="1651000" cy="3810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3400" y="2034117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2199217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" y="2434167"/>
            <a:ext cx="1651000" cy="275167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6400" y="2434167"/>
            <a:ext cx="19050" cy="275167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3400" y="2434167"/>
            <a:ext cx="1460500" cy="275167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" y="2772833"/>
            <a:ext cx="1651000" cy="275167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6400" y="2772833"/>
            <a:ext cx="19050" cy="275167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3400" y="2772833"/>
            <a:ext cx="1460500" cy="275167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400" y="48260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400" y="5105400"/>
            <a:ext cx="1651000" cy="469900"/>
          </a:xfrm>
          <a:prstGeom prst="rect">
            <a:avLst/>
          </a:prstGeom>
          <a:solidFill>
            <a:srgbClr val="FA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6400" y="5105400"/>
            <a:ext cx="19050" cy="4699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650" y="5105400"/>
            <a:ext cx="147955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✓ 关键系统仿真智能体／</a:t>
            </a:r>
            <a:br>
              <a:rPr lang="zh-CN" altLang="en-US" sz="900"/>
            </a:br>
            <a:r>
              <a:rPr lang="zh-CN" altLang="en-US" sz="9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智能孪生模型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6400" y="5626100"/>
            <a:ext cx="1651000" cy="304800"/>
          </a:xfrm>
          <a:prstGeom prst="rect">
            <a:avLst/>
          </a:prstGeom>
          <a:solidFill>
            <a:srgbClr val="FA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6400" y="5626100"/>
            <a:ext cx="19050" cy="3048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650" y="5626100"/>
            <a:ext cx="14795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✓ 用例与线路数据集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6400" y="5981700"/>
            <a:ext cx="1651000" cy="304800"/>
          </a:xfrm>
          <a:prstGeom prst="rect">
            <a:avLst/>
          </a:prstGeom>
          <a:solidFill>
            <a:srgbClr val="FA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6400" y="5981700"/>
            <a:ext cx="19050" cy="3048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1650" y="5981700"/>
            <a:ext cx="14795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✓ 验证报告与追溯记录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60600" y="1358900"/>
            <a:ext cx="9525000" cy="673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60600" y="1358900"/>
            <a:ext cx="19050" cy="6731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13000" y="1435100"/>
            <a:ext cx="6350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现状与问题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13000" y="1651000"/>
            <a:ext cx="53848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仿真结果靠人看曲线，多系统、长时序问题（如临哈线散热器冻结）难发现、难定位。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975600" y="1460500"/>
            <a:ext cx="0" cy="469900"/>
          </a:xfrm>
          <a:prstGeom prst="line">
            <a:avLst/>
          </a:prstGeom>
          <a:ln w="6350">
            <a:solidFill>
              <a:srgbClr val="DEDEDE"/>
            </a:solidFill>
            <a:round/>
          </a:ln>
        </p:spPr>
      </p:cxnSp>
      <p:sp>
        <p:nvSpPr>
          <p:cNvPr id="37" name="TextBox 36"/>
          <p:cNvSpPr txBox="1"/>
          <p:nvPr/>
        </p:nvSpPr>
        <p:spPr>
          <a:xfrm>
            <a:off x="8153400" y="1435100"/>
            <a:ext cx="1524000" cy="1778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3400" y="1651000"/>
            <a:ext cx="34544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实时协同与可信评判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：分布式协同仿真、时序同步、自动标定。难点：步长差异大、极端工况数据少。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60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60600" y="2095500"/>
            <a:ext cx="228600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00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8C1D23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仿真智能体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00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控制、车辆动力学、线路等智能体标准化接入，实测数据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自动标定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546600" y="252730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73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73600" y="2095500"/>
            <a:ext cx="228600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13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8C1D23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用例生成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13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按线路资料与覆盖要求，自动生成用例与线路数据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6959600" y="252730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086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86600" y="2095500"/>
            <a:ext cx="228600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26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8C1D23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测试识别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6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24130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逐工况对标判据，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识别异常、定位原因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9372600" y="252730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499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499600" y="2095500"/>
            <a:ext cx="228600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39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8C1D23"/>
                </a:solidFill>
                <a:latin typeface="Consolas"/>
                <a:ea typeface="微软雅黑"/>
                <a:cs typeface="Consolas"/>
              </a:rPr>
              <a:t>04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报告与回归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39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结论自动汇总可追溯，设计变更后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回归重跑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60600" y="31496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以临哈线散热器冻结为例：识别异常、定位原因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88000" y="3149600"/>
            <a:ext cx="6197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示意图 · 防冻限值【待填】</a:t>
            </a:r>
          </a:p>
        </p:txBody>
      </p:sp>
      <p:grpSp>
        <p:nvGrpSpPr>
          <p:cNvPr id="60" name="附图 · 以临哈线散热器冻结为例：识别异常、定位原因"/>
          <p:cNvGrpSpPr/>
          <p:nvPr/>
        </p:nvGrpSpPr>
        <p:grpSpPr>
          <a:xfrm>
            <a:off x="2260600" y="3441700"/>
            <a:ext cx="9525000" cy="2844800"/>
            <a:chOff x="2260600" y="3441700"/>
            <a:chExt cx="9525000" cy="2844800"/>
          </a:xfrm>
        </p:grpSpPr>
        <p:sp>
          <p:nvSpPr>
            <p:cNvPr id="61" name="Rectangle 60"/>
            <p:cNvSpPr/>
            <p:nvPr/>
          </p:nvSpPr>
          <p:spPr>
            <a:xfrm>
              <a:off x="2260600" y="3441700"/>
              <a:ext cx="9525000" cy="28448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6177915" y="4013200"/>
              <a:ext cx="1950085" cy="1193800"/>
            </a:xfrm>
            <a:prstGeom prst="rect">
              <a:avLst/>
            </a:prstGeom>
            <a:solidFill>
              <a:srgbClr val="FBF4F4"/>
            </a:solidFill>
            <a:ln w="6350">
              <a:solidFill>
                <a:srgbClr val="A61C22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63" name="Picture 62" descr="alert-circle-A61C22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41415" y="4610523"/>
              <a:ext cx="114300" cy="1143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381115" y="4597823"/>
              <a:ext cx="1708785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低温水越限：过冷 → 散热器冻结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2857500" y="5129953"/>
              <a:ext cx="5270500" cy="0"/>
            </a:xfrm>
            <a:prstGeom prst="line">
              <a:avLst/>
            </a:prstGeom>
            <a:ln w="9525">
              <a:solidFill>
                <a:srgbClr val="A61C22"/>
              </a:solidFill>
              <a:prstDash val="dash"/>
              <a:round/>
            </a:ln>
          </p:spPr>
        </p:cxnSp>
        <p:sp>
          <p:nvSpPr>
            <p:cNvPr id="66" name="TextBox 65"/>
            <p:cNvSpPr txBox="1"/>
            <p:nvPr/>
          </p:nvSpPr>
          <p:spPr>
            <a:xfrm>
              <a:off x="2908300" y="4990253"/>
              <a:ext cx="12700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防冻限值（判据）</a:t>
              </a:r>
            </a:p>
          </p:txBody>
        </p:sp>
        <p:cxnSp>
          <p:nvCxnSpPr>
            <p:cNvPr id="67" name="Connector 66"/>
            <p:cNvCxnSpPr/>
            <p:nvPr/>
          </p:nvCxnSpPr>
          <p:spPr>
            <a:xfrm>
              <a:off x="3911600" y="4000500"/>
              <a:ext cx="0" cy="1206500"/>
            </a:xfrm>
            <a:prstGeom prst="line">
              <a:avLst/>
            </a:prstGeom>
            <a:ln w="7620">
              <a:solidFill>
                <a:srgbClr val="666666"/>
              </a:solidFill>
              <a:prstDash val="dash"/>
              <a:round/>
            </a:ln>
          </p:spPr>
        </p:cxnSp>
        <p:sp>
          <p:nvSpPr>
            <p:cNvPr id="68" name="TextBox 67"/>
            <p:cNvSpPr txBox="1"/>
            <p:nvPr/>
          </p:nvSpPr>
          <p:spPr>
            <a:xfrm>
              <a:off x="3949700" y="4000500"/>
              <a:ext cx="5715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回手柄</a:t>
              </a:r>
            </a:p>
          </p:txBody>
        </p:sp>
        <p:sp>
          <p:nvSpPr>
            <p:cNvPr id="69" name="Freeform 68"/>
            <p:cNvSpPr/>
            <p:nvPr/>
          </p:nvSpPr>
          <p:spPr>
            <a:xfrm>
              <a:off x="2857500" y="4178300"/>
              <a:ext cx="5270500" cy="25400"/>
            </a:xfrm>
            <a:custGeom>
              <a:avLst/>
              <a:gdLst/>
              <a:ahLst/>
              <a:cxnLst/>
              <a:rect l="l" t="t" r="r" b="b"/>
              <a:pathLst>
                <a:path w="830" h="4">
                  <a:moveTo>
                    <a:pt x="0" y="0"/>
                  </a:moveTo>
                  <a:lnTo>
                    <a:pt x="6" y="0"/>
                  </a:lnTo>
                  <a:lnTo>
                    <a:pt x="15" y="0"/>
                  </a:lnTo>
                  <a:lnTo>
                    <a:pt x="25" y="1"/>
                  </a:lnTo>
                  <a:lnTo>
                    <a:pt x="36" y="1"/>
                  </a:lnTo>
                  <a:lnTo>
                    <a:pt x="48" y="1"/>
                  </a:lnTo>
                  <a:lnTo>
                    <a:pt x="60" y="1"/>
                  </a:lnTo>
                  <a:lnTo>
                    <a:pt x="72" y="1"/>
                  </a:lnTo>
                  <a:lnTo>
                    <a:pt x="83" y="1"/>
                  </a:lnTo>
                  <a:lnTo>
                    <a:pt x="93" y="1"/>
                  </a:lnTo>
                  <a:lnTo>
                    <a:pt x="103" y="1"/>
                  </a:lnTo>
                  <a:lnTo>
                    <a:pt x="112" y="2"/>
                  </a:lnTo>
                  <a:lnTo>
                    <a:pt x="122" y="2"/>
                  </a:lnTo>
                  <a:lnTo>
                    <a:pt x="132" y="2"/>
                  </a:lnTo>
                  <a:lnTo>
                    <a:pt x="142" y="2"/>
                  </a:lnTo>
                  <a:lnTo>
                    <a:pt x="154" y="2"/>
                  </a:lnTo>
                  <a:lnTo>
                    <a:pt x="166" y="2"/>
                  </a:lnTo>
                  <a:lnTo>
                    <a:pt x="180" y="2"/>
                  </a:lnTo>
                  <a:lnTo>
                    <a:pt x="194" y="3"/>
                  </a:lnTo>
                  <a:lnTo>
                    <a:pt x="210" y="3"/>
                  </a:lnTo>
                  <a:lnTo>
                    <a:pt x="226" y="3"/>
                  </a:lnTo>
                  <a:lnTo>
                    <a:pt x="242" y="3"/>
                  </a:lnTo>
                  <a:lnTo>
                    <a:pt x="258" y="4"/>
                  </a:lnTo>
                  <a:lnTo>
                    <a:pt x="275" y="4"/>
                  </a:lnTo>
                  <a:lnTo>
                    <a:pt x="290" y="4"/>
                  </a:lnTo>
                  <a:lnTo>
                    <a:pt x="306" y="4"/>
                  </a:lnTo>
                  <a:lnTo>
                    <a:pt x="321" y="4"/>
                  </a:lnTo>
                  <a:lnTo>
                    <a:pt x="335" y="4"/>
                  </a:lnTo>
                  <a:lnTo>
                    <a:pt x="350" y="4"/>
                  </a:lnTo>
                  <a:lnTo>
                    <a:pt x="365" y="4"/>
                  </a:lnTo>
                  <a:lnTo>
                    <a:pt x="381" y="4"/>
                  </a:lnTo>
                  <a:lnTo>
                    <a:pt x="397" y="4"/>
                  </a:lnTo>
                  <a:lnTo>
                    <a:pt x="415" y="4"/>
                  </a:lnTo>
                  <a:lnTo>
                    <a:pt x="434" y="4"/>
                  </a:lnTo>
                  <a:lnTo>
                    <a:pt x="455" y="4"/>
                  </a:lnTo>
                  <a:lnTo>
                    <a:pt x="476" y="4"/>
                  </a:lnTo>
                  <a:lnTo>
                    <a:pt x="498" y="4"/>
                  </a:lnTo>
                  <a:lnTo>
                    <a:pt x="520" y="4"/>
                  </a:lnTo>
                  <a:lnTo>
                    <a:pt x="541" y="4"/>
                  </a:lnTo>
                  <a:lnTo>
                    <a:pt x="562" y="4"/>
                  </a:lnTo>
                  <a:lnTo>
                    <a:pt x="581" y="4"/>
                  </a:lnTo>
                  <a:lnTo>
                    <a:pt x="599" y="4"/>
                  </a:lnTo>
                  <a:lnTo>
                    <a:pt x="615" y="4"/>
                  </a:lnTo>
                  <a:lnTo>
                    <a:pt x="631" y="4"/>
                  </a:lnTo>
                  <a:lnTo>
                    <a:pt x="646" y="4"/>
                  </a:lnTo>
                  <a:lnTo>
                    <a:pt x="661" y="4"/>
                  </a:lnTo>
                  <a:lnTo>
                    <a:pt x="675" y="4"/>
                  </a:lnTo>
                  <a:lnTo>
                    <a:pt x="690" y="4"/>
                  </a:lnTo>
                  <a:lnTo>
                    <a:pt x="706" y="4"/>
                  </a:lnTo>
                  <a:lnTo>
                    <a:pt x="722" y="4"/>
                  </a:lnTo>
                  <a:lnTo>
                    <a:pt x="740" y="4"/>
                  </a:lnTo>
                  <a:lnTo>
                    <a:pt x="758" y="4"/>
                  </a:lnTo>
                  <a:lnTo>
                    <a:pt x="776" y="4"/>
                  </a:lnTo>
                  <a:lnTo>
                    <a:pt x="792" y="4"/>
                  </a:lnTo>
                  <a:lnTo>
                    <a:pt x="808" y="4"/>
                  </a:lnTo>
                  <a:lnTo>
                    <a:pt x="820" y="4"/>
                  </a:lnTo>
                  <a:lnTo>
                    <a:pt x="830" y="4"/>
                  </a:lnTo>
                </a:path>
              </a:pathLst>
            </a:custGeom>
            <a:noFill/>
            <a:ln w="15875">
              <a:solidFill>
                <a:srgbClr val="666666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Freeform 69"/>
            <p:cNvSpPr/>
            <p:nvPr/>
          </p:nvSpPr>
          <p:spPr>
            <a:xfrm>
              <a:off x="2857500" y="4876800"/>
              <a:ext cx="5270500" cy="330200"/>
            </a:xfrm>
            <a:custGeom>
              <a:avLst/>
              <a:gdLst/>
              <a:ahLst/>
              <a:cxnLst/>
              <a:rect l="l" t="t" r="r" b="b"/>
              <a:pathLst>
                <a:path w="830" h="52">
                  <a:moveTo>
                    <a:pt x="0" y="1"/>
                  </a:moveTo>
                  <a:lnTo>
                    <a:pt x="6" y="1"/>
                  </a:lnTo>
                  <a:lnTo>
                    <a:pt x="15" y="1"/>
                  </a:lnTo>
                  <a:lnTo>
                    <a:pt x="25" y="1"/>
                  </a:lnTo>
                  <a:lnTo>
                    <a:pt x="36" y="1"/>
                  </a:lnTo>
                  <a:lnTo>
                    <a:pt x="48" y="1"/>
                  </a:lnTo>
                  <a:lnTo>
                    <a:pt x="60" y="1"/>
                  </a:lnTo>
                  <a:lnTo>
                    <a:pt x="72" y="1"/>
                  </a:lnTo>
                  <a:lnTo>
                    <a:pt x="83" y="1"/>
                  </a:lnTo>
                  <a:lnTo>
                    <a:pt x="93" y="1"/>
                  </a:lnTo>
                  <a:lnTo>
                    <a:pt x="104" y="1"/>
                  </a:lnTo>
                  <a:lnTo>
                    <a:pt x="114" y="1"/>
                  </a:lnTo>
                  <a:lnTo>
                    <a:pt x="124" y="0"/>
                  </a:lnTo>
                  <a:lnTo>
                    <a:pt x="135" y="1"/>
                  </a:lnTo>
                  <a:lnTo>
                    <a:pt x="145" y="1"/>
                  </a:lnTo>
                  <a:lnTo>
                    <a:pt x="156" y="1"/>
                  </a:lnTo>
                  <a:lnTo>
                    <a:pt x="166" y="1"/>
                  </a:lnTo>
                  <a:lnTo>
                    <a:pt x="176" y="2"/>
                  </a:lnTo>
                  <a:lnTo>
                    <a:pt x="186" y="3"/>
                  </a:lnTo>
                  <a:lnTo>
                    <a:pt x="196" y="4"/>
                  </a:lnTo>
                  <a:lnTo>
                    <a:pt x="206" y="5"/>
                  </a:lnTo>
                  <a:lnTo>
                    <a:pt x="217" y="6"/>
                  </a:lnTo>
                  <a:lnTo>
                    <a:pt x="227" y="7"/>
                  </a:lnTo>
                  <a:lnTo>
                    <a:pt x="238" y="8"/>
                  </a:lnTo>
                  <a:lnTo>
                    <a:pt x="249" y="10"/>
                  </a:lnTo>
                  <a:lnTo>
                    <a:pt x="261" y="11"/>
                  </a:lnTo>
                  <a:lnTo>
                    <a:pt x="273" y="12"/>
                  </a:lnTo>
                  <a:lnTo>
                    <a:pt x="285" y="14"/>
                  </a:lnTo>
                  <a:lnTo>
                    <a:pt x="297" y="15"/>
                  </a:lnTo>
                  <a:lnTo>
                    <a:pt x="310" y="17"/>
                  </a:lnTo>
                  <a:lnTo>
                    <a:pt x="323" y="19"/>
                  </a:lnTo>
                  <a:lnTo>
                    <a:pt x="336" y="20"/>
                  </a:lnTo>
                  <a:lnTo>
                    <a:pt x="349" y="22"/>
                  </a:lnTo>
                  <a:lnTo>
                    <a:pt x="362" y="23"/>
                  </a:lnTo>
                  <a:lnTo>
                    <a:pt x="375" y="25"/>
                  </a:lnTo>
                  <a:lnTo>
                    <a:pt x="389" y="26"/>
                  </a:lnTo>
                  <a:lnTo>
                    <a:pt x="403" y="28"/>
                  </a:lnTo>
                  <a:lnTo>
                    <a:pt x="416" y="29"/>
                  </a:lnTo>
                  <a:lnTo>
                    <a:pt x="430" y="31"/>
                  </a:lnTo>
                  <a:lnTo>
                    <a:pt x="443" y="32"/>
                  </a:lnTo>
                  <a:lnTo>
                    <a:pt x="456" y="34"/>
                  </a:lnTo>
                  <a:lnTo>
                    <a:pt x="469" y="35"/>
                  </a:lnTo>
                  <a:lnTo>
                    <a:pt x="482" y="36"/>
                  </a:lnTo>
                  <a:lnTo>
                    <a:pt x="495" y="38"/>
                  </a:lnTo>
                  <a:lnTo>
                    <a:pt x="507" y="39"/>
                  </a:lnTo>
                  <a:lnTo>
                    <a:pt x="520" y="40"/>
                  </a:lnTo>
                  <a:lnTo>
                    <a:pt x="532" y="41"/>
                  </a:lnTo>
                  <a:lnTo>
                    <a:pt x="544" y="42"/>
                  </a:lnTo>
                  <a:lnTo>
                    <a:pt x="556" y="43"/>
                  </a:lnTo>
                  <a:lnTo>
                    <a:pt x="568" y="44"/>
                  </a:lnTo>
                  <a:lnTo>
                    <a:pt x="580" y="45"/>
                  </a:lnTo>
                  <a:lnTo>
                    <a:pt x="592" y="45"/>
                  </a:lnTo>
                  <a:lnTo>
                    <a:pt x="604" y="46"/>
                  </a:lnTo>
                  <a:lnTo>
                    <a:pt x="615" y="47"/>
                  </a:lnTo>
                  <a:lnTo>
                    <a:pt x="627" y="48"/>
                  </a:lnTo>
                  <a:lnTo>
                    <a:pt x="637" y="48"/>
                  </a:lnTo>
                  <a:lnTo>
                    <a:pt x="647" y="49"/>
                  </a:lnTo>
                  <a:lnTo>
                    <a:pt x="657" y="49"/>
                  </a:lnTo>
                  <a:lnTo>
                    <a:pt x="665" y="50"/>
                  </a:lnTo>
                  <a:lnTo>
                    <a:pt x="672" y="50"/>
                  </a:lnTo>
                  <a:lnTo>
                    <a:pt x="679" y="51"/>
                  </a:lnTo>
                  <a:lnTo>
                    <a:pt x="686" y="51"/>
                  </a:lnTo>
                  <a:lnTo>
                    <a:pt x="694" y="51"/>
                  </a:lnTo>
                  <a:lnTo>
                    <a:pt x="703" y="51"/>
                  </a:lnTo>
                  <a:lnTo>
                    <a:pt x="714" y="52"/>
                  </a:lnTo>
                  <a:lnTo>
                    <a:pt x="727" y="52"/>
                  </a:lnTo>
                  <a:lnTo>
                    <a:pt x="742" y="52"/>
                  </a:lnTo>
                  <a:lnTo>
                    <a:pt x="759" y="52"/>
                  </a:lnTo>
                  <a:lnTo>
                    <a:pt x="776" y="52"/>
                  </a:lnTo>
                  <a:lnTo>
                    <a:pt x="793" y="52"/>
                  </a:lnTo>
                  <a:lnTo>
                    <a:pt x="808" y="52"/>
                  </a:lnTo>
                  <a:lnTo>
                    <a:pt x="821" y="52"/>
                  </a:lnTo>
                  <a:lnTo>
                    <a:pt x="830" y="52"/>
                  </a:lnTo>
                </a:path>
              </a:pathLst>
            </a:custGeom>
            <a:noFill/>
            <a:ln w="15875">
              <a:solidFill>
                <a:srgbClr val="8C1D23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4438650" y="4040293"/>
              <a:ext cx="1270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高温水 维持 78℃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4502150" y="4758972"/>
              <a:ext cx="1270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1D23"/>
                  </a:solidFill>
                  <a:latin typeface="微软雅黑"/>
                  <a:ea typeface="微软雅黑"/>
                  <a:cs typeface="微软雅黑"/>
                </a:rPr>
                <a:t>低温水 25℃ → 0℃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2501900" y="4141893"/>
              <a:ext cx="3048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650" b="0">
                  <a:solidFill>
                    <a:srgbClr val="8C8C8C"/>
                  </a:solidFill>
                  <a:latin typeface="Consolas"/>
                  <a:ea typeface="微软雅黑"/>
                  <a:cs typeface="Consolas"/>
                </a:rPr>
                <a:t>78℃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2501900" y="4822472"/>
              <a:ext cx="3048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650" b="0">
                  <a:solidFill>
                    <a:srgbClr val="8C8C8C"/>
                  </a:solidFill>
                  <a:latin typeface="Consolas"/>
                  <a:ea typeface="微软雅黑"/>
                  <a:cs typeface="Consolas"/>
                </a:rPr>
                <a:t>25℃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2501900" y="5143500"/>
              <a:ext cx="3048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650" b="0">
                  <a:solidFill>
                    <a:srgbClr val="8C8C8C"/>
                  </a:solidFill>
                  <a:latin typeface="Consolas"/>
                  <a:ea typeface="微软雅黑"/>
                  <a:cs typeface="Consolas"/>
                </a:rPr>
                <a:t>0℃</a:t>
              </a:r>
            </a:p>
          </p:txBody>
        </p:sp>
        <p:cxnSp>
          <p:nvCxnSpPr>
            <p:cNvPr id="76" name="Connector 75"/>
            <p:cNvCxnSpPr/>
            <p:nvPr/>
          </p:nvCxnSpPr>
          <p:spPr>
            <a:xfrm>
              <a:off x="2857500" y="5207000"/>
              <a:ext cx="5410200" cy="0"/>
            </a:xfrm>
            <a:prstGeom prst="line">
              <a:avLst/>
            </a:prstGeom>
            <a:ln w="9525">
              <a:solidFill>
                <a:srgbClr val="8C8C8C"/>
              </a:solidFill>
              <a:round/>
              <a:tailEnd type="triangle" w="med" len="med"/>
            </a:ln>
          </p:spPr>
        </p:cxnSp>
        <p:cxnSp>
          <p:nvCxnSpPr>
            <p:cNvPr id="77" name="Connector 76"/>
            <p:cNvCxnSpPr/>
            <p:nvPr/>
          </p:nvCxnSpPr>
          <p:spPr>
            <a:xfrm flipV="1">
              <a:off x="2857500" y="3911600"/>
              <a:ext cx="0" cy="1295400"/>
            </a:xfrm>
            <a:prstGeom prst="line">
              <a:avLst/>
            </a:prstGeom>
            <a:ln w="9525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2476500" y="3860800"/>
              <a:ext cx="3302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水温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7937500" y="5054600"/>
              <a:ext cx="3302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时间</a:t>
              </a:r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2413000" y="5270500"/>
              <a:ext cx="3810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手柄</a:t>
              </a:r>
            </a:p>
          </p:txBody>
        </p:sp>
        <p:sp>
          <p:nvSpPr>
            <p:cNvPr id="81" name="Rectangle 80"/>
            <p:cNvSpPr/>
            <p:nvPr/>
          </p:nvSpPr>
          <p:spPr>
            <a:xfrm>
              <a:off x="2863850" y="5270500"/>
              <a:ext cx="1041400" cy="1651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2863850" y="5270500"/>
              <a:ext cx="10414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牵引</a:t>
              </a:r>
            </a:p>
          </p:txBody>
        </p:sp>
        <p:sp>
          <p:nvSpPr>
            <p:cNvPr id="83" name="Rectangle 82"/>
            <p:cNvSpPr/>
            <p:nvPr/>
          </p:nvSpPr>
          <p:spPr>
            <a:xfrm>
              <a:off x="3917950" y="5270500"/>
              <a:ext cx="4203700" cy="165100"/>
            </a:xfrm>
            <a:prstGeom prst="rect">
              <a:avLst/>
            </a:prstGeom>
            <a:solidFill>
              <a:srgbClr val="FAF2F2"/>
            </a:solidFill>
            <a:ln w="6350">
              <a:solidFill>
                <a:srgbClr val="F3E3E3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3917950" y="5270500"/>
              <a:ext cx="42037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1D23"/>
                  </a:solidFill>
                  <a:latin typeface="微软雅黑"/>
                  <a:ea typeface="微软雅黑"/>
                  <a:cs typeface="微软雅黑"/>
                </a:rPr>
                <a:t>回手柄</a:t>
              </a:r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2413000" y="5461000"/>
              <a:ext cx="3810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风扇</a:t>
              </a:r>
            </a:p>
          </p:txBody>
        </p:sp>
        <p:sp>
          <p:nvSpPr>
            <p:cNvPr id="86" name="Rectangle 85"/>
            <p:cNvSpPr/>
            <p:nvPr/>
          </p:nvSpPr>
          <p:spPr>
            <a:xfrm>
              <a:off x="2863850" y="5461000"/>
              <a:ext cx="1041400" cy="1651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7" name="Rectangle 86"/>
            <p:cNvSpPr/>
            <p:nvPr/>
          </p:nvSpPr>
          <p:spPr>
            <a:xfrm>
              <a:off x="3917950" y="5461000"/>
              <a:ext cx="4203700" cy="165100"/>
            </a:xfrm>
            <a:prstGeom prst="rect">
              <a:avLst/>
            </a:prstGeom>
            <a:solidFill>
              <a:srgbClr val="FBF4F4"/>
            </a:solidFill>
            <a:ln w="6350">
              <a:solidFill>
                <a:srgbClr val="A61C22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3917950" y="5461000"/>
              <a:ext cx="42037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冷却风扇 40Hz 持续运行</a:t>
              </a:r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2413000" y="5651500"/>
              <a:ext cx="3810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线路</a:t>
              </a:r>
            </a:p>
          </p:txBody>
        </p:sp>
        <p:sp>
          <p:nvSpPr>
            <p:cNvPr id="90" name="Rectangle 89"/>
            <p:cNvSpPr/>
            <p:nvPr/>
          </p:nvSpPr>
          <p:spPr>
            <a:xfrm>
              <a:off x="2863850" y="5651500"/>
              <a:ext cx="5257800" cy="1651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2863850" y="5651500"/>
              <a:ext cx="52578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临哈线长大下坡 · 环境约 −10℃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8648700" y="3848100"/>
              <a:ext cx="2984500" cy="1778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300"/>
                </a:lnSpc>
                <a:buNone/>
              </a:pPr>
              <a:r>
                <a:rPr lang="zh-CN" altLang="en-US" sz="9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识别结果</a:t>
              </a:r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8712200" y="4064000"/>
              <a:ext cx="1016000" cy="1524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工况</a:t>
              </a:r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9791700" y="4064000"/>
              <a:ext cx="889000" cy="1524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10744200" y="4064000"/>
              <a:ext cx="889000" cy="1524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结论</a:t>
              </a:r>
            </a:p>
          </p:txBody>
        </p:sp>
        <p:cxnSp>
          <p:nvCxnSpPr>
            <p:cNvPr id="96" name="Connector 95"/>
            <p:cNvCxnSpPr/>
            <p:nvPr/>
          </p:nvCxnSpPr>
          <p:spPr>
            <a:xfrm>
              <a:off x="8648700" y="4229100"/>
              <a:ext cx="2984500" cy="0"/>
            </a:xfrm>
            <a:prstGeom prst="line">
              <a:avLst/>
            </a:prstGeom>
            <a:ln w="7620">
              <a:solidFill>
                <a:srgbClr val="666666"/>
              </a:solidFill>
              <a:round/>
            </a:ln>
          </p:spPr>
        </p:cxnSp>
        <p:sp>
          <p:nvSpPr>
            <p:cNvPr id="97" name="TextBox 96"/>
            <p:cNvSpPr txBox="1"/>
            <p:nvPr/>
          </p:nvSpPr>
          <p:spPr>
            <a:xfrm>
              <a:off x="8712200" y="4241800"/>
              <a:ext cx="1016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牵引工况</a:t>
              </a:r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9791700" y="42418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低温水防冻</a:t>
              </a:r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10744200" y="42418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3A3A3A"/>
                  </a:solidFill>
                  <a:latin typeface="微软雅黑"/>
                  <a:ea typeface="微软雅黑"/>
                  <a:cs typeface="微软雅黑"/>
                </a:rPr>
                <a:t>✓ 满足</a:t>
              </a:r>
            </a:p>
          </p:txBody>
        </p:sp>
        <p:cxnSp>
          <p:nvCxnSpPr>
            <p:cNvPr id="100" name="Connector 99"/>
            <p:cNvCxnSpPr/>
            <p:nvPr/>
          </p:nvCxnSpPr>
          <p:spPr>
            <a:xfrm>
              <a:off x="8648700" y="4470400"/>
              <a:ext cx="2984500" cy="0"/>
            </a:xfrm>
            <a:prstGeom prst="line">
              <a:avLst/>
            </a:prstGeom>
            <a:ln w="6350">
              <a:solidFill>
                <a:srgbClr val="E9E9E9"/>
              </a:solidFill>
              <a:round/>
            </a:ln>
          </p:spPr>
        </p:cxnSp>
        <p:sp>
          <p:nvSpPr>
            <p:cNvPr id="101" name="Rectangle 100"/>
            <p:cNvSpPr/>
            <p:nvPr/>
          </p:nvSpPr>
          <p:spPr>
            <a:xfrm>
              <a:off x="8648700" y="4470400"/>
              <a:ext cx="2984500" cy="228600"/>
            </a:xfrm>
            <a:prstGeom prst="rect">
              <a:avLst/>
            </a:prstGeom>
            <a:solidFill>
              <a:srgbClr val="FBF4F4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8712200" y="4470400"/>
              <a:ext cx="1016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回手柄 · 长大下坡</a:t>
              </a: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9791700" y="44704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低温水防冻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10744200" y="44704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✗ 过冷</a:t>
              </a:r>
            </a:p>
          </p:txBody>
        </p:sp>
        <p:cxnSp>
          <p:nvCxnSpPr>
            <p:cNvPr id="105" name="Connector 104"/>
            <p:cNvCxnSpPr/>
            <p:nvPr/>
          </p:nvCxnSpPr>
          <p:spPr>
            <a:xfrm>
              <a:off x="8648700" y="4699000"/>
              <a:ext cx="2984500" cy="0"/>
            </a:xfrm>
            <a:prstGeom prst="line">
              <a:avLst/>
            </a:prstGeom>
            <a:ln w="6350">
              <a:solidFill>
                <a:srgbClr val="E9E9E9"/>
              </a:solidFill>
              <a:round/>
            </a:ln>
          </p:spPr>
        </p:cxnSp>
        <p:sp>
          <p:nvSpPr>
            <p:cNvPr id="106" name="TextBox 105"/>
            <p:cNvSpPr txBox="1"/>
            <p:nvPr/>
          </p:nvSpPr>
          <p:spPr>
            <a:xfrm>
              <a:off x="8712200" y="4699000"/>
              <a:ext cx="1016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回手柄 · 长大下坡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9791700" y="46990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高温水温度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10744200" y="46990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3A3A3A"/>
                  </a:solidFill>
                  <a:latin typeface="微软雅黑"/>
                  <a:ea typeface="微软雅黑"/>
                  <a:cs typeface="微软雅黑"/>
                </a:rPr>
                <a:t>✓ 正常</a:t>
              </a:r>
            </a:p>
          </p:txBody>
        </p:sp>
        <p:cxnSp>
          <p:nvCxnSpPr>
            <p:cNvPr id="109" name="Connector 108"/>
            <p:cNvCxnSpPr/>
            <p:nvPr/>
          </p:nvCxnSpPr>
          <p:spPr>
            <a:xfrm>
              <a:off x="8648700" y="4927600"/>
              <a:ext cx="2984500" cy="0"/>
            </a:xfrm>
            <a:prstGeom prst="line">
              <a:avLst/>
            </a:prstGeom>
            <a:ln w="6350">
              <a:solidFill>
                <a:srgbClr val="E9E9E9"/>
              </a:solidFill>
              <a:round/>
            </a:ln>
          </p:spPr>
        </p:cxnSp>
        <p:sp>
          <p:nvSpPr>
            <p:cNvPr id="110" name="Rectangle 109"/>
            <p:cNvSpPr/>
            <p:nvPr/>
          </p:nvSpPr>
          <p:spPr>
            <a:xfrm>
              <a:off x="8648700" y="5016500"/>
              <a:ext cx="2984500" cy="5334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1C22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8750300" y="5067300"/>
              <a:ext cx="27813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原因定位</a:t>
              </a:r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8750300" y="5219700"/>
              <a:ext cx="2781300" cy="304800"/>
            </a:xfrm>
            <a:prstGeom prst="rect">
              <a:avLst/>
            </a:prstGeom>
            <a:noFill/>
          </p:spPr>
          <p:txBody>
            <a:bodyPr wrap="squar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回手柄后柴油机发热量下降，风扇仍以 40Hz 运行，低温水回路被过度冷却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8648700" y="5626100"/>
              <a:ext cx="2984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8C1D23"/>
                  </a:solidFill>
                  <a:latin typeface="微软雅黑"/>
                  <a:ea typeface="微软雅黑"/>
                  <a:cs typeface="微软雅黑"/>
                </a:rPr>
                <a:t>→ 写入验证报告；设计修改后，低温工况全量回归重跑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研究内容④ 架构融合与协同运行：融合成一个能跑起来的整体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现状与问题 · 研究内容 · 研究方法 · 示意图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研究内容④ 集成层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11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51000"/>
            <a:ext cx="1651000" cy="3810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16954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8605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2095500"/>
            <a:ext cx="1651000" cy="275167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9050" cy="275167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2095500"/>
            <a:ext cx="1460500" cy="275167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" y="2434167"/>
            <a:ext cx="1651000" cy="275167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6400" y="2434167"/>
            <a:ext cx="19050" cy="275167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3400" y="2434167"/>
            <a:ext cx="1460500" cy="275167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" y="2772833"/>
            <a:ext cx="1651000" cy="275167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6400" y="2772833"/>
            <a:ext cx="19050" cy="275167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3400" y="2772833"/>
            <a:ext cx="1460500" cy="275167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400" y="51816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400" y="5461000"/>
            <a:ext cx="1651000" cy="304800"/>
          </a:xfrm>
          <a:prstGeom prst="rect">
            <a:avLst/>
          </a:prstGeom>
          <a:solidFill>
            <a:srgbClr val="F8F1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6400" y="5461000"/>
            <a:ext cx="19050" cy="3048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650" y="5461000"/>
            <a:ext cx="14795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✓ 列车级数字样机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6400" y="5816600"/>
            <a:ext cx="1651000" cy="469900"/>
          </a:xfrm>
          <a:prstGeom prst="rect">
            <a:avLst/>
          </a:prstGeom>
          <a:solidFill>
            <a:srgbClr val="F8F1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6400" y="5816600"/>
            <a:ext cx="19050" cy="4699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650" y="5816600"/>
            <a:ext cx="147955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✓ 列车级数字样机构建方法体系与集成技术规范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0600" y="1358900"/>
            <a:ext cx="9525000" cy="673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60600" y="1358900"/>
            <a:ext cx="19050" cy="6731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13000" y="1435100"/>
            <a:ext cx="6350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现状与问题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13000" y="1651000"/>
            <a:ext cx="53848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台架以控制器为核心，其他系统靠经验数据近似，多系统难以同台协同，复杂场景无法模拟。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975600" y="1460500"/>
            <a:ext cx="0" cy="469900"/>
          </a:xfrm>
          <a:prstGeom prst="line">
            <a:avLst/>
          </a:prstGeom>
          <a:ln w="6350">
            <a:solidFill>
              <a:srgbClr val="DEDEDE"/>
            </a:solidFill>
            <a:round/>
          </a:ln>
        </p:spPr>
      </p:cxnSp>
      <p:sp>
        <p:nvSpPr>
          <p:cNvPr id="34" name="TextBox 33"/>
          <p:cNvSpPr txBox="1"/>
          <p:nvPr/>
        </p:nvSpPr>
        <p:spPr>
          <a:xfrm>
            <a:off x="8153400" y="1435100"/>
            <a:ext cx="1524000" cy="1778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53400" y="1651000"/>
            <a:ext cx="34544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系统集成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：标准化接口、服务化封装、沙箱化运行与全程留痕。难点：异构模型实时协同的稳定与可复现。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60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60600" y="2095500"/>
            <a:ext cx="22860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00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5B1317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总体架构与接口规范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00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定义四层接口与数据流；已有模型、HIL 台架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标准接入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73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73600" y="2095500"/>
            <a:ext cx="22860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13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5B1317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多智能体协同运行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3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异构智能体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实时协同求解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，时序与状态同步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86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086600" y="2095500"/>
            <a:ext cx="22860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26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5B1317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可复现沙箱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26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隔离、记录、回放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：任意一次验证都能复现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499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499600" y="2095500"/>
            <a:ext cx="22860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39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5B1317"/>
                </a:solidFill>
                <a:latin typeface="Consolas"/>
                <a:ea typeface="微软雅黑"/>
                <a:cs typeface="Consolas"/>
              </a:rPr>
              <a:t>04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列车级数字样机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39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301625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以 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FXN5C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为对象集成关键系统智能体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60600" y="31496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列车级数字样机构成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59200" y="3149600"/>
            <a:ext cx="8026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示意图</a:t>
            </a:r>
          </a:p>
        </p:txBody>
      </p:sp>
      <p:grpSp>
        <p:nvGrpSpPr>
          <p:cNvPr id="54" name="附图 · 列车级数字样机构成"/>
          <p:cNvGrpSpPr/>
          <p:nvPr/>
        </p:nvGrpSpPr>
        <p:grpSpPr>
          <a:xfrm>
            <a:off x="2260600" y="3441700"/>
            <a:ext cx="9525000" cy="2844800"/>
            <a:chOff x="2260600" y="3441700"/>
            <a:chExt cx="9525000" cy="2844800"/>
          </a:xfrm>
        </p:grpSpPr>
        <p:sp>
          <p:nvSpPr>
            <p:cNvPr id="55" name="Rectangle 54"/>
            <p:cNvSpPr/>
            <p:nvPr/>
          </p:nvSpPr>
          <p:spPr>
            <a:xfrm>
              <a:off x="2260600" y="3441700"/>
              <a:ext cx="9525000" cy="28448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2413000" y="3657600"/>
              <a:ext cx="6807200" cy="2438400"/>
            </a:xfrm>
            <a:prstGeom prst="rect">
              <a:avLst/>
            </a:prstGeom>
            <a:noFill/>
            <a:ln w="9525">
              <a:solidFill>
                <a:srgbClr val="CFCFCF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2565400" y="3543300"/>
              <a:ext cx="1886220" cy="228600"/>
            </a:xfrm>
            <a:prstGeom prst="roundRect">
              <a:avLst>
                <a:gd name="adj" fmla="val 22222"/>
              </a:avLst>
            </a:prstGeom>
            <a:solidFill>
              <a:srgbClr val="3A3A3A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03 可复现沙箱：隔离 · 记录 · 回放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2565400" y="3898900"/>
              <a:ext cx="1020233" cy="355600"/>
            </a:xfrm>
            <a:prstGeom prst="rect">
              <a:avLst/>
            </a:prstGeom>
            <a:solidFill>
              <a:srgbClr val="F8F1F1"/>
            </a:solidFill>
            <a:ln w="7620">
              <a:solidFill>
                <a:srgbClr val="EFE1E1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2565400" y="38989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控制系统</a:t>
              </a:r>
              <a:br>
                <a:rPr lang="zh-CN" altLang="en-US" sz="850"/>
              </a:b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智能体</a:t>
              </a:r>
            </a:p>
          </p:txBody>
        </p:sp>
        <p:cxnSp>
          <p:nvCxnSpPr>
            <p:cNvPr id="60" name="Connector 59"/>
            <p:cNvCxnSpPr/>
            <p:nvPr/>
          </p:nvCxnSpPr>
          <p:spPr>
            <a:xfrm>
              <a:off x="3075517" y="4254500"/>
              <a:ext cx="0" cy="177800"/>
            </a:xfrm>
            <a:prstGeom prst="line">
              <a:avLst/>
            </a:prstGeom>
            <a:ln w="9525">
              <a:solidFill>
                <a:srgbClr val="8C8C8C"/>
              </a:solidFill>
              <a:round/>
            </a:ln>
          </p:spPr>
        </p:cxnSp>
        <p:sp>
          <p:nvSpPr>
            <p:cNvPr id="61" name="Rectangle 60"/>
            <p:cNvSpPr/>
            <p:nvPr/>
          </p:nvSpPr>
          <p:spPr>
            <a:xfrm>
              <a:off x="3043767" y="4432300"/>
              <a:ext cx="63500" cy="635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3661833" y="3898900"/>
              <a:ext cx="1020233" cy="355600"/>
            </a:xfrm>
            <a:prstGeom prst="rect">
              <a:avLst/>
            </a:prstGeom>
            <a:solidFill>
              <a:srgbClr val="F8F1F1"/>
            </a:solidFill>
            <a:ln w="7620">
              <a:solidFill>
                <a:srgbClr val="EFE1E1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3661833" y="38989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车辆动力学</a:t>
              </a:r>
              <a:br>
                <a:rPr lang="zh-CN" altLang="en-US" sz="850"/>
              </a:b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智能体</a:t>
              </a:r>
            </a:p>
          </p:txBody>
        </p:sp>
        <p:cxnSp>
          <p:nvCxnSpPr>
            <p:cNvPr id="64" name="Connector 63"/>
            <p:cNvCxnSpPr/>
            <p:nvPr/>
          </p:nvCxnSpPr>
          <p:spPr>
            <a:xfrm>
              <a:off x="4171950" y="4254500"/>
              <a:ext cx="0" cy="177800"/>
            </a:xfrm>
            <a:prstGeom prst="line">
              <a:avLst/>
            </a:prstGeom>
            <a:ln w="9525">
              <a:solidFill>
                <a:srgbClr val="8C8C8C"/>
              </a:solidFill>
              <a:round/>
            </a:ln>
          </p:spPr>
        </p:cxnSp>
        <p:sp>
          <p:nvSpPr>
            <p:cNvPr id="65" name="Rectangle 64"/>
            <p:cNvSpPr/>
            <p:nvPr/>
          </p:nvSpPr>
          <p:spPr>
            <a:xfrm>
              <a:off x="4140200" y="4432300"/>
              <a:ext cx="63500" cy="635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4758267" y="3898900"/>
              <a:ext cx="1020233" cy="355600"/>
            </a:xfrm>
            <a:prstGeom prst="rect">
              <a:avLst/>
            </a:prstGeom>
            <a:solidFill>
              <a:srgbClr val="F8F1F1"/>
            </a:solidFill>
            <a:ln w="7620">
              <a:solidFill>
                <a:srgbClr val="EFE1E1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758267" y="38989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线路</a:t>
              </a:r>
              <a:br>
                <a:rPr lang="zh-CN" altLang="en-US" sz="850"/>
              </a:b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智能体</a:t>
              </a:r>
            </a:p>
          </p:txBody>
        </p:sp>
        <p:cxnSp>
          <p:nvCxnSpPr>
            <p:cNvPr id="68" name="Connector 67"/>
            <p:cNvCxnSpPr/>
            <p:nvPr/>
          </p:nvCxnSpPr>
          <p:spPr>
            <a:xfrm>
              <a:off x="5268383" y="4254500"/>
              <a:ext cx="0" cy="177800"/>
            </a:xfrm>
            <a:prstGeom prst="line">
              <a:avLst/>
            </a:prstGeom>
            <a:ln w="9525">
              <a:solidFill>
                <a:srgbClr val="8C8C8C"/>
              </a:solidFill>
              <a:round/>
            </a:ln>
          </p:spPr>
        </p:cxnSp>
        <p:sp>
          <p:nvSpPr>
            <p:cNvPr id="69" name="Rectangle 68"/>
            <p:cNvSpPr/>
            <p:nvPr/>
          </p:nvSpPr>
          <p:spPr>
            <a:xfrm>
              <a:off x="5236633" y="4432300"/>
              <a:ext cx="63500" cy="635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5854700" y="3898900"/>
              <a:ext cx="1020233" cy="3556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EDEDE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5854700" y="38989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牵引系统</a:t>
              </a:r>
              <a:br>
                <a:rPr lang="zh-CN" altLang="en-US" sz="850"/>
              </a:b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预留扩展</a:t>
              </a:r>
            </a:p>
          </p:txBody>
        </p:sp>
        <p:cxnSp>
          <p:nvCxnSpPr>
            <p:cNvPr id="72" name="Connector 71"/>
            <p:cNvCxnSpPr/>
            <p:nvPr/>
          </p:nvCxnSpPr>
          <p:spPr>
            <a:xfrm>
              <a:off x="6364817" y="4254500"/>
              <a:ext cx="0" cy="177800"/>
            </a:xfrm>
            <a:prstGeom prst="line">
              <a:avLst/>
            </a:prstGeom>
            <a:ln w="9525">
              <a:solidFill>
                <a:srgbClr val="DEDEDE"/>
              </a:solidFill>
              <a:prstDash val="dash"/>
              <a:round/>
            </a:ln>
          </p:spPr>
        </p:cxnSp>
        <p:sp>
          <p:nvSpPr>
            <p:cNvPr id="73" name="Rectangle 72"/>
            <p:cNvSpPr/>
            <p:nvPr/>
          </p:nvSpPr>
          <p:spPr>
            <a:xfrm>
              <a:off x="6333067" y="4432300"/>
              <a:ext cx="63500" cy="63500"/>
            </a:xfrm>
            <a:prstGeom prst="rect">
              <a:avLst/>
            </a:prstGeom>
            <a:solidFill>
              <a:srgbClr val="DEDEDE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6951133" y="3898900"/>
              <a:ext cx="1020233" cy="3556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EDEDE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6951133" y="38989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制动系统</a:t>
              </a:r>
              <a:br>
                <a:rPr lang="zh-CN" altLang="en-US" sz="850"/>
              </a:b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预留扩展</a:t>
              </a:r>
            </a:p>
          </p:txBody>
        </p:sp>
        <p:cxnSp>
          <p:nvCxnSpPr>
            <p:cNvPr id="76" name="Connector 75"/>
            <p:cNvCxnSpPr/>
            <p:nvPr/>
          </p:nvCxnSpPr>
          <p:spPr>
            <a:xfrm>
              <a:off x="7461250" y="4254500"/>
              <a:ext cx="0" cy="177800"/>
            </a:xfrm>
            <a:prstGeom prst="line">
              <a:avLst/>
            </a:prstGeom>
            <a:ln w="9525">
              <a:solidFill>
                <a:srgbClr val="DEDEDE"/>
              </a:solidFill>
              <a:prstDash val="dash"/>
              <a:round/>
            </a:ln>
          </p:spPr>
        </p:cxnSp>
        <p:sp>
          <p:nvSpPr>
            <p:cNvPr id="77" name="Rectangle 76"/>
            <p:cNvSpPr/>
            <p:nvPr/>
          </p:nvSpPr>
          <p:spPr>
            <a:xfrm>
              <a:off x="7429500" y="4432300"/>
              <a:ext cx="63500" cy="63500"/>
            </a:xfrm>
            <a:prstGeom prst="rect">
              <a:avLst/>
            </a:prstGeom>
            <a:solidFill>
              <a:srgbClr val="DEDEDE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8047567" y="3898900"/>
              <a:ext cx="1020233" cy="3556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EDEDE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8047567" y="38989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辅助系统</a:t>
              </a:r>
              <a:br>
                <a:rPr lang="zh-CN" altLang="en-US" sz="850"/>
              </a:b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预留扩展</a:t>
              </a:r>
            </a:p>
          </p:txBody>
        </p:sp>
        <p:cxnSp>
          <p:nvCxnSpPr>
            <p:cNvPr id="80" name="Connector 79"/>
            <p:cNvCxnSpPr/>
            <p:nvPr/>
          </p:nvCxnSpPr>
          <p:spPr>
            <a:xfrm>
              <a:off x="8557683" y="4254500"/>
              <a:ext cx="0" cy="177800"/>
            </a:xfrm>
            <a:prstGeom prst="line">
              <a:avLst/>
            </a:prstGeom>
            <a:ln w="9525">
              <a:solidFill>
                <a:srgbClr val="DEDEDE"/>
              </a:solidFill>
              <a:prstDash val="dash"/>
              <a:round/>
            </a:ln>
          </p:spPr>
        </p:cxnSp>
        <p:sp>
          <p:nvSpPr>
            <p:cNvPr id="81" name="Rectangle 80"/>
            <p:cNvSpPr/>
            <p:nvPr/>
          </p:nvSpPr>
          <p:spPr>
            <a:xfrm>
              <a:off x="8525933" y="4432300"/>
              <a:ext cx="63500" cy="63500"/>
            </a:xfrm>
            <a:prstGeom prst="rect">
              <a:avLst/>
            </a:prstGeom>
            <a:solidFill>
              <a:srgbClr val="DEDEDE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2565400" y="4495800"/>
              <a:ext cx="6502400" cy="3937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2565400" y="4495800"/>
              <a:ext cx="6502400" cy="3937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350"/>
                </a:lnSpc>
                <a:buNone/>
              </a:pPr>
              <a:r>
                <a:rPr lang="zh-CN" altLang="en-US" sz="1000" b="1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02 多智能体协同运行与调度引擎</a:t>
              </a:r>
            </a:p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750" b="0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经 01 标准化接口接入 · 实时协同求解 · 时序同步 · 状态同步</a:t>
              </a:r>
            </a:p>
          </p:txBody>
        </p:sp>
        <p:cxnSp>
          <p:nvCxnSpPr>
            <p:cNvPr id="84" name="Connector 83"/>
            <p:cNvCxnSpPr/>
            <p:nvPr/>
          </p:nvCxnSpPr>
          <p:spPr>
            <a:xfrm>
              <a:off x="5816600" y="4902200"/>
              <a:ext cx="0" cy="29210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85" name="TextBox 84"/>
            <p:cNvSpPr txBox="1"/>
            <p:nvPr/>
          </p:nvSpPr>
          <p:spPr>
            <a:xfrm>
              <a:off x="5880100" y="4927600"/>
              <a:ext cx="508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集成</a:t>
              </a:r>
            </a:p>
          </p:txBody>
        </p:sp>
        <p:sp>
          <p:nvSpPr>
            <p:cNvPr id="86" name="Rectangle 85"/>
            <p:cNvSpPr/>
            <p:nvPr/>
          </p:nvSpPr>
          <p:spPr>
            <a:xfrm>
              <a:off x="2565400" y="5994400"/>
              <a:ext cx="6502400" cy="127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7" name="Rectangle 86"/>
            <p:cNvSpPr/>
            <p:nvPr/>
          </p:nvSpPr>
          <p:spPr>
            <a:xfrm>
              <a:off x="25654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27940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30226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0" name="Rectangle 89"/>
            <p:cNvSpPr/>
            <p:nvPr/>
          </p:nvSpPr>
          <p:spPr>
            <a:xfrm>
              <a:off x="32512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1" name="Rectangle 90"/>
            <p:cNvSpPr/>
            <p:nvPr/>
          </p:nvSpPr>
          <p:spPr>
            <a:xfrm>
              <a:off x="34798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37084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39370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41656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5" name="Rectangle 94"/>
            <p:cNvSpPr/>
            <p:nvPr/>
          </p:nvSpPr>
          <p:spPr>
            <a:xfrm>
              <a:off x="43942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46228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48514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50800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53086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55372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57658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2" name="Rectangle 101"/>
            <p:cNvSpPr/>
            <p:nvPr/>
          </p:nvSpPr>
          <p:spPr>
            <a:xfrm>
              <a:off x="59944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62230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64516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66802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69088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7" name="Rectangle 106"/>
            <p:cNvSpPr/>
            <p:nvPr/>
          </p:nvSpPr>
          <p:spPr>
            <a:xfrm>
              <a:off x="71374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73660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75946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0" name="Rectangle 109"/>
            <p:cNvSpPr/>
            <p:nvPr/>
          </p:nvSpPr>
          <p:spPr>
            <a:xfrm>
              <a:off x="78232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1" name="Rectangle 110"/>
            <p:cNvSpPr/>
            <p:nvPr/>
          </p:nvSpPr>
          <p:spPr>
            <a:xfrm>
              <a:off x="80518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2" name="Rectangle 111"/>
            <p:cNvSpPr/>
            <p:nvPr/>
          </p:nvSpPr>
          <p:spPr>
            <a:xfrm>
              <a:off x="82804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85090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87376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5" name="Rectangle 114"/>
            <p:cNvSpPr/>
            <p:nvPr/>
          </p:nvSpPr>
          <p:spPr>
            <a:xfrm>
              <a:off x="89662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116" name="Picture 115" descr="locomotive_premium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673600" y="5238496"/>
              <a:ext cx="3048000" cy="762000"/>
            </a:xfrm>
            <a:prstGeom prst="rect">
              <a:avLst/>
            </a:prstGeom>
          </p:spPr>
        </p:pic>
        <p:sp>
          <p:nvSpPr>
            <p:cNvPr id="117" name="TextBox 116"/>
            <p:cNvSpPr txBox="1"/>
            <p:nvPr/>
          </p:nvSpPr>
          <p:spPr>
            <a:xfrm>
              <a:off x="2565400" y="5257800"/>
              <a:ext cx="1587500" cy="1905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400"/>
                </a:lnSpc>
                <a:buNone/>
              </a:pPr>
              <a:r>
                <a:rPr lang="zh-CN" altLang="en-US" sz="10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04 列车级数字样机</a:t>
              </a:r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2565400" y="5486400"/>
              <a:ext cx="1524000" cy="304800"/>
            </a:xfrm>
            <a:prstGeom prst="rect">
              <a:avLst/>
            </a:prstGeom>
            <a:noFill/>
          </p:spPr>
          <p:txBody>
            <a:bodyPr wrap="squar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关键系统仿真智能体 ＋ 协同运行与调度引擎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9474200" y="4305300"/>
              <a:ext cx="2159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可接入现有条件</a:t>
              </a:r>
            </a:p>
          </p:txBody>
        </p:sp>
        <p:sp>
          <p:nvSpPr>
            <p:cNvPr id="120" name="Rectangle 119"/>
            <p:cNvSpPr/>
            <p:nvPr/>
          </p:nvSpPr>
          <p:spPr>
            <a:xfrm>
              <a:off x="9474200" y="4470400"/>
              <a:ext cx="2159000" cy="4445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21" name="Rectangle 120"/>
            <p:cNvSpPr/>
            <p:nvPr/>
          </p:nvSpPr>
          <p:spPr>
            <a:xfrm>
              <a:off x="9474200" y="4470400"/>
              <a:ext cx="19050" cy="44450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22" name="TextBox 121"/>
            <p:cNvSpPr txBox="1"/>
            <p:nvPr/>
          </p:nvSpPr>
          <p:spPr>
            <a:xfrm>
              <a:off x="9601200" y="4521200"/>
              <a:ext cx="1930400" cy="1651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200"/>
                </a:lnSpc>
                <a:buNone/>
              </a:pP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HIL 台架：控制器在环</a:t>
              </a:r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9601200" y="4711700"/>
              <a:ext cx="1930400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经验数据用于智能体标定</a:t>
              </a:r>
            </a:p>
          </p:txBody>
        </p:sp>
        <p:cxnSp>
          <p:nvCxnSpPr>
            <p:cNvPr id="124" name="Connector 123"/>
            <p:cNvCxnSpPr/>
            <p:nvPr/>
          </p:nvCxnSpPr>
          <p:spPr>
            <a:xfrm flipH="1">
              <a:off x="9105900" y="4692650"/>
              <a:ext cx="342900" cy="0"/>
            </a:xfrm>
            <a:prstGeom prst="line">
              <a:avLst/>
            </a:prstGeom>
            <a:ln w="11430">
              <a:solidFill>
                <a:srgbClr val="3A3A3A"/>
              </a:solidFill>
              <a:prstDash val="dash"/>
              <a:round/>
              <a:tailEnd type="triangle" w="med" len="med"/>
            </a:ln>
          </p:spPr>
        </p:cxnSp>
        <p:sp>
          <p:nvSpPr>
            <p:cNvPr id="125" name="TextBox 124"/>
            <p:cNvSpPr txBox="1"/>
            <p:nvPr/>
          </p:nvSpPr>
          <p:spPr>
            <a:xfrm>
              <a:off x="9474200" y="4953000"/>
              <a:ext cx="2159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支撑</a:t>
              </a:r>
            </a:p>
          </p:txBody>
        </p:sp>
        <p:sp>
          <p:nvSpPr>
            <p:cNvPr id="126" name="Rectangle 125"/>
            <p:cNvSpPr/>
            <p:nvPr/>
          </p:nvSpPr>
          <p:spPr>
            <a:xfrm>
              <a:off x="9474200" y="5143500"/>
              <a:ext cx="2159000" cy="9525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27" name="Rectangle 126"/>
            <p:cNvSpPr/>
            <p:nvPr/>
          </p:nvSpPr>
          <p:spPr>
            <a:xfrm>
              <a:off x="9474200" y="5143500"/>
              <a:ext cx="19050" cy="9525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28" name="TextBox 127"/>
            <p:cNvSpPr txBox="1"/>
            <p:nvPr/>
          </p:nvSpPr>
          <p:spPr>
            <a:xfrm>
              <a:off x="9601200" y="5219700"/>
              <a:ext cx="1930400" cy="1651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20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列车关键性能验证</a:t>
              </a:r>
            </a:p>
          </p:txBody>
        </p:sp>
        <p:sp>
          <p:nvSpPr>
            <p:cNvPr id="129" name="TextBox 128"/>
            <p:cNvSpPr txBox="1"/>
            <p:nvPr/>
          </p:nvSpPr>
          <p:spPr>
            <a:xfrm>
              <a:off x="9601200" y="5410200"/>
              <a:ext cx="1930400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速度跟踪 · 牵引能耗 · 运行平稳性</a:t>
              </a:r>
            </a:p>
          </p:txBody>
        </p:sp>
        <p:cxnSp>
          <p:nvCxnSpPr>
            <p:cNvPr id="130" name="Connector 129"/>
            <p:cNvCxnSpPr/>
            <p:nvPr/>
          </p:nvCxnSpPr>
          <p:spPr>
            <a:xfrm>
              <a:off x="9601200" y="5626100"/>
              <a:ext cx="1905000" cy="0"/>
            </a:xfrm>
            <a:prstGeom prst="line">
              <a:avLst/>
            </a:prstGeom>
            <a:ln w="6350">
              <a:solidFill>
                <a:srgbClr val="E9E9E9"/>
              </a:solidFill>
              <a:round/>
            </a:ln>
          </p:spPr>
        </p:cxnSp>
        <p:sp>
          <p:nvSpPr>
            <p:cNvPr id="131" name="TextBox 130"/>
            <p:cNvSpPr txBox="1"/>
            <p:nvPr/>
          </p:nvSpPr>
          <p:spPr>
            <a:xfrm>
              <a:off x="9601200" y="5689600"/>
              <a:ext cx="1930400" cy="1651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20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智能运维</a:t>
              </a:r>
            </a:p>
          </p:txBody>
        </p:sp>
        <p:sp>
          <p:nvSpPr>
            <p:cNvPr id="132" name="TextBox 131"/>
            <p:cNvSpPr txBox="1"/>
            <p:nvPr/>
          </p:nvSpPr>
          <p:spPr>
            <a:xfrm>
              <a:off x="9601200" y="5880100"/>
              <a:ext cx="1930400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性能复现 · 状态评估</a:t>
              </a:r>
            </a:p>
          </p:txBody>
        </p:sp>
        <p:cxnSp>
          <p:nvCxnSpPr>
            <p:cNvPr id="133" name="Connector 132"/>
            <p:cNvCxnSpPr/>
            <p:nvPr/>
          </p:nvCxnSpPr>
          <p:spPr>
            <a:xfrm>
              <a:off x="9245600" y="5619750"/>
              <a:ext cx="1905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典型应用场景：FXN5C 临哈线控速＋能耗验证，全流程交给智能体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输入一句话需求 → 引擎自动完成五步 → 验证报告 ＋ 全要素留痕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典型应用场景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12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1587500" cy="533400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输入 · 一句话需求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93900" y="1358900"/>
            <a:ext cx="9791700" cy="533400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quote-8C8C8C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000" y="1511300"/>
            <a:ext cx="2286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01900" y="1358900"/>
            <a:ext cx="91440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验证 FXN5C 在临哈线上按给定运行图运行时的</a:t>
            </a:r>
            <a:r>
              <a:rPr lang="zh-CN" altLang="en-US" sz="1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速度跟踪</a:t>
            </a: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lang="zh-CN" altLang="en-US" sz="1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牵引能耗</a:t>
            </a: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是否满足要求。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400" y="21463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引擎自动完成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425700"/>
            <a:ext cx="2153920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400" y="24257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6100" y="25273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任务理解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100" y="2794000"/>
            <a:ext cx="1874520" cy="647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对象：牵引控制系统</a:t>
            </a:r>
            <a:br>
              <a:rPr lang="zh-CN" altLang="en-US" sz="950"/>
            </a:b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性能：速度跟踪、牵引能耗</a:t>
            </a:r>
          </a:p>
        </p:txBody>
      </p:sp>
      <p:sp>
        <p:nvSpPr>
          <p:cNvPr id="18" name="Isosceles Triangle 17"/>
          <p:cNvSpPr/>
          <p:nvPr/>
        </p:nvSpPr>
        <p:spPr>
          <a:xfrm rot="5400000">
            <a:off x="2573020" y="291465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12720" y="2425700"/>
            <a:ext cx="2153920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12720" y="24257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52420" y="25273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工况生成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2420" y="2794000"/>
            <a:ext cx="1874520" cy="647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临哈线数据 × 干／湿轨面 × 满／空载 × 坡道、曲线、隧道</a:t>
            </a:r>
          </a:p>
        </p:txBody>
      </p:sp>
      <p:sp>
        <p:nvSpPr>
          <p:cNvPr id="23" name="Isosceles Triangle 22"/>
          <p:cNvSpPr/>
          <p:nvPr/>
        </p:nvSpPr>
        <p:spPr>
          <a:xfrm rot="5400000">
            <a:off x="4879340" y="291465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19040" y="2425700"/>
            <a:ext cx="2153920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19040" y="24257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58740" y="25273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装配与调度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58740" y="2794000"/>
            <a:ext cx="1874520" cy="647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自动装配控制、动力学、线路智能体，按工况分配精度与算力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7185660" y="291465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25360" y="2425700"/>
            <a:ext cx="2153920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25360" y="24257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65060" y="25273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04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执行与判读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5060" y="2794000"/>
            <a:ext cx="1874520" cy="647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协同求解，定位异常（如某曲线段速度超差）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9491980" y="291465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31680" y="2425700"/>
            <a:ext cx="2153920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31680" y="24257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71380" y="25273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05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输出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71380" y="2794000"/>
            <a:ext cx="1874520" cy="647700"/>
          </a:xfrm>
          <a:prstGeom prst="rect">
            <a:avLst/>
          </a:prstGeom>
          <a:noFill/>
        </p:spPr>
        <p:txBody>
          <a:bodyPr wrap="square" anchor="t" lIns="0" tIns="0" rIns="12065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验证报告＋全程留痕，可回放、可回归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6400" y="37719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与现有做法对比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06400" y="4330700"/>
            <a:ext cx="11379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40" name="TextBox 39"/>
          <p:cNvSpPr txBox="1"/>
          <p:nvPr/>
        </p:nvSpPr>
        <p:spPr>
          <a:xfrm>
            <a:off x="508000" y="4051300"/>
            <a:ext cx="1955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环节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7000" y="4051300"/>
            <a:ext cx="3352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3000" y="4051300"/>
            <a:ext cx="5461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应用引擎后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8000" y="4330700"/>
            <a:ext cx="19558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工况准备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7000" y="4330700"/>
            <a:ext cx="33528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人工编写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23000" y="4330700"/>
            <a:ext cx="54610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按线路资料与判据自动生成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06400" y="47752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7" name="TextBox 46"/>
          <p:cNvSpPr txBox="1"/>
          <p:nvPr/>
        </p:nvSpPr>
        <p:spPr>
          <a:xfrm>
            <a:off x="508000" y="4775200"/>
            <a:ext cx="19558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环境搭建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67000" y="4775200"/>
            <a:ext cx="33528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台架＋人工联调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23000" y="4775200"/>
            <a:ext cx="54610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自动装配智能体与算力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6400" y="52197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1" name="TextBox 50"/>
          <p:cNvSpPr txBox="1"/>
          <p:nvPr/>
        </p:nvSpPr>
        <p:spPr>
          <a:xfrm>
            <a:off x="508000" y="5219700"/>
            <a:ext cx="19558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结果判读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67000" y="5219700"/>
            <a:ext cx="33528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人工看曲线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23000" y="5219700"/>
            <a:ext cx="54610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自动比对判据、定位原因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06400" y="56642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创新点与技术定位：先进性不在单项技术，而在调度的维度与粒度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三项突破 · 技术定位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创新点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13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三项突破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6400" y="1905000"/>
            <a:ext cx="11379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11" name="TextBox 10"/>
          <p:cNvSpPr txBox="1"/>
          <p:nvPr/>
        </p:nvSpPr>
        <p:spPr>
          <a:xfrm>
            <a:off x="508000" y="1625600"/>
            <a:ext cx="2590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突破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2000" y="1625600"/>
            <a:ext cx="5257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技术机制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0" y="1625600"/>
            <a:ext cx="2921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带来的变化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1905000"/>
            <a:ext cx="2590800" cy="419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调度对象升级为智能体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2000" y="1905000"/>
            <a:ext cx="5257800" cy="419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智能体自主标定、自主判读，引擎调度的是智能体而非算例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3000" y="1905000"/>
            <a:ext cx="2921000" cy="419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人退出执行回路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400" y="23241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8" name="TextBox 17"/>
          <p:cNvSpPr txBox="1"/>
          <p:nvPr/>
        </p:nvSpPr>
        <p:spPr>
          <a:xfrm>
            <a:off x="508000" y="2324100"/>
            <a:ext cx="2590800" cy="419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② 调度多一个维度：保真度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2000" y="2324100"/>
            <a:ext cx="5257800" cy="419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按工况切换降阶／全保真，GPU、NPU 算力随之调配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3000" y="2324100"/>
            <a:ext cx="2921000" cy="419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批量提速与关键工况精度兼得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6400" y="27432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2" name="TextBox 21"/>
          <p:cNvSpPr txBox="1"/>
          <p:nvPr/>
        </p:nvSpPr>
        <p:spPr>
          <a:xfrm>
            <a:off x="508000" y="2743200"/>
            <a:ext cx="2590800" cy="419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③ 调度基础是可复现沙箱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02000" y="2743200"/>
            <a:ext cx="5257800" cy="419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参数、模型版本、随机种子全程留痕与回放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3000" y="2743200"/>
            <a:ext cx="2921000" cy="419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现场问题可复现，改进后可回归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6400" y="31623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6" name="TextBox 25"/>
          <p:cNvSpPr txBox="1"/>
          <p:nvPr/>
        </p:nvSpPr>
        <p:spPr>
          <a:xfrm>
            <a:off x="406400" y="34163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技术定位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3416300"/>
            <a:ext cx="10642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不替代现有工具，把它们接起来、调度起来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6400" y="3975100"/>
            <a:ext cx="11379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29" name="TextBox 28"/>
          <p:cNvSpPr txBox="1"/>
          <p:nvPr/>
        </p:nvSpPr>
        <p:spPr>
          <a:xfrm>
            <a:off x="508000" y="3695700"/>
            <a:ext cx="2590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现有手段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02000" y="3695700"/>
            <a:ext cx="3987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能做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3000" y="3695700"/>
            <a:ext cx="4191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做不到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8000" y="3975100"/>
            <a:ext cx="25908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商用仿真软件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02000" y="3975100"/>
            <a:ext cx="39878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单专业高精度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3000" y="3975100"/>
            <a:ext cx="41910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列车级协同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06400" y="43180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6" name="TextBox 35"/>
          <p:cNvSpPr txBox="1"/>
          <p:nvPr/>
        </p:nvSpPr>
        <p:spPr>
          <a:xfrm>
            <a:off x="508000" y="4318000"/>
            <a:ext cx="25908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协同仿真标准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02000" y="4318000"/>
            <a:ext cx="39878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模型封装与交换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3000" y="4318000"/>
            <a:ext cx="41910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智能编排、实时性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06400" y="46609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0" name="TextBox 39"/>
          <p:cNvSpPr txBox="1"/>
          <p:nvPr/>
        </p:nvSpPr>
        <p:spPr>
          <a:xfrm>
            <a:off x="508000" y="4660900"/>
            <a:ext cx="25908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HIL 试验台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02000" y="4660900"/>
            <a:ext cx="39878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控制器实时验证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3000" y="4660900"/>
            <a:ext cx="41910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工况受限、不可批量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06400" y="50038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4" name="TextBox 43"/>
          <p:cNvSpPr txBox="1"/>
          <p:nvPr/>
        </p:nvSpPr>
        <p:spPr>
          <a:xfrm>
            <a:off x="508000" y="5003800"/>
            <a:ext cx="25908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通用智能体框架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02000" y="5003800"/>
            <a:ext cx="39878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任务编排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3000" y="5003800"/>
            <a:ext cx="4191000" cy="342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多物理域实时协同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06400" y="53467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8" name="Rectangle 47"/>
          <p:cNvSpPr/>
          <p:nvPr/>
        </p:nvSpPr>
        <p:spPr>
          <a:xfrm>
            <a:off x="406400" y="5537200"/>
            <a:ext cx="19050" cy="571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84200" y="5537200"/>
            <a:ext cx="11201400" cy="571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750"/>
              </a:lnSpc>
              <a:buNone/>
            </a:pPr>
            <a:r>
              <a:rPr lang="zh-CN" altLang="en-US"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在成熟技术之上，补上“</a:t>
            </a:r>
            <a:r>
              <a:rPr lang="zh-CN" altLang="en-US" sz="12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面向列车级性能验证的智能编排与实时协同</a:t>
            </a:r>
            <a:r>
              <a:rPr lang="zh-CN" altLang="en-US"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”这一层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阶段目标与进度：四个阶段，每个里程碑一道考题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研究周期 2027.01—2028.12（24 个月） · 完成 → 突破 → 建成 → 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阶段目标与进度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14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651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2027 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7900" y="1346200"/>
            <a:ext cx="5651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2028 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57900" y="1346200"/>
            <a:ext cx="0" cy="876300"/>
          </a:xfrm>
          <a:prstGeom prst="line">
            <a:avLst/>
          </a:prstGeom>
          <a:ln w="9525">
            <a:solidFill>
              <a:srgbClr val="DEDEDE"/>
            </a:solidFill>
            <a:prstDash val="dash"/>
            <a:round/>
          </a:ln>
        </p:spPr>
      </p:cxnSp>
      <p:sp>
        <p:nvSpPr>
          <p:cNvPr id="12" name="Rectangle 11"/>
          <p:cNvSpPr/>
          <p:nvPr/>
        </p:nvSpPr>
        <p:spPr>
          <a:xfrm>
            <a:off x="406400" y="1600200"/>
            <a:ext cx="2825750" cy="355600"/>
          </a:xfrm>
          <a:prstGeom prst="rect">
            <a:avLst/>
          </a:prstGeom>
          <a:solidFill>
            <a:srgbClr val="D6A7A9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阶段一 · 架构与规范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4850" y="1600200"/>
            <a:ext cx="4225925" cy="355600"/>
          </a:xfrm>
          <a:prstGeom prst="rect">
            <a:avLst/>
          </a:prstGeom>
          <a:solidFill>
            <a:srgbClr val="B75A5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阶段二 · 智能体与引擎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3475" y="1600200"/>
            <a:ext cx="2813050" cy="3556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阶段三 · 样机与验证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9225" y="1600200"/>
            <a:ext cx="1400175" cy="3556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阶段四 · 示范与验收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" y="2006600"/>
            <a:ext cx="11303000" cy="190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0050" y="2025650"/>
            <a:ext cx="12700" cy="762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1008" y="20256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41967" y="20256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12925" y="20256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3883" y="20256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54842" y="20256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25800" y="20256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96758" y="20256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7717" y="20256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8675" y="20256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09633" y="20256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80592" y="20256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51550" y="2025650"/>
            <a:ext cx="12700" cy="762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22508" y="20256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93467" y="20256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64425" y="20256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35383" y="20256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06342" y="20256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77300" y="20256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48258" y="20256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819217" y="20256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90175" y="20256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761133" y="20256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232092" y="20256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03050" y="2025650"/>
            <a:ext cx="12700" cy="762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31396" y="20955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44271" y="20955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7146" y="20955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70021" y="20955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2896" y="20955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95771" y="20955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08646" y="20955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21521" y="20955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12</a:t>
            </a:r>
          </a:p>
        </p:txBody>
      </p:sp>
      <p:sp>
        <p:nvSpPr>
          <p:cNvPr id="50" name="Diamond 49"/>
          <p:cNvSpPr/>
          <p:nvPr/>
        </p:nvSpPr>
        <p:spPr>
          <a:xfrm>
            <a:off x="3155950" y="2324100"/>
            <a:ext cx="152400" cy="152400"/>
          </a:xfrm>
          <a:prstGeom prst="diamond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01900" y="2514600"/>
            <a:ext cx="14605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M1 · 2027.06</a:t>
            </a:r>
          </a:p>
        </p:txBody>
      </p:sp>
      <p:sp>
        <p:nvSpPr>
          <p:cNvPr id="52" name="Diamond 51"/>
          <p:cNvSpPr/>
          <p:nvPr/>
        </p:nvSpPr>
        <p:spPr>
          <a:xfrm>
            <a:off x="7394575" y="2324100"/>
            <a:ext cx="152400" cy="152400"/>
          </a:xfrm>
          <a:prstGeom prst="diamond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40525" y="2514600"/>
            <a:ext cx="14605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M2 · 2028.03</a:t>
            </a:r>
          </a:p>
        </p:txBody>
      </p:sp>
      <p:sp>
        <p:nvSpPr>
          <p:cNvPr id="54" name="Diamond 53"/>
          <p:cNvSpPr/>
          <p:nvPr/>
        </p:nvSpPr>
        <p:spPr>
          <a:xfrm>
            <a:off x="10220325" y="2324100"/>
            <a:ext cx="152400" cy="152400"/>
          </a:xfrm>
          <a:prstGeom prst="diamond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66275" y="2514600"/>
            <a:ext cx="14605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M3 · 2028.09</a:t>
            </a:r>
          </a:p>
        </p:txBody>
      </p:sp>
      <p:sp>
        <p:nvSpPr>
          <p:cNvPr id="56" name="Diamond 55"/>
          <p:cNvSpPr/>
          <p:nvPr/>
        </p:nvSpPr>
        <p:spPr>
          <a:xfrm>
            <a:off x="11633200" y="2324100"/>
            <a:ext cx="152400" cy="152400"/>
          </a:xfrm>
          <a:prstGeom prst="diamond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48900" y="2514600"/>
            <a:ext cx="14605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M4 · 2028.12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06400" y="3213100"/>
            <a:ext cx="11379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59" name="TextBox 58"/>
          <p:cNvSpPr txBox="1"/>
          <p:nvPr/>
        </p:nvSpPr>
        <p:spPr>
          <a:xfrm>
            <a:off x="508000" y="2933700"/>
            <a:ext cx="1193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阶段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05000" y="2933700"/>
            <a:ext cx="4622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31000" y="2933700"/>
            <a:ext cx="4953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检验（考题）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8000" y="3213100"/>
            <a:ext cx="1193800" cy="546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05000" y="3213100"/>
            <a:ext cx="4622800" cy="546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完成总体架构与接口规范设计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31000" y="3213100"/>
            <a:ext cx="4953000" cy="546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规范通过评审；判据首批覆盖三项关键性能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06400" y="37592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66" name="TextBox 65"/>
          <p:cNvSpPr txBox="1"/>
          <p:nvPr/>
        </p:nvSpPr>
        <p:spPr>
          <a:xfrm>
            <a:off x="508000" y="3759200"/>
            <a:ext cx="1193800" cy="546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05000" y="3759200"/>
            <a:ext cx="4622800" cy="546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突破实时协同与保真度调度技术，研制智能体与引擎原理样机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31000" y="3759200"/>
            <a:ext cx="4953000" cy="546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原理样机完成</a:t>
            </a:r>
            <a:r>
              <a:rPr lang="zh-CN" altLang="en-US" sz="10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个工况自动装配与调度；智能体与实测比对达标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406400" y="43053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70" name="TextBox 69"/>
          <p:cNvSpPr txBox="1"/>
          <p:nvPr/>
        </p:nvSpPr>
        <p:spPr>
          <a:xfrm>
            <a:off x="508000" y="4305300"/>
            <a:ext cx="1193800" cy="546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05000" y="4305300"/>
            <a:ext cx="4622800" cy="546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建成 FXN5C 列车级数字样机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31000" y="4305300"/>
            <a:ext cx="4953000" cy="546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复现临哈线散热器冻结工况并定位原因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406400" y="48514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74" name="TextBox 73"/>
          <p:cNvSpPr txBox="1"/>
          <p:nvPr/>
        </p:nvSpPr>
        <p:spPr>
          <a:xfrm>
            <a:off x="508000" y="4851400"/>
            <a:ext cx="1193800" cy="546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05000" y="4851400"/>
            <a:ext cx="4622800" cy="546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在临哈线典型区段完成示范应用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31000" y="4851400"/>
            <a:ext cx="4953000" cy="546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一次软件迭代完成全工况回归，验证周期由约 2 个月缩短至</a:t>
            </a:r>
            <a:r>
              <a:rPr lang="zh-CN" altLang="en-US" sz="10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；第三方验证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406400" y="53975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预期成果与考核方式：四项目标，每项有成果物和考核方式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目标 → 成果物 → 考核方式 ｜ 知识产权与标准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15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400" y="1638300"/>
            <a:ext cx="11379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10" name="TextBox 9"/>
          <p:cNvSpPr txBox="1"/>
          <p:nvPr/>
        </p:nvSpPr>
        <p:spPr>
          <a:xfrm>
            <a:off x="508000" y="1358900"/>
            <a:ext cx="5003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预期目标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1358900"/>
            <a:ext cx="2971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成果物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0" y="1358900"/>
            <a:ext cx="2794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000" y="1638300"/>
            <a:ext cx="5003800" cy="4953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1 调度引擎</a:t>
            </a: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：异构智能体实时协同运行与算力动态调度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1638300"/>
            <a:ext cx="2971800" cy="4953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引擎软件 1 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0" y="1638300"/>
            <a:ext cx="2794000" cy="4953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软件演示、功能核验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6400" y="21336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7" name="TextBox 16"/>
          <p:cNvSpPr txBox="1"/>
          <p:nvPr/>
        </p:nvSpPr>
        <p:spPr>
          <a:xfrm>
            <a:off x="508000" y="2133600"/>
            <a:ext cx="5003800" cy="685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 数字样机与性能验证</a:t>
            </a: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：建成 FXN5C 数字样机，速度跟踪、牵引能耗、运行平稳性多工况协同验证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2133600"/>
            <a:ext cx="2971800" cy="685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智能体／孪生模型 1 套</a:t>
            </a:r>
            <a:br>
              <a:rPr lang="zh-CN" altLang="en-US" sz="1000"/>
            </a:b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数字样机 1 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0000" y="2133600"/>
            <a:ext cx="2794000" cy="685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智能体：与实测比对</a:t>
            </a:r>
            <a:br>
              <a:rPr lang="zh-CN" altLang="en-US" sz="1000"/>
            </a:b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数字样机：整车级协同验证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6400" y="28194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1" name="TextBox 20"/>
          <p:cNvSpPr txBox="1"/>
          <p:nvPr/>
        </p:nvSpPr>
        <p:spPr>
          <a:xfrm>
            <a:off x="508000" y="2819400"/>
            <a:ext cx="5003800" cy="685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3 方法体系与扩展能力</a:t>
            </a: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：构建方法体系与集成规范，可向制动、辅助系统扩展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2819400"/>
            <a:ext cx="2971800" cy="685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方法体系与技术规范 1 套</a:t>
            </a:r>
            <a:br>
              <a:rPr lang="zh-CN" altLang="en-US" sz="1000"/>
            </a:b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判据知识库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0" y="2819400"/>
            <a:ext cx="2794000" cy="685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知识库核验、报告评审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06400" y="35052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5" name="TextBox 24"/>
          <p:cNvSpPr txBox="1"/>
          <p:nvPr/>
        </p:nvSpPr>
        <p:spPr>
          <a:xfrm>
            <a:off x="508000" y="3505200"/>
            <a:ext cx="5003800" cy="4953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4 示范应用</a:t>
            </a: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：临哈线典型区段完成 FXN5C 示范，全工况自动回归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3505200"/>
            <a:ext cx="2971800" cy="4953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示范应用与验证报告 1 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3505200"/>
            <a:ext cx="2794000" cy="4953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示范验收、第三方验证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6400" y="40005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9" name="TextBox 28"/>
          <p:cNvSpPr txBox="1"/>
          <p:nvPr/>
        </p:nvSpPr>
        <p:spPr>
          <a:xfrm>
            <a:off x="406400" y="42799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知识产权与标准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6400" y="4559300"/>
            <a:ext cx="9525" cy="8382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6100" y="4660900"/>
            <a:ext cx="3412067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4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6100" y="5067300"/>
            <a:ext cx="3412067" cy="1841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发明专利申请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0267" y="4559300"/>
            <a:ext cx="9525" cy="8382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967" y="4660900"/>
            <a:ext cx="3412067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967" y="5067300"/>
            <a:ext cx="3412067" cy="1841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核心论文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94133" y="4559300"/>
            <a:ext cx="9525" cy="8382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33833" y="4660900"/>
            <a:ext cx="3412067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33833" y="5067300"/>
            <a:ext cx="3412067" cy="1841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企业标准草案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量化指标与效益评估：与现状对比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指标：现状 → 目标 · 效益评估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16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537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指标：与现状对比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6400" y="1905000"/>
            <a:ext cx="5537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11" name="TextBox 10"/>
          <p:cNvSpPr txBox="1"/>
          <p:nvPr/>
        </p:nvSpPr>
        <p:spPr>
          <a:xfrm>
            <a:off x="508000" y="1625600"/>
            <a:ext cx="18923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指标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3500" y="1625600"/>
            <a:ext cx="13843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1000" y="1625600"/>
            <a:ext cx="1651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1905000"/>
            <a:ext cx="1892300" cy="711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一次软件迭代的验证周期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3500" y="1905000"/>
            <a:ext cx="1384300" cy="711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约 2 个月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1000" y="1905000"/>
            <a:ext cx="1651000" cy="711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缩短 ≥ </a:t>
            </a:r>
            <a:r>
              <a:rPr lang="zh-CN" altLang="en-US" sz="10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400" y="2616200"/>
            <a:ext cx="5537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8" name="TextBox 17"/>
          <p:cNvSpPr txBox="1"/>
          <p:nvPr/>
        </p:nvSpPr>
        <p:spPr>
          <a:xfrm>
            <a:off x="508000" y="2616200"/>
            <a:ext cx="1892300" cy="711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现场验证人员投入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3500" y="2616200"/>
            <a:ext cx="1384300" cy="711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10 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616200"/>
            <a:ext cx="1651000" cy="711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减少 ≥ </a:t>
            </a:r>
            <a:r>
              <a:rPr lang="zh-CN" altLang="en-US" sz="10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6400" y="3327400"/>
            <a:ext cx="5537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2" name="TextBox 21"/>
          <p:cNvSpPr txBox="1"/>
          <p:nvPr/>
        </p:nvSpPr>
        <p:spPr>
          <a:xfrm>
            <a:off x="508000" y="3327400"/>
            <a:ext cx="1892300" cy="711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工况覆盖度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3500" y="3327400"/>
            <a:ext cx="1384300" cy="711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受台架与现场条件限制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3327400"/>
            <a:ext cx="1651000" cy="711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提升 ≥ </a:t>
            </a:r>
            <a:r>
              <a:rPr lang="zh-CN" altLang="en-US" sz="10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%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6400" y="4038600"/>
            <a:ext cx="5537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6" name="TextBox 25"/>
          <p:cNvSpPr txBox="1"/>
          <p:nvPr/>
        </p:nvSpPr>
        <p:spPr>
          <a:xfrm>
            <a:off x="508000" y="4038600"/>
            <a:ext cx="1892300" cy="711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接入异构仿真智能体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3500" y="4038600"/>
            <a:ext cx="1384300" cy="711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91000" y="4038600"/>
            <a:ext cx="1651000" cy="711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≥ </a:t>
            </a:r>
            <a:r>
              <a:rPr lang="zh-CN" altLang="en-US" sz="10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类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06400" y="4749800"/>
            <a:ext cx="5537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0" name="TextBox 29"/>
          <p:cNvSpPr txBox="1"/>
          <p:nvPr/>
        </p:nvSpPr>
        <p:spPr>
          <a:xfrm>
            <a:off x="508000" y="4749800"/>
            <a:ext cx="1892300" cy="711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协同验证典型工况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3500" y="4749800"/>
            <a:ext cx="1384300" cy="711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91000" y="4749800"/>
            <a:ext cx="1651000" cy="711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≥ </a:t>
            </a:r>
            <a:r>
              <a:rPr lang="zh-CN" altLang="en-US" sz="10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个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06400" y="5461000"/>
            <a:ext cx="5537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4" name="TextBox 33"/>
          <p:cNvSpPr txBox="1"/>
          <p:nvPr/>
        </p:nvSpPr>
        <p:spPr>
          <a:xfrm>
            <a:off x="6197600" y="1346200"/>
            <a:ext cx="5588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效益评估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7600" y="1625600"/>
            <a:ext cx="5588000" cy="1075765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97600" y="1625600"/>
            <a:ext cx="19050" cy="1075765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5400" y="1915832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技术效益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75400" y="2220632"/>
            <a:ext cx="5232400" cy="203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复杂工况可复现、可回归，形成列车级性能验证能力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7600" y="2790265"/>
            <a:ext cx="5588000" cy="15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97600" y="2790265"/>
            <a:ext cx="19050" cy="1506071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5400" y="311785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经济效益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5400" y="3422650"/>
            <a:ext cx="5232400" cy="203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减少实物试验与样车试制投入，缩短研制迭代周期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75400" y="3727450"/>
            <a:ext cx="1705480" cy="2159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减少实物试验　</a:t>
            </a:r>
            <a:r>
              <a:rPr lang="zh-CN" altLang="en-US" sz="8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≥【待填】次/年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44380" y="3727450"/>
            <a:ext cx="1597530" cy="2159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节约费用　</a:t>
            </a:r>
            <a:r>
              <a:rPr lang="zh-CN" altLang="en-US" sz="8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≥【待填】万元/年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97600" y="4385235"/>
            <a:ext cx="5588000" cy="1075765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97600" y="4385235"/>
            <a:ext cx="19050" cy="1075765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75400" y="4675468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管理与推广效益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5400" y="4980268"/>
            <a:ext cx="5232400" cy="203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验证流程标准化；可扩展到制动、辅助系统，在**内推广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经费预算：总预算 100 万元，算力是核心投入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预算明细与测算依据 · 分年度 · 合理性说明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经费预算合理性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17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08100"/>
            <a:ext cx="1524000" cy="508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800"/>
              </a:lnSpc>
              <a:buNone/>
            </a:pPr>
            <a:r>
              <a:rPr lang="zh-CN" altLang="en-US" sz="30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100</a:t>
            </a:r>
            <a:r>
              <a:rPr lang="zh-CN" altLang="en-US" sz="12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1778000"/>
            <a:ext cx="1524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总预算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93900" y="1435100"/>
            <a:ext cx="2552700" cy="3556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直接投入 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9300" y="1435100"/>
            <a:ext cx="1531620" cy="355600"/>
          </a:xfrm>
          <a:prstGeom prst="rect">
            <a:avLst/>
          </a:prstGeom>
          <a:solidFill>
            <a:srgbClr val="B45A5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人员 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03620" y="1435100"/>
            <a:ext cx="255270" cy="3556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71590" y="1435100"/>
            <a:ext cx="255270" cy="35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9560" y="1435100"/>
            <a:ext cx="255270" cy="3556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07530" y="1435100"/>
            <a:ext cx="255270" cy="3556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06400" y="2387600"/>
            <a:ext cx="67564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18" name="TextBox 17"/>
          <p:cNvSpPr txBox="1"/>
          <p:nvPr/>
        </p:nvSpPr>
        <p:spPr>
          <a:xfrm>
            <a:off x="495300" y="2108200"/>
            <a:ext cx="2286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序号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700" y="2108200"/>
            <a:ext cx="17272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科目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06700" y="2108200"/>
            <a:ext cx="685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金额（万元）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0300" y="2108200"/>
            <a:ext cx="431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占比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9900" y="2108200"/>
            <a:ext cx="2794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测算依据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300" y="2387600"/>
            <a:ext cx="228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1700" y="2387600"/>
            <a:ext cx="17272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直接投入费用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06700" y="2387600"/>
            <a:ext cx="6858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70300" y="2387600"/>
            <a:ext cx="4318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79900" y="2387600"/>
            <a:ext cx="27940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AI算力服务器（GPU+NPU异构）1台 40万；仿真与调度一体化工作站 2台 10万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6400" y="29845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9" name="TextBox 28"/>
          <p:cNvSpPr txBox="1"/>
          <p:nvPr/>
        </p:nvSpPr>
        <p:spPr>
          <a:xfrm>
            <a:off x="495300" y="2984500"/>
            <a:ext cx="228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700" y="2984500"/>
            <a:ext cx="17272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人员人工费用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6700" y="2984500"/>
            <a:ext cx="6858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70300" y="2984500"/>
            <a:ext cx="4318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30%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9900" y="2984500"/>
            <a:ext cx="27940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按投入人月测算：</a:t>
            </a:r>
            <a:br>
              <a:rPr lang="zh-CN" altLang="en-US" sz="900"/>
            </a:br>
            <a:r>
              <a:rPr lang="zh-CN" altLang="en-US" sz="9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【待填】人·月 × 【待填】万元/人·月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06400" y="35814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5" name="TextBox 34"/>
          <p:cNvSpPr txBox="1"/>
          <p:nvPr/>
        </p:nvSpPr>
        <p:spPr>
          <a:xfrm>
            <a:off x="495300" y="35814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1700" y="3581400"/>
            <a:ext cx="1727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固定资产相关费用（折旧）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6700" y="3581400"/>
            <a:ext cx="685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70300" y="3581400"/>
            <a:ext cx="431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79900" y="3581400"/>
            <a:ext cx="27940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现有仿真与测试设备折旧分摊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06400" y="40132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1" name="TextBox 40"/>
          <p:cNvSpPr txBox="1"/>
          <p:nvPr/>
        </p:nvSpPr>
        <p:spPr>
          <a:xfrm>
            <a:off x="495300" y="40132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1700" y="4013200"/>
            <a:ext cx="1727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试验检验及试制外协费用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06700" y="4013200"/>
            <a:ext cx="685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70300" y="4013200"/>
            <a:ext cx="431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79900" y="4013200"/>
            <a:ext cx="27940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建模数据采集处理 2万；模型校验与第三方验证 3万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06400" y="44450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7" name="TextBox 46"/>
          <p:cNvSpPr txBox="1"/>
          <p:nvPr/>
        </p:nvSpPr>
        <p:spPr>
          <a:xfrm>
            <a:off x="495300" y="44450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1700" y="4445000"/>
            <a:ext cx="1727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研发成果相关费用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6700" y="4445000"/>
            <a:ext cx="685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70300" y="4445000"/>
            <a:ext cx="431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9900" y="4445000"/>
            <a:ext cx="27940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发明专利申请 2万；论文与标准草案编制 3万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06400" y="48768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3" name="TextBox 52"/>
          <p:cNvSpPr txBox="1"/>
          <p:nvPr/>
        </p:nvSpPr>
        <p:spPr>
          <a:xfrm>
            <a:off x="495300" y="4876800"/>
            <a:ext cx="228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1700" y="4876800"/>
            <a:ext cx="17272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与研发活动直接相关的</a:t>
            </a:r>
            <a:br>
              <a:rPr lang="zh-CN" altLang="en-US" sz="950"/>
            </a:b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其他费用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6700" y="4876800"/>
            <a:ext cx="6858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0300" y="4876800"/>
            <a:ext cx="4318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900" y="4876800"/>
            <a:ext cx="27940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差旅费 3万；会议费 2万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06400" y="54864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9" name="Rectangle 58"/>
          <p:cNvSpPr/>
          <p:nvPr/>
        </p:nvSpPr>
        <p:spPr>
          <a:xfrm>
            <a:off x="406400" y="5486400"/>
            <a:ext cx="6756400" cy="431800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5300" y="54864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</a:p>
        </p:txBody>
      </p:sp>
      <p:sp>
        <p:nvSpPr>
          <p:cNvPr id="61" name="TextBox 60"/>
          <p:cNvSpPr txBox="1"/>
          <p:nvPr/>
        </p:nvSpPr>
        <p:spPr>
          <a:xfrm>
            <a:off x="901700" y="5486400"/>
            <a:ext cx="1727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合计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06700" y="5486400"/>
            <a:ext cx="685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100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70300" y="5486400"/>
            <a:ext cx="431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9900" y="5486400"/>
            <a:ext cx="27940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06400" y="59182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66" name="TextBox 65"/>
          <p:cNvSpPr txBox="1"/>
          <p:nvPr/>
        </p:nvSpPr>
        <p:spPr>
          <a:xfrm>
            <a:off x="7416800" y="1346200"/>
            <a:ext cx="4368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分年度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16800" y="1625600"/>
            <a:ext cx="2133600" cy="60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556500" y="1625600"/>
            <a:ext cx="8890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2027 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05800" y="1625600"/>
            <a:ext cx="11176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2800"/>
              </a:lnSpc>
              <a:buNone/>
            </a:pPr>
            <a:r>
              <a:rPr lang="zh-CN" altLang="en-US" sz="22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50</a:t>
            </a:r>
            <a:r>
              <a:rPr lang="zh-CN" altLang="en-US" sz="10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652000" y="1625600"/>
            <a:ext cx="2133600" cy="60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91700" y="1625600"/>
            <a:ext cx="8890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2028 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41000" y="1625600"/>
            <a:ext cx="11176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2800"/>
              </a:lnSpc>
              <a:buNone/>
            </a:pPr>
            <a:r>
              <a:rPr lang="zh-CN" altLang="en-US" sz="22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50</a:t>
            </a:r>
            <a:r>
              <a:rPr lang="zh-CN" altLang="en-US" sz="10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16800" y="2413000"/>
            <a:ext cx="4368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合理性说明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416800" y="2692400"/>
            <a:ext cx="4368800" cy="1007533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416800" y="2692400"/>
            <a:ext cx="19050" cy="1007533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594600" y="2973917"/>
            <a:ext cx="40132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算力与任务强相关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94600" y="3227917"/>
            <a:ext cx="4013200" cy="215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NPU 做推理与编排决策，GPU 做多物理域并行仿真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416800" y="3801533"/>
            <a:ext cx="4368800" cy="1007533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16800" y="3801533"/>
            <a:ext cx="19050" cy="1007533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594600" y="4083050"/>
            <a:ext cx="40132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人员占比 30%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94600" y="4337050"/>
            <a:ext cx="4013200" cy="215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以算法与软件开发为主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416800" y="4910667"/>
            <a:ext cx="4368800" cy="1007533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16800" y="4910667"/>
            <a:ext cx="19050" cy="1007533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594600" y="5192183"/>
            <a:ext cx="40132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无对外技术合作费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94600" y="5446183"/>
            <a:ext cx="4013200" cy="215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全部用于自主研发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项目管理计划：按四层分组承担，按里程碑绑定考核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任务分配 · 项目流程 · 时间安排 · 执行保障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项目管理计划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18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71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组织架构与任务分配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16500" y="1358900"/>
            <a:ext cx="2159000" cy="368300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user-star-FFFF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000" y="1447800"/>
            <a:ext cx="190500" cy="190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5000" y="1358900"/>
            <a:ext cx="1333500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727200"/>
            <a:ext cx="0" cy="152400"/>
          </a:xfrm>
          <a:prstGeom prst="line">
            <a:avLst/>
          </a:prstGeom>
          <a:ln w="9525">
            <a:solidFill>
              <a:srgbClr val="8C8C8C"/>
            </a:solidFill>
            <a:round/>
          </a:ln>
        </p:spPr>
      </p:cxnSp>
      <p:cxnSp>
        <p:nvCxnSpPr>
          <p:cNvPr id="14" name="Connector 13"/>
          <p:cNvCxnSpPr/>
          <p:nvPr/>
        </p:nvCxnSpPr>
        <p:spPr>
          <a:xfrm>
            <a:off x="1771650" y="1879600"/>
            <a:ext cx="8648700" cy="0"/>
          </a:xfrm>
          <a:prstGeom prst="line">
            <a:avLst/>
          </a:prstGeom>
          <a:ln w="9525">
            <a:solidFill>
              <a:srgbClr val="8C8C8C"/>
            </a:solidFill>
            <a:round/>
          </a:ln>
        </p:spPr>
      </p:cxnSp>
      <p:cxnSp>
        <p:nvCxnSpPr>
          <p:cNvPr id="15" name="Connector 14"/>
          <p:cNvCxnSpPr/>
          <p:nvPr/>
        </p:nvCxnSpPr>
        <p:spPr>
          <a:xfrm>
            <a:off x="1771650" y="1879600"/>
            <a:ext cx="0" cy="152400"/>
          </a:xfrm>
          <a:prstGeom prst="line">
            <a:avLst/>
          </a:prstGeom>
          <a:ln w="9525">
            <a:solidFill>
              <a:srgbClr val="8C8C8C"/>
            </a:solidFill>
            <a:round/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406400" y="2044700"/>
            <a:ext cx="27305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6400" y="2044700"/>
            <a:ext cx="2730500" cy="1905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6100" y="2171700"/>
            <a:ext cx="961823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C47C8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C47C80"/>
                </a:solidFill>
                <a:latin typeface="微软雅黑"/>
                <a:ea typeface="微软雅黑"/>
                <a:cs typeface="微软雅黑"/>
              </a:rPr>
              <a:t>子任务 1 组 · 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100" y="2438400"/>
            <a:ext cx="24511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100" y="2705100"/>
            <a:ext cx="24511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交付</a:t>
            </a:r>
            <a:r>
              <a:rPr lang="zh-CN" altLang="en-US" sz="9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　判据知识库、工作流定义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54550" y="1879600"/>
            <a:ext cx="0" cy="152400"/>
          </a:xfrm>
          <a:prstGeom prst="line">
            <a:avLst/>
          </a:prstGeom>
          <a:ln w="9525">
            <a:solidFill>
              <a:srgbClr val="8C8C8C"/>
            </a:solidFill>
            <a:round/>
            <a:tailEnd type="triangle" w="med" len="med"/>
          </a:ln>
        </p:spPr>
      </p:cxnSp>
      <p:sp>
        <p:nvSpPr>
          <p:cNvPr id="22" name="Rectangle 21"/>
          <p:cNvSpPr/>
          <p:nvPr/>
        </p:nvSpPr>
        <p:spPr>
          <a:xfrm>
            <a:off x="3289300" y="2044700"/>
            <a:ext cx="27305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89300" y="2044700"/>
            <a:ext cx="27305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29000" y="2171700"/>
            <a:ext cx="961823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AC454B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AC454B"/>
                </a:solidFill>
                <a:latin typeface="微软雅黑"/>
                <a:ea typeface="微软雅黑"/>
                <a:cs typeface="微软雅黑"/>
              </a:rPr>
              <a:t>子任务 2 组 · 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2438400"/>
            <a:ext cx="24511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2705100"/>
            <a:ext cx="24511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交付</a:t>
            </a:r>
            <a:r>
              <a:rPr lang="zh-CN" altLang="en-US" sz="9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　协同运行与调度引擎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537450" y="1879600"/>
            <a:ext cx="0" cy="152400"/>
          </a:xfrm>
          <a:prstGeom prst="line">
            <a:avLst/>
          </a:prstGeom>
          <a:ln w="9525">
            <a:solidFill>
              <a:srgbClr val="8C8C8C"/>
            </a:solidFill>
            <a:round/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6172200" y="2044700"/>
            <a:ext cx="27305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2044700"/>
            <a:ext cx="273050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11900" y="2171700"/>
            <a:ext cx="961823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8C1D23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子任务 3 组 · 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1900" y="2438400"/>
            <a:ext cx="24511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1900" y="2705100"/>
            <a:ext cx="24511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交付</a:t>
            </a:r>
            <a:r>
              <a:rPr lang="zh-CN" altLang="en-US" sz="9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　仿真智能体、验证报告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420350" y="1879600"/>
            <a:ext cx="0" cy="152400"/>
          </a:xfrm>
          <a:prstGeom prst="line">
            <a:avLst/>
          </a:prstGeom>
          <a:ln w="9525">
            <a:solidFill>
              <a:srgbClr val="8C8C8C"/>
            </a:solidFill>
            <a:round/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9055100" y="2044700"/>
            <a:ext cx="27305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55100" y="2044700"/>
            <a:ext cx="27305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94800" y="2171700"/>
            <a:ext cx="961823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5B1317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子任务 4 组 · 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94800" y="2438400"/>
            <a:ext cx="24511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94800" y="2705100"/>
            <a:ext cx="24511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交付</a:t>
            </a:r>
            <a:r>
              <a:rPr lang="zh-CN" altLang="en-US" sz="9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　数字样机、方法体系与规范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6400" y="3276600"/>
            <a:ext cx="5613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项目管理流程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6400" y="4533900"/>
            <a:ext cx="1289050" cy="1752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06400" y="4533900"/>
            <a:ext cx="128905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6100" y="4686300"/>
            <a:ext cx="100965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双周例会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6100" y="4978400"/>
            <a:ext cx="103505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进展同步</a:t>
            </a:r>
            <a:br>
              <a:rPr lang="zh-CN" altLang="en-US" sz="950"/>
            </a:b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问题协调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47850" y="4241800"/>
            <a:ext cx="1289050" cy="2044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847850" y="4241800"/>
            <a:ext cx="128905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987550" y="4394200"/>
            <a:ext cx="100965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月度节点检查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87550" y="4686300"/>
            <a:ext cx="103505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对照里程碑</a:t>
            </a:r>
            <a:br>
              <a:rPr lang="zh-CN" altLang="en-US" sz="950"/>
            </a:b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核查交付物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89300" y="3949700"/>
            <a:ext cx="1289050" cy="233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89300" y="3949700"/>
            <a:ext cx="128905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29000" y="4102100"/>
            <a:ext cx="100965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季度评审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29000" y="4394200"/>
            <a:ext cx="103505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方案评审</a:t>
            </a:r>
            <a:br>
              <a:rPr lang="zh-CN" altLang="en-US" sz="950"/>
            </a:b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成果确认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30750" y="3657600"/>
            <a:ext cx="1289050" cy="26289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30750" y="3657600"/>
            <a:ext cx="128905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70450" y="3810000"/>
            <a:ext cx="100965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年度总结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70450" y="4102100"/>
            <a:ext cx="103505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目标评估</a:t>
            </a:r>
            <a:br>
              <a:rPr lang="zh-CN" altLang="en-US" sz="950"/>
            </a:b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计划调整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72200" y="3276600"/>
            <a:ext cx="5613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时间安排与执行保障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72200" y="3657600"/>
            <a:ext cx="1397000" cy="330200"/>
          </a:xfrm>
          <a:prstGeom prst="rect">
            <a:avLst/>
          </a:prstGeom>
          <a:solidFill>
            <a:srgbClr val="D6A7A9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62700" y="4051300"/>
            <a:ext cx="1016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M1 · 2027.06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1900" y="3657600"/>
            <a:ext cx="2092325" cy="330200"/>
          </a:xfrm>
          <a:prstGeom prst="rect">
            <a:avLst/>
          </a:prstGeom>
          <a:solidFill>
            <a:srgbClr val="B75A5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20062" y="4051300"/>
            <a:ext cx="1016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M2 · 2028.03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86925" y="3657600"/>
            <a:ext cx="1390650" cy="3302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74250" y="4051300"/>
            <a:ext cx="1016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M3 · 2028.09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090275" y="3657600"/>
            <a:ext cx="695325" cy="3302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08689" y="4051300"/>
            <a:ext cx="1016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M4 · 2028.12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172200" y="4343400"/>
            <a:ext cx="5613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pic>
        <p:nvPicPr>
          <p:cNvPr id="66" name="Picture 65" descr="shield-check-1A1A1A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512733"/>
            <a:ext cx="177800" cy="1778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426200" y="4506383"/>
            <a:ext cx="1270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质量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32700" y="4519083"/>
            <a:ext cx="4152900" cy="203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内部评审 ＋ 第三方验证，交付物可核查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172200" y="4872567"/>
            <a:ext cx="5613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pic>
        <p:nvPicPr>
          <p:cNvPr id="70" name="Picture 69" descr="alert-triangle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041900"/>
            <a:ext cx="177800" cy="1778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6426200" y="5035550"/>
            <a:ext cx="1270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风险 → 应对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32700" y="5048250"/>
            <a:ext cx="4152900" cy="558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判据不全 → 首批聚焦三项关键性能</a:t>
            </a:r>
            <a:br>
              <a:rPr lang="zh-CN" altLang="en-US" sz="900"/>
            </a:b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同步失真 → 分层步长、关键工况全保真校核</a:t>
            </a:r>
            <a:br>
              <a:rPr lang="zh-CN" altLang="en-US" sz="900"/>
            </a:b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极端工况数据少 → 实测数据标定、第三方验证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172200" y="5757333"/>
            <a:ext cx="5613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pic>
        <p:nvPicPr>
          <p:cNvPr id="74" name="Picture 73" descr="server-1A1A1A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5926667"/>
            <a:ext cx="177800" cy="17780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6426200" y="5920317"/>
            <a:ext cx="1270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32700" y="5933017"/>
            <a:ext cx="4152900" cy="203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算力平台、HIL 台架、FXN5C 试验与运用数据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172200" y="6286500"/>
            <a:ext cx="5613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团队研究能力：为什么由我们承担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牵头单位：********** · 六项现有基础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团队研究能力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19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11379200" cy="6096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19050" cy="6096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4200" y="1358900"/>
            <a:ext cx="110490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控制系统与车辆动力学是主营方向；FXN5C 的研制、试验与运用数据在手；有 HIL 台架和现场问题记录——</a:t>
            </a: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判据来源、标定数据、验证对象都是现成的</a:t>
            </a:r>
            <a:r>
              <a:rPr lang="zh-CN" altLang="en-US"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r>
              <a:rPr lang="zh-CN" altLang="en-US" sz="10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【按实际情况调整】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2159000"/>
            <a:ext cx="3691467" cy="19875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1500" y="231140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4" name="Picture 13" descr="building-factory-2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575" y="2403475"/>
            <a:ext cx="222250" cy="2222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92200" y="23114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研发平台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2844800"/>
            <a:ext cx="3361267" cy="114935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8500" y="2844800"/>
            <a:ext cx="3107267" cy="11493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【待填：机车总体设计／控制系统开发等平台】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0267" y="2159000"/>
            <a:ext cx="3691467" cy="19875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5367" y="231140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0" name="Picture 19" descr="device-desktop-analytics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442" y="2403475"/>
            <a:ext cx="222250" cy="2222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936067" y="23114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仿真能力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5367" y="2844800"/>
            <a:ext cx="3361267" cy="114935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2367" y="2844800"/>
            <a:ext cx="3107267" cy="11493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【待填：已有的车辆动力学、牵引电传动、控制等仿真模型与软件】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4133" y="2159000"/>
            <a:ext cx="3691467" cy="19875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59233" y="231140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6" name="Picture 25" descr="test-pipe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1308" y="2403475"/>
            <a:ext cx="222250" cy="2222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779933" y="23114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试验能力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59233" y="2844800"/>
            <a:ext cx="3361267" cy="114935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6233" y="2844800"/>
            <a:ext cx="3107267" cy="11493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HIL 试验台，结合经验数据模拟运用工况；【待填：其他试验台架】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6400" y="4298950"/>
            <a:ext cx="3691467" cy="19875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71500" y="445135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2" name="Picture 31" descr="database-A61C22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575" y="4543425"/>
            <a:ext cx="222250" cy="2222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92200" y="445135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数据积累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1500" y="4984750"/>
            <a:ext cx="3361267" cy="114935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8500" y="4984750"/>
            <a:ext cx="3107267" cy="11493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【待填：FXN5C 型式试验、线路试验数据与运用记录】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0267" y="4298950"/>
            <a:ext cx="3691467" cy="19875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415367" y="445135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8" name="Picture 37" descr="clipboard-list-A61C22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442" y="4543425"/>
            <a:ext cx="222250" cy="22225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936067" y="445135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在研项目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15367" y="4984750"/>
            <a:ext cx="3361267" cy="114935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42367" y="4984750"/>
            <a:ext cx="3107267" cy="11493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【待填：**级****项目数量与名称】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4133" y="4298950"/>
            <a:ext cx="3691467" cy="19875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259233" y="445135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4" name="Picture 43" descr="users-group-A61C22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1308" y="4543425"/>
            <a:ext cx="222250" cy="22225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779933" y="445135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人才队伍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59233" y="4984750"/>
            <a:ext cx="3361267" cy="114935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86233" y="4984750"/>
            <a:ext cx="3107267" cy="11493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【待填：参研人员规模与职称结构】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成果介绍：五项成果 ＋ 知识产权与标准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软件 · 模型 · 系统 · 规范 · 报告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成果介绍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20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3691467" cy="279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36914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8800" y="1524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2" name="Picture 11" descr="settings-automation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50" y="1606550"/>
            <a:ext cx="190500" cy="190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6000" y="1498600"/>
            <a:ext cx="1905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成果1</a:t>
            </a:r>
            <a:r>
              <a:rPr lang="zh-CN" altLang="en-US" sz="850" b="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软件1套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1663700"/>
            <a:ext cx="2929467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多智能体协同运行与调度引擎</a:t>
            </a:r>
          </a:p>
        </p:txBody>
      </p:sp>
      <p:grpSp>
        <p:nvGrpSpPr>
          <p:cNvPr id="15" name="附图位置 · 调度引擎软件"/>
          <p:cNvGrpSpPr/>
          <p:nvPr/>
        </p:nvGrpSpPr>
        <p:grpSpPr>
          <a:xfrm>
            <a:off x="558800" y="2133600"/>
            <a:ext cx="3386667" cy="1333500"/>
            <a:chOff x="558800" y="2133600"/>
            <a:chExt cx="3386667" cy="1333500"/>
          </a:xfrm>
        </p:grpSpPr>
        <p:sp>
          <p:nvSpPr>
            <p:cNvPr id="16" name="Rectangle 15"/>
            <p:cNvSpPr/>
            <p:nvPr/>
          </p:nvSpPr>
          <p:spPr>
            <a:xfrm>
              <a:off x="558800" y="2133600"/>
              <a:ext cx="3386667" cy="1333500"/>
            </a:xfrm>
            <a:prstGeom prst="rect">
              <a:avLst/>
            </a:prstGeom>
            <a:solidFill>
              <a:srgbClr val="FBF6EC"/>
            </a:solidFill>
            <a:ln w="7620">
              <a:solidFill>
                <a:srgbClr val="9E6F28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17" name="Picture 16" descr="photo-9E6F28-1_6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25133" y="2457450"/>
              <a:ext cx="254000" cy="254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660400" y="2762250"/>
              <a:ext cx="3183467" cy="1778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300"/>
                </a:lnSpc>
                <a:buNone/>
              </a:pPr>
              <a:r>
                <a:rPr lang="zh-CN" altLang="en-US" sz="900" b="1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附图位置 · 调度引擎软件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60400" y="2952750"/>
              <a:ext cx="3183467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建议：软件界面截图或系统架构图</a:t>
              </a: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558800" y="3594100"/>
            <a:ext cx="3386667" cy="406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输入验证需求，自动完成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分解、装配、调度、监控与报告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0267" y="1358900"/>
            <a:ext cx="3691467" cy="279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0267" y="1358900"/>
            <a:ext cx="36914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02667" y="1524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4" name="Picture 23" descr="robot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5217" y="1606550"/>
            <a:ext cx="190500" cy="1905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859867" y="1498600"/>
            <a:ext cx="1905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成果2</a:t>
            </a:r>
            <a:r>
              <a:rPr lang="zh-CN" altLang="en-US" sz="850" b="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59867" y="1663700"/>
            <a:ext cx="2929467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关键系统仿真智能体／</a:t>
            </a:r>
            <a:br>
              <a:rPr lang="zh-CN" altLang="en-US" sz="1150"/>
            </a:b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智能孪生模型</a:t>
            </a:r>
          </a:p>
        </p:txBody>
      </p:sp>
      <p:grpSp>
        <p:nvGrpSpPr>
          <p:cNvPr id="27" name="附图位置 · 仿真智能体／孪生模型"/>
          <p:cNvGrpSpPr/>
          <p:nvPr/>
        </p:nvGrpSpPr>
        <p:grpSpPr>
          <a:xfrm>
            <a:off x="4402667" y="2133600"/>
            <a:ext cx="3386667" cy="1333500"/>
            <a:chOff x="4402667" y="2133600"/>
            <a:chExt cx="3386667" cy="1333500"/>
          </a:xfrm>
        </p:grpSpPr>
        <p:sp>
          <p:nvSpPr>
            <p:cNvPr id="28" name="Rectangle 27"/>
            <p:cNvSpPr/>
            <p:nvPr/>
          </p:nvSpPr>
          <p:spPr>
            <a:xfrm>
              <a:off x="4402667" y="2133600"/>
              <a:ext cx="3386667" cy="1333500"/>
            </a:xfrm>
            <a:prstGeom prst="rect">
              <a:avLst/>
            </a:prstGeom>
            <a:solidFill>
              <a:srgbClr val="FBF6EC"/>
            </a:solidFill>
            <a:ln w="7620">
              <a:solidFill>
                <a:srgbClr val="9E6F28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29" name="Picture 28" descr="photo-9E6F28-1_6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69000" y="2457450"/>
              <a:ext cx="254000" cy="254000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4504267" y="2762250"/>
              <a:ext cx="3183467" cy="1778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300"/>
                </a:lnSpc>
                <a:buNone/>
              </a:pPr>
              <a:r>
                <a:rPr lang="zh-CN" altLang="en-US" sz="900" b="1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附图位置 · 仿真智能体／孪生模型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504267" y="2952750"/>
              <a:ext cx="3183467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建议：模型结构图或仿真运行界面截图</a:t>
              </a:r>
            </a:p>
          </p:txBody>
        </p:sp>
      </p:grpSp>
      <p:sp>
        <p:nvSpPr>
          <p:cNvPr id="32" name="TextBox 31"/>
          <p:cNvSpPr txBox="1"/>
          <p:nvPr/>
        </p:nvSpPr>
        <p:spPr>
          <a:xfrm>
            <a:off x="4402667" y="3594100"/>
            <a:ext cx="3386667" cy="406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控制系统、车辆动力学、线路等，按实测数据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自动标定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94133" y="1358900"/>
            <a:ext cx="3691467" cy="279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94133" y="1358900"/>
            <a:ext cx="36914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46533" y="1524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6" name="Picture 35" descr="train-A61C22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9083" y="1606550"/>
            <a:ext cx="190500" cy="1905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703733" y="1498600"/>
            <a:ext cx="1905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成果3</a:t>
            </a:r>
            <a:r>
              <a:rPr lang="zh-CN" altLang="en-US" sz="850" b="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03733" y="1663700"/>
            <a:ext cx="2929467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grpSp>
        <p:nvGrpSpPr>
          <p:cNvPr id="39" name="附图位置 · 列车级数字样机"/>
          <p:cNvGrpSpPr/>
          <p:nvPr/>
        </p:nvGrpSpPr>
        <p:grpSpPr>
          <a:xfrm>
            <a:off x="8246533" y="2133600"/>
            <a:ext cx="3386667" cy="1333500"/>
            <a:chOff x="8246533" y="2133600"/>
            <a:chExt cx="3386667" cy="1333500"/>
          </a:xfrm>
        </p:grpSpPr>
        <p:sp>
          <p:nvSpPr>
            <p:cNvPr id="40" name="Rectangle 39"/>
            <p:cNvSpPr/>
            <p:nvPr/>
          </p:nvSpPr>
          <p:spPr>
            <a:xfrm>
              <a:off x="8246533" y="2133600"/>
              <a:ext cx="3386667" cy="1333500"/>
            </a:xfrm>
            <a:prstGeom prst="rect">
              <a:avLst/>
            </a:prstGeom>
            <a:solidFill>
              <a:srgbClr val="FBF6EC"/>
            </a:solidFill>
            <a:ln w="7620">
              <a:solidFill>
                <a:srgbClr val="9E6F28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41" name="Picture 40" descr="photo-9E6F28-1_6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812867" y="2457450"/>
              <a:ext cx="254000" cy="254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8348133" y="2762250"/>
              <a:ext cx="3183467" cy="1778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300"/>
                </a:lnSpc>
                <a:buNone/>
              </a:pPr>
              <a:r>
                <a:rPr lang="zh-CN" altLang="en-US" sz="900" b="1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附图位置 · 列车级数字样机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348133" y="2952750"/>
              <a:ext cx="3183467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建议：数字样机三维模型或运行界面截图</a:t>
              </a:r>
            </a:p>
          </p:txBody>
        </p:sp>
      </p:grpSp>
      <p:sp>
        <p:nvSpPr>
          <p:cNvPr id="44" name="TextBox 43"/>
          <p:cNvSpPr txBox="1"/>
          <p:nvPr/>
        </p:nvSpPr>
        <p:spPr>
          <a:xfrm>
            <a:off x="8246533" y="3594100"/>
            <a:ext cx="3386667" cy="406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以 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FXN5C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为对象，用于回归验证与问题复现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6400" y="4292600"/>
            <a:ext cx="5842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06400" y="4292600"/>
            <a:ext cx="19050" cy="952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71500" y="4578350"/>
            <a:ext cx="381000" cy="3810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8" name="Picture 47" descr="file-certificate-A61C22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00" y="4667250"/>
            <a:ext cx="203200" cy="2032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92200" y="4552950"/>
            <a:ext cx="4572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成果4</a:t>
            </a: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　列车级数字样机构建方法体系与技术规范　</a:t>
            </a:r>
            <a:r>
              <a:rPr lang="zh-CN" altLang="en-US" sz="10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2200" y="4806950"/>
            <a:ext cx="4572000" cy="203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构建方法、集成流程与接口规范，可在**内推广、后续课题复用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6400" y="5334000"/>
            <a:ext cx="5842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06400" y="5334000"/>
            <a:ext cx="19050" cy="952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71500" y="5619750"/>
            <a:ext cx="381000" cy="3810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4" name="Picture 53" descr="report-analytics-A61C22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400" y="5708650"/>
            <a:ext cx="203200" cy="2032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92200" y="5594350"/>
            <a:ext cx="4572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成果5</a:t>
            </a: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　示范应用与验证报告　</a:t>
            </a:r>
            <a:r>
              <a:rPr lang="zh-CN" altLang="en-US" sz="10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1份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2200" y="5848350"/>
            <a:ext cx="4572000" cy="203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FXN5C 临哈线典型区段关键性能协同验证与效能评估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4267200"/>
            <a:ext cx="5384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知识产权与标准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0" y="4546600"/>
            <a:ext cx="9525" cy="17399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15100" y="46482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4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15100" y="50546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发明专利申请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5100" y="5270500"/>
            <a:ext cx="1515533" cy="952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任务编排调度、保真度与算力调度、实时时序同步、工况自生成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21133" y="4546600"/>
            <a:ext cx="9525" cy="17399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335433" y="46482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篇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35433" y="50546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核心论文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35433" y="5270500"/>
            <a:ext cx="1515533" cy="952500"/>
          </a:xfrm>
          <a:prstGeom prst="rect">
            <a:avLst/>
          </a:prstGeom>
          <a:noFill/>
        </p:spPr>
        <p:txBody>
          <a:bodyPr wrap="square" anchor="t" lIns="0" tIns="0" rIns="25400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多智能体协同仿真与性能验证方法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041467" y="4546600"/>
            <a:ext cx="9525" cy="17399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55767" y="46482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55767" y="50546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企业标准草案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55767" y="5270500"/>
            <a:ext cx="1515533" cy="952500"/>
          </a:xfrm>
          <a:prstGeom prst="rect">
            <a:avLst/>
          </a:prstGeom>
          <a:noFill/>
        </p:spPr>
        <p:txBody>
          <a:bodyPr wrap="square" anchor="t" lIns="0" tIns="0" rIns="25400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列车级数字样机构建、智能体接口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00" y="838200"/>
            <a:ext cx="50800" cy="190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8800" y="812800"/>
            <a:ext cx="88900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 spc="15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****“***”科技重大专项课题申报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400" y="1663700"/>
            <a:ext cx="11379200" cy="889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6700"/>
              </a:lnSpc>
              <a:buNone/>
            </a:pPr>
            <a:r>
              <a:rPr lang="zh-CN" altLang="en-US" sz="5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恳请各位专家指导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2743200"/>
            <a:ext cx="571500" cy="381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3022600"/>
            <a:ext cx="11379200" cy="317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300"/>
              </a:lnSpc>
              <a:buNone/>
            </a:pPr>
            <a:r>
              <a:rPr lang="zh-CN" altLang="en-US" sz="1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400" y="3416300"/>
            <a:ext cx="11379200" cy="292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4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7.3 轨道交通装备性能验证的多智能体协同运行与调度引擎技术研究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5994400"/>
            <a:ext cx="11379200" cy="190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5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44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24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03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82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62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41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21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9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59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38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8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97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56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35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15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94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3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53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32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12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91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0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50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9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88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67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47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626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906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85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464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023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303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582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0" y="5320386"/>
            <a:ext cx="2717800" cy="679450"/>
          </a:xfrm>
          <a:prstGeom prst="rect">
            <a:avLst/>
          </a:prstGeom>
        </p:spPr>
      </p:pic>
      <p:pic>
        <p:nvPicPr>
          <p:cNvPr id="52" name="Picture 51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5320386"/>
            <a:ext cx="2717800" cy="679450"/>
          </a:xfrm>
          <a:prstGeom prst="rect">
            <a:avLst/>
          </a:prstGeom>
        </p:spPr>
      </p:pic>
      <p:pic>
        <p:nvPicPr>
          <p:cNvPr id="53" name="Picture 52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3200" y="5320386"/>
            <a:ext cx="2717800" cy="6794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7.3 轨道交通装备性能验证的多智能体协同运行与调度引擎技术研究 · 课题申报汇报</dc:title>
  <dc:subject>课题申报汇报</dc:subject>
  <dc:creator/>
  <cp:keywords>多智能体; 协同运行; 调度引擎; 数字样机; 性能验证</cp:keywords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