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备注（讲稿）：边界细节——7.1 采用其数据规范与接口，不承担建库；7.2 仅自建验证必需的智能体，不覆盖弓网/牵引/制动等全部关键系统；7.4 承接智能体集成与协同运行；7.5 为优化提供验证支撑；6.2 通用智能体调度平台是通用编排，本课题强调实时协同与多物理域时序。数字样机由关键系统仿真智能体／智能孪生模型经调度引擎集成而成：智能体可单独核验、复用，数字样机作为整车级验证系统交付。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备注（讲稿）：技术表述——研制多智能体协同运行与调度引擎，以 FXN5C 为对象建成列车级数字样机，实现列车关键性能的快速、可复现、全覆盖验证。冻结案例：控制、冷却、动力、线路四个系统耦合，且是回手柄后持续一段时间才出现的长时序过程，HIL 只有控制器在环、其他系统靠经验数据近似，因此复现不出来。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领域发展的推动作用——性能验证从“单系统、离线、靠现场”转向“列车级、实时协同、研发阶段可回归”，成为研发体系中可持续使用的基础能力；输出的构建方法体系与技术规范，主机企业可按同一流程构建自己的数字样机；新增系统按标准接口接入智能体即可，引擎不需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《“***”铁路科技创新规划》（****〔****〕**号）将数字孪生列为智能铁路关键技术，要求开展数字孪生平台研发应用，“到****年智能铁路技术全面突破”；用户端年软件支出达数百万元且年均涨价约 5%；指南已将“研发设计软件受制于人”“设计仿真数据割裂”列为待解决事项。数字孪生与智能体技术正从概念验证走向工程落地，等国外工具链先做成，验证环节将重演工业软件受制于人的路径。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备注（讲稿）：与课题要求的对应——高效实时协同运行 → ③④；调度引擎 → ②；列车级数字样机及构建方法体系 → ④；支持关键性能验证与智能运维 → ④。对接项目7总体目标——模型自动标定 → ③；指标实时推演 → ④；性能自动评估 → 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没有判据知识库，任务理解只能靠通用大模型“猜”；没有工作流，编排调度无章可循。判据条目示例：验证对象——牵引控制系统；关键性能——速度跟踪偏差；适用工况——长大下坡、湿轨；判定规则——|实测 − 目标| ≤ 允许偏差；来源——设计规范条款。\n说明：“工程场景”可替换为本单位的实际案例；“示意图”为临时附图（形状组合，可直接编辑），如有实际图片，选中该组合删除后插入即可。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备注（讲稿）：算力为本课题配置的 GPU＋NPU 异构服务器 1 台、一体化工作站 2 台。\n说明：“工程场景”可替换为本单位的实际案例；“示意图”为临时附图（形状组合，可直接编辑），如有实际图片，选中该组合删除后插入即可。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备注（讲稿）：标定数据来自型式试验、线路试验与运用记录。测试识别输出结果可信性判断，是为了解决极端工况实测数据少、结论难以自证的问题。设计修改后，低温工况全量回归重跑。示意图：数据据 2024 年 12 月临哈线现场记录，曲线为示意；防冻限值线仅示意位置，请按设计规范取值；如有现场记录曲线，选中附图组合删除后替换即可。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备注（讲稿）：这一次验证里，工况没人手写、线路数据没人准备、环境没人搭、异常没人看图判断。追溯原因示例：黏着利用不足？控制参数不匹配？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备注（讲稿）：与同类工作的差异——现有工作多聚焦单一系统仿真或通用智能体平台，本课题把协同运行与调度做成可交付的引擎和可复用的方法体系。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阶段交付——一：总体架构、判据知识化方法、接口规范；二：关键系统仿真智能体／智能孪生模型、调度引擎原理样机；三：列车级数字样机、典型工况协同验证结果；四：示范应用与效能评估、方法体系与技术规范、标准草案。前一阶段交付物即后一阶段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备注（讲稿）：子任务分工——子任务1 知识库与工作流（目标 1、3）；子任务2 调度引擎（目标 1）；子任务3 智能体执行（目标 2）；子任务4 集成与示范（目标 2、3、4）。各子任务交付物逐级成为下一任务输入，验证数据回流更新判据与工作流。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折旧——利用现有仿真与测试设备，避免重复购置；外协——数据采集与第三方验证；成果——专利、论文与标准草案；其他——示范应用差旅与会议。人员人工费用测算依据中【待填】为占位，请按“投入人月 × 人月费用标准”填写，合计应为 30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双周例会——子任务进展同步与问题协调；月度——对照里程碑核查交付物；季度——技术方案与阶段成果评审；年度——目标评估与计划调整。接口与进度风险——接口规范在阶段一先行交付，里程碑绑定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备注（讲稿）：本页需填入单位实际基础，它是“为什么由我们承担”的直接依据。虚线框内【待填】为占位内容，请替换为牵头单位实际情况。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备注（讲稿）：成果 1—3 中的虚线框为附图预留位置（形状组合）；选中该组合删除后插入实际图片即可。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09900"/>
            <a:ext cx="11379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352800"/>
            <a:ext cx="113792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17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让现场才暴露的问题，在研发阶段先跑出来。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42545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1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42545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64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6900" y="42545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3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4400" y="42545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2" name="Picture 6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4" name="Picture 63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共 21 页 · 第三部分“主要研究内容、技术路线与方法”为核心章节（第 7—14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6666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项目子课题及预计成果物 · 项目预计经费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6666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背景与目的 · 应用价值与效益 · 为什么是现在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4—6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19050" cy="647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总体路线 · 研究内容①—④ · 典型场景 · 创新点 · 阶段与检验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第 7—14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6666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预期成果与考核方式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15—16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6666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17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6666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18—19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66666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20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项目子课题与本课题边界 · 预计成果物 · 预计经费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预计成果物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数字样机由智能体经引擎集成而成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400" y="35941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4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09800" y="35941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098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obot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200" y="35941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132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train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6400" y="45212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" y="45212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file-certificat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6355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540256" y="46355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8000" y="48768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09800" y="45212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09800" y="45212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report-analytics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6355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3343656" y="46355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11400" y="48768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13200" y="4521200"/>
            <a:ext cx="1727200" cy="8509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3200" y="45212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certificate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6355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4823968" y="4635500"/>
            <a:ext cx="814832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8768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400" y="55118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预计经费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" y="55118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400" y="5816600"/>
            <a:ext cx="2635250" cy="254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54350" y="5816600"/>
            <a:ext cx="1581150" cy="2540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48200" y="5816600"/>
            <a:ext cx="263525" cy="254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924425" y="5816600"/>
            <a:ext cx="263525" cy="254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00650" y="5816600"/>
            <a:ext cx="263525" cy="254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6875" y="5816600"/>
            <a:ext cx="263525" cy="254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6400" y="61087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0" y="61087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项目子课题与本课题边界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7800" y="1346200"/>
            <a:ext cx="3987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项目7设 5 个子课题 · 本课题攻关“引擎”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94400" y="162560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94400" y="162560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477000" y="170180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3" name="TextBox 82"/>
          <p:cNvSpPr txBox="1"/>
          <p:nvPr/>
        </p:nvSpPr>
        <p:spPr>
          <a:xfrm>
            <a:off x="6604000" y="17208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04000" y="198755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采用其数据规范与接口，不承担建库（7.1 建库、7.3 按需生成）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994400" y="23304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94400" y="23304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477000" y="24066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8" name="TextBox 87"/>
          <p:cNvSpPr txBox="1"/>
          <p:nvPr/>
        </p:nvSpPr>
        <p:spPr>
          <a:xfrm>
            <a:off x="6604000" y="24257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04000" y="26924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只建验证必需的智能体（控制系统、车辆动力学、线路），不覆盖全部关键系统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3035300"/>
            <a:ext cx="5791200" cy="1009650"/>
          </a:xfrm>
          <a:prstGeom prst="rect">
            <a:avLst/>
          </a:prstGeom>
          <a:solidFill>
            <a:srgbClr val="FBF4F4"/>
          </a:solidFill>
          <a:ln w="12700">
            <a:solidFill>
              <a:srgbClr val="A61C22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3035300"/>
            <a:ext cx="482600" cy="10096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31305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8700" y="3149600"/>
            <a:ext cx="4318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04000" y="3397250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核心攻关引擎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，解决多专业智能体“接得上、跑得动、调得灵”；数字样机是引擎承载智能体后的集成产物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分 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个子任务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：知识 → 调度 → 执行 → 集成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94400" y="41084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994400" y="41084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477000" y="41846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8" name="TextBox 97"/>
          <p:cNvSpPr txBox="1"/>
          <p:nvPr/>
        </p:nvSpPr>
        <p:spPr>
          <a:xfrm>
            <a:off x="6604000" y="42037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04000" y="44704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承接智能体集成与协同运行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94400" y="481330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994400" y="481330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477000" y="488950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3" name="TextBox 102"/>
          <p:cNvSpPr txBox="1"/>
          <p:nvPr/>
        </p:nvSpPr>
        <p:spPr>
          <a:xfrm>
            <a:off x="6604000" y="490855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04000" y="517525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为优化提供验证支撑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994400" y="5549900"/>
            <a:ext cx="5791200" cy="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06" name="Rectangle 105"/>
          <p:cNvSpPr/>
          <p:nvPr/>
        </p:nvSpPr>
        <p:spPr>
          <a:xfrm>
            <a:off x="5994400" y="5645150"/>
            <a:ext cx="5791200" cy="6413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994400" y="5645150"/>
            <a:ext cx="482600" cy="641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477000" y="5721350"/>
            <a:ext cx="0" cy="48895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9" name="TextBox 108"/>
          <p:cNvSpPr txBox="1"/>
          <p:nvPr/>
        </p:nvSpPr>
        <p:spPr>
          <a:xfrm>
            <a:off x="6604000" y="5740400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50200" y="5759450"/>
            <a:ext cx="533400" cy="1778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04000" y="6007100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本课题为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面向性能验证的领域化编排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研究背景与重要性：一次验证 40 人、2 个月，问题仍到现场才暴露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验证现状 · 真实案例 · 症结 · 研究目的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40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233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一次投入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77533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9133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约</a:t>
            </a: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367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8667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0267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−10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案例环境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400" y="1930400"/>
            <a:ext cx="55372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40 人 ＝ 研发 20 ＋ 测试 10 ＋ 现场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400" y="21971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" y="2476500"/>
            <a:ext cx="55372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控制软件每次迭代：HIL 台架＋经验数据模拟运用工况，重点工况再到现场验证。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400" y="29845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即便如此，问题还是在现场才暴露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263900"/>
            <a:ext cx="5537200" cy="11684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3263900"/>
            <a:ext cx="19050" cy="1168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3403600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3600" y="3263900"/>
            <a:ext cx="4902200" cy="1168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2024 年 12 月，FXN5C 在临哈线长大下坡、约 −10℃：回手柄后风扇仍以 40Hz 运行，低温水 25℃ → 0℃，高温水 78℃，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散热器冻结</a:t>
            </a: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。多系统耦合的长时序问题，台架没有复现出来。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13589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症结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7600" y="16383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7600" y="16383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17780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复杂工况模拟不了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0955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多系统耦合、长时序、低温／长大坡道／湿轨组合，台架覆盖不到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7600" y="26035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26035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2700" y="27432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验证靠人，跟不上迭代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2700" y="30607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工况人工编、环境人工搭、结果人工看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7600" y="35687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7600" y="35687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2700" y="37084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经验散在人手里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2700" y="40259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模型各自为战，判据分散在标准、大纲和专家经验中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400" y="48895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200" y="51117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研究目的：让控制软件每改一版，复杂运用工况都能在数字样机上自动跑一遍、自动判读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54038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问题在研发阶段暴露，现场只做确认。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应用价值：一句话需求进去，全工况报告出来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用起来是什么样 · 用在三个环节 · 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用起来是什么样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10185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以一次控制软件迭代为例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8800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message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860550"/>
            <a:ext cx="1905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6000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“验证新版软件在临哈线全工况下的速度跟踪与牵引能耗”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4087283" y="20764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4133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4133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36533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settings-automation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083" y="186055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93733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引擎自动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6533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生成工况 → 装配智能体 → 分配精度与算力 → 协同求解 → 对标判据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7965017" y="2076450"/>
            <a:ext cx="139700" cy="1016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61867" y="1625600"/>
            <a:ext cx="3623733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1867" y="1625600"/>
            <a:ext cx="3623733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14267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report-analytics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817" y="186055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71467" y="1778000"/>
            <a:ext cx="2861733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4267" y="2197100"/>
            <a:ext cx="3318933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验证报告与异常定位，全程可回放；工程师只看异常项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400" y="27940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用在三个环节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400" y="33528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3" name="TextBox 32"/>
          <p:cNvSpPr txBox="1"/>
          <p:nvPr/>
        </p:nvSpPr>
        <p:spPr>
          <a:xfrm>
            <a:off x="508000" y="30734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0734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3000" y="30734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000" y="33528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研发：软件迭代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33528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台架＋现场验证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3000" y="33528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全工况在数字样机上自动回归，减少现场验证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37528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375285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试验：上线前预试验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75285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低温等工况受季节与线路限制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375285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按试验大纲先在数字样机上预演，缩减上线项目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6400" y="41529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08000" y="41529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运用：问题复现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67000" y="41529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靠经验排查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000" y="41529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用运行记录复现、定位原因，支撑智能运维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5529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06400" y="4787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社会经济效益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067300"/>
            <a:ext cx="3623733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coins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5219700"/>
            <a:ext cx="203200" cy="203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63600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600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减少现场验证与线路试验投入，缩短迭代周期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84133" y="5067300"/>
            <a:ext cx="3623733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shield-check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6533" y="5219700"/>
            <a:ext cx="203200" cy="203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741333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41333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复杂工况覆盖度与可信度提升，减少运用故障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61867" y="5067300"/>
            <a:ext cx="3623733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8" name="Picture 57" descr="building-factory-2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267" y="5219700"/>
            <a:ext cx="203200" cy="2032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619067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19067" y="5372100"/>
            <a:ext cx="3014133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方法体系可向制动、辅助系统扩展，在**内主机企业推广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立项必要性与紧迫性：为什么是现在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技术条件 · 工程需求 · 自主可控 ｜ 三个条件刚刚同时具备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cpu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技术条件刚成熟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0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6604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20955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智能体技术让“任务理解—编排—执行”可自动化；GPU＋NPU 异构算力让实时协同与全保真计算可负担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2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trending-up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666875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181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工程需求在加压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12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24" name="TextBox 23"/>
          <p:cNvSpPr txBox="1"/>
          <p:nvPr/>
        </p:nvSpPr>
        <p:spPr>
          <a:xfrm>
            <a:off x="45212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软件迭代加快</a:t>
            </a:r>
            <a:r>
              <a:rPr lang="zh-CN" altLang="en-US" sz="11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【可补充：近年迭代次数】</a:t>
            </a: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，复杂工况问题增多，“台架＋现场”已跟不上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80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20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shield-check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1666875"/>
            <a:ext cx="247650" cy="2476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789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自主可控有窗口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426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20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32" name="TextBox 31"/>
          <p:cNvSpPr txBox="1"/>
          <p:nvPr/>
        </p:nvSpPr>
        <p:spPr>
          <a:xfrm>
            <a:off x="83820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研发设计类工业软件国产化率约 5%；验证引擎这一层现在自己做，就掌握在自己手里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4572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200" y="47910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结论：本课题要做的是</a:t>
            </a:r>
            <a:r>
              <a:rPr lang="zh-CN" altLang="en-US" sz="14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50895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晚一年布局，就多一年被动。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总体技术路线：四层引擎，把验证工作流交给智能体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目标：像软件回归测试一样——设计改一次，全工况在数字样机上自动重跑一遍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四层架构与分工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8—11 页逐层展开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1587500" cy="6350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25600"/>
            <a:ext cx="19050" cy="6350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7272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1968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9000" y="16256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多系统智能体在可复现沙箱中协同运行，形成列车级数字样机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3241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324100"/>
            <a:ext cx="1587500" cy="6350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324100"/>
            <a:ext cx="19050" cy="6350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425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6670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000" y="23241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跑工况、自动判读、生成报告、结果回流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30226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3022600"/>
            <a:ext cx="1587500" cy="6350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" y="3022600"/>
            <a:ext cx="19050" cy="6350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31242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365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9000" y="30226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任务；自动装配智能体，按工况分配精度与算力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3721100"/>
            <a:ext cx="60452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3721100"/>
            <a:ext cx="1587500" cy="6350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6400" y="3721100"/>
            <a:ext cx="19050" cy="6350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38227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" y="40640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3721100"/>
            <a:ext cx="4140200" cy="635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标准、大纲、案例 → 可自动比对的判据、可复用的流程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接入现有研发验证体系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6600" y="1346200"/>
            <a:ext cx="342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不另起炉灶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05600" y="1905000"/>
            <a:ext cx="50800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6807200" y="1625600"/>
            <a:ext cx="208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现有资源与环节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32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衔接方式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7200" y="19050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设计规范、试验大纲、问题记录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3200" y="19050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提取为判据与流程模板（①）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05600" y="22415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6807200" y="22415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已有仿真模型、HIL 台架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200" y="22415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经标准接口封装接入，不重复建模（③④）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05600" y="25781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807200" y="25781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型式试验、线路试验与运用数据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3200" y="25781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智能体自动标定与结果可信性评判（③）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05600" y="29146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9" name="TextBox 48"/>
          <p:cNvSpPr txBox="1"/>
          <p:nvPr/>
        </p:nvSpPr>
        <p:spPr>
          <a:xfrm>
            <a:off x="6807200" y="29146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设计评审、软件放行、故障分析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3200" y="29146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验证报告与复现结论直接作为依据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32512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38100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7400" y="3810000"/>
            <a:ext cx="4648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全程留痕，可回放、可回归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05600" y="41021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判据与流程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3977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31100" y="41021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分解与调度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82232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56600" y="4102100"/>
            <a:ext cx="863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协同执行与判读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92519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85300" y="4102100"/>
            <a:ext cx="355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772650" y="41910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06000" y="4102100"/>
            <a:ext cx="5588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826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4200" y="50609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怎么算成功：阶段三，数字样机复现临哈线散热器冻结工况并定位原因；阶段四，一次软件迭代完成全工况回归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53340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验证周期由约 2 个月缩短至</a:t>
            </a:r>
            <a:r>
              <a:rPr lang="zh-CN" altLang="en-US" sz="10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；各阶段检验见第 14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研究内容① 测试知识库与任务工作流：把判据和流程从人手里拿出来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知识库与工作流是②“任务理解与编排调度”的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3048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3048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283200"/>
            <a:ext cx="1651000" cy="4699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283200"/>
            <a:ext cx="19050" cy="4699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283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任务工作流定义</a:t>
            </a:r>
            <a:br>
              <a:rPr lang="zh-CN" altLang="en-US" sz="900"/>
            </a:b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与配置规范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判定一个工况是否合格，依据分散在国标、行标、企标、试验大纲和专家经验里，查找比对靠人工。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知识工程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——标准规范形式化、领域知识建模、工作流建模；难点是判据多以经验和文档形式存在。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验证判据知识化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从规范、大纲与历次问题记录中提取判据，形式化为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的条目；首批覆盖速度跟踪、牵引能耗、运行平稳性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261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任务工作流建模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1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定义任务的分解、顺序、流转条件与异常分支，形成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可配置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的流程模板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12200" y="20955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2200" y="20955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1900" y="21971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知识与流程迭代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1900" y="24638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验证结果与新问题回流，持续补充判据、修订流程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从规范到判据、从判据到工作流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1200" y="3149600"/>
            <a:ext cx="7264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5" name="附图 · 从规范到判据、从判据到工作流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6" name="Rectangle 55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413000" y="36068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01 判据知识化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413000" y="3860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9" name="Picture 58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3937000"/>
              <a:ext cx="177800" cy="1778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2730500" y="3892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30500" y="4038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条款与限值要求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413000" y="4241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3" name="Picture 62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318000"/>
              <a:ext cx="177800" cy="1778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2730500" y="4273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运用要求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30500" y="4419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运用条件与指标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413000" y="46228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7" name="Picture 66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699000"/>
              <a:ext cx="177800" cy="1778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2730500" y="46545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历史案例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730500" y="48006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故障与异常记录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3810000" y="4406900"/>
              <a:ext cx="5969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3746500" y="4216400"/>
              <a:ext cx="7239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提取 · 形式化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483100" y="3860800"/>
              <a:ext cx="2489200" cy="10922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483100" y="3860800"/>
              <a:ext cx="2489200" cy="2286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572000" y="3860800"/>
              <a:ext cx="23114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判据条目（结构化，可自动比对）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72000" y="4114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验证对象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143500" y="4114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牵引控制系统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572000" y="42735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关键性能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5143500" y="42735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速度跟踪偏差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572000" y="44323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适用工况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143500" y="44323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572000" y="45910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判定规则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143500" y="45910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|实测 − 目标| ≤ 允许偏差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572000" y="47498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来源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143500" y="47498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设计规范条款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7035800" y="4406900"/>
              <a:ext cx="444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7035800" y="4216400"/>
              <a:ext cx="44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入库</a:t>
              </a:r>
            </a:p>
          </p:txBody>
        </p:sp>
        <p:sp>
          <p:nvSpPr>
            <p:cNvPr id="87" name="Can 86"/>
            <p:cNvSpPr/>
            <p:nvPr/>
          </p:nvSpPr>
          <p:spPr>
            <a:xfrm>
              <a:off x="7594600" y="3886200"/>
              <a:ext cx="952500" cy="1041400"/>
            </a:xfrm>
            <a:prstGeom prst="can">
              <a:avLst/>
            </a:prstGeom>
            <a:solidFill>
              <a:srgbClr val="FCF6F6"/>
            </a:solidFill>
            <a:ln w="7620">
              <a:solidFill>
                <a:srgbClr val="C47C8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7594600" y="4140200"/>
              <a:ext cx="952500" cy="7112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br>
                <a:rPr lang="zh-CN" altLang="en-US" sz="1000"/>
              </a:b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知识库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8737600" y="39243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737600" y="39243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851900" y="39243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速度跟踪偏差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8737600" y="42545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8737600" y="42545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851900" y="42545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牵引能耗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8737600" y="45847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8737600" y="45847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8851900" y="45847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运行平稳性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413000" y="51054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02 任务工作流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2413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验证目标</a:t>
              </a:r>
            </a:p>
          </p:txBody>
        </p:sp>
        <p:cxnSp>
          <p:nvCxnSpPr>
            <p:cNvPr id="100" name="Connector 99"/>
            <p:cNvCxnSpPr/>
            <p:nvPr/>
          </p:nvCxnSpPr>
          <p:spPr>
            <a:xfrm>
              <a:off x="34036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1" name="Rounded Rectangle 100"/>
            <p:cNvSpPr/>
            <p:nvPr/>
          </p:nvSpPr>
          <p:spPr>
            <a:xfrm>
              <a:off x="37084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任务分解</a:t>
              </a:r>
            </a:p>
          </p:txBody>
        </p:sp>
        <p:cxnSp>
          <p:nvCxnSpPr>
            <p:cNvPr id="102" name="Connector 101"/>
            <p:cNvCxnSpPr/>
            <p:nvPr/>
          </p:nvCxnSpPr>
          <p:spPr>
            <a:xfrm>
              <a:off x="46990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3" name="Rounded Rectangle 102"/>
            <p:cNvSpPr/>
            <p:nvPr/>
          </p:nvSpPr>
          <p:spPr>
            <a:xfrm>
              <a:off x="50038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环境装配</a:t>
              </a:r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59944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62992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仿真执行</a:t>
              </a:r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72898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7" name="Rounded Rectangle 106"/>
            <p:cNvSpPr/>
            <p:nvPr/>
          </p:nvSpPr>
          <p:spPr>
            <a:xfrm>
              <a:off x="75946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CF6F6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结果比对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585200" y="55118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9" name="Rounded Rectangle 108"/>
            <p:cNvSpPr/>
            <p:nvPr/>
          </p:nvSpPr>
          <p:spPr>
            <a:xfrm>
              <a:off x="8890000" y="53721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验证报告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547100" y="5334000"/>
              <a:ext cx="3429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9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通过</a:t>
              </a:r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5480050" y="5651500"/>
              <a:ext cx="2590800" cy="215900"/>
            </a:xfrm>
            <a:custGeom>
              <a:avLst/>
              <a:gdLst/>
              <a:ahLst/>
              <a:cxnLst/>
              <a:rect l="l" t="t" r="r" b="b"/>
              <a:pathLst>
                <a:path w="408" h="34">
                  <a:moveTo>
                    <a:pt x="408" y="0"/>
                  </a:moveTo>
                  <a:lnTo>
                    <a:pt x="408" y="34"/>
                  </a:lnTo>
                  <a:lnTo>
                    <a:pt x="0" y="34"/>
                  </a:lnTo>
                  <a:lnTo>
                    <a:pt x="0" y="2"/>
                  </a:lnTo>
                </a:path>
              </a:pathLst>
            </a:custGeom>
            <a:noFill/>
            <a:ln w="1270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5480050" y="5905500"/>
              <a:ext cx="25908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未通过 → 异常分支：调整后重跑</a:t>
              </a:r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8070850" y="4940300"/>
              <a:ext cx="0" cy="406400"/>
            </a:xfrm>
            <a:prstGeom prst="line">
              <a:avLst/>
            </a:prstGeom>
            <a:ln w="9525">
              <a:solidFill>
                <a:srgbClr val="C47C80"/>
              </a:solidFill>
              <a:prstDash val="dash"/>
              <a:round/>
              <a:tailEnd type="triangle" w="med" len="med"/>
            </a:ln>
          </p:spPr>
        </p:cxnSp>
        <p:sp>
          <p:nvSpPr>
            <p:cNvPr id="114" name="TextBox 113"/>
            <p:cNvSpPr txBox="1"/>
            <p:nvPr/>
          </p:nvSpPr>
          <p:spPr>
            <a:xfrm>
              <a:off x="8140700" y="5086350"/>
              <a:ext cx="635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调用判据</a:t>
              </a:r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867900" y="4889500"/>
              <a:ext cx="1663700" cy="622300"/>
            </a:xfrm>
            <a:custGeom>
              <a:avLst/>
              <a:gdLst/>
              <a:ahLst/>
              <a:cxnLst/>
              <a:rect l="l" t="t" r="r" b="b"/>
              <a:pathLst>
                <a:path w="262" h="98">
                  <a:moveTo>
                    <a:pt x="0" y="98"/>
                  </a:moveTo>
                  <a:lnTo>
                    <a:pt x="262" y="98"/>
                  </a:lnTo>
                  <a:lnTo>
                    <a:pt x="262" y="0"/>
                  </a:lnTo>
                </a:path>
              </a:pathLst>
            </a:custGeom>
            <a:noFill/>
            <a:ln w="12700">
              <a:solidFill>
                <a:srgbClr val="4A4A4A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9969500" y="4991100"/>
              <a:ext cx="6763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03 迭代机制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969500" y="5194300"/>
              <a:ext cx="1460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结果回流，更新判据与工作流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上下游关系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向下承接①的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，向③下发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（智能体组合、工况、算力）。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4699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4699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✓ 多智能体协同运行与调度引擎（软件1套）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工况是区段 × 温度 × 轨面 × 载重 × 手柄序列的组合，全用高精度模型算不完，全用简化模型关键工况又不可信。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智能调度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——任务分解与匹配、多目标寻优、保真度—算力协同配置；难点是在线权衡精度与效率，极端工况不能外推。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目标解析与任务分解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验证对象、关键性能、判据条目，匹配知识库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测试环境自动装配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自动完成智能体组合、接口连接与算力配置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保真度与算力自适应调度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常规工况降阶提速，关键与极端工况强制全保真；GPU 跑多物理域并行仿真，NPU 做推理与编排决策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执行监控与失败重规划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异常中断后自动重规划，支撑指标实时推演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一次验证中的调度过程：按工况切换保真度、分配算力，异常时重规划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2000" y="3149600"/>
            <a:ext cx="4673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6" name="附图 · 一次验证中的调度过程：按工况切换保真度、分配算力，异常时重规划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57" name="Rectangle 56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2413000" y="3556000"/>
              <a:ext cx="1671129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验证任务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速度跟踪 ＋ 牵引能耗</a:t>
              </a:r>
            </a:p>
          </p:txBody>
        </p:sp>
        <p:sp>
          <p:nvSpPr>
            <p:cNvPr id="59" name="Isosceles Triangle 58"/>
            <p:cNvSpPr/>
            <p:nvPr/>
          </p:nvSpPr>
          <p:spPr>
            <a:xfrm rot="5400000">
              <a:off x="417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363530" y="3556000"/>
              <a:ext cx="17506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01 任务分解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对象 · 性能 · 判据</a:t>
              </a:r>
            </a:p>
          </p:txBody>
        </p:sp>
        <p:sp>
          <p:nvSpPr>
            <p:cNvPr id="61" name="Isosceles Triangle 60"/>
            <p:cNvSpPr/>
            <p:nvPr/>
          </p:nvSpPr>
          <p:spPr>
            <a:xfrm rot="5400000">
              <a:off x="62030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393529" y="3556000"/>
              <a:ext cx="25634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02 环境装配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控制系统 · 车辆动力学 · 线路智能体</a:t>
              </a:r>
            </a:p>
          </p:txBody>
        </p:sp>
        <p:sp>
          <p:nvSpPr>
            <p:cNvPr id="63" name="Isosceles Triangle 62"/>
            <p:cNvSpPr/>
            <p:nvPr/>
          </p:nvSpPr>
          <p:spPr>
            <a:xfrm rot="5400000">
              <a:off x="9045829" y="36449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236329" y="3556000"/>
              <a:ext cx="1253554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03—04 调度执行与监控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413000" y="39243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413000" y="42291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模型保真度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413000" y="4559300"/>
              <a:ext cx="990600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GPU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413000" y="4991100"/>
              <a:ext cx="990600" cy="1905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NPU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413000" y="53340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04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执行监控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498779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6300470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2" name="Connector 71"/>
            <p:cNvCxnSpPr/>
            <p:nvPr/>
          </p:nvCxnSpPr>
          <p:spPr>
            <a:xfrm>
              <a:off x="7859268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3" name="Connector 72"/>
            <p:cNvCxnSpPr/>
            <p:nvPr/>
          </p:nvCxnSpPr>
          <p:spPr>
            <a:xfrm>
              <a:off x="10074402" y="38862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44170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44170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000498" y="39243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小半径曲线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000498" y="42291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13170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6313170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7871968" y="39243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871968" y="42291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087102" y="3924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10087102" y="42291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94" name="Freeform 93"/>
            <p:cNvSpPr/>
            <p:nvPr/>
          </p:nvSpPr>
          <p:spPr>
            <a:xfrm>
              <a:off x="3429000" y="4622800"/>
              <a:ext cx="8204200" cy="292100"/>
            </a:xfrm>
            <a:custGeom>
              <a:avLst/>
              <a:gdLst/>
              <a:ahLst/>
              <a:cxnLst/>
              <a:rect l="l" t="t" r="r" b="b"/>
              <a:pathLst>
                <a:path w="1292" h="46">
                  <a:moveTo>
                    <a:pt x="0" y="46"/>
                  </a:moveTo>
                  <a:lnTo>
                    <a:pt x="0" y="30"/>
                  </a:lnTo>
                  <a:lnTo>
                    <a:pt x="245" y="30"/>
                  </a:lnTo>
                  <a:lnTo>
                    <a:pt x="245" y="0"/>
                  </a:lnTo>
                  <a:lnTo>
                    <a:pt x="452" y="0"/>
                  </a:lnTo>
                  <a:lnTo>
                    <a:pt x="452" y="30"/>
                  </a:lnTo>
                  <a:lnTo>
                    <a:pt x="698" y="30"/>
                  </a:lnTo>
                  <a:lnTo>
                    <a:pt x="698" y="0"/>
                  </a:lnTo>
                  <a:lnTo>
                    <a:pt x="1047" y="0"/>
                  </a:lnTo>
                  <a:lnTo>
                    <a:pt x="1047" y="30"/>
                  </a:lnTo>
                  <a:lnTo>
                    <a:pt x="1292" y="30"/>
                  </a:lnTo>
                  <a:lnTo>
                    <a:pt x="1292" y="46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3429000" y="5035550"/>
              <a:ext cx="8204200" cy="146050"/>
            </a:xfrm>
            <a:custGeom>
              <a:avLst/>
              <a:gdLst/>
              <a:ahLst/>
              <a:cxnLst/>
              <a:rect l="l" t="t" r="r" b="b"/>
              <a:pathLst>
                <a:path w="1292" h="23">
                  <a:moveTo>
                    <a:pt x="0" y="23"/>
                  </a:moveTo>
                  <a:lnTo>
                    <a:pt x="0" y="16"/>
                  </a:lnTo>
                  <a:lnTo>
                    <a:pt x="230" y="16"/>
                  </a:lnTo>
                  <a:lnTo>
                    <a:pt x="245" y="0"/>
                  </a:lnTo>
                  <a:lnTo>
                    <a:pt x="260" y="16"/>
                  </a:lnTo>
                  <a:lnTo>
                    <a:pt x="437" y="16"/>
                  </a:lnTo>
                  <a:lnTo>
                    <a:pt x="452" y="0"/>
                  </a:lnTo>
                  <a:lnTo>
                    <a:pt x="467" y="16"/>
                  </a:lnTo>
                  <a:lnTo>
                    <a:pt x="683" y="16"/>
                  </a:lnTo>
                  <a:lnTo>
                    <a:pt x="698" y="0"/>
                  </a:lnTo>
                  <a:lnTo>
                    <a:pt x="713" y="16"/>
                  </a:lnTo>
                  <a:lnTo>
                    <a:pt x="1032" y="16"/>
                  </a:lnTo>
                  <a:lnTo>
                    <a:pt x="1047" y="0"/>
                  </a:lnTo>
                  <a:lnTo>
                    <a:pt x="1062" y="16"/>
                  </a:lnTo>
                  <a:lnTo>
                    <a:pt x="1292" y="16"/>
                  </a:lnTo>
                  <a:lnTo>
                    <a:pt x="1292" y="23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728200" y="4584700"/>
              <a:ext cx="18542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多物理域模型并行仿真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728200" y="5003800"/>
              <a:ext cx="1854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切换时的推理与编排决策</a:t>
              </a:r>
            </a:p>
          </p:txBody>
        </p:sp>
        <p:cxnSp>
          <p:nvCxnSpPr>
            <p:cNvPr id="98" name="Connector 97"/>
            <p:cNvCxnSpPr/>
            <p:nvPr/>
          </p:nvCxnSpPr>
          <p:spPr>
            <a:xfrm>
              <a:off x="3429000" y="5461000"/>
              <a:ext cx="8204200" cy="0"/>
            </a:xfrm>
            <a:prstGeom prst="line">
              <a:avLst/>
            </a:prstGeom>
            <a:ln w="12700">
              <a:solidFill>
                <a:srgbClr val="DEDEDE"/>
              </a:solidFill>
              <a:round/>
            </a:ln>
          </p:spPr>
        </p:cxnSp>
        <p:pic>
          <p:nvPicPr>
            <p:cNvPr id="99" name="Picture 98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8549" y="5391150"/>
              <a:ext cx="139700" cy="139700"/>
            </a:xfrm>
            <a:prstGeom prst="rect">
              <a:avLst/>
            </a:prstGeom>
          </p:spPr>
        </p:pic>
        <p:pic>
          <p:nvPicPr>
            <p:cNvPr id="100" name="Picture 99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284" y="5391150"/>
              <a:ext cx="139700" cy="139700"/>
            </a:xfrm>
            <a:prstGeom prst="rect">
              <a:avLst/>
            </a:prstGeom>
          </p:spPr>
        </p:pic>
        <p:pic>
          <p:nvPicPr>
            <p:cNvPr id="101" name="Picture 100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019" y="5391150"/>
              <a:ext cx="139700" cy="139700"/>
            </a:xfrm>
            <a:prstGeom prst="rect">
              <a:avLst/>
            </a:prstGeom>
          </p:spPr>
        </p:pic>
        <p:pic>
          <p:nvPicPr>
            <p:cNvPr id="102" name="Picture 101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3202" y="5391150"/>
              <a:ext cx="139700" cy="139700"/>
            </a:xfrm>
            <a:prstGeom prst="rect">
              <a:avLst/>
            </a:prstGeom>
          </p:spPr>
        </p:pic>
        <p:pic>
          <p:nvPicPr>
            <p:cNvPr id="103" name="Picture 102" descr="alert-circle-A61C22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50101" y="5378450"/>
              <a:ext cx="165100" cy="1651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9346951" y="5270500"/>
              <a:ext cx="762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异常中断</a:t>
              </a:r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7962900" y="5537200"/>
              <a:ext cx="1270000" cy="101600"/>
            </a:xfrm>
            <a:custGeom>
              <a:avLst/>
              <a:gdLst/>
              <a:ahLst/>
              <a:cxnLst/>
              <a:rect l="l" t="t" r="r" b="b"/>
              <a:pathLst>
                <a:path w="200" h="16">
                  <a:moveTo>
                    <a:pt x="200" y="1"/>
                  </a:moveTo>
                  <a:lnTo>
                    <a:pt x="200" y="16"/>
                  </a:lnTo>
                  <a:lnTo>
                    <a:pt x="0" y="16"/>
                  </a:ln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960868" y="5651500"/>
              <a:ext cx="1271783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重规划</a:t>
              </a:r>
            </a:p>
          </p:txBody>
        </p:sp>
        <p:pic>
          <p:nvPicPr>
            <p:cNvPr id="107" name="Picture 106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83951" y="5391150"/>
              <a:ext cx="139700" cy="139700"/>
            </a:xfrm>
            <a:prstGeom prst="rect">
              <a:avLst/>
            </a:prstGeom>
          </p:spPr>
        </p:pic>
        <p:cxnSp>
          <p:nvCxnSpPr>
            <p:cNvPr id="108" name="Connector 107"/>
            <p:cNvCxnSpPr/>
            <p:nvPr/>
          </p:nvCxnSpPr>
          <p:spPr>
            <a:xfrm>
              <a:off x="3429000" y="6007100"/>
              <a:ext cx="8204200" cy="0"/>
            </a:xfrm>
            <a:prstGeom prst="line">
              <a:avLst/>
            </a:prstGeom>
            <a:ln w="12700">
              <a:solidFill>
                <a:srgbClr val="C6C6C6"/>
              </a:solidFill>
              <a:round/>
              <a:tailEnd type="triangle" w="med" len="med"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10109200" y="5842000"/>
              <a:ext cx="14986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仿真推进（里程）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研究内容③ 智能体执行：把 −10℃ 现场的问题在研发室里跑出来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一条执行链：仿真智能体 → 用例生成 → 测试识别 → 报告与回归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400"/>
              </a:spcAft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测试识别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5085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787900"/>
            <a:ext cx="1651000" cy="4699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787900"/>
            <a:ext cx="19050" cy="4699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7879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3086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3086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308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400" y="56642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56642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650" y="56642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仿真结果靠人看曲线，多系统、长时序问题（如临哈线散热器冻结）难发现、难定位。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实时协同与可信评判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——分布式协同仿真、时序同步、自动标定与不确定度量化；难点是步长差异大、极端工况数据少。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060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060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030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仿真智能体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030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0030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控制系统、车辆动力学、线路等智能体与孪生模型，标准化接入、时序同步，用试验与运用数据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54025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7995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7995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965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用例生成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965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按需自生成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965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按线路资料与覆盖要求生成用例与线路数据（平纵断面、曲线、超高、坡度、不平顺谱）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695960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9930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9930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900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3900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900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识别异常、定位原因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，给出可信性判断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378950" y="270510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18650" y="2095500"/>
            <a:ext cx="2266950" cy="13081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8650" y="20955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8350" y="21971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报告与回归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58350" y="24384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可追溯 · 回归重跑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58350" y="2628900"/>
            <a:ext cx="1987550" cy="723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结论自动汇总、可追溯；结果回流迭代标定与判据，设计变更后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67" name="Freeform 66"/>
          <p:cNvSpPr/>
          <p:nvPr/>
        </p:nvSpPr>
        <p:spPr>
          <a:xfrm>
            <a:off x="3390900" y="3403600"/>
            <a:ext cx="7264400" cy="139700"/>
          </a:xfrm>
          <a:custGeom>
            <a:avLst/>
            <a:gdLst/>
            <a:ahLst/>
            <a:cxnLst/>
            <a:rect l="l" t="t" r="r" b="b"/>
            <a:pathLst>
              <a:path w="1144" h="22">
                <a:moveTo>
                  <a:pt x="1144" y="0"/>
                </a:moveTo>
                <a:lnTo>
                  <a:pt x="1144" y="22"/>
                </a:lnTo>
                <a:lnTo>
                  <a:pt x="0" y="22"/>
                </a:lnTo>
                <a:lnTo>
                  <a:pt x="0" y="2"/>
                </a:lnTo>
              </a:path>
            </a:pathLst>
          </a:custGeom>
          <a:noFill/>
          <a:ln w="12700">
            <a:solidFill>
              <a:srgbClr val="4A4A4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34734" y="3467100"/>
            <a:ext cx="3576733" cy="152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734" y="3467100"/>
            <a:ext cx="3576733" cy="152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数据回归：结果回流，迭代模型标定、判据与工况集 · 设计变更后回归重跑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0600" y="37084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以临哈线散热器冻结为例：逐工况对标判据，识别异常并定位原因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7200" y="3708400"/>
            <a:ext cx="4978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 · 数据据现场记录 · 防冻限值【待填】</a:t>
            </a:r>
          </a:p>
        </p:txBody>
      </p:sp>
      <p:grpSp>
        <p:nvGrpSpPr>
          <p:cNvPr id="72" name="附图 · 以临哈线散热器冻结为例：逐工况对标判据，识别异常并定位原因"/>
          <p:cNvGrpSpPr/>
          <p:nvPr/>
        </p:nvGrpSpPr>
        <p:grpSpPr>
          <a:xfrm>
            <a:off x="2260600" y="4000500"/>
            <a:ext cx="9525000" cy="2286000"/>
            <a:chOff x="2260600" y="4000500"/>
            <a:chExt cx="9525000" cy="2286000"/>
          </a:xfrm>
        </p:grpSpPr>
        <p:sp>
          <p:nvSpPr>
            <p:cNvPr id="73" name="Rectangle 72"/>
            <p:cNvSpPr/>
            <p:nvPr/>
          </p:nvSpPr>
          <p:spPr>
            <a:xfrm>
              <a:off x="2260600" y="4000500"/>
              <a:ext cx="9525000" cy="22860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177915" y="4241800"/>
              <a:ext cx="1950085" cy="11938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75" name="Picture 74" descr="alert-circle-A61C22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415" y="4839123"/>
              <a:ext cx="114300" cy="1143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6381115" y="4826423"/>
              <a:ext cx="1708785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低温水越限：过冷 → 散热器冻结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2857500" y="5358553"/>
              <a:ext cx="5270500" cy="0"/>
            </a:xfrm>
            <a:prstGeom prst="line">
              <a:avLst/>
            </a:prstGeom>
            <a:ln w="9525">
              <a:solidFill>
                <a:srgbClr val="A61C22"/>
              </a:solidFill>
              <a:prstDash val="dash"/>
              <a:round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2908300" y="5218853"/>
              <a:ext cx="12700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防冻限值（判据）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911600" y="4229100"/>
              <a:ext cx="0" cy="1206500"/>
            </a:xfrm>
            <a:prstGeom prst="line">
              <a:avLst/>
            </a:prstGeom>
            <a:ln w="7620">
              <a:solidFill>
                <a:srgbClr val="666666"/>
              </a:solidFill>
              <a:prstDash val="dash"/>
              <a:round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3949700" y="4229100"/>
              <a:ext cx="571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2857500" y="4406900"/>
              <a:ext cx="5270500" cy="25400"/>
            </a:xfrm>
            <a:custGeom>
              <a:avLst/>
              <a:gdLst/>
              <a:ahLst/>
              <a:cxnLst/>
              <a:rect l="l" t="t" r="r" b="b"/>
              <a:pathLst>
                <a:path w="830" h="4">
                  <a:moveTo>
                    <a:pt x="0" y="0"/>
                  </a:moveTo>
                  <a:lnTo>
                    <a:pt x="6" y="0"/>
                  </a:lnTo>
                  <a:lnTo>
                    <a:pt x="15" y="0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2"/>
                  </a:lnTo>
                  <a:lnTo>
                    <a:pt x="132" y="2"/>
                  </a:lnTo>
                  <a:lnTo>
                    <a:pt x="142" y="2"/>
                  </a:lnTo>
                  <a:lnTo>
                    <a:pt x="154" y="2"/>
                  </a:lnTo>
                  <a:lnTo>
                    <a:pt x="166" y="2"/>
                  </a:lnTo>
                  <a:lnTo>
                    <a:pt x="180" y="2"/>
                  </a:lnTo>
                  <a:lnTo>
                    <a:pt x="194" y="3"/>
                  </a:lnTo>
                  <a:lnTo>
                    <a:pt x="210" y="3"/>
                  </a:lnTo>
                  <a:lnTo>
                    <a:pt x="226" y="3"/>
                  </a:lnTo>
                  <a:lnTo>
                    <a:pt x="242" y="3"/>
                  </a:lnTo>
                  <a:lnTo>
                    <a:pt x="258" y="4"/>
                  </a:lnTo>
                  <a:lnTo>
                    <a:pt x="275" y="4"/>
                  </a:lnTo>
                  <a:lnTo>
                    <a:pt x="290" y="4"/>
                  </a:lnTo>
                  <a:lnTo>
                    <a:pt x="306" y="4"/>
                  </a:lnTo>
                  <a:lnTo>
                    <a:pt x="321" y="4"/>
                  </a:lnTo>
                  <a:lnTo>
                    <a:pt x="335" y="4"/>
                  </a:lnTo>
                  <a:lnTo>
                    <a:pt x="350" y="4"/>
                  </a:lnTo>
                  <a:lnTo>
                    <a:pt x="365" y="4"/>
                  </a:lnTo>
                  <a:lnTo>
                    <a:pt x="381" y="4"/>
                  </a:lnTo>
                  <a:lnTo>
                    <a:pt x="397" y="4"/>
                  </a:lnTo>
                  <a:lnTo>
                    <a:pt x="415" y="4"/>
                  </a:lnTo>
                  <a:lnTo>
                    <a:pt x="434" y="4"/>
                  </a:lnTo>
                  <a:lnTo>
                    <a:pt x="455" y="4"/>
                  </a:lnTo>
                  <a:lnTo>
                    <a:pt x="476" y="4"/>
                  </a:lnTo>
                  <a:lnTo>
                    <a:pt x="498" y="4"/>
                  </a:lnTo>
                  <a:lnTo>
                    <a:pt x="520" y="4"/>
                  </a:lnTo>
                  <a:lnTo>
                    <a:pt x="541" y="4"/>
                  </a:lnTo>
                  <a:lnTo>
                    <a:pt x="562" y="4"/>
                  </a:lnTo>
                  <a:lnTo>
                    <a:pt x="581" y="4"/>
                  </a:lnTo>
                  <a:lnTo>
                    <a:pt x="599" y="4"/>
                  </a:lnTo>
                  <a:lnTo>
                    <a:pt x="615" y="4"/>
                  </a:lnTo>
                  <a:lnTo>
                    <a:pt x="631" y="4"/>
                  </a:lnTo>
                  <a:lnTo>
                    <a:pt x="646" y="4"/>
                  </a:lnTo>
                  <a:lnTo>
                    <a:pt x="661" y="4"/>
                  </a:lnTo>
                  <a:lnTo>
                    <a:pt x="675" y="4"/>
                  </a:lnTo>
                  <a:lnTo>
                    <a:pt x="690" y="4"/>
                  </a:lnTo>
                  <a:lnTo>
                    <a:pt x="706" y="4"/>
                  </a:lnTo>
                  <a:lnTo>
                    <a:pt x="722" y="4"/>
                  </a:lnTo>
                  <a:lnTo>
                    <a:pt x="740" y="4"/>
                  </a:lnTo>
                  <a:lnTo>
                    <a:pt x="758" y="4"/>
                  </a:lnTo>
                  <a:lnTo>
                    <a:pt x="776" y="4"/>
                  </a:lnTo>
                  <a:lnTo>
                    <a:pt x="792" y="4"/>
                  </a:lnTo>
                  <a:lnTo>
                    <a:pt x="808" y="4"/>
                  </a:lnTo>
                  <a:lnTo>
                    <a:pt x="820" y="4"/>
                  </a:lnTo>
                  <a:lnTo>
                    <a:pt x="830" y="4"/>
                  </a:lnTo>
                </a:path>
              </a:pathLst>
            </a:custGeom>
            <a:noFill/>
            <a:ln w="15875">
              <a:solidFill>
                <a:srgbClr val="66666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2857500" y="5105400"/>
              <a:ext cx="5270500" cy="330200"/>
            </a:xfrm>
            <a:custGeom>
              <a:avLst/>
              <a:gdLst/>
              <a:ahLst/>
              <a:cxnLst/>
              <a:rect l="l" t="t" r="r" b="b"/>
              <a:pathLst>
                <a:path w="830" h="52">
                  <a:moveTo>
                    <a:pt x="0" y="1"/>
                  </a:moveTo>
                  <a:lnTo>
                    <a:pt x="6" y="1"/>
                  </a:lnTo>
                  <a:lnTo>
                    <a:pt x="15" y="1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4" y="1"/>
                  </a:lnTo>
                  <a:lnTo>
                    <a:pt x="114" y="1"/>
                  </a:lnTo>
                  <a:lnTo>
                    <a:pt x="124" y="0"/>
                  </a:lnTo>
                  <a:lnTo>
                    <a:pt x="135" y="1"/>
                  </a:lnTo>
                  <a:lnTo>
                    <a:pt x="145" y="1"/>
                  </a:lnTo>
                  <a:lnTo>
                    <a:pt x="156" y="1"/>
                  </a:lnTo>
                  <a:lnTo>
                    <a:pt x="166" y="1"/>
                  </a:lnTo>
                  <a:lnTo>
                    <a:pt x="176" y="2"/>
                  </a:lnTo>
                  <a:lnTo>
                    <a:pt x="186" y="3"/>
                  </a:lnTo>
                  <a:lnTo>
                    <a:pt x="196" y="4"/>
                  </a:lnTo>
                  <a:lnTo>
                    <a:pt x="206" y="5"/>
                  </a:lnTo>
                  <a:lnTo>
                    <a:pt x="217" y="6"/>
                  </a:lnTo>
                  <a:lnTo>
                    <a:pt x="227" y="7"/>
                  </a:lnTo>
                  <a:lnTo>
                    <a:pt x="238" y="8"/>
                  </a:lnTo>
                  <a:lnTo>
                    <a:pt x="249" y="10"/>
                  </a:lnTo>
                  <a:lnTo>
                    <a:pt x="261" y="11"/>
                  </a:lnTo>
                  <a:lnTo>
                    <a:pt x="273" y="12"/>
                  </a:lnTo>
                  <a:lnTo>
                    <a:pt x="285" y="14"/>
                  </a:lnTo>
                  <a:lnTo>
                    <a:pt x="297" y="15"/>
                  </a:lnTo>
                  <a:lnTo>
                    <a:pt x="310" y="17"/>
                  </a:lnTo>
                  <a:lnTo>
                    <a:pt x="323" y="19"/>
                  </a:lnTo>
                  <a:lnTo>
                    <a:pt x="336" y="20"/>
                  </a:lnTo>
                  <a:lnTo>
                    <a:pt x="349" y="22"/>
                  </a:lnTo>
                  <a:lnTo>
                    <a:pt x="362" y="23"/>
                  </a:lnTo>
                  <a:lnTo>
                    <a:pt x="375" y="25"/>
                  </a:lnTo>
                  <a:lnTo>
                    <a:pt x="389" y="26"/>
                  </a:lnTo>
                  <a:lnTo>
                    <a:pt x="403" y="28"/>
                  </a:lnTo>
                  <a:lnTo>
                    <a:pt x="416" y="29"/>
                  </a:lnTo>
                  <a:lnTo>
                    <a:pt x="430" y="31"/>
                  </a:lnTo>
                  <a:lnTo>
                    <a:pt x="443" y="32"/>
                  </a:lnTo>
                  <a:lnTo>
                    <a:pt x="456" y="34"/>
                  </a:lnTo>
                  <a:lnTo>
                    <a:pt x="469" y="35"/>
                  </a:lnTo>
                  <a:lnTo>
                    <a:pt x="482" y="36"/>
                  </a:lnTo>
                  <a:lnTo>
                    <a:pt x="495" y="38"/>
                  </a:lnTo>
                  <a:lnTo>
                    <a:pt x="507" y="39"/>
                  </a:lnTo>
                  <a:lnTo>
                    <a:pt x="520" y="40"/>
                  </a:lnTo>
                  <a:lnTo>
                    <a:pt x="532" y="41"/>
                  </a:lnTo>
                  <a:lnTo>
                    <a:pt x="544" y="42"/>
                  </a:lnTo>
                  <a:lnTo>
                    <a:pt x="556" y="43"/>
                  </a:lnTo>
                  <a:lnTo>
                    <a:pt x="568" y="44"/>
                  </a:lnTo>
                  <a:lnTo>
                    <a:pt x="580" y="45"/>
                  </a:lnTo>
                  <a:lnTo>
                    <a:pt x="592" y="45"/>
                  </a:lnTo>
                  <a:lnTo>
                    <a:pt x="604" y="46"/>
                  </a:lnTo>
                  <a:lnTo>
                    <a:pt x="615" y="47"/>
                  </a:lnTo>
                  <a:lnTo>
                    <a:pt x="627" y="48"/>
                  </a:lnTo>
                  <a:lnTo>
                    <a:pt x="637" y="48"/>
                  </a:lnTo>
                  <a:lnTo>
                    <a:pt x="647" y="49"/>
                  </a:lnTo>
                  <a:lnTo>
                    <a:pt x="657" y="49"/>
                  </a:lnTo>
                  <a:lnTo>
                    <a:pt x="665" y="50"/>
                  </a:lnTo>
                  <a:lnTo>
                    <a:pt x="672" y="50"/>
                  </a:lnTo>
                  <a:lnTo>
                    <a:pt x="679" y="51"/>
                  </a:lnTo>
                  <a:lnTo>
                    <a:pt x="686" y="51"/>
                  </a:lnTo>
                  <a:lnTo>
                    <a:pt x="694" y="51"/>
                  </a:lnTo>
                  <a:lnTo>
                    <a:pt x="703" y="51"/>
                  </a:lnTo>
                  <a:lnTo>
                    <a:pt x="714" y="52"/>
                  </a:lnTo>
                  <a:lnTo>
                    <a:pt x="727" y="52"/>
                  </a:lnTo>
                  <a:lnTo>
                    <a:pt x="742" y="52"/>
                  </a:lnTo>
                  <a:lnTo>
                    <a:pt x="759" y="52"/>
                  </a:lnTo>
                  <a:lnTo>
                    <a:pt x="776" y="52"/>
                  </a:lnTo>
                  <a:lnTo>
                    <a:pt x="793" y="52"/>
                  </a:lnTo>
                  <a:lnTo>
                    <a:pt x="808" y="52"/>
                  </a:lnTo>
                  <a:lnTo>
                    <a:pt x="821" y="52"/>
                  </a:lnTo>
                  <a:lnTo>
                    <a:pt x="830" y="52"/>
                  </a:lnTo>
                </a:path>
              </a:pathLst>
            </a:custGeom>
            <a:noFill/>
            <a:ln w="15875">
              <a:solidFill>
                <a:srgbClr val="8C1D2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438650" y="4268893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高温水 维持 78℃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02150" y="4987572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低温水 25℃ → 0℃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501900" y="4370493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78℃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501900" y="5051072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25℃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501900" y="5372100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0℃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857500" y="5435600"/>
              <a:ext cx="5410200" cy="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cxnSp>
          <p:nvCxnSpPr>
            <p:cNvPr id="89" name="Connector 88"/>
            <p:cNvCxnSpPr/>
            <p:nvPr/>
          </p:nvCxnSpPr>
          <p:spPr>
            <a:xfrm flipV="1">
              <a:off x="2857500" y="4140200"/>
              <a:ext cx="0" cy="12954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2476500" y="40894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水温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937500" y="52832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时间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413000" y="54991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手柄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863850" y="54991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2863850" y="5499100"/>
              <a:ext cx="10414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牵引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917950" y="5499100"/>
              <a:ext cx="4203700" cy="165100"/>
            </a:xfrm>
            <a:prstGeom prst="rect">
              <a:avLst/>
            </a:prstGeom>
            <a:solidFill>
              <a:srgbClr val="FAF2F2"/>
            </a:solidFill>
            <a:ln w="6350">
              <a:solidFill>
                <a:srgbClr val="F3E3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917950" y="54991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413000" y="56896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风扇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863850" y="56896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3917950" y="5689600"/>
              <a:ext cx="4203700" cy="1651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917950" y="56896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冷却风扇 40Hz 持续运行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413000" y="58801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2863850" y="5880100"/>
              <a:ext cx="52578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863850" y="5880100"/>
              <a:ext cx="52578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临哈线长大下坡 · 环境约 −10℃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48700" y="4076700"/>
              <a:ext cx="2984500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识别结果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712200" y="4292600"/>
              <a:ext cx="1016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791700" y="42926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744200" y="42926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结论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648700" y="4457700"/>
              <a:ext cx="2984500" cy="0"/>
            </a:xfrm>
            <a:prstGeom prst="line">
              <a:avLst/>
            </a:prstGeom>
            <a:ln w="7620">
              <a:solidFill>
                <a:srgbClr val="666666"/>
              </a:solidFill>
              <a:round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8712200" y="44704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牵引工况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7917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744200" y="4470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满足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8648700" y="46990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3" name="Rectangle 112"/>
            <p:cNvSpPr/>
            <p:nvPr/>
          </p:nvSpPr>
          <p:spPr>
            <a:xfrm>
              <a:off x="8648700" y="4699000"/>
              <a:ext cx="2984500" cy="2286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8712200" y="46990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97917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744200" y="4699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✗ 过冷</a:t>
              </a:r>
            </a:p>
          </p:txBody>
        </p:sp>
        <p:cxnSp>
          <p:nvCxnSpPr>
            <p:cNvPr id="117" name="Connector 116"/>
            <p:cNvCxnSpPr/>
            <p:nvPr/>
          </p:nvCxnSpPr>
          <p:spPr>
            <a:xfrm>
              <a:off x="8648700" y="49276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8" name="TextBox 117"/>
            <p:cNvSpPr txBox="1"/>
            <p:nvPr/>
          </p:nvSpPr>
          <p:spPr>
            <a:xfrm>
              <a:off x="8712200" y="49276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791700" y="49276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高温水温度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0744200" y="49276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正常</a:t>
              </a:r>
            </a:p>
          </p:txBody>
        </p:sp>
        <p:cxnSp>
          <p:nvCxnSpPr>
            <p:cNvPr id="121" name="Connector 120"/>
            <p:cNvCxnSpPr/>
            <p:nvPr/>
          </p:nvCxnSpPr>
          <p:spPr>
            <a:xfrm>
              <a:off x="8648700" y="51562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22" name="Rectangle 121"/>
            <p:cNvSpPr/>
            <p:nvPr/>
          </p:nvSpPr>
          <p:spPr>
            <a:xfrm>
              <a:off x="8648700" y="5245100"/>
              <a:ext cx="2984500" cy="5334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8750300" y="5295900"/>
              <a:ext cx="27813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原因定位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8750300" y="5448300"/>
              <a:ext cx="27813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回手柄后柴油机发热量下降，风扇仍以 40Hz 运行，低温水回路被过度冷却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8648700" y="5854700"/>
              <a:ext cx="298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→ 写入验证报告；设计修改后，低温工况全量回归重跑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指标实时推演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协同运行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267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546600"/>
            <a:ext cx="1651000" cy="3048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546600"/>
            <a:ext cx="19050" cy="3048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546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4902200"/>
            <a:ext cx="1651000" cy="4699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4902200"/>
            <a:ext cx="19050" cy="469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4902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6731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673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351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51000"/>
            <a:ext cx="53848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台架以控制器为核心，其他系统靠经验数据近似，控制、冷却、动力、线路等系统难以在同一环境中协同运行，复杂场景无法模拟。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60500"/>
            <a:ext cx="0" cy="4699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351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51000"/>
            <a:ext cx="3454400" cy="355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系统集成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——标准化接口、服务化封装、沙箱化运行与全程留痕；难点是异构模型实时协同下的稳定性与可复现。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总体架构与接口规范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10795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定义四层的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；已有模型与 HIL 台架经标准接口接入，不重复建设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3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73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13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多智能体协同运行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13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异构智能体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86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6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可复现沙箱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6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隔离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（单路发散不扩散）、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（参数、模型版本、随机种子）、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回放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（任意一次验证可复现）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99600" y="20955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99600" y="20955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39300" y="21971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列车级数字样机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9300" y="24638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为示范对象集成关键系统智能体，支持性能验证与智能运维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0600" y="31496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列车级数字样机构成：关键系统智能体经标准化接口接入引擎，在沙箱中协同运行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74000" y="3149600"/>
            <a:ext cx="3911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9" name="附图 · 列车级数字样机构成：关键系统智能体经标准化接口接入引擎，在沙箱中协同运行"/>
          <p:cNvGrpSpPr/>
          <p:nvPr/>
        </p:nvGrpSpPr>
        <p:grpSpPr>
          <a:xfrm>
            <a:off x="2260600" y="3441700"/>
            <a:ext cx="9525000" cy="2844800"/>
            <a:chOff x="2260600" y="3441700"/>
            <a:chExt cx="9525000" cy="2844800"/>
          </a:xfrm>
        </p:grpSpPr>
        <p:sp>
          <p:nvSpPr>
            <p:cNvPr id="60" name="Rectangle 59"/>
            <p:cNvSpPr/>
            <p:nvPr/>
          </p:nvSpPr>
          <p:spPr>
            <a:xfrm>
              <a:off x="2260600" y="3441700"/>
              <a:ext cx="9525000" cy="28448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413000" y="3657600"/>
              <a:ext cx="6807200" cy="2438400"/>
            </a:xfrm>
            <a:prstGeom prst="rect">
              <a:avLst/>
            </a:prstGeom>
            <a:noFill/>
            <a:ln w="9525">
              <a:solidFill>
                <a:srgbClr val="CFCFCF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2565400" y="3543300"/>
              <a:ext cx="1886220" cy="228600"/>
            </a:xfrm>
            <a:prstGeom prst="roundRect">
              <a:avLst>
                <a:gd name="adj" fmla="val 22222"/>
              </a:avLst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03 可复现沙箱：隔离 · 记录 · 回放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5654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控制系统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075517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6" name="Rectangle 65"/>
            <p:cNvSpPr/>
            <p:nvPr/>
          </p:nvSpPr>
          <p:spPr>
            <a:xfrm>
              <a:off x="3043767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18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车辆动力学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4171950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0" name="Rectangle 69"/>
            <p:cNvSpPr/>
            <p:nvPr/>
          </p:nvSpPr>
          <p:spPr>
            <a:xfrm>
              <a:off x="4140200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7582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5268383" y="42545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5236633" y="44323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854700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牵引系统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6364817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8" name="Rectangle 77"/>
            <p:cNvSpPr/>
            <p:nvPr/>
          </p:nvSpPr>
          <p:spPr>
            <a:xfrm>
              <a:off x="6333067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951133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制动系统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7461250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7429500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047567" y="38989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辅助系统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8557683" y="42545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6" name="Rectangle 85"/>
            <p:cNvSpPr/>
            <p:nvPr/>
          </p:nvSpPr>
          <p:spPr>
            <a:xfrm>
              <a:off x="8525933" y="44323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565400" y="4495800"/>
              <a:ext cx="6502400" cy="393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350"/>
                </a:lnSpc>
                <a:buNone/>
              </a:pPr>
              <a:r>
                <a:rPr lang="zh-CN" altLang="en-US" sz="10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02 多智能体协同运行与调度引擎</a:t>
              </a:r>
            </a:p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750" b="0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经 01 标准化接口接入 · 实时协同求解 · 时序同步 · 状态同步</a:t>
              </a:r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816600" y="4902200"/>
              <a:ext cx="0" cy="29210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5880100" y="4927600"/>
              <a:ext cx="508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集成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565400" y="5994400"/>
              <a:ext cx="6502400" cy="127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2565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794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3022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251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3479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08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937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165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4394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4622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851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5080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308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537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5765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994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6223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6451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6680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908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137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7366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7594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7823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518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82804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5090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7376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6200" y="60071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21" name="Picture 120" descr="locomotive_premium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3600" y="5238496"/>
              <a:ext cx="3048000" cy="762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2565400" y="5257800"/>
              <a:ext cx="1587500" cy="1905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04 列车级数字样机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565400" y="5486400"/>
              <a:ext cx="15240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关键系统仿真智能体 ＋ 协同运行与调度引擎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474200" y="43053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可接入现有条件</a:t>
              </a:r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9474200" y="4470400"/>
              <a:ext cx="2159000" cy="444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9474200" y="4470400"/>
              <a:ext cx="19050" cy="44450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9601200" y="45212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HIL 台架：控制器在环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601200" y="47117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经验数据用于智能体标定</a:t>
              </a:r>
            </a:p>
          </p:txBody>
        </p:sp>
        <p:cxnSp>
          <p:nvCxnSpPr>
            <p:cNvPr id="129" name="Connector 128"/>
            <p:cNvCxnSpPr/>
            <p:nvPr/>
          </p:nvCxnSpPr>
          <p:spPr>
            <a:xfrm flipH="1">
              <a:off x="9105900" y="4692650"/>
              <a:ext cx="342900" cy="0"/>
            </a:xfrm>
            <a:prstGeom prst="line">
              <a:avLst/>
            </a:prstGeom>
            <a:ln w="11430">
              <a:solidFill>
                <a:srgbClr val="3A3A3A"/>
              </a:solidFill>
              <a:prstDash val="dash"/>
              <a:round/>
              <a:tailEnd type="triangle" w="med" len="med"/>
            </a:ln>
          </p:spPr>
        </p:cxnSp>
        <p:sp>
          <p:nvSpPr>
            <p:cNvPr id="130" name="TextBox 129"/>
            <p:cNvSpPr txBox="1"/>
            <p:nvPr/>
          </p:nvSpPr>
          <p:spPr>
            <a:xfrm>
              <a:off x="9474200" y="49530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支撑</a:t>
              </a:r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9474200" y="5143500"/>
              <a:ext cx="2159000" cy="952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474200" y="5143500"/>
              <a:ext cx="19050" cy="952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601200" y="52197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列车关键性能验证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601200" y="54102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速度跟踪 · 牵引能耗 · 运行平稳性</a:t>
              </a:r>
            </a:p>
          </p:txBody>
        </p:sp>
        <p:cxnSp>
          <p:nvCxnSpPr>
            <p:cNvPr id="135" name="Connector 134"/>
            <p:cNvCxnSpPr/>
            <p:nvPr/>
          </p:nvCxnSpPr>
          <p:spPr>
            <a:xfrm>
              <a:off x="9601200" y="5626100"/>
              <a:ext cx="19050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36" name="TextBox 135"/>
            <p:cNvSpPr txBox="1"/>
            <p:nvPr/>
          </p:nvSpPr>
          <p:spPr>
            <a:xfrm>
              <a:off x="9601200" y="56896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智能运维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9601200" y="58801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性能复现 · 状态评估</a:t>
              </a:r>
            </a:p>
          </p:txBody>
        </p:sp>
        <p:cxnSp>
          <p:nvCxnSpPr>
            <p:cNvPr id="138" name="Connector 137"/>
            <p:cNvCxnSpPr/>
            <p:nvPr/>
          </p:nvCxnSpPr>
          <p:spPr>
            <a:xfrm>
              <a:off x="9245600" y="5619750"/>
              <a:ext cx="190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典型应用场景：FXN5C 临哈线控速＋能耗验证，全流程交给智能体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输入一句话需求 → 引擎自动完成五步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典型应用场景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 FXN5C 在临哈线上按给定运行图运行时的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955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引擎自动完成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对象——牵引控制系统；性能——速度跟踪偏差、牵引能耗；判据取自知识库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57302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272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272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42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工况生成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42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临哈线线路数据 × 轨面（干／湿）× 载荷（满／空）× 线路条件（长大坡道／小半径曲线／隧道）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487934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1904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1904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874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装配与调度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74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牵引控制、车辆动力学、线路智能体自动装配，按工况分配精度与算力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18566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536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536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506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执行与判读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6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3429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协同求解、自动标定；定位异常（如某曲线段速度超差），追溯原因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949198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168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138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05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138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验证报告＋全要素留痕，可回放、可回归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00" y="4152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与现有做法对比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7117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4323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44323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44323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47117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工况准备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7117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人工编写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3000" y="47117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按线路资料与判据自动生成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5086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08000" y="508635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环境搭建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7000" y="508635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台架＋人工联调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23000" y="508635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自动装配智能体与算力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6400" y="54610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508000" y="54610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结果判读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67000" y="54610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人工看曲线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0" y="54610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自动比对判据、定位原因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" y="58356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创新点与技术定位：先进性不在单项技术，而在调度的维度与粒度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三项突破 · 技术定位：不替代现有工具，把它们接起来、调度起来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三项突破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突破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1625600"/>
            <a:ext cx="525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0" y="1625600"/>
            <a:ext cx="292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带来的变化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调度对象升级为智能体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19050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智能体自主标定、自主判读，引擎按任务调度智能体而非算例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19050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人退出执行回路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3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3368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调度多一个维度：保真度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000" y="23368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工况驱动的降阶／全保真切换，GPU、NPU 算力随之调配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3000" y="23368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27686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27686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调度基础是可复现沙箱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02000" y="27686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参数、模型版本、随机种子全程留痕与回放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27686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现场问题可复现，改进后可回归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2004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341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技术定位：不替代现有工具，把它们接起来、调度起来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4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28" name="TextBox 27"/>
          <p:cNvSpPr txBox="1"/>
          <p:nvPr/>
        </p:nvSpPr>
        <p:spPr>
          <a:xfrm>
            <a:off x="5080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30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10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单专业高精度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列车级协同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5080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130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模型封装与交换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910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智能编排、实时性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5080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控制器实时验证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10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工况受限、不可批量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4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cxnSp>
        <p:nvCxnSpPr>
          <p:cNvPr id="43" name="Connector 42"/>
          <p:cNvCxnSpPr/>
          <p:nvPr/>
        </p:nvCxnSpPr>
        <p:spPr>
          <a:xfrm>
            <a:off x="62230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63246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76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46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线路试验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076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周期长、不可复现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63246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降阶模型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提速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076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极端工况不能外推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230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63246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任务编排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76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多物理域实时协同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2230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9" name="Rectangle 58"/>
          <p:cNvSpPr/>
          <p:nvPr/>
        </p:nvSpPr>
        <p:spPr>
          <a:xfrm>
            <a:off x="406400" y="5473700"/>
            <a:ext cx="19050" cy="6858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4200" y="55880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在成熟技术之上，补上“</a:t>
            </a:r>
            <a:r>
              <a:rPr lang="zh-CN" altLang="en-US" sz="12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”这一层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58483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不做仿真软件、不做接口标准、不做试验台。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阶段目标与进度：四个阶段，每个里程碑一道考题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 2027.01—2028.12（24 个月） · 完成 → 突破 → 建成 → 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阶段目标与进度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06400" y="32639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79" name="TextBox 78"/>
          <p:cNvSpPr txBox="1"/>
          <p:nvPr/>
        </p:nvSpPr>
        <p:spPr>
          <a:xfrm>
            <a:off x="508000" y="29845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13000" y="2984500"/>
            <a:ext cx="424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2984500"/>
            <a:ext cx="4826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检验（考题）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8000" y="32639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2027.01—2027.06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13000" y="32639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完成总体架构与接口规范设计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32639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规范通过评审；判据首批覆盖三项关键性能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06400" y="37973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6" name="TextBox 85"/>
          <p:cNvSpPr txBox="1"/>
          <p:nvPr/>
        </p:nvSpPr>
        <p:spPr>
          <a:xfrm>
            <a:off x="508000" y="37973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阶段二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2027.07—2028.03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13000" y="37973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突破实时协同与保真度调度技术，研制智能体与引擎原理样机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37973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原理样机完成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个工况自动装配与调度；智能体与实测比对达标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06400" y="43307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0" name="TextBox 89"/>
          <p:cNvSpPr txBox="1"/>
          <p:nvPr/>
        </p:nvSpPr>
        <p:spPr>
          <a:xfrm>
            <a:off x="508000" y="43307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阶段三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2028.04—2028.09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13000" y="43307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建成 FXN5C 列车级数字样机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3307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复现临哈线散热器冻结工况并定位原因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06400" y="48641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4" name="TextBox 93"/>
          <p:cNvSpPr txBox="1"/>
          <p:nvPr/>
        </p:nvSpPr>
        <p:spPr>
          <a:xfrm>
            <a:off x="508000" y="48641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阶段四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2028.10—2028.12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13000" y="48641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在临哈线典型区段完成示范应用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48641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一次软件迭代完成全工况回归，验证周期由约 2 个月缩短至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；第三方验证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06400" y="53975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预期成果与考核方式：四项目标，每项有成果物和考核方式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 → 成果物 → 考核方式 ｜ 知识产权与标准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400" y="16383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08000" y="1358900"/>
            <a:ext cx="4876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13589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13589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163830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调度引擎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：实现异构智能体实时协同运行与算力动态调度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163830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引擎软件 1 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0" y="163830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软件演示、功能核验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400" y="2038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08000" y="20383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数字样机与性能验证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：建成 FXN5C 数字样机，实现速度跟踪、牵引能耗、运行平稳性等关键性能的多工况协同验证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0" y="20383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智能体／孪生模型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 1 套（由智能体集成而成）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20383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智能体——与实测比对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数字样机——整车级协同验证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6225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508000" y="26225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方法体系与扩展能力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：形成构建方法体系与集成规范，可向制动、辅助系统扩展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0" y="26225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方法体系与技术规范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26225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知识库核验、报告评审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32067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508000" y="320675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示范应用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：在临哈线典型区段完成 FXN5C 示范，实现全工况自动回归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0" y="320675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 1 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320675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示范验收、第三方验证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360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06400" y="38608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100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100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100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0267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967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967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967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4133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33833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3833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3833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量化指标与效益评估：与现状对比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指标：现状 → 目标 ｜ 效益评估：成果交付 ＋ 示范验证 ＋ 与现状对比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指标：与现状对比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191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目标值由课题组提供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6400" y="1905000"/>
            <a:ext cx="5537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508000" y="1625600"/>
            <a:ext cx="1892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25600"/>
            <a:ext cx="1384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0" y="1625600"/>
            <a:ext cx="165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19050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一次软件迭代的验证周期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500" y="19050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约 2 个月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19050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缩短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4638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508000" y="24638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现场验证人员投入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3500" y="24638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10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4638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减少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" y="30226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3" name="TextBox 22"/>
          <p:cNvSpPr txBox="1"/>
          <p:nvPr/>
        </p:nvSpPr>
        <p:spPr>
          <a:xfrm>
            <a:off x="508000" y="30226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工况覆盖度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3500" y="30226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受台架与现场条件限制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30226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提升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" y="35814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7" name="TextBox 26"/>
          <p:cNvSpPr txBox="1"/>
          <p:nvPr/>
        </p:nvSpPr>
        <p:spPr>
          <a:xfrm>
            <a:off x="508000" y="35814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接入异构仿真智能体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3500" y="35814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0" y="35814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类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41402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508000" y="4140200"/>
            <a:ext cx="1892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协同验证典型工况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3500" y="4140200"/>
            <a:ext cx="13843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4140200"/>
            <a:ext cx="1651000" cy="558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个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6990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成果交付 ＋ 示范验证 ＋ 与现状对比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7600" y="1625600"/>
            <a:ext cx="5588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7600" y="16256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bulb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42100" y="17399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20447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方法体系与规范交付；专利 4 项、论文 2 篇、标准草案 2 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7600" y="2590800"/>
            <a:ext cx="55880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7600" y="2590800"/>
            <a:ext cx="19050" cy="1143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coin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30500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642100" y="27051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2700" y="30099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2700" y="3390900"/>
            <a:ext cx="170548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≥【待填】次/年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1680" y="3390900"/>
            <a:ext cx="159753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节约费用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≥【待填】万元/年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7600" y="3822700"/>
            <a:ext cx="5588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7600" y="38227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world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96240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42100" y="39370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管理与推广效益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2700" y="42418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验证流程标准化，经验沉淀为判据库；可向制动、辅助系统扩展，在**内推广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经费预算：总预算 100 万元，算力是核心投入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87600"/>
            <a:ext cx="67564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按投入人月测算：</a:t>
            </a:r>
            <a:br>
              <a:rPr lang="zh-CN" altLang="en-US" sz="900"/>
            </a:b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【待填】人·月 × 【待填】万元/人·月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5814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581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581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581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581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581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0132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40132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40132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40132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40132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40132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4000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建模数据采集处理 2万；模型校验与第三方验证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6101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6101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6101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6101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6101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6101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发明专利申请 2万；论文与标准草案编制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50419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50419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50419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50419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50419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50419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651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651500"/>
            <a:ext cx="6756400" cy="4318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651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651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651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651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651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60833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238500"/>
            <a:ext cx="3810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238500"/>
            <a:ext cx="254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752850"/>
            <a:ext cx="635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752850"/>
            <a:ext cx="254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267200"/>
            <a:ext cx="635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267200"/>
            <a:ext cx="254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781550"/>
            <a:ext cx="635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781550"/>
            <a:ext cx="254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302250"/>
            <a:ext cx="635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302250"/>
            <a:ext cx="254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254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算力与任务强相关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：NPU 做智能体推理与编排决策，GPU 做多物理域并行仿真，满足实时协同与保真度切换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无对外技术合作费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，全部用于自主研发；分年度投入均衡，与四阶段进度匹配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C47C8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47C80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判据知识化、工作流建模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6100" y="3111500"/>
            <a:ext cx="2451100" cy="2921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6100" y="3111500"/>
            <a:ext cx="19050" cy="2921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3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32893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89300" y="2044700"/>
            <a:ext cx="27305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290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AC454B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AC454B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57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3111500"/>
            <a:ext cx="2451100" cy="2921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29000" y="3111500"/>
            <a:ext cx="19050" cy="2921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42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61722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044700"/>
            <a:ext cx="27305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119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8C1D2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6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19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19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智能体研制、用例生成、识别与报告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11900" y="3111500"/>
            <a:ext cx="2451100" cy="2921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11900" y="3111500"/>
            <a:ext cx="19050" cy="2921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71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交付：仿真智能体、验证报告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90551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55100" y="2044700"/>
            <a:ext cx="27305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948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5B1317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15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948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948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48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架构、沙箱、样机集成、FXN5C 示范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94800" y="3111500"/>
            <a:ext cx="2451100" cy="2921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94800" y="3111500"/>
            <a:ext cx="19050" cy="2921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90050" y="3111500"/>
            <a:ext cx="22796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交付：数字样机、方法体系与规范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400" y="36957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项目管理流程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7800" y="3695700"/>
            <a:ext cx="4572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400" y="4851400"/>
            <a:ext cx="1289050" cy="1435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06400" y="4851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46100" y="5003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100" y="5003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100" y="5473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6100" y="5727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47850" y="4597400"/>
            <a:ext cx="1289050" cy="1689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47850" y="4597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987550" y="4749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87550" y="4749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87550" y="5219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7550" y="5473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12065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89300" y="4343400"/>
            <a:ext cx="1289050" cy="1943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289300" y="4343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29000" y="4495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29000" y="4495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29000" y="4965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5219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30750" y="4089400"/>
            <a:ext cx="1289050" cy="2197100"/>
          </a:xfrm>
          <a:prstGeom prst="rect">
            <a:avLst/>
          </a:prstGeom>
          <a:solidFill>
            <a:srgbClr val="FBF4F4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30750" y="4089400"/>
            <a:ext cx="128905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870450" y="4241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70450" y="4241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70450" y="4711700"/>
            <a:ext cx="100965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70450" y="4965700"/>
            <a:ext cx="103505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3695700"/>
            <a:ext cx="5613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时间安排与执行保障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70800" y="3695700"/>
            <a:ext cx="411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里程碑绑定阶段交付物，按节点考核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72200" y="4089400"/>
            <a:ext cx="1397000" cy="3683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72200" y="4089400"/>
            <a:ext cx="13970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2027.01—06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62700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2700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581900" y="4089400"/>
            <a:ext cx="2092325" cy="3683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81900" y="4089400"/>
            <a:ext cx="209232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20062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20062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686925" y="4089400"/>
            <a:ext cx="1390650" cy="368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686925" y="4089400"/>
            <a:ext cx="139065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2028.04—09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4250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74250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090275" y="4089400"/>
            <a:ext cx="695325" cy="3683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90275" y="4089400"/>
            <a:ext cx="69532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2028.10—12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87219" y="45339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87219" y="47117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172200" y="49911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4" name="Picture 103" descr="shield-check-1A1A1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067300"/>
            <a:ext cx="177800" cy="1778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426200" y="50419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质量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32700" y="5054600"/>
            <a:ext cx="41529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172200" y="53594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8" name="Picture 107" descr="alert-triangl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35600"/>
            <a:ext cx="177800" cy="1778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426200" y="54102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风险 → 应对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32700" y="5422900"/>
            <a:ext cx="41529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判据不完备 → 首批聚焦三项性能、持续回流｜实时同步失真 → 分层步长、关键工况全保真校核｜极端工况数据少 → 试验与运用数据标定、第三方验证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172200" y="61087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12" name="Picture 111" descr="server-1A1A1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6184900"/>
            <a:ext cx="177800" cy="1778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426200" y="61595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32700" y="6172200"/>
            <a:ext cx="41529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算力平台、HIL 台架、FXN5C 试验与运用数据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172200" y="6438900"/>
            <a:ext cx="5613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团队研究能力：为什么由我们承担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19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1379200" cy="609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19050" cy="609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200" y="1358900"/>
            <a:ext cx="11049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控制系统与车辆动力学是主营方向；FXN5C 的研制、试验与运用数据在手；有 HIL 台架和现场问题记录——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判据来源、标定数据、验证对象都是现成的</a:t>
            </a: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lang="zh-CN" altLang="en-US" sz="10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【按实际情况调整】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building-factory-2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2403475"/>
            <a:ext cx="222250" cy="222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2200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5367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device-desktop-analytic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2403475"/>
            <a:ext cx="222250" cy="2222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6067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5367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2367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133" y="215900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9233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test-pip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2403475"/>
            <a:ext cx="222250" cy="2222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79933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59233" y="284480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233" y="284480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HIL 试验台，结合经验数据模拟运用工况；【待填：其他试验台架】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1500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databas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454342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【待填：FXN5C 型式试验、线路试验数据与运用记录】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0267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15367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clipboard-list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4543425"/>
            <a:ext cx="222250" cy="2222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36067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5367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2367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4133" y="4298950"/>
            <a:ext cx="3691467" cy="19875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59233" y="445135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users-group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454342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779933" y="445135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9233" y="4984750"/>
            <a:ext cx="3361267" cy="114935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6233" y="4984750"/>
            <a:ext cx="3107267" cy="11493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8800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60655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000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7467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grpSp>
        <p:nvGrpSpPr>
          <p:cNvPr id="16" name="附图位置 · 调度引擎软件"/>
          <p:cNvGrpSpPr/>
          <p:nvPr/>
        </p:nvGrpSpPr>
        <p:grpSpPr>
          <a:xfrm>
            <a:off x="558800" y="2133600"/>
            <a:ext cx="3386667" cy="1016000"/>
            <a:chOff x="558800" y="2133600"/>
            <a:chExt cx="3386667" cy="1016000"/>
          </a:xfrm>
        </p:grpSpPr>
        <p:sp>
          <p:nvSpPr>
            <p:cNvPr id="17" name="Rectangle 16"/>
            <p:cNvSpPr/>
            <p:nvPr/>
          </p:nvSpPr>
          <p:spPr>
            <a:xfrm>
              <a:off x="558800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8" name="Picture 17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5133" y="2298700"/>
              <a:ext cx="254000" cy="254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60400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调度引擎软件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0400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建议：软件界面截图或系统架构图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58800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输入验证需求，自动完成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分解、装配、调度、监控与报告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支持异构仿真智能体统一接入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0267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0267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02667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bot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217" y="160655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59867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9867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150"/>
            </a:b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1333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grpSp>
        <p:nvGrpSpPr>
          <p:cNvPr id="29" name="附图位置 · 仿真智能体／孪生模型"/>
          <p:cNvGrpSpPr/>
          <p:nvPr/>
        </p:nvGrpSpPr>
        <p:grpSpPr>
          <a:xfrm>
            <a:off x="4402667" y="2133600"/>
            <a:ext cx="3386667" cy="1016000"/>
            <a:chOff x="4402667" y="2133600"/>
            <a:chExt cx="3386667" cy="1016000"/>
          </a:xfrm>
        </p:grpSpPr>
        <p:sp>
          <p:nvSpPr>
            <p:cNvPr id="30" name="Rectangle 29"/>
            <p:cNvSpPr/>
            <p:nvPr/>
          </p:nvSpPr>
          <p:spPr>
            <a:xfrm>
              <a:off x="4402667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9000" y="2298700"/>
              <a:ext cx="254000" cy="254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504267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仿真智能体／孪生模型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504267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建议：模型结构图或仿真运行界面截图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402667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控制系统、车辆动力学、线路等关键系统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可按实测数据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，标准接口可扩展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4133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4133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46533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train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083" y="1606550"/>
            <a:ext cx="190500" cy="190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703733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3733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25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grpSp>
        <p:nvGrpSpPr>
          <p:cNvPr id="42" name="附图位置 · 列车级数字样机"/>
          <p:cNvGrpSpPr/>
          <p:nvPr/>
        </p:nvGrpSpPr>
        <p:grpSpPr>
          <a:xfrm>
            <a:off x="8246533" y="2133600"/>
            <a:ext cx="3386667" cy="1016000"/>
            <a:chOff x="8246533" y="2133600"/>
            <a:chExt cx="3386667" cy="1016000"/>
          </a:xfrm>
        </p:grpSpPr>
        <p:sp>
          <p:nvSpPr>
            <p:cNvPr id="43" name="Rectangle 42"/>
            <p:cNvSpPr/>
            <p:nvPr/>
          </p:nvSpPr>
          <p:spPr>
            <a:xfrm>
              <a:off x="8246533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44" name="Picture 43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2867" y="22987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48133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列车级数字样机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8133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建议：数字样机三维模型或运行界面截图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246533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成果 2 经成果 1 集成，以 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为对象的整车级验证环境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用于回归验证与问题复现（智能运维），预留制动、辅助系统接口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4483100"/>
            <a:ext cx="58420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4483100"/>
            <a:ext cx="19050" cy="8572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1500" y="4721225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file-certificate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4810125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2200" y="4695825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200" y="4949825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构建方法、集成流程与接口规范，可在**内推广、后续课题复用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6400" y="5429250"/>
            <a:ext cx="58420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6400" y="5429250"/>
            <a:ext cx="19050" cy="8572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500" y="5667375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report-analytics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5756275"/>
            <a:ext cx="203200" cy="2032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92200" y="5641975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2200" y="5895975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FXN5C 临哈线典型区段关键性能协同验证与效能评估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457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5100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5100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1133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5433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5433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5433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41467" y="4737100"/>
            <a:ext cx="9525" cy="15494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5767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55767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55767" y="5461000"/>
            <a:ext cx="1515533" cy="7620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