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备注（讲稿）：第三部分“主要研究内容、技术路线与方法”为核心章节：总体路线、研究内容①—④（含典型应用）、创新点、阶段与检验。</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备注（讲稿）：项目名称——7. 基于智能体的轨道交通装备性能数字样机关键技术研究；本课题——7.3 轨道交通装备性能验证的多智能体协同运行与调度引擎技术研究。总预算 100 万元，当年（2027 年）预算 50 万元；直接投入 50 万元为 GPU+NPU 异构算力服务器 40 万、仿真与调度一体化工作站 10 万，人员 30 万，折旧、外协、成果、其他各 5 万。</a:t>
            </a:r>
          </a:p>
          <a:p>
            <a:r>
              <a:t>边界细节——7.1 采用其数据规范与接口，不承担建库（7.1 建库、7.3 按需生成）；7.2 仅自建控制系统、车辆动力学与线路等验证必需的智能体，不覆盖弓网/牵引/制动等全部关键系统；7.3 核心攻关引擎，数字样机是引擎承载智能体后的集成产物；7.4 承接智能体集成与协同运行；7.5 为优化提供验证支撑；6.2 通用智能体调度平台是通用编排，本课题强调实时协同与多物理域时序。</a:t>
            </a:r>
          </a:p>
          <a:p>
            <a:r>
              <a:t>数字样机由关键系统仿真智能体／智能孪生模型经调度引擎集成而成：智能体可单独核验、复用，数字样机作为整车级验证系统交付。</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备注（讲稿）：验证现状——控制软件每次迭代，HIL 台架＋经验数据模拟运用工况，重点工况再到现场验证；一次投入 40 人（研发 20 ＋ 测试 10 ＋ 现场 10），周期约 2 个月。</a:t>
            </a:r>
          </a:p>
          <a:p>
            <a:r>
              <a:t>冻结案例：控制、冷却、动力、线路四个系统耦合，且是回手柄后持续一段时间才出现的长时序过程，HIL 只有控制器在环、其他系统靠经验数据近似，因此复现不出来。</a:t>
            </a:r>
          </a:p>
          <a:p>
            <a:r>
              <a:t>技术表述——研制多智能体协同运行与调度引擎，以 FXN5C 为对象建成列车级数字样机，实现列车关键性能的快速、可复现、全覆盖验证。</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备注（讲稿）：用起来的样子——输入一句话需求，引擎自动生成工况、装配智能体、分配精度与算力、协同求解、对标判据，输出验证报告与异常定位，全程可回放，工程师只看异常项（完整流程见第 11 页典型应用）。</a:t>
            </a:r>
          </a:p>
          <a:p>
            <a:r>
              <a:t>对领域发展的推动作用——性能验证成为研发体系中可持续使用的基础能力；输出的构建方法体系与技术规范，主机企业可按同一流程构建自己的数字样机；新增系统按标准接口接入智能体即可，引擎不需重构。</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技术条件、工程需求、自主可控三个条件刚刚同时具备。《“***”铁路科技创新规划》（****〔****〕**号）将数字孪生列为智能铁路关键技术，要求开展数字孪生平台研发应用，“到****年智能铁路技术全面突破”；用户端年软件支出达数百万元且年均涨价约 5%；指南已将“研发设计软件受制于人”“设计仿真数据割裂”列为待解决事项。数字孪生与智能体技术正从概念验证走向工程落地，等国外工具链先做成，验证环节将重演工业软件受制于人的路径。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备注（讲稿）：目标——像软件回归测试一样，设计改一次，全工况在数字样机上自动重跑一遍。</a:t>
            </a:r>
          </a:p>
          <a:p>
            <a:r>
              <a:t>闭环——判据与流程 → 分解与调度 → 协同执行与判读 → 报告 → 数据回归、更新判据；全程留痕，可回放、可回归。各阶段检验见第 13 页。</a:t>
            </a:r>
          </a:p>
          <a:p>
            <a:r>
              <a:t>与课题要求的对应——高效实时协同运行 → ③④；调度引擎 → ②；列车级数字样机及构建方法体系 → ④；支持关键性能验证与智能运维 → ④。对接项目7总体目标——模型自动标定 → ③；指标实时推演 → ④；性能自动评估 → ③。</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知识库与工作流是②“任务理解与编排调度”的知识与规则来源；判据首批覆盖速度跟踪、牵引能耗、运行平稳性。没有判据知识库，任务理解只能靠通用大模型“猜”；没有工作流，编排调度无章可循。判据条目示例：验证对象——牵引控制系统；关键性能——速度跟踪偏差；适用工况——长大下坡、湿轨；判定规则——|实测 − 目标| ≤ 允许偏差；来源——设计规范条款。</a:t>
            </a:r>
          </a:p>
          <a:p>
            <a:r>
              <a:t>说明：“现状与问题”可替换为本单位的实际案例；“示意图”为临时附图（形状组合，可直接编辑），如有实际图片，选中该组合删除后插入即可。</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备注（讲稿）：上下游——向下承接①的知识与规则，向③下发执行方案（智能体组合、工况、算力）。目标解析时匹配知识库中的判据条目；保真度调度中关键与极端工况强制全保真（极端工况不能外推），GPU 跑多物理域并行仿真，NPU 做推理与编排决策。算力为本课题配置的 GPU＋NPU 异构服务器 1 台、一体化工作站 2 台。</a:t>
            </a:r>
          </a:p>
          <a:p>
            <a:r>
              <a:t>说明：“现状与问题”可替换为本单位的实际案例；“示意图”为临时附图（形状组合，可直接编辑），如有实际图片，选中该组合删除后插入即可。</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备注（讲稿）：对接项目7总体目标——模型自动标定 → 仿真智能体；性能自动评估 → 测试识别。标定数据来自型式试验、线路试验与运用记录；用例生成的线路数据包括平纵断面、曲线、超高、坡度、不平顺谱。测试识别同时输出结果可信性判断，解决极端工况实测数据少、结论难以自证的问题。数据回归：结果回流，迭代模型标定、判据与工况集；设计修改后，低温工况全量回归重跑。</a:t>
            </a:r>
          </a:p>
          <a:p>
            <a:r>
              <a:t>示意图：数据据 2024 年 12 月临哈线现场记录，曲线为示意；防冻限值线仅示意位置，请按设计规范取值；如有现场记录曲线，选中附图组合删除后替换即可。</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备注（讲稿）：对接项目7总体目标——指标实时推演 → 协同运行。总体架构定义四层的接口、数据流与控制流，已有模型与 HIL 台架经标准接口接入，不重复建设；多智能体实时协同求解、时序同步与状态同步；可复现沙箱——隔离（单路发散不扩散）、记录（参数、模型版本、随机种子）、回放（任意一次验证可复现）；列车级数字样机以 FXN5C 为示范对象，由控制系统、车辆动力学、线路智能体经引擎集成而成，牵引、制动、辅助系统预留接口，HIL 台架可接入，支撑性能验证与智能运维。</a:t>
            </a:r>
          </a:p>
          <a:p>
            <a:r>
              <a:t>典型应用：这一次验证里，工况没人手写、线路数据没人准备、环境没人搭、异常没人看图判断。判据取自知识库；工况组合为临哈线线路数据 × 轨面（干／湿）× 载荷（满／空）× 线路条件（长大坡道／小半径曲线／隧道）；执行中自动标定。追溯原因示例：黏着利用不足？控制参数不匹配？</a:t>
            </a:r>
          </a:p>
          <a:p>
            <a:r>
              <a:t>说明：“现状与问题”可替换为本单位的实际案例。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备注（讲稿）：不做仿真软件、不做接口标准、不做试验台。其他现有手段——线路试验：结果权威，但周期长、不可复现；降阶模型：提速，但极端工况不能外推。</a:t>
            </a:r>
          </a:p>
          <a:p>
            <a:r>
              <a:t>与同类工作的差异——现有工作多聚焦单一系统仿真或通用智能体平台，本课题把协同运行与调度做成可交付的引擎和可复用的方法体系。</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备注（讲稿）：研究周期 2027.01—2028.12（24 个月），四个阶段依次完成 → 突破 → 建成 → 实现。</a:t>
            </a:r>
          </a:p>
          <a:p>
            <a:r>
              <a:t>阶段起止与里程碑——阶段一 2027.01—06（M1 架构与接口规范）；阶段二 2027.07—2028.03（M2 智能体与引擎）；阶段三 2028.04—09（M3 数字样机与验证）；阶段四 2028.10—12（M4 示范应用与验收）。</a:t>
            </a:r>
          </a:p>
          <a:p>
            <a:r>
              <a:t>阶段交付——一：总体架构、判据知识化方法、接口规范；二：关键系统仿真智能体／智能孪生模型、调度引擎原理样机；三：列车级数字样机、典型工况协同验证结果；四：示范应用与效能评估、方法体系与技术规范、标准草案。前一阶段交付物即后一阶段输入。</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备注（讲稿）：目标 2 的关键性能为速度跟踪、牵引能耗、运行平稳性。知识产权方向——发明专利：任务编排调度、保真度与算力调度、实时时序同步、工况自生成；论文：多智能体协同仿真与性能验证方法；标准草案：列车级数字样机构建、智能体接口。</a:t>
            </a:r>
          </a:p>
          <a:p>
            <a:r>
              <a:t>子任务分工——子任务1 知识库与工作流（目标 1、3）；子任务2 调度引擎（目标 1）；子任务3 智能体执行（目标 2）；子任务4 集成与示范（目标 2、3、4）。各子任务交付物逐级成为下一任务输入，验证数据回流更新判据与工作流。</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备注（讲稿）：目标值由课题组提供（【待填】）。效益评估依据——成果交付 ＋ 示范验证 ＋ 与现状对比；技术效益的成果形式见第 14 页：发明专利 4 项、核心论文 2 篇、企业标准草案 2 项。</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分年度投入均衡，与四阶段进度匹配。算力满足实时协同与保真度切换；人员属智力密集型研究。折旧——利用现有仿真与测试设备，避免重复购置；外协——数据采集与第三方验证；成果——专利、论文与标准草案；其他——示范应用差旅与会议。人员人工费用测算依据中【待填】为占位，请按“投入人月 × 人月费用标准”填写，合计应为 30 万元。</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各组主要任务——子任务1组：判据知识化、工作流建模；子任务2组：任务解析、环境装配、保真度与算力调度；子任务3组：智能体研制、用例生成、识别与报告；子任务4组：架构、沙箱、样机集成、FXN5C 示范。</a:t>
            </a:r>
          </a:p>
          <a:p>
            <a:r>
              <a:t>管理节奏——双周例会：子任务进展同步与问题协调；月度：对照里程碑核查交付物；季度：技术方案与阶段成果评审；年度：目标评估与计划调整。</a:t>
            </a:r>
          </a:p>
          <a:p>
            <a:r>
              <a:t>时间安排——M1 架构与接口规范（2027.06）；M2 智能体与引擎（2028.03）；M3 数字样机与验证（2028.09）；M4 示范应用与验收（2028.12）。接口与进度风险——接口规范在阶段一先行交付，里程碑绑定考核。</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备注（讲稿）：本页需填入单位实际基础，它是“为什么由我们承担”的直接依据。牵头单位：**********。虚线框内【待填】为占位内容，请替换为牵头单位实际情况。</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备注（讲稿）：成果 1 支持异构仿真智能体统一接入；成果 2 标准接口可扩展；成果 3 由成果 2 经成果 1 集成，以 FXN5C 为对象的整车级验证环境，预留制动、辅助系统接口，支撑智能运维。</a:t>
            </a:r>
          </a:p>
          <a:p>
            <a:r>
              <a:t>成果 1—3 中的虚线框为附图预留位置（形状组合）；选中该组合删除后插入实际图片即可。</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3" y="0"/>
            <a:ext cx="5147733" cy="0"/>
          </a:xfrm>
        </p:spPr>
        <p:txBody>
          <a:bodyPr/>
          <a:lstStyle/>
          <a:p>
            <a:endParaRPr lang="en-US"/>
          </a:p>
        </p:txBody>
      </p:sp>
      <p:sp>
        <p:nvSpPr>
          <p:cNvPr id="6" name="Slide Number Placeholder 5"/>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12800" y="0"/>
            <a:ext cx="14630400" cy="0"/>
          </a:xfrm>
        </p:spPr>
        <p:txBody>
          <a:bodyPr/>
          <a:lstStyle/>
          <a:p>
            <a:r>
              <a:rPr lang="en-US" smtClean="0"/>
              <a:t>Click to edit Master title style</a:t>
            </a:r>
            <a:endParaRPr lang="en-US"/>
          </a:p>
        </p:txBody>
      </p:sp>
      <p:sp>
        <p:nvSpPr>
          <p:cNvPr id="3" name="Content Placeholder 2"/>
          <p:cNvSpPr>
            <a:spLocks noGrp="1"/>
          </p:cNvSpPr>
          <p:nvPr>
            <p:ph idx="1"/>
          </p:nvPr>
        </p:nvSpPr>
        <p:spPr>
          <a:xfrm>
            <a:off x="812800" y="0"/>
            <a:ext cx="14630400" cy="0"/>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3" y="0"/>
            <a:ext cx="5147733" cy="0"/>
          </a:xfrm>
        </p:spPr>
        <p:txBody>
          <a:bodyPr/>
          <a:lstStyle/>
          <a:p>
            <a:endParaRPr lang="en-US"/>
          </a:p>
        </p:txBody>
      </p:sp>
      <p:sp>
        <p:nvSpPr>
          <p:cNvPr id="6" name="Slide Number Placeholder 5"/>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3" y="0"/>
            <a:ext cx="5147733" cy="0"/>
          </a:xfrm>
        </p:spPr>
        <p:txBody>
          <a:bodyPr/>
          <a:lstStyle/>
          <a:p>
            <a:endParaRPr lang="en-US"/>
          </a:p>
        </p:txBody>
      </p:sp>
      <p:sp>
        <p:nvSpPr>
          <p:cNvPr id="6" name="Slide Number Placeholder 5"/>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12800" y="0"/>
            <a:ext cx="14630400" cy="0"/>
          </a:xfrm>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5554133" y="0"/>
            <a:ext cx="5147733" cy="0"/>
          </a:xfrm>
        </p:spPr>
        <p:txBody>
          <a:bodyPr/>
          <a:lstStyle/>
          <a:p>
            <a:endParaRPr lang="en-US"/>
          </a:p>
        </p:txBody>
      </p:sp>
      <p:sp>
        <p:nvSpPr>
          <p:cNvPr id="7" name="Slide Number Placeholder 6"/>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12800" y="0"/>
            <a:ext cx="14630400" cy="0"/>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a:xfrm>
            <a:off x="5554133" y="0"/>
            <a:ext cx="5147733" cy="0"/>
          </a:xfrm>
        </p:spPr>
        <p:txBody>
          <a:bodyPr/>
          <a:lstStyle/>
          <a:p>
            <a:endParaRPr lang="en-US"/>
          </a:p>
        </p:txBody>
      </p:sp>
      <p:sp>
        <p:nvSpPr>
          <p:cNvPr id="9" name="Slide Number Placeholder 8"/>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12800" y="0"/>
            <a:ext cx="14630400" cy="0"/>
          </a:xfrm>
        </p:spPr>
        <p:txBody>
          <a:bodyPr/>
          <a:lstStyle/>
          <a:p>
            <a:r>
              <a:rPr lang="en-US" smtClean="0"/>
              <a:t>Click to edit Master title style</a:t>
            </a:r>
            <a:endParaRPr lang="en-US"/>
          </a:p>
        </p:txBody>
      </p:sp>
      <p:sp>
        <p:nvSpPr>
          <p:cNvPr id="3" name="Date Placeholder 2"/>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a:xfrm>
            <a:off x="5554133" y="0"/>
            <a:ext cx="5147733" cy="0"/>
          </a:xfrm>
        </p:spPr>
        <p:txBody>
          <a:bodyPr/>
          <a:lstStyle/>
          <a:p>
            <a:endParaRPr lang="en-US"/>
          </a:p>
        </p:txBody>
      </p:sp>
      <p:sp>
        <p:nvSpPr>
          <p:cNvPr id="5" name="Slide Number Placeholder 4"/>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a:xfrm>
            <a:off x="5554133" y="0"/>
            <a:ext cx="5147733" cy="0"/>
          </a:xfrm>
        </p:spPr>
        <p:txBody>
          <a:bodyPr/>
          <a:lstStyle/>
          <a:p>
            <a:endParaRPr lang="en-US"/>
          </a:p>
        </p:txBody>
      </p:sp>
      <p:sp>
        <p:nvSpPr>
          <p:cNvPr id="4" name="Slide Number Placeholder 3"/>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0"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5554133" y="0"/>
            <a:ext cx="5147733" cy="0"/>
          </a:xfrm>
        </p:spPr>
        <p:txBody>
          <a:bodyPr/>
          <a:lstStyle/>
          <a:p>
            <a:endParaRPr lang="en-US"/>
          </a:p>
        </p:txBody>
      </p:sp>
      <p:sp>
        <p:nvSpPr>
          <p:cNvPr id="7" name="Slide Number Placeholder 6"/>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5554133" y="0"/>
            <a:ext cx="5147733" cy="0"/>
          </a:xfrm>
        </p:spPr>
        <p:txBody>
          <a:bodyPr/>
          <a:lstStyle/>
          <a:p>
            <a:endParaRPr lang="en-US"/>
          </a:p>
        </p:txBody>
      </p:sp>
      <p:sp>
        <p:nvSpPr>
          <p:cNvPr id="7" name="Slide Number Placeholder 6"/>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812800" y="0"/>
            <a:ext cx="14630400" cy="0"/>
          </a:xfrm>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a:xfrm>
            <a:off x="812800" y="0"/>
            <a:ext cx="14630400" cy="0"/>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3" y="0"/>
            <a:ext cx="5147733" cy="0"/>
          </a:xfrm>
        </p:spPr>
        <p:txBody>
          <a:bodyPr/>
          <a:lstStyle/>
          <a:p>
            <a:endParaRPr lang="en-US"/>
          </a:p>
        </p:txBody>
      </p:sp>
      <p:sp>
        <p:nvSpPr>
          <p:cNvPr id="6" name="Slide Number Placeholder 5"/>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3" y="0"/>
            <a:ext cx="5147733" cy="0"/>
          </a:xfrm>
        </p:spPr>
        <p:txBody>
          <a:bodyPr/>
          <a:lstStyle/>
          <a:p>
            <a:endParaRPr lang="en-US"/>
          </a:p>
        </p:txBody>
      </p:sp>
      <p:sp>
        <p:nvSpPr>
          <p:cNvPr id="6" name="Slide Number Placeholder 5"/>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0"/>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600" y="6356350"/>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0"/>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06400" y="215900"/>
            <a:ext cx="11379200" cy="6350"/>
          </a:xfrm>
          <a:prstGeom prst="rect">
            <a:avLst/>
          </a:prstGeom>
          <a:solidFill>
            <a:srgbClr val="DEDEDE"/>
          </a:solidFill>
          <a:ln>
            <a:noFill/>
          </a:ln>
        </p:spPr>
        <p:txBody>
          <a:bodyPr rtlCol="0" anchor="ctr" lIns="0" rIns="0" tIns="0" bIns="0"/>
          <a:lstStyle/>
          <a:p>
            <a:pPr algn="ctr"/>
          </a:p>
        </p:txBody>
      </p:sp>
      <p:sp>
        <p:nvSpPr>
          <p:cNvPr id="3" name="Rectangle 2"/>
          <p:cNvSpPr/>
          <p:nvPr/>
        </p:nvSpPr>
        <p:spPr>
          <a:xfrm>
            <a:off x="406400" y="838200"/>
            <a:ext cx="50800" cy="190500"/>
          </a:xfrm>
          <a:prstGeom prst="rect">
            <a:avLst/>
          </a:prstGeom>
          <a:solidFill>
            <a:srgbClr val="C00000"/>
          </a:solidFill>
          <a:ln>
            <a:noFill/>
          </a:ln>
        </p:spPr>
        <p:txBody>
          <a:bodyPr rtlCol="0" anchor="ctr" lIns="0" rIns="0" tIns="0" bIns="0"/>
          <a:lstStyle/>
          <a:p>
            <a:pPr algn="ctr"/>
          </a:p>
        </p:txBody>
      </p:sp>
      <p:sp>
        <p:nvSpPr>
          <p:cNvPr id="4" name="TextBox 3"/>
          <p:cNvSpPr txBox="1"/>
          <p:nvPr/>
        </p:nvSpPr>
        <p:spPr>
          <a:xfrm>
            <a:off x="558800" y="812800"/>
            <a:ext cx="8890000" cy="241300"/>
          </a:xfrm>
          <a:prstGeom prst="rect">
            <a:avLst/>
          </a:prstGeom>
          <a:noFill/>
        </p:spPr>
        <p:txBody>
          <a:bodyPr wrap="none" anchor="ctr" lIns="0" tIns="0" rIns="0" bIns="0">
            <a:noAutofit/>
          </a:bodyPr>
          <a:lstStyle/>
          <a:p>
            <a:pPr algn="l" marL="0" indent="0">
              <a:lnSpc>
                <a:spcPts val="1900"/>
              </a:lnSpc>
              <a:buNone/>
            </a:pPr>
            <a:r>
              <a:rPr lang="zh-CN" altLang="en-US" sz="1250" b="1" spc="150">
                <a:solidFill>
                  <a:srgbClr val="C00000"/>
                </a:solidFill>
                <a:latin typeface="微软雅黑"/>
                <a:ea typeface="微软雅黑"/>
                <a:cs typeface="微软雅黑"/>
              </a:rPr>
              <a:t>****“***”科技重大专项课题申报</a:t>
            </a:r>
          </a:p>
        </p:txBody>
      </p:sp>
      <p:sp>
        <p:nvSpPr>
          <p:cNvPr id="5" name="TextBox 4"/>
          <p:cNvSpPr txBox="1"/>
          <p:nvPr/>
        </p:nvSpPr>
        <p:spPr>
          <a:xfrm>
            <a:off x="406400" y="1244600"/>
            <a:ext cx="11379200" cy="1460500"/>
          </a:xfrm>
          <a:prstGeom prst="rect">
            <a:avLst/>
          </a:prstGeom>
          <a:noFill/>
        </p:spPr>
        <p:txBody>
          <a:bodyPr wrap="square" anchor="t" lIns="0" tIns="0" rIns="0" bIns="0">
            <a:noAutofit/>
          </a:bodyPr>
          <a:lstStyle/>
          <a:p>
            <a:pPr algn="l" marL="0" indent="0">
              <a:lnSpc>
                <a:spcPts val="5500"/>
              </a:lnSpc>
              <a:buNone/>
            </a:pPr>
            <a:r>
              <a:rPr lang="zh-CN" altLang="en-US" sz="3900" b="1">
                <a:solidFill>
                  <a:srgbClr val="C00000"/>
                </a:solidFill>
                <a:latin typeface="微软雅黑"/>
                <a:ea typeface="微软雅黑"/>
                <a:cs typeface="微软雅黑"/>
              </a:rPr>
              <a:t>7.3</a:t>
            </a:r>
            <a:r>
              <a:rPr lang="zh-CN" altLang="en-US" sz="3900" b="1">
                <a:solidFill>
                  <a:srgbClr val="1A1A1A"/>
                </a:solidFill>
                <a:latin typeface="微软雅黑"/>
                <a:ea typeface="微软雅黑"/>
                <a:cs typeface="微软雅黑"/>
              </a:rPr>
              <a:t> 轨道交通装备性能验证的</a:t>
            </a:r>
          </a:p>
          <a:p>
            <a:pPr algn="l" marL="0" indent="0">
              <a:lnSpc>
                <a:spcPts val="5500"/>
              </a:lnSpc>
              <a:buNone/>
            </a:pPr>
            <a:r>
              <a:rPr lang="zh-CN" altLang="en-US" sz="3900" b="1">
                <a:solidFill>
                  <a:srgbClr val="1A1A1A"/>
                </a:solidFill>
                <a:latin typeface="微软雅黑"/>
                <a:ea typeface="微软雅黑"/>
                <a:cs typeface="微软雅黑"/>
              </a:rPr>
              <a:t>多智能体协同运行与调度引擎技术研究</a:t>
            </a:r>
          </a:p>
        </p:txBody>
      </p:sp>
      <p:sp>
        <p:nvSpPr>
          <p:cNvPr id="6" name="Rectangle 5"/>
          <p:cNvSpPr/>
          <p:nvPr/>
        </p:nvSpPr>
        <p:spPr>
          <a:xfrm>
            <a:off x="406400" y="2832100"/>
            <a:ext cx="571500" cy="38100"/>
          </a:xfrm>
          <a:prstGeom prst="rect">
            <a:avLst/>
          </a:prstGeom>
          <a:solidFill>
            <a:srgbClr val="C00000"/>
          </a:solidFill>
          <a:ln>
            <a:noFill/>
          </a:ln>
        </p:spPr>
        <p:txBody>
          <a:bodyPr rtlCol="0" anchor="ctr" lIns="0" rIns="0" tIns="0" bIns="0"/>
          <a:lstStyle/>
          <a:p>
            <a:pPr algn="ctr"/>
          </a:p>
        </p:txBody>
      </p:sp>
      <p:sp>
        <p:nvSpPr>
          <p:cNvPr id="7" name="TextBox 6"/>
          <p:cNvSpPr txBox="1"/>
          <p:nvPr/>
        </p:nvSpPr>
        <p:spPr>
          <a:xfrm>
            <a:off x="406400" y="3009900"/>
            <a:ext cx="11379200" cy="254000"/>
          </a:xfrm>
          <a:prstGeom prst="rect">
            <a:avLst/>
          </a:prstGeom>
          <a:noFill/>
        </p:spPr>
        <p:txBody>
          <a:bodyPr wrap="none" anchor="ctr" lIns="0" tIns="0" rIns="0" bIns="0">
            <a:noAutofit/>
          </a:bodyPr>
          <a:lstStyle/>
          <a:p>
            <a:pPr algn="l" marL="0" indent="0">
              <a:lnSpc>
                <a:spcPts val="2000"/>
              </a:lnSpc>
              <a:buNone/>
            </a:pPr>
            <a:r>
              <a:rPr lang="zh-CN" altLang="en-US" sz="1300" b="0">
                <a:solidFill>
                  <a:srgbClr val="666666"/>
                </a:solidFill>
                <a:latin typeface="微软雅黑"/>
                <a:ea typeface="微软雅黑"/>
                <a:cs typeface="微软雅黑"/>
              </a:rPr>
              <a:t>所属项目：7. 基于智能体的轨道交通装备性能数字样机关键技术研究</a:t>
            </a:r>
          </a:p>
        </p:txBody>
      </p:sp>
      <p:sp>
        <p:nvSpPr>
          <p:cNvPr id="8" name="TextBox 7"/>
          <p:cNvSpPr txBox="1"/>
          <p:nvPr/>
        </p:nvSpPr>
        <p:spPr>
          <a:xfrm>
            <a:off x="406400" y="3352800"/>
            <a:ext cx="11379200" cy="317500"/>
          </a:xfrm>
          <a:prstGeom prst="rect">
            <a:avLst/>
          </a:prstGeom>
          <a:noFill/>
        </p:spPr>
        <p:txBody>
          <a:bodyPr wrap="none" anchor="ctr" lIns="0" tIns="0" rIns="0" bIns="0">
            <a:noAutofit/>
          </a:bodyPr>
          <a:lstStyle/>
          <a:p>
            <a:pPr algn="l" marL="0" indent="0">
              <a:lnSpc>
                <a:spcPts val="2500"/>
              </a:lnSpc>
              <a:buNone/>
            </a:pPr>
            <a:r>
              <a:rPr lang="zh-CN" altLang="en-US" sz="1700" b="1">
                <a:solidFill>
                  <a:srgbClr val="C00000"/>
                </a:solidFill>
                <a:latin typeface="微软雅黑"/>
                <a:ea typeface="微软雅黑"/>
                <a:cs typeface="微软雅黑"/>
              </a:rPr>
              <a:t>让现场才暴露的问题，在研发阶段先跑出来。</a:t>
            </a:r>
          </a:p>
        </p:txBody>
      </p:sp>
      <p:sp>
        <p:nvSpPr>
          <p:cNvPr id="9" name="TextBox 8"/>
          <p:cNvSpPr txBox="1"/>
          <p:nvPr/>
        </p:nvSpPr>
        <p:spPr>
          <a:xfrm>
            <a:off x="406400" y="4013200"/>
            <a:ext cx="1905000" cy="203200"/>
          </a:xfrm>
          <a:prstGeom prst="rect">
            <a:avLst/>
          </a:prstGeom>
          <a:noFill/>
        </p:spPr>
        <p:txBody>
          <a:bodyPr wrap="none" anchor="t" lIns="0" tIns="0" rIns="0" bIns="0">
            <a:noAutofit/>
          </a:bodyPr>
          <a:lstStyle/>
          <a:p>
            <a:pPr algn="l" marL="0" indent="0">
              <a:lnSpc>
                <a:spcPts val="1600"/>
              </a:lnSpc>
              <a:buNone/>
            </a:pPr>
            <a:r>
              <a:rPr lang="zh-CN" altLang="en-US" sz="1000" b="1" spc="50">
                <a:solidFill>
                  <a:srgbClr val="8C8C8C"/>
                </a:solidFill>
                <a:latin typeface="微软雅黑"/>
                <a:ea typeface="微软雅黑"/>
                <a:cs typeface="微软雅黑"/>
              </a:rPr>
              <a:t>牵头单位</a:t>
            </a:r>
          </a:p>
        </p:txBody>
      </p:sp>
      <p:sp>
        <p:nvSpPr>
          <p:cNvPr id="10" name="TextBox 9"/>
          <p:cNvSpPr txBox="1"/>
          <p:nvPr/>
        </p:nvSpPr>
        <p:spPr>
          <a:xfrm>
            <a:off x="406400" y="4254500"/>
            <a:ext cx="1905000" cy="342900"/>
          </a:xfrm>
          <a:prstGeom prst="rect">
            <a:avLst/>
          </a:prstGeom>
          <a:noFill/>
        </p:spPr>
        <p:txBody>
          <a:bodyPr wrap="none" anchor="t" lIns="0" tIns="0" rIns="0" bIns="0">
            <a:noAutofit/>
          </a:bodyPr>
          <a:lstStyle/>
          <a:p>
            <a:pPr algn="l" marL="0" indent="0">
              <a:lnSpc>
                <a:spcPts val="2700"/>
              </a:lnSpc>
              <a:buNone/>
            </a:pPr>
            <a:r>
              <a:rPr lang="zh-CN" altLang="en-US" sz="1600" b="1">
                <a:solidFill>
                  <a:srgbClr val="1A1A1A"/>
                </a:solidFill>
                <a:latin typeface="微软雅黑"/>
                <a:ea typeface="微软雅黑"/>
                <a:cs typeface="微软雅黑"/>
              </a:rPr>
              <a:t>**********</a:t>
            </a:r>
          </a:p>
        </p:txBody>
      </p:sp>
      <p:sp>
        <p:nvSpPr>
          <p:cNvPr id="11" name="Rectangle 10"/>
          <p:cNvSpPr/>
          <p:nvPr/>
        </p:nvSpPr>
        <p:spPr>
          <a:xfrm>
            <a:off x="2501900" y="4038600"/>
            <a:ext cx="12700" cy="558800"/>
          </a:xfrm>
          <a:prstGeom prst="rect">
            <a:avLst/>
          </a:prstGeom>
          <a:solidFill>
            <a:srgbClr val="E9E9E9"/>
          </a:solidFill>
          <a:ln>
            <a:noFill/>
          </a:ln>
        </p:spPr>
        <p:txBody>
          <a:bodyPr rtlCol="0" anchor="ctr" lIns="0" rIns="0" tIns="0" bIns="0"/>
          <a:lstStyle/>
          <a:p>
            <a:pPr algn="ctr"/>
          </a:p>
        </p:txBody>
      </p:sp>
      <p:sp>
        <p:nvSpPr>
          <p:cNvPr id="12" name="TextBox 11"/>
          <p:cNvSpPr txBox="1"/>
          <p:nvPr/>
        </p:nvSpPr>
        <p:spPr>
          <a:xfrm>
            <a:off x="2692400" y="4013200"/>
            <a:ext cx="1524000" cy="203200"/>
          </a:xfrm>
          <a:prstGeom prst="rect">
            <a:avLst/>
          </a:prstGeom>
          <a:noFill/>
        </p:spPr>
        <p:txBody>
          <a:bodyPr wrap="none" anchor="t" lIns="0" tIns="0" rIns="0" bIns="0">
            <a:noAutofit/>
          </a:bodyPr>
          <a:lstStyle/>
          <a:p>
            <a:pPr algn="l" marL="0" indent="0">
              <a:lnSpc>
                <a:spcPts val="1600"/>
              </a:lnSpc>
              <a:buNone/>
            </a:pPr>
            <a:r>
              <a:rPr lang="zh-CN" altLang="en-US" sz="1000" b="1" spc="50">
                <a:solidFill>
                  <a:srgbClr val="8C8C8C"/>
                </a:solidFill>
                <a:latin typeface="微软雅黑"/>
                <a:ea typeface="微软雅黑"/>
                <a:cs typeface="微软雅黑"/>
              </a:rPr>
              <a:t>项目负责人</a:t>
            </a:r>
          </a:p>
        </p:txBody>
      </p:sp>
      <p:sp>
        <p:nvSpPr>
          <p:cNvPr id="13" name="TextBox 12"/>
          <p:cNvSpPr txBox="1"/>
          <p:nvPr/>
        </p:nvSpPr>
        <p:spPr>
          <a:xfrm>
            <a:off x="2692400" y="4254500"/>
            <a:ext cx="1524000" cy="342900"/>
          </a:xfrm>
          <a:prstGeom prst="rect">
            <a:avLst/>
          </a:prstGeom>
          <a:noFill/>
        </p:spPr>
        <p:txBody>
          <a:bodyPr wrap="none" anchor="t" lIns="0" tIns="0" rIns="0" bIns="0">
            <a:noAutofit/>
          </a:bodyPr>
          <a:lstStyle/>
          <a:p>
            <a:pPr algn="l" marL="0" indent="0">
              <a:lnSpc>
                <a:spcPts val="2700"/>
              </a:lnSpc>
              <a:buNone/>
            </a:pPr>
            <a:r>
              <a:rPr lang="zh-CN" altLang="en-US" sz="1600" b="1">
                <a:solidFill>
                  <a:srgbClr val="1A1A1A"/>
                </a:solidFill>
                <a:latin typeface="微软雅黑"/>
                <a:ea typeface="微软雅黑"/>
                <a:cs typeface="微软雅黑"/>
              </a:rPr>
              <a:t>***</a:t>
            </a:r>
          </a:p>
        </p:txBody>
      </p:sp>
      <p:sp>
        <p:nvSpPr>
          <p:cNvPr id="14" name="Rectangle 13"/>
          <p:cNvSpPr/>
          <p:nvPr/>
        </p:nvSpPr>
        <p:spPr>
          <a:xfrm>
            <a:off x="4216400" y="4038600"/>
            <a:ext cx="12700" cy="558800"/>
          </a:xfrm>
          <a:prstGeom prst="rect">
            <a:avLst/>
          </a:prstGeom>
          <a:solidFill>
            <a:srgbClr val="E9E9E9"/>
          </a:solidFill>
          <a:ln>
            <a:noFill/>
          </a:ln>
        </p:spPr>
        <p:txBody>
          <a:bodyPr rtlCol="0" anchor="ctr" lIns="0" rIns="0" tIns="0" bIns="0"/>
          <a:lstStyle/>
          <a:p>
            <a:pPr algn="ctr"/>
          </a:p>
        </p:txBody>
      </p:sp>
      <p:sp>
        <p:nvSpPr>
          <p:cNvPr id="15" name="TextBox 14"/>
          <p:cNvSpPr txBox="1"/>
          <p:nvPr/>
        </p:nvSpPr>
        <p:spPr>
          <a:xfrm>
            <a:off x="4406900" y="4013200"/>
            <a:ext cx="1397000" cy="203200"/>
          </a:xfrm>
          <a:prstGeom prst="rect">
            <a:avLst/>
          </a:prstGeom>
          <a:noFill/>
        </p:spPr>
        <p:txBody>
          <a:bodyPr wrap="none" anchor="t" lIns="0" tIns="0" rIns="0" bIns="0">
            <a:noAutofit/>
          </a:bodyPr>
          <a:lstStyle/>
          <a:p>
            <a:pPr algn="l" marL="0" indent="0">
              <a:lnSpc>
                <a:spcPts val="1600"/>
              </a:lnSpc>
              <a:buNone/>
            </a:pPr>
            <a:r>
              <a:rPr lang="zh-CN" altLang="en-US" sz="1000" b="1" spc="50">
                <a:solidFill>
                  <a:srgbClr val="8C8C8C"/>
                </a:solidFill>
                <a:latin typeface="微软雅黑"/>
                <a:ea typeface="微软雅黑"/>
                <a:cs typeface="微软雅黑"/>
              </a:rPr>
              <a:t>申报层级</a:t>
            </a:r>
          </a:p>
        </p:txBody>
      </p:sp>
      <p:sp>
        <p:nvSpPr>
          <p:cNvPr id="16" name="TextBox 15"/>
          <p:cNvSpPr txBox="1"/>
          <p:nvPr/>
        </p:nvSpPr>
        <p:spPr>
          <a:xfrm>
            <a:off x="4406900" y="4254500"/>
            <a:ext cx="1397000" cy="342900"/>
          </a:xfrm>
          <a:prstGeom prst="rect">
            <a:avLst/>
          </a:prstGeom>
          <a:noFill/>
        </p:spPr>
        <p:txBody>
          <a:bodyPr wrap="none" anchor="t" lIns="0" tIns="0" rIns="0" bIns="0">
            <a:noAutofit/>
          </a:bodyPr>
          <a:lstStyle/>
          <a:p>
            <a:pPr algn="l" marL="0" indent="0">
              <a:lnSpc>
                <a:spcPts val="2700"/>
              </a:lnSpc>
              <a:buNone/>
            </a:pPr>
            <a:r>
              <a:rPr lang="zh-CN" altLang="en-US" sz="1600" b="1">
                <a:solidFill>
                  <a:srgbClr val="1A1A1A"/>
                </a:solidFill>
                <a:latin typeface="微软雅黑"/>
                <a:ea typeface="微软雅黑"/>
                <a:cs typeface="微软雅黑"/>
              </a:rPr>
              <a:t>课题级</a:t>
            </a:r>
          </a:p>
        </p:txBody>
      </p:sp>
      <p:sp>
        <p:nvSpPr>
          <p:cNvPr id="17" name="Rectangle 16"/>
          <p:cNvSpPr/>
          <p:nvPr/>
        </p:nvSpPr>
        <p:spPr>
          <a:xfrm>
            <a:off x="5803900" y="4038600"/>
            <a:ext cx="12700" cy="558800"/>
          </a:xfrm>
          <a:prstGeom prst="rect">
            <a:avLst/>
          </a:prstGeom>
          <a:solidFill>
            <a:srgbClr val="E9E9E9"/>
          </a:solidFill>
          <a:ln>
            <a:noFill/>
          </a:ln>
        </p:spPr>
        <p:txBody>
          <a:bodyPr rtlCol="0" anchor="ctr" lIns="0" rIns="0" tIns="0" bIns="0"/>
          <a:lstStyle/>
          <a:p>
            <a:pPr algn="ctr"/>
          </a:p>
        </p:txBody>
      </p:sp>
      <p:sp>
        <p:nvSpPr>
          <p:cNvPr id="18" name="TextBox 17"/>
          <p:cNvSpPr txBox="1"/>
          <p:nvPr/>
        </p:nvSpPr>
        <p:spPr>
          <a:xfrm>
            <a:off x="5994400" y="4013200"/>
            <a:ext cx="3111500" cy="203200"/>
          </a:xfrm>
          <a:prstGeom prst="rect">
            <a:avLst/>
          </a:prstGeom>
          <a:noFill/>
        </p:spPr>
        <p:txBody>
          <a:bodyPr wrap="none" anchor="t" lIns="0" tIns="0" rIns="0" bIns="0">
            <a:noAutofit/>
          </a:bodyPr>
          <a:lstStyle/>
          <a:p>
            <a:pPr algn="l" marL="0" indent="0">
              <a:lnSpc>
                <a:spcPts val="1600"/>
              </a:lnSpc>
              <a:buNone/>
            </a:pPr>
            <a:r>
              <a:rPr lang="zh-CN" altLang="en-US" sz="1000" b="1" spc="50">
                <a:solidFill>
                  <a:srgbClr val="8C8C8C"/>
                </a:solidFill>
                <a:latin typeface="微软雅黑"/>
                <a:ea typeface="微软雅黑"/>
                <a:cs typeface="微软雅黑"/>
              </a:rPr>
              <a:t>研究周期</a:t>
            </a:r>
          </a:p>
        </p:txBody>
      </p:sp>
      <p:sp>
        <p:nvSpPr>
          <p:cNvPr id="19" name="TextBox 18"/>
          <p:cNvSpPr txBox="1"/>
          <p:nvPr/>
        </p:nvSpPr>
        <p:spPr>
          <a:xfrm>
            <a:off x="5994400" y="4254500"/>
            <a:ext cx="3111500" cy="342900"/>
          </a:xfrm>
          <a:prstGeom prst="rect">
            <a:avLst/>
          </a:prstGeom>
          <a:noFill/>
        </p:spPr>
        <p:txBody>
          <a:bodyPr wrap="none" anchor="t" lIns="0" tIns="0" rIns="0" bIns="0">
            <a:noAutofit/>
          </a:bodyPr>
          <a:lstStyle/>
          <a:p>
            <a:pPr algn="l" marL="0" indent="0">
              <a:lnSpc>
                <a:spcPts val="2700"/>
              </a:lnSpc>
              <a:buNone/>
            </a:pPr>
            <a:r>
              <a:rPr lang="zh-CN" altLang="en-US" sz="1600" b="1">
                <a:solidFill>
                  <a:srgbClr val="1A1A1A"/>
                </a:solidFill>
                <a:latin typeface="微软雅黑"/>
                <a:ea typeface="微软雅黑"/>
                <a:cs typeface="微软雅黑"/>
              </a:rPr>
              <a:t>2027年1月—2028年12月</a:t>
            </a:r>
          </a:p>
        </p:txBody>
      </p:sp>
      <p:sp>
        <p:nvSpPr>
          <p:cNvPr id="20" name="Rectangle 19"/>
          <p:cNvSpPr/>
          <p:nvPr/>
        </p:nvSpPr>
        <p:spPr>
          <a:xfrm>
            <a:off x="406400" y="5994400"/>
            <a:ext cx="11379200" cy="19050"/>
          </a:xfrm>
          <a:prstGeom prst="rect">
            <a:avLst/>
          </a:prstGeom>
          <a:solidFill>
            <a:srgbClr val="C6C6C6"/>
          </a:solidFill>
          <a:ln>
            <a:noFill/>
          </a:ln>
        </p:spPr>
        <p:txBody>
          <a:bodyPr rtlCol="0" anchor="ctr" lIns="0" rIns="0" tIns="0" bIns="0"/>
          <a:lstStyle/>
          <a:p>
            <a:pPr algn="ctr"/>
          </a:p>
        </p:txBody>
      </p:sp>
      <p:sp>
        <p:nvSpPr>
          <p:cNvPr id="21" name="Rectangle 20"/>
          <p:cNvSpPr/>
          <p:nvPr/>
        </p:nvSpPr>
        <p:spPr>
          <a:xfrm>
            <a:off x="406400" y="6013450"/>
            <a:ext cx="12700" cy="63500"/>
          </a:xfrm>
          <a:prstGeom prst="rect">
            <a:avLst/>
          </a:prstGeom>
          <a:solidFill>
            <a:srgbClr val="C6C6C6"/>
          </a:solidFill>
          <a:ln>
            <a:noFill/>
          </a:ln>
        </p:spPr>
        <p:txBody>
          <a:bodyPr rtlCol="0" anchor="ctr" lIns="0" rIns="0" tIns="0" bIns="0"/>
          <a:lstStyle/>
          <a:p>
            <a:pPr algn="ctr"/>
          </a:p>
        </p:txBody>
      </p:sp>
      <p:sp>
        <p:nvSpPr>
          <p:cNvPr id="22" name="Rectangle 21"/>
          <p:cNvSpPr/>
          <p:nvPr/>
        </p:nvSpPr>
        <p:spPr>
          <a:xfrm>
            <a:off x="685800" y="6013450"/>
            <a:ext cx="12700" cy="63500"/>
          </a:xfrm>
          <a:prstGeom prst="rect">
            <a:avLst/>
          </a:prstGeom>
          <a:solidFill>
            <a:srgbClr val="C6C6C6"/>
          </a:solidFill>
          <a:ln>
            <a:noFill/>
          </a:ln>
        </p:spPr>
        <p:txBody>
          <a:bodyPr rtlCol="0" anchor="ctr" lIns="0" rIns="0" tIns="0" bIns="0"/>
          <a:lstStyle/>
          <a:p>
            <a:pPr algn="ctr"/>
          </a:p>
        </p:txBody>
      </p:sp>
      <p:sp>
        <p:nvSpPr>
          <p:cNvPr id="23" name="Rectangle 22"/>
          <p:cNvSpPr/>
          <p:nvPr/>
        </p:nvSpPr>
        <p:spPr>
          <a:xfrm>
            <a:off x="965200" y="6013450"/>
            <a:ext cx="12700" cy="63500"/>
          </a:xfrm>
          <a:prstGeom prst="rect">
            <a:avLst/>
          </a:prstGeom>
          <a:solidFill>
            <a:srgbClr val="C6C6C6"/>
          </a:solidFill>
          <a:ln>
            <a:noFill/>
          </a:ln>
        </p:spPr>
        <p:txBody>
          <a:bodyPr rtlCol="0" anchor="ctr" lIns="0" rIns="0" tIns="0" bIns="0"/>
          <a:lstStyle/>
          <a:p>
            <a:pPr algn="ctr"/>
          </a:p>
        </p:txBody>
      </p:sp>
      <p:sp>
        <p:nvSpPr>
          <p:cNvPr id="24" name="Rectangle 23"/>
          <p:cNvSpPr/>
          <p:nvPr/>
        </p:nvSpPr>
        <p:spPr>
          <a:xfrm>
            <a:off x="1244600" y="6013450"/>
            <a:ext cx="12700" cy="63500"/>
          </a:xfrm>
          <a:prstGeom prst="rect">
            <a:avLst/>
          </a:prstGeom>
          <a:solidFill>
            <a:srgbClr val="C6C6C6"/>
          </a:solidFill>
          <a:ln>
            <a:noFill/>
          </a:ln>
        </p:spPr>
        <p:txBody>
          <a:bodyPr rtlCol="0" anchor="ctr" lIns="0" rIns="0" tIns="0" bIns="0"/>
          <a:lstStyle/>
          <a:p>
            <a:pPr algn="ctr"/>
          </a:p>
        </p:txBody>
      </p:sp>
      <p:sp>
        <p:nvSpPr>
          <p:cNvPr id="25" name="Rectangle 24"/>
          <p:cNvSpPr/>
          <p:nvPr/>
        </p:nvSpPr>
        <p:spPr>
          <a:xfrm>
            <a:off x="1524000" y="6013450"/>
            <a:ext cx="12700" cy="63500"/>
          </a:xfrm>
          <a:prstGeom prst="rect">
            <a:avLst/>
          </a:prstGeom>
          <a:solidFill>
            <a:srgbClr val="C6C6C6"/>
          </a:solidFill>
          <a:ln>
            <a:noFill/>
          </a:ln>
        </p:spPr>
        <p:txBody>
          <a:bodyPr rtlCol="0" anchor="ctr" lIns="0" rIns="0" tIns="0" bIns="0"/>
          <a:lstStyle/>
          <a:p>
            <a:pPr algn="ctr"/>
          </a:p>
        </p:txBody>
      </p:sp>
      <p:sp>
        <p:nvSpPr>
          <p:cNvPr id="26" name="Rectangle 25"/>
          <p:cNvSpPr/>
          <p:nvPr/>
        </p:nvSpPr>
        <p:spPr>
          <a:xfrm>
            <a:off x="1803400" y="6013450"/>
            <a:ext cx="12700" cy="63500"/>
          </a:xfrm>
          <a:prstGeom prst="rect">
            <a:avLst/>
          </a:prstGeom>
          <a:solidFill>
            <a:srgbClr val="C6C6C6"/>
          </a:solidFill>
          <a:ln>
            <a:noFill/>
          </a:ln>
        </p:spPr>
        <p:txBody>
          <a:bodyPr rtlCol="0" anchor="ctr" lIns="0" rIns="0" tIns="0" bIns="0"/>
          <a:lstStyle/>
          <a:p>
            <a:pPr algn="ctr"/>
          </a:p>
        </p:txBody>
      </p:sp>
      <p:sp>
        <p:nvSpPr>
          <p:cNvPr id="27" name="Rectangle 26"/>
          <p:cNvSpPr/>
          <p:nvPr/>
        </p:nvSpPr>
        <p:spPr>
          <a:xfrm>
            <a:off x="2082800" y="6013450"/>
            <a:ext cx="12700" cy="63500"/>
          </a:xfrm>
          <a:prstGeom prst="rect">
            <a:avLst/>
          </a:prstGeom>
          <a:solidFill>
            <a:srgbClr val="C6C6C6"/>
          </a:solidFill>
          <a:ln>
            <a:noFill/>
          </a:ln>
        </p:spPr>
        <p:txBody>
          <a:bodyPr rtlCol="0" anchor="ctr" lIns="0" rIns="0" tIns="0" bIns="0"/>
          <a:lstStyle/>
          <a:p>
            <a:pPr algn="ctr"/>
          </a:p>
        </p:txBody>
      </p:sp>
      <p:sp>
        <p:nvSpPr>
          <p:cNvPr id="28" name="Rectangle 27"/>
          <p:cNvSpPr/>
          <p:nvPr/>
        </p:nvSpPr>
        <p:spPr>
          <a:xfrm>
            <a:off x="2362200" y="6013450"/>
            <a:ext cx="12700" cy="63500"/>
          </a:xfrm>
          <a:prstGeom prst="rect">
            <a:avLst/>
          </a:prstGeom>
          <a:solidFill>
            <a:srgbClr val="C6C6C6"/>
          </a:solidFill>
          <a:ln>
            <a:noFill/>
          </a:ln>
        </p:spPr>
        <p:txBody>
          <a:bodyPr rtlCol="0" anchor="ctr" lIns="0" rIns="0" tIns="0" bIns="0"/>
          <a:lstStyle/>
          <a:p>
            <a:pPr algn="ctr"/>
          </a:p>
        </p:txBody>
      </p:sp>
      <p:sp>
        <p:nvSpPr>
          <p:cNvPr id="29" name="Rectangle 28"/>
          <p:cNvSpPr/>
          <p:nvPr/>
        </p:nvSpPr>
        <p:spPr>
          <a:xfrm>
            <a:off x="2641600" y="6013450"/>
            <a:ext cx="12700" cy="63500"/>
          </a:xfrm>
          <a:prstGeom prst="rect">
            <a:avLst/>
          </a:prstGeom>
          <a:solidFill>
            <a:srgbClr val="C6C6C6"/>
          </a:solidFill>
          <a:ln>
            <a:noFill/>
          </a:ln>
        </p:spPr>
        <p:txBody>
          <a:bodyPr rtlCol="0" anchor="ctr" lIns="0" rIns="0" tIns="0" bIns="0"/>
          <a:lstStyle/>
          <a:p>
            <a:pPr algn="ctr"/>
          </a:p>
        </p:txBody>
      </p:sp>
      <p:sp>
        <p:nvSpPr>
          <p:cNvPr id="30" name="Rectangle 29"/>
          <p:cNvSpPr/>
          <p:nvPr/>
        </p:nvSpPr>
        <p:spPr>
          <a:xfrm>
            <a:off x="2921000" y="6013450"/>
            <a:ext cx="12700" cy="63500"/>
          </a:xfrm>
          <a:prstGeom prst="rect">
            <a:avLst/>
          </a:prstGeom>
          <a:solidFill>
            <a:srgbClr val="C6C6C6"/>
          </a:solidFill>
          <a:ln>
            <a:noFill/>
          </a:ln>
        </p:spPr>
        <p:txBody>
          <a:bodyPr rtlCol="0" anchor="ctr" lIns="0" rIns="0" tIns="0" bIns="0"/>
          <a:lstStyle/>
          <a:p>
            <a:pPr algn="ctr"/>
          </a:p>
        </p:txBody>
      </p:sp>
      <p:sp>
        <p:nvSpPr>
          <p:cNvPr id="31" name="Rectangle 30"/>
          <p:cNvSpPr/>
          <p:nvPr/>
        </p:nvSpPr>
        <p:spPr>
          <a:xfrm>
            <a:off x="3200400" y="6013450"/>
            <a:ext cx="12700" cy="63500"/>
          </a:xfrm>
          <a:prstGeom prst="rect">
            <a:avLst/>
          </a:prstGeom>
          <a:solidFill>
            <a:srgbClr val="C6C6C6"/>
          </a:solidFill>
          <a:ln>
            <a:noFill/>
          </a:ln>
        </p:spPr>
        <p:txBody>
          <a:bodyPr rtlCol="0" anchor="ctr" lIns="0" rIns="0" tIns="0" bIns="0"/>
          <a:lstStyle/>
          <a:p>
            <a:pPr algn="ctr"/>
          </a:p>
        </p:txBody>
      </p:sp>
      <p:sp>
        <p:nvSpPr>
          <p:cNvPr id="32" name="Rectangle 31"/>
          <p:cNvSpPr/>
          <p:nvPr/>
        </p:nvSpPr>
        <p:spPr>
          <a:xfrm>
            <a:off x="3479800" y="6013450"/>
            <a:ext cx="12700" cy="63500"/>
          </a:xfrm>
          <a:prstGeom prst="rect">
            <a:avLst/>
          </a:prstGeom>
          <a:solidFill>
            <a:srgbClr val="C6C6C6"/>
          </a:solidFill>
          <a:ln>
            <a:noFill/>
          </a:ln>
        </p:spPr>
        <p:txBody>
          <a:bodyPr rtlCol="0" anchor="ctr" lIns="0" rIns="0" tIns="0" bIns="0"/>
          <a:lstStyle/>
          <a:p>
            <a:pPr algn="ctr"/>
          </a:p>
        </p:txBody>
      </p:sp>
      <p:sp>
        <p:nvSpPr>
          <p:cNvPr id="33" name="Rectangle 32"/>
          <p:cNvSpPr/>
          <p:nvPr/>
        </p:nvSpPr>
        <p:spPr>
          <a:xfrm>
            <a:off x="3759200" y="6013450"/>
            <a:ext cx="12700" cy="63500"/>
          </a:xfrm>
          <a:prstGeom prst="rect">
            <a:avLst/>
          </a:prstGeom>
          <a:solidFill>
            <a:srgbClr val="C6C6C6"/>
          </a:solidFill>
          <a:ln>
            <a:noFill/>
          </a:ln>
        </p:spPr>
        <p:txBody>
          <a:bodyPr rtlCol="0" anchor="ctr" lIns="0" rIns="0" tIns="0" bIns="0"/>
          <a:lstStyle/>
          <a:p>
            <a:pPr algn="ctr"/>
          </a:p>
        </p:txBody>
      </p:sp>
      <p:sp>
        <p:nvSpPr>
          <p:cNvPr id="34" name="Rectangle 33"/>
          <p:cNvSpPr/>
          <p:nvPr/>
        </p:nvSpPr>
        <p:spPr>
          <a:xfrm>
            <a:off x="4038600" y="6013450"/>
            <a:ext cx="12700" cy="63500"/>
          </a:xfrm>
          <a:prstGeom prst="rect">
            <a:avLst/>
          </a:prstGeom>
          <a:solidFill>
            <a:srgbClr val="C6C6C6"/>
          </a:solidFill>
          <a:ln>
            <a:noFill/>
          </a:ln>
        </p:spPr>
        <p:txBody>
          <a:bodyPr rtlCol="0" anchor="ctr" lIns="0" rIns="0" tIns="0" bIns="0"/>
          <a:lstStyle/>
          <a:p>
            <a:pPr algn="ctr"/>
          </a:p>
        </p:txBody>
      </p:sp>
      <p:sp>
        <p:nvSpPr>
          <p:cNvPr id="35" name="Rectangle 34"/>
          <p:cNvSpPr/>
          <p:nvPr/>
        </p:nvSpPr>
        <p:spPr>
          <a:xfrm>
            <a:off x="4318000" y="6013450"/>
            <a:ext cx="12700" cy="63500"/>
          </a:xfrm>
          <a:prstGeom prst="rect">
            <a:avLst/>
          </a:prstGeom>
          <a:solidFill>
            <a:srgbClr val="C6C6C6"/>
          </a:solidFill>
          <a:ln>
            <a:noFill/>
          </a:ln>
        </p:spPr>
        <p:txBody>
          <a:bodyPr rtlCol="0" anchor="ctr" lIns="0" rIns="0" tIns="0" bIns="0"/>
          <a:lstStyle/>
          <a:p>
            <a:pPr algn="ctr"/>
          </a:p>
        </p:txBody>
      </p:sp>
      <p:sp>
        <p:nvSpPr>
          <p:cNvPr id="36" name="Rectangle 35"/>
          <p:cNvSpPr/>
          <p:nvPr/>
        </p:nvSpPr>
        <p:spPr>
          <a:xfrm>
            <a:off x="4597400" y="6013450"/>
            <a:ext cx="12700" cy="63500"/>
          </a:xfrm>
          <a:prstGeom prst="rect">
            <a:avLst/>
          </a:prstGeom>
          <a:solidFill>
            <a:srgbClr val="C6C6C6"/>
          </a:solidFill>
          <a:ln>
            <a:noFill/>
          </a:ln>
        </p:spPr>
        <p:txBody>
          <a:bodyPr rtlCol="0" anchor="ctr" lIns="0" rIns="0" tIns="0" bIns="0"/>
          <a:lstStyle/>
          <a:p>
            <a:pPr algn="ctr"/>
          </a:p>
        </p:txBody>
      </p:sp>
      <p:sp>
        <p:nvSpPr>
          <p:cNvPr id="37" name="Rectangle 36"/>
          <p:cNvSpPr/>
          <p:nvPr/>
        </p:nvSpPr>
        <p:spPr>
          <a:xfrm>
            <a:off x="4876800" y="6013450"/>
            <a:ext cx="12700" cy="63500"/>
          </a:xfrm>
          <a:prstGeom prst="rect">
            <a:avLst/>
          </a:prstGeom>
          <a:solidFill>
            <a:srgbClr val="C6C6C6"/>
          </a:solidFill>
          <a:ln>
            <a:noFill/>
          </a:ln>
        </p:spPr>
        <p:txBody>
          <a:bodyPr rtlCol="0" anchor="ctr" lIns="0" rIns="0" tIns="0" bIns="0"/>
          <a:lstStyle/>
          <a:p>
            <a:pPr algn="ctr"/>
          </a:p>
        </p:txBody>
      </p:sp>
      <p:sp>
        <p:nvSpPr>
          <p:cNvPr id="38" name="Rectangle 37"/>
          <p:cNvSpPr/>
          <p:nvPr/>
        </p:nvSpPr>
        <p:spPr>
          <a:xfrm>
            <a:off x="5156200" y="6013450"/>
            <a:ext cx="12700" cy="63500"/>
          </a:xfrm>
          <a:prstGeom prst="rect">
            <a:avLst/>
          </a:prstGeom>
          <a:solidFill>
            <a:srgbClr val="C6C6C6"/>
          </a:solidFill>
          <a:ln>
            <a:noFill/>
          </a:ln>
        </p:spPr>
        <p:txBody>
          <a:bodyPr rtlCol="0" anchor="ctr" lIns="0" rIns="0" tIns="0" bIns="0"/>
          <a:lstStyle/>
          <a:p>
            <a:pPr algn="ctr"/>
          </a:p>
        </p:txBody>
      </p:sp>
      <p:sp>
        <p:nvSpPr>
          <p:cNvPr id="39" name="Rectangle 38"/>
          <p:cNvSpPr/>
          <p:nvPr/>
        </p:nvSpPr>
        <p:spPr>
          <a:xfrm>
            <a:off x="5435600" y="6013450"/>
            <a:ext cx="12700" cy="63500"/>
          </a:xfrm>
          <a:prstGeom prst="rect">
            <a:avLst/>
          </a:prstGeom>
          <a:solidFill>
            <a:srgbClr val="C6C6C6"/>
          </a:solidFill>
          <a:ln>
            <a:noFill/>
          </a:ln>
        </p:spPr>
        <p:txBody>
          <a:bodyPr rtlCol="0" anchor="ctr" lIns="0" rIns="0" tIns="0" bIns="0"/>
          <a:lstStyle/>
          <a:p>
            <a:pPr algn="ctr"/>
          </a:p>
        </p:txBody>
      </p:sp>
      <p:sp>
        <p:nvSpPr>
          <p:cNvPr id="40" name="Rectangle 39"/>
          <p:cNvSpPr/>
          <p:nvPr/>
        </p:nvSpPr>
        <p:spPr>
          <a:xfrm>
            <a:off x="5715000" y="6013450"/>
            <a:ext cx="12700" cy="63500"/>
          </a:xfrm>
          <a:prstGeom prst="rect">
            <a:avLst/>
          </a:prstGeom>
          <a:solidFill>
            <a:srgbClr val="C6C6C6"/>
          </a:solidFill>
          <a:ln>
            <a:noFill/>
          </a:ln>
        </p:spPr>
        <p:txBody>
          <a:bodyPr rtlCol="0" anchor="ctr" lIns="0" rIns="0" tIns="0" bIns="0"/>
          <a:lstStyle/>
          <a:p>
            <a:pPr algn="ctr"/>
          </a:p>
        </p:txBody>
      </p:sp>
      <p:sp>
        <p:nvSpPr>
          <p:cNvPr id="41" name="Rectangle 40"/>
          <p:cNvSpPr/>
          <p:nvPr/>
        </p:nvSpPr>
        <p:spPr>
          <a:xfrm>
            <a:off x="5994400" y="6013450"/>
            <a:ext cx="12700" cy="63500"/>
          </a:xfrm>
          <a:prstGeom prst="rect">
            <a:avLst/>
          </a:prstGeom>
          <a:solidFill>
            <a:srgbClr val="C6C6C6"/>
          </a:solidFill>
          <a:ln>
            <a:noFill/>
          </a:ln>
        </p:spPr>
        <p:txBody>
          <a:bodyPr rtlCol="0" anchor="ctr" lIns="0" rIns="0" tIns="0" bIns="0"/>
          <a:lstStyle/>
          <a:p>
            <a:pPr algn="ctr"/>
          </a:p>
        </p:txBody>
      </p:sp>
      <p:sp>
        <p:nvSpPr>
          <p:cNvPr id="42" name="Rectangle 41"/>
          <p:cNvSpPr/>
          <p:nvPr/>
        </p:nvSpPr>
        <p:spPr>
          <a:xfrm>
            <a:off x="6273800" y="6013450"/>
            <a:ext cx="12700" cy="63500"/>
          </a:xfrm>
          <a:prstGeom prst="rect">
            <a:avLst/>
          </a:prstGeom>
          <a:solidFill>
            <a:srgbClr val="C6C6C6"/>
          </a:solidFill>
          <a:ln>
            <a:noFill/>
          </a:ln>
        </p:spPr>
        <p:txBody>
          <a:bodyPr rtlCol="0" anchor="ctr" lIns="0" rIns="0" tIns="0" bIns="0"/>
          <a:lstStyle/>
          <a:p>
            <a:pPr algn="ctr"/>
          </a:p>
        </p:txBody>
      </p:sp>
      <p:sp>
        <p:nvSpPr>
          <p:cNvPr id="43" name="Rectangle 42"/>
          <p:cNvSpPr/>
          <p:nvPr/>
        </p:nvSpPr>
        <p:spPr>
          <a:xfrm>
            <a:off x="6553200" y="6013450"/>
            <a:ext cx="12700" cy="63500"/>
          </a:xfrm>
          <a:prstGeom prst="rect">
            <a:avLst/>
          </a:prstGeom>
          <a:solidFill>
            <a:srgbClr val="C6C6C6"/>
          </a:solidFill>
          <a:ln>
            <a:noFill/>
          </a:ln>
        </p:spPr>
        <p:txBody>
          <a:bodyPr rtlCol="0" anchor="ctr" lIns="0" rIns="0" tIns="0" bIns="0"/>
          <a:lstStyle/>
          <a:p>
            <a:pPr algn="ctr"/>
          </a:p>
        </p:txBody>
      </p:sp>
      <p:sp>
        <p:nvSpPr>
          <p:cNvPr id="44" name="Rectangle 43"/>
          <p:cNvSpPr/>
          <p:nvPr/>
        </p:nvSpPr>
        <p:spPr>
          <a:xfrm>
            <a:off x="6832600" y="6013450"/>
            <a:ext cx="12700" cy="63500"/>
          </a:xfrm>
          <a:prstGeom prst="rect">
            <a:avLst/>
          </a:prstGeom>
          <a:solidFill>
            <a:srgbClr val="C6C6C6"/>
          </a:solidFill>
          <a:ln>
            <a:noFill/>
          </a:ln>
        </p:spPr>
        <p:txBody>
          <a:bodyPr rtlCol="0" anchor="ctr" lIns="0" rIns="0" tIns="0" bIns="0"/>
          <a:lstStyle/>
          <a:p>
            <a:pPr algn="ctr"/>
          </a:p>
        </p:txBody>
      </p:sp>
      <p:sp>
        <p:nvSpPr>
          <p:cNvPr id="45" name="Rectangle 44"/>
          <p:cNvSpPr/>
          <p:nvPr/>
        </p:nvSpPr>
        <p:spPr>
          <a:xfrm>
            <a:off x="7112000" y="6013450"/>
            <a:ext cx="12700" cy="63500"/>
          </a:xfrm>
          <a:prstGeom prst="rect">
            <a:avLst/>
          </a:prstGeom>
          <a:solidFill>
            <a:srgbClr val="C6C6C6"/>
          </a:solidFill>
          <a:ln>
            <a:noFill/>
          </a:ln>
        </p:spPr>
        <p:txBody>
          <a:bodyPr rtlCol="0" anchor="ctr" lIns="0" rIns="0" tIns="0" bIns="0"/>
          <a:lstStyle/>
          <a:p>
            <a:pPr algn="ctr"/>
          </a:p>
        </p:txBody>
      </p:sp>
      <p:sp>
        <p:nvSpPr>
          <p:cNvPr id="46" name="Rectangle 45"/>
          <p:cNvSpPr/>
          <p:nvPr/>
        </p:nvSpPr>
        <p:spPr>
          <a:xfrm>
            <a:off x="7391400" y="6013450"/>
            <a:ext cx="12700" cy="63500"/>
          </a:xfrm>
          <a:prstGeom prst="rect">
            <a:avLst/>
          </a:prstGeom>
          <a:solidFill>
            <a:srgbClr val="C6C6C6"/>
          </a:solidFill>
          <a:ln>
            <a:noFill/>
          </a:ln>
        </p:spPr>
        <p:txBody>
          <a:bodyPr rtlCol="0" anchor="ctr" lIns="0" rIns="0" tIns="0" bIns="0"/>
          <a:lstStyle/>
          <a:p>
            <a:pPr algn="ctr"/>
          </a:p>
        </p:txBody>
      </p:sp>
      <p:sp>
        <p:nvSpPr>
          <p:cNvPr id="47" name="Rectangle 46"/>
          <p:cNvSpPr/>
          <p:nvPr/>
        </p:nvSpPr>
        <p:spPr>
          <a:xfrm>
            <a:off x="7670800" y="6013450"/>
            <a:ext cx="12700" cy="63500"/>
          </a:xfrm>
          <a:prstGeom prst="rect">
            <a:avLst/>
          </a:prstGeom>
          <a:solidFill>
            <a:srgbClr val="C6C6C6"/>
          </a:solidFill>
          <a:ln>
            <a:noFill/>
          </a:ln>
        </p:spPr>
        <p:txBody>
          <a:bodyPr rtlCol="0" anchor="ctr" lIns="0" rIns="0" tIns="0" bIns="0"/>
          <a:lstStyle/>
          <a:p>
            <a:pPr algn="ctr"/>
          </a:p>
        </p:txBody>
      </p:sp>
      <p:sp>
        <p:nvSpPr>
          <p:cNvPr id="48" name="Rectangle 47"/>
          <p:cNvSpPr/>
          <p:nvPr/>
        </p:nvSpPr>
        <p:spPr>
          <a:xfrm>
            <a:off x="7950200" y="6013450"/>
            <a:ext cx="12700" cy="63500"/>
          </a:xfrm>
          <a:prstGeom prst="rect">
            <a:avLst/>
          </a:prstGeom>
          <a:solidFill>
            <a:srgbClr val="C6C6C6"/>
          </a:solidFill>
          <a:ln>
            <a:noFill/>
          </a:ln>
        </p:spPr>
        <p:txBody>
          <a:bodyPr rtlCol="0" anchor="ctr" lIns="0" rIns="0" tIns="0" bIns="0"/>
          <a:lstStyle/>
          <a:p>
            <a:pPr algn="ctr"/>
          </a:p>
        </p:txBody>
      </p:sp>
      <p:sp>
        <p:nvSpPr>
          <p:cNvPr id="49" name="Rectangle 48"/>
          <p:cNvSpPr/>
          <p:nvPr/>
        </p:nvSpPr>
        <p:spPr>
          <a:xfrm>
            <a:off x="8229600" y="6013450"/>
            <a:ext cx="12700" cy="63500"/>
          </a:xfrm>
          <a:prstGeom prst="rect">
            <a:avLst/>
          </a:prstGeom>
          <a:solidFill>
            <a:srgbClr val="C6C6C6"/>
          </a:solidFill>
          <a:ln>
            <a:noFill/>
          </a:ln>
        </p:spPr>
        <p:txBody>
          <a:bodyPr rtlCol="0" anchor="ctr" lIns="0" rIns="0" tIns="0" bIns="0"/>
          <a:lstStyle/>
          <a:p>
            <a:pPr algn="ctr"/>
          </a:p>
        </p:txBody>
      </p:sp>
      <p:sp>
        <p:nvSpPr>
          <p:cNvPr id="50" name="Rectangle 49"/>
          <p:cNvSpPr/>
          <p:nvPr/>
        </p:nvSpPr>
        <p:spPr>
          <a:xfrm>
            <a:off x="8509000" y="6013450"/>
            <a:ext cx="12700" cy="63500"/>
          </a:xfrm>
          <a:prstGeom prst="rect">
            <a:avLst/>
          </a:prstGeom>
          <a:solidFill>
            <a:srgbClr val="C6C6C6"/>
          </a:solidFill>
          <a:ln>
            <a:noFill/>
          </a:ln>
        </p:spPr>
        <p:txBody>
          <a:bodyPr rtlCol="0" anchor="ctr" lIns="0" rIns="0" tIns="0" bIns="0"/>
          <a:lstStyle/>
          <a:p>
            <a:pPr algn="ctr"/>
          </a:p>
        </p:txBody>
      </p:sp>
      <p:sp>
        <p:nvSpPr>
          <p:cNvPr id="51" name="Rectangle 50"/>
          <p:cNvSpPr/>
          <p:nvPr/>
        </p:nvSpPr>
        <p:spPr>
          <a:xfrm>
            <a:off x="8788400" y="6013450"/>
            <a:ext cx="12700" cy="63500"/>
          </a:xfrm>
          <a:prstGeom prst="rect">
            <a:avLst/>
          </a:prstGeom>
          <a:solidFill>
            <a:srgbClr val="C6C6C6"/>
          </a:solidFill>
          <a:ln>
            <a:noFill/>
          </a:ln>
        </p:spPr>
        <p:txBody>
          <a:bodyPr rtlCol="0" anchor="ctr" lIns="0" rIns="0" tIns="0" bIns="0"/>
          <a:lstStyle/>
          <a:p>
            <a:pPr algn="ctr"/>
          </a:p>
        </p:txBody>
      </p:sp>
      <p:sp>
        <p:nvSpPr>
          <p:cNvPr id="52" name="Rectangle 51"/>
          <p:cNvSpPr/>
          <p:nvPr/>
        </p:nvSpPr>
        <p:spPr>
          <a:xfrm>
            <a:off x="9067800" y="6013450"/>
            <a:ext cx="12700" cy="63500"/>
          </a:xfrm>
          <a:prstGeom prst="rect">
            <a:avLst/>
          </a:prstGeom>
          <a:solidFill>
            <a:srgbClr val="C6C6C6"/>
          </a:solidFill>
          <a:ln>
            <a:noFill/>
          </a:ln>
        </p:spPr>
        <p:txBody>
          <a:bodyPr rtlCol="0" anchor="ctr" lIns="0" rIns="0" tIns="0" bIns="0"/>
          <a:lstStyle/>
          <a:p>
            <a:pPr algn="ctr"/>
          </a:p>
        </p:txBody>
      </p:sp>
      <p:sp>
        <p:nvSpPr>
          <p:cNvPr id="53" name="Rectangle 52"/>
          <p:cNvSpPr/>
          <p:nvPr/>
        </p:nvSpPr>
        <p:spPr>
          <a:xfrm>
            <a:off x="9347200" y="6013450"/>
            <a:ext cx="12700" cy="63500"/>
          </a:xfrm>
          <a:prstGeom prst="rect">
            <a:avLst/>
          </a:prstGeom>
          <a:solidFill>
            <a:srgbClr val="C6C6C6"/>
          </a:solidFill>
          <a:ln>
            <a:noFill/>
          </a:ln>
        </p:spPr>
        <p:txBody>
          <a:bodyPr rtlCol="0" anchor="ctr" lIns="0" rIns="0" tIns="0" bIns="0"/>
          <a:lstStyle/>
          <a:p>
            <a:pPr algn="ctr"/>
          </a:p>
        </p:txBody>
      </p:sp>
      <p:sp>
        <p:nvSpPr>
          <p:cNvPr id="54" name="Rectangle 53"/>
          <p:cNvSpPr/>
          <p:nvPr/>
        </p:nvSpPr>
        <p:spPr>
          <a:xfrm>
            <a:off x="9626600" y="6013450"/>
            <a:ext cx="12700" cy="63500"/>
          </a:xfrm>
          <a:prstGeom prst="rect">
            <a:avLst/>
          </a:prstGeom>
          <a:solidFill>
            <a:srgbClr val="C6C6C6"/>
          </a:solidFill>
          <a:ln>
            <a:noFill/>
          </a:ln>
        </p:spPr>
        <p:txBody>
          <a:bodyPr rtlCol="0" anchor="ctr" lIns="0" rIns="0" tIns="0" bIns="0"/>
          <a:lstStyle/>
          <a:p>
            <a:pPr algn="ctr"/>
          </a:p>
        </p:txBody>
      </p:sp>
      <p:sp>
        <p:nvSpPr>
          <p:cNvPr id="55" name="Rectangle 54"/>
          <p:cNvSpPr/>
          <p:nvPr/>
        </p:nvSpPr>
        <p:spPr>
          <a:xfrm>
            <a:off x="9906000" y="6013450"/>
            <a:ext cx="12700" cy="63500"/>
          </a:xfrm>
          <a:prstGeom prst="rect">
            <a:avLst/>
          </a:prstGeom>
          <a:solidFill>
            <a:srgbClr val="C6C6C6"/>
          </a:solidFill>
          <a:ln>
            <a:noFill/>
          </a:ln>
        </p:spPr>
        <p:txBody>
          <a:bodyPr rtlCol="0" anchor="ctr" lIns="0" rIns="0" tIns="0" bIns="0"/>
          <a:lstStyle/>
          <a:p>
            <a:pPr algn="ctr"/>
          </a:p>
        </p:txBody>
      </p:sp>
      <p:sp>
        <p:nvSpPr>
          <p:cNvPr id="56" name="Rectangle 55"/>
          <p:cNvSpPr/>
          <p:nvPr/>
        </p:nvSpPr>
        <p:spPr>
          <a:xfrm>
            <a:off x="10185400" y="6013450"/>
            <a:ext cx="12700" cy="63500"/>
          </a:xfrm>
          <a:prstGeom prst="rect">
            <a:avLst/>
          </a:prstGeom>
          <a:solidFill>
            <a:srgbClr val="C6C6C6"/>
          </a:solidFill>
          <a:ln>
            <a:noFill/>
          </a:ln>
        </p:spPr>
        <p:txBody>
          <a:bodyPr rtlCol="0" anchor="ctr" lIns="0" rIns="0" tIns="0" bIns="0"/>
          <a:lstStyle/>
          <a:p>
            <a:pPr algn="ctr"/>
          </a:p>
        </p:txBody>
      </p:sp>
      <p:sp>
        <p:nvSpPr>
          <p:cNvPr id="57" name="Rectangle 56"/>
          <p:cNvSpPr/>
          <p:nvPr/>
        </p:nvSpPr>
        <p:spPr>
          <a:xfrm>
            <a:off x="10464800" y="6013450"/>
            <a:ext cx="12700" cy="63500"/>
          </a:xfrm>
          <a:prstGeom prst="rect">
            <a:avLst/>
          </a:prstGeom>
          <a:solidFill>
            <a:srgbClr val="C6C6C6"/>
          </a:solidFill>
          <a:ln>
            <a:noFill/>
          </a:ln>
        </p:spPr>
        <p:txBody>
          <a:bodyPr rtlCol="0" anchor="ctr" lIns="0" rIns="0" tIns="0" bIns="0"/>
          <a:lstStyle/>
          <a:p>
            <a:pPr algn="ctr"/>
          </a:p>
        </p:txBody>
      </p:sp>
      <p:sp>
        <p:nvSpPr>
          <p:cNvPr id="58" name="Rectangle 57"/>
          <p:cNvSpPr/>
          <p:nvPr/>
        </p:nvSpPr>
        <p:spPr>
          <a:xfrm>
            <a:off x="10744200" y="6013450"/>
            <a:ext cx="12700" cy="63500"/>
          </a:xfrm>
          <a:prstGeom prst="rect">
            <a:avLst/>
          </a:prstGeom>
          <a:solidFill>
            <a:srgbClr val="C6C6C6"/>
          </a:solidFill>
          <a:ln>
            <a:noFill/>
          </a:ln>
        </p:spPr>
        <p:txBody>
          <a:bodyPr rtlCol="0" anchor="ctr" lIns="0" rIns="0" tIns="0" bIns="0"/>
          <a:lstStyle/>
          <a:p>
            <a:pPr algn="ctr"/>
          </a:p>
        </p:txBody>
      </p:sp>
      <p:sp>
        <p:nvSpPr>
          <p:cNvPr id="59" name="Rectangle 58"/>
          <p:cNvSpPr/>
          <p:nvPr/>
        </p:nvSpPr>
        <p:spPr>
          <a:xfrm>
            <a:off x="11023600" y="6013450"/>
            <a:ext cx="12700" cy="63500"/>
          </a:xfrm>
          <a:prstGeom prst="rect">
            <a:avLst/>
          </a:prstGeom>
          <a:solidFill>
            <a:srgbClr val="C6C6C6"/>
          </a:solidFill>
          <a:ln>
            <a:noFill/>
          </a:ln>
        </p:spPr>
        <p:txBody>
          <a:bodyPr rtlCol="0" anchor="ctr" lIns="0" rIns="0" tIns="0" bIns="0"/>
          <a:lstStyle/>
          <a:p>
            <a:pPr algn="ctr"/>
          </a:p>
        </p:txBody>
      </p:sp>
      <p:sp>
        <p:nvSpPr>
          <p:cNvPr id="60" name="Rectangle 59"/>
          <p:cNvSpPr/>
          <p:nvPr/>
        </p:nvSpPr>
        <p:spPr>
          <a:xfrm>
            <a:off x="11303000" y="6013450"/>
            <a:ext cx="12700" cy="63500"/>
          </a:xfrm>
          <a:prstGeom prst="rect">
            <a:avLst/>
          </a:prstGeom>
          <a:solidFill>
            <a:srgbClr val="C6C6C6"/>
          </a:solidFill>
          <a:ln>
            <a:noFill/>
          </a:ln>
        </p:spPr>
        <p:txBody>
          <a:bodyPr rtlCol="0" anchor="ctr" lIns="0" rIns="0" tIns="0" bIns="0"/>
          <a:lstStyle/>
          <a:p>
            <a:pPr algn="ctr"/>
          </a:p>
        </p:txBody>
      </p:sp>
      <p:sp>
        <p:nvSpPr>
          <p:cNvPr id="61" name="Rectangle 60"/>
          <p:cNvSpPr/>
          <p:nvPr/>
        </p:nvSpPr>
        <p:spPr>
          <a:xfrm>
            <a:off x="11582400" y="6013450"/>
            <a:ext cx="12700" cy="63500"/>
          </a:xfrm>
          <a:prstGeom prst="rect">
            <a:avLst/>
          </a:prstGeom>
          <a:solidFill>
            <a:srgbClr val="C6C6C6"/>
          </a:solidFill>
          <a:ln>
            <a:noFill/>
          </a:ln>
        </p:spPr>
        <p:txBody>
          <a:bodyPr rtlCol="0" anchor="ctr" lIns="0" rIns="0" tIns="0" bIns="0"/>
          <a:lstStyle/>
          <a:p>
            <a:pPr algn="ctr"/>
          </a:p>
        </p:txBody>
      </p:sp>
      <p:pic>
        <p:nvPicPr>
          <p:cNvPr id="62" name="Picture 61" descr="locomotive_premium.png"/>
          <p:cNvPicPr>
            <a:picLocks noChangeAspect="1"/>
          </p:cNvPicPr>
          <p:nvPr/>
        </p:nvPicPr>
        <p:blipFill>
          <a:blip r:embed="rId2"/>
          <a:stretch>
            <a:fillRect/>
          </a:stretch>
        </p:blipFill>
        <p:spPr>
          <a:xfrm>
            <a:off x="3556000" y="5320386"/>
            <a:ext cx="2717800" cy="679450"/>
          </a:xfrm>
          <a:prstGeom prst="rect">
            <a:avLst/>
          </a:prstGeom>
        </p:spPr>
      </p:pic>
      <p:pic>
        <p:nvPicPr>
          <p:cNvPr id="63" name="Picture 62" descr="locomotive_premium.png"/>
          <p:cNvPicPr>
            <a:picLocks noChangeAspect="1"/>
          </p:cNvPicPr>
          <p:nvPr/>
        </p:nvPicPr>
        <p:blipFill>
          <a:blip r:embed="rId2"/>
          <a:stretch>
            <a:fillRect/>
          </a:stretch>
        </p:blipFill>
        <p:spPr>
          <a:xfrm>
            <a:off x="6324600" y="5320386"/>
            <a:ext cx="2717800" cy="679450"/>
          </a:xfrm>
          <a:prstGeom prst="rect">
            <a:avLst/>
          </a:prstGeom>
        </p:spPr>
      </p:pic>
      <p:pic>
        <p:nvPicPr>
          <p:cNvPr id="64" name="Picture 63" descr="locomotive_premium.png"/>
          <p:cNvPicPr>
            <a:picLocks noChangeAspect="1"/>
          </p:cNvPicPr>
          <p:nvPr/>
        </p:nvPicPr>
        <p:blipFill>
          <a:blip r:embed="rId2"/>
          <a:stretch>
            <a:fillRect/>
          </a:stretch>
        </p:blipFill>
        <p:spPr>
          <a:xfrm>
            <a:off x="9093200" y="5320386"/>
            <a:ext cx="2717800" cy="679450"/>
          </a:xfrm>
          <a:prstGeom prst="rect">
            <a:avLst/>
          </a:prstGeom>
        </p:spPr>
      </p:pic>
      <p:sp>
        <p:nvSpPr>
          <p:cNvPr id="65" name="Rectangle 64"/>
          <p:cNvSpPr/>
          <p:nvPr/>
        </p:nvSpPr>
        <p:spPr>
          <a:xfrm>
            <a:off x="406400" y="6413500"/>
            <a:ext cx="11379200" cy="6350"/>
          </a:xfrm>
          <a:prstGeom prst="rect">
            <a:avLst/>
          </a:prstGeom>
          <a:solidFill>
            <a:srgbClr val="DEDEDE"/>
          </a:solidFill>
          <a:ln>
            <a:noFill/>
          </a:ln>
        </p:spPr>
        <p:txBody>
          <a:bodyPr rtlCol="0" anchor="ctr" lIns="0" rIns="0" tIns="0" bIns="0"/>
          <a:lstStyle/>
          <a:p>
            <a:pPr algn="ctr"/>
          </a:p>
        </p:txBody>
      </p:sp>
      <p:sp>
        <p:nvSpPr>
          <p:cNvPr id="66" name="TextBox 65"/>
          <p:cNvSpPr txBox="1"/>
          <p:nvPr/>
        </p:nvSpPr>
        <p:spPr>
          <a:xfrm>
            <a:off x="406400" y="6502400"/>
            <a:ext cx="8255000" cy="228600"/>
          </a:xfrm>
          <a:prstGeom prst="rect">
            <a:avLst/>
          </a:prstGeom>
          <a:noFill/>
        </p:spPr>
        <p:txBody>
          <a:bodyPr wrap="none" anchor="ctr" lIns="0" tIns="0" rIns="0" bIns="0">
            <a:noAutofit/>
          </a:bodyPr>
          <a:lstStyle/>
          <a:p>
            <a:pPr algn="l" marL="0" indent="0">
              <a:lnSpc>
                <a:spcPts val="1800"/>
              </a:lnSpc>
              <a:buNone/>
            </a:pPr>
            <a:r>
              <a:rPr lang="zh-CN" altLang="en-US" sz="850" b="1" spc="125">
                <a:solidFill>
                  <a:srgbClr val="8C8C8C"/>
                </a:solidFill>
                <a:latin typeface="微软雅黑"/>
                <a:ea typeface="微软雅黑"/>
                <a:cs typeface="微软雅黑"/>
              </a:rPr>
              <a:t>7.3 多智能体协同运行与调度引擎</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课题申报汇报</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研究周期 2027.01—2028.12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汇报提纲</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七个部分，核心是研究内容、技术路线与方法</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2</a:t>
            </a:r>
          </a:p>
        </p:txBody>
      </p:sp>
      <p:sp>
        <p:nvSpPr>
          <p:cNvPr id="6" name="TextBox 5"/>
          <p:cNvSpPr txBox="1"/>
          <p:nvPr/>
        </p:nvSpPr>
        <p:spPr>
          <a:xfrm>
            <a:off x="584200" y="2082800"/>
            <a:ext cx="698500" cy="609600"/>
          </a:xfrm>
          <a:prstGeom prst="rect">
            <a:avLst/>
          </a:prstGeom>
          <a:noFill/>
        </p:spPr>
        <p:txBody>
          <a:bodyPr wrap="none" anchor="ctr" lIns="0" tIns="0" rIns="0" bIns="0">
            <a:noAutofit/>
          </a:bodyPr>
          <a:lstStyle/>
          <a:p>
            <a:pPr algn="l" marL="0" indent="0">
              <a:lnSpc>
                <a:spcPts val="2800"/>
              </a:lnSpc>
              <a:buNone/>
            </a:pPr>
            <a:r>
              <a:rPr lang="zh-CN" altLang="en-US" sz="2200" b="1">
                <a:solidFill>
                  <a:srgbClr val="DCDCDC"/>
                </a:solidFill>
                <a:latin typeface="Consolas"/>
                <a:ea typeface="微软雅黑"/>
                <a:cs typeface="Consolas"/>
              </a:rPr>
              <a:t>01</a:t>
            </a:r>
          </a:p>
        </p:txBody>
      </p:sp>
      <p:sp>
        <p:nvSpPr>
          <p:cNvPr id="7" name="Oval 6"/>
          <p:cNvSpPr/>
          <p:nvPr/>
        </p:nvSpPr>
        <p:spPr>
          <a:xfrm>
            <a:off x="1320800" y="2197100"/>
            <a:ext cx="381000" cy="381000"/>
          </a:xfrm>
          <a:prstGeom prst="ellipse">
            <a:avLst/>
          </a:prstGeom>
          <a:solidFill>
            <a:srgbClr val="F6F6F6"/>
          </a:solidFill>
          <a:ln>
            <a:noFill/>
          </a:ln>
        </p:spPr>
        <p:txBody>
          <a:bodyPr rtlCol="0" anchor="ctr" lIns="0" rIns="0" tIns="0" bIns="0"/>
          <a:lstStyle/>
          <a:p>
            <a:pPr algn="ctr"/>
          </a:p>
        </p:txBody>
      </p:sp>
      <p:pic>
        <p:nvPicPr>
          <p:cNvPr id="8" name="Picture 7" descr="file-description-666666-1_6.png"/>
          <p:cNvPicPr>
            <a:picLocks noChangeAspect="1"/>
          </p:cNvPicPr>
          <p:nvPr/>
        </p:nvPicPr>
        <p:blipFill>
          <a:blip r:embed="rId2"/>
          <a:stretch>
            <a:fillRect/>
          </a:stretch>
        </p:blipFill>
        <p:spPr>
          <a:xfrm>
            <a:off x="1409700" y="2286000"/>
            <a:ext cx="203200" cy="203200"/>
          </a:xfrm>
          <a:prstGeom prst="rect">
            <a:avLst/>
          </a:prstGeom>
        </p:spPr>
      </p:pic>
      <p:sp>
        <p:nvSpPr>
          <p:cNvPr id="9" name="TextBox 8"/>
          <p:cNvSpPr txBox="1"/>
          <p:nvPr/>
        </p:nvSpPr>
        <p:spPr>
          <a:xfrm>
            <a:off x="1905000" y="2082800"/>
            <a:ext cx="7620000" cy="609600"/>
          </a:xfrm>
          <a:prstGeom prst="rect">
            <a:avLst/>
          </a:prstGeom>
          <a:noFill/>
        </p:spPr>
        <p:txBody>
          <a:bodyPr wrap="none" anchor="ctr" lIns="0" tIns="0" rIns="0" bIns="0">
            <a:noAutofit/>
          </a:bodyPr>
          <a:lstStyle/>
          <a:p>
            <a:pPr algn="l" marL="0" indent="0">
              <a:lnSpc>
                <a:spcPts val="2000"/>
              </a:lnSpc>
              <a:buNone/>
            </a:pPr>
            <a:r>
              <a:rPr lang="zh-CN" altLang="en-US" sz="1500" b="1">
                <a:solidFill>
                  <a:srgbClr val="1A1A1A"/>
                </a:solidFill>
                <a:latin typeface="微软雅黑"/>
                <a:ea typeface="微软雅黑"/>
                <a:cs typeface="微软雅黑"/>
              </a:rPr>
              <a:t>项目简介</a:t>
            </a:r>
          </a:p>
        </p:txBody>
      </p:sp>
      <p:sp>
        <p:nvSpPr>
          <p:cNvPr id="10" name="TextBox 9"/>
          <p:cNvSpPr txBox="1"/>
          <p:nvPr/>
        </p:nvSpPr>
        <p:spPr>
          <a:xfrm>
            <a:off x="10160000" y="2082800"/>
            <a:ext cx="1625600" cy="609600"/>
          </a:xfrm>
          <a:prstGeom prst="rect">
            <a:avLst/>
          </a:prstGeom>
          <a:noFill/>
        </p:spPr>
        <p:txBody>
          <a:bodyPr wrap="none" anchor="ctr" lIns="0" tIns="0" rIns="0" bIns="0">
            <a:noAutofit/>
          </a:bodyPr>
          <a:lstStyle/>
          <a:p>
            <a:pPr algn="r" marL="0" indent="0">
              <a:lnSpc>
                <a:spcPts val="1500"/>
              </a:lnSpc>
              <a:buNone/>
            </a:pPr>
            <a:r>
              <a:rPr lang="zh-CN" altLang="en-US" sz="1050" b="1">
                <a:solidFill>
                  <a:srgbClr val="8C8C8C"/>
                </a:solidFill>
                <a:latin typeface="微软雅黑"/>
                <a:ea typeface="微软雅黑"/>
                <a:cs typeface="微软雅黑"/>
              </a:rPr>
              <a:t>第 3 页</a:t>
            </a:r>
          </a:p>
        </p:txBody>
      </p:sp>
      <p:cxnSp>
        <p:nvCxnSpPr>
          <p:cNvPr id="11" name="Connector 10"/>
          <p:cNvCxnSpPr/>
          <p:nvPr/>
        </p:nvCxnSpPr>
        <p:spPr>
          <a:xfrm>
            <a:off x="1905000" y="2692400"/>
            <a:ext cx="9880600" cy="0"/>
          </a:xfrm>
          <a:prstGeom prst="line">
            <a:avLst/>
          </a:prstGeom>
          <a:ln w="6350">
            <a:solidFill>
              <a:srgbClr val="E9E9E9"/>
            </a:solidFill>
            <a:round/>
          </a:ln>
        </p:spPr>
      </p:cxnSp>
      <p:sp>
        <p:nvSpPr>
          <p:cNvPr id="12" name="TextBox 11"/>
          <p:cNvSpPr txBox="1"/>
          <p:nvPr/>
        </p:nvSpPr>
        <p:spPr>
          <a:xfrm>
            <a:off x="584200" y="2692400"/>
            <a:ext cx="698500" cy="609600"/>
          </a:xfrm>
          <a:prstGeom prst="rect">
            <a:avLst/>
          </a:prstGeom>
          <a:noFill/>
        </p:spPr>
        <p:txBody>
          <a:bodyPr wrap="none" anchor="ctr" lIns="0" tIns="0" rIns="0" bIns="0">
            <a:noAutofit/>
          </a:bodyPr>
          <a:lstStyle/>
          <a:p>
            <a:pPr algn="l" marL="0" indent="0">
              <a:lnSpc>
                <a:spcPts val="2800"/>
              </a:lnSpc>
              <a:buNone/>
            </a:pPr>
            <a:r>
              <a:rPr lang="zh-CN" altLang="en-US" sz="2200" b="1">
                <a:solidFill>
                  <a:srgbClr val="DCDCDC"/>
                </a:solidFill>
                <a:latin typeface="Consolas"/>
                <a:ea typeface="微软雅黑"/>
                <a:cs typeface="Consolas"/>
              </a:rPr>
              <a:t>02</a:t>
            </a:r>
          </a:p>
        </p:txBody>
      </p:sp>
      <p:sp>
        <p:nvSpPr>
          <p:cNvPr id="13" name="Oval 12"/>
          <p:cNvSpPr/>
          <p:nvPr/>
        </p:nvSpPr>
        <p:spPr>
          <a:xfrm>
            <a:off x="1320800" y="2806700"/>
            <a:ext cx="381000" cy="381000"/>
          </a:xfrm>
          <a:prstGeom prst="ellipse">
            <a:avLst/>
          </a:prstGeom>
          <a:solidFill>
            <a:srgbClr val="F6F6F6"/>
          </a:solidFill>
          <a:ln>
            <a:noFill/>
          </a:ln>
        </p:spPr>
        <p:txBody>
          <a:bodyPr rtlCol="0" anchor="ctr" lIns="0" rIns="0" tIns="0" bIns="0"/>
          <a:lstStyle/>
          <a:p>
            <a:pPr algn="ctr"/>
          </a:p>
        </p:txBody>
      </p:sp>
      <p:pic>
        <p:nvPicPr>
          <p:cNvPr id="14" name="Picture 13" descr="bulb-666666-1_6.png"/>
          <p:cNvPicPr>
            <a:picLocks noChangeAspect="1"/>
          </p:cNvPicPr>
          <p:nvPr/>
        </p:nvPicPr>
        <p:blipFill>
          <a:blip r:embed="rId3"/>
          <a:stretch>
            <a:fillRect/>
          </a:stretch>
        </p:blipFill>
        <p:spPr>
          <a:xfrm>
            <a:off x="1409700" y="2895600"/>
            <a:ext cx="203200" cy="203200"/>
          </a:xfrm>
          <a:prstGeom prst="rect">
            <a:avLst/>
          </a:prstGeom>
        </p:spPr>
      </p:pic>
      <p:sp>
        <p:nvSpPr>
          <p:cNvPr id="15" name="TextBox 14"/>
          <p:cNvSpPr txBox="1"/>
          <p:nvPr/>
        </p:nvSpPr>
        <p:spPr>
          <a:xfrm>
            <a:off x="1905000" y="2692400"/>
            <a:ext cx="7620000" cy="609600"/>
          </a:xfrm>
          <a:prstGeom prst="rect">
            <a:avLst/>
          </a:prstGeom>
          <a:noFill/>
        </p:spPr>
        <p:txBody>
          <a:bodyPr wrap="none" anchor="ctr" lIns="0" tIns="0" rIns="0" bIns="0">
            <a:noAutofit/>
          </a:bodyPr>
          <a:lstStyle/>
          <a:p>
            <a:pPr algn="l" marL="0" indent="0">
              <a:lnSpc>
                <a:spcPts val="2000"/>
              </a:lnSpc>
              <a:buNone/>
            </a:pPr>
            <a:r>
              <a:rPr lang="zh-CN" altLang="en-US" sz="1500" b="1">
                <a:solidFill>
                  <a:srgbClr val="1A1A1A"/>
                </a:solidFill>
                <a:latin typeface="微软雅黑"/>
                <a:ea typeface="微软雅黑"/>
                <a:cs typeface="微软雅黑"/>
              </a:rPr>
              <a:t>研究意义与价值</a:t>
            </a:r>
          </a:p>
        </p:txBody>
      </p:sp>
      <p:sp>
        <p:nvSpPr>
          <p:cNvPr id="16" name="TextBox 15"/>
          <p:cNvSpPr txBox="1"/>
          <p:nvPr/>
        </p:nvSpPr>
        <p:spPr>
          <a:xfrm>
            <a:off x="10160000" y="2692400"/>
            <a:ext cx="1625600" cy="609600"/>
          </a:xfrm>
          <a:prstGeom prst="rect">
            <a:avLst/>
          </a:prstGeom>
          <a:noFill/>
        </p:spPr>
        <p:txBody>
          <a:bodyPr wrap="none" anchor="ctr" lIns="0" tIns="0" rIns="0" bIns="0">
            <a:noAutofit/>
          </a:bodyPr>
          <a:lstStyle/>
          <a:p>
            <a:pPr algn="r" marL="0" indent="0">
              <a:lnSpc>
                <a:spcPts val="1500"/>
              </a:lnSpc>
              <a:buNone/>
            </a:pPr>
            <a:r>
              <a:rPr lang="zh-CN" altLang="en-US" sz="1050" b="1">
                <a:solidFill>
                  <a:srgbClr val="8C8C8C"/>
                </a:solidFill>
                <a:latin typeface="微软雅黑"/>
                <a:ea typeface="微软雅黑"/>
                <a:cs typeface="微软雅黑"/>
              </a:rPr>
              <a:t>第 4—6 页</a:t>
            </a:r>
          </a:p>
        </p:txBody>
      </p:sp>
      <p:sp>
        <p:nvSpPr>
          <p:cNvPr id="17" name="Rectangle 16"/>
          <p:cNvSpPr/>
          <p:nvPr/>
        </p:nvSpPr>
        <p:spPr>
          <a:xfrm>
            <a:off x="406400" y="3327400"/>
            <a:ext cx="11379200" cy="558800"/>
          </a:xfrm>
          <a:prstGeom prst="rect">
            <a:avLst/>
          </a:prstGeom>
          <a:solidFill>
            <a:srgbClr val="FCF2F2"/>
          </a:solidFill>
          <a:ln>
            <a:noFill/>
          </a:ln>
        </p:spPr>
        <p:txBody>
          <a:bodyPr rtlCol="0" anchor="ctr" lIns="0" rIns="0" tIns="0" bIns="0"/>
          <a:lstStyle/>
          <a:p>
            <a:pPr algn="ctr"/>
          </a:p>
        </p:txBody>
      </p:sp>
      <p:sp>
        <p:nvSpPr>
          <p:cNvPr id="18" name="Rectangle 17"/>
          <p:cNvSpPr/>
          <p:nvPr/>
        </p:nvSpPr>
        <p:spPr>
          <a:xfrm>
            <a:off x="406400" y="3327400"/>
            <a:ext cx="19050" cy="558800"/>
          </a:xfrm>
          <a:prstGeom prst="rect">
            <a:avLst/>
          </a:prstGeom>
          <a:solidFill>
            <a:srgbClr val="C00000"/>
          </a:solidFill>
          <a:ln>
            <a:noFill/>
          </a:ln>
        </p:spPr>
        <p:txBody>
          <a:bodyPr rtlCol="0" anchor="ctr" lIns="0" rIns="0" tIns="0" bIns="0"/>
          <a:lstStyle/>
          <a:p>
            <a:pPr algn="ctr"/>
          </a:p>
        </p:txBody>
      </p:sp>
      <p:sp>
        <p:nvSpPr>
          <p:cNvPr id="19" name="TextBox 18"/>
          <p:cNvSpPr txBox="1"/>
          <p:nvPr/>
        </p:nvSpPr>
        <p:spPr>
          <a:xfrm>
            <a:off x="584200" y="3302000"/>
            <a:ext cx="698500" cy="609600"/>
          </a:xfrm>
          <a:prstGeom prst="rect">
            <a:avLst/>
          </a:prstGeom>
          <a:noFill/>
        </p:spPr>
        <p:txBody>
          <a:bodyPr wrap="none" anchor="ctr" lIns="0" tIns="0" rIns="0" bIns="0">
            <a:noAutofit/>
          </a:bodyPr>
          <a:lstStyle/>
          <a:p>
            <a:pPr algn="l" marL="0" indent="0">
              <a:lnSpc>
                <a:spcPts val="2800"/>
              </a:lnSpc>
              <a:buNone/>
            </a:pPr>
            <a:r>
              <a:rPr lang="zh-CN" altLang="en-US" sz="2200" b="1">
                <a:solidFill>
                  <a:srgbClr val="C00000"/>
                </a:solidFill>
                <a:latin typeface="Consolas"/>
                <a:ea typeface="微软雅黑"/>
                <a:cs typeface="Consolas"/>
              </a:rPr>
              <a:t>03</a:t>
            </a:r>
          </a:p>
        </p:txBody>
      </p:sp>
      <p:sp>
        <p:nvSpPr>
          <p:cNvPr id="20" name="Oval 19"/>
          <p:cNvSpPr/>
          <p:nvPr/>
        </p:nvSpPr>
        <p:spPr>
          <a:xfrm>
            <a:off x="1320800" y="3416300"/>
            <a:ext cx="381000" cy="381000"/>
          </a:xfrm>
          <a:prstGeom prst="ellipse">
            <a:avLst/>
          </a:prstGeom>
          <a:solidFill>
            <a:srgbClr val="FFFFFF"/>
          </a:solidFill>
          <a:ln>
            <a:noFill/>
          </a:ln>
        </p:spPr>
        <p:txBody>
          <a:bodyPr rtlCol="0" anchor="ctr" lIns="0" rIns="0" tIns="0" bIns="0"/>
          <a:lstStyle/>
          <a:p>
            <a:pPr algn="ctr"/>
          </a:p>
        </p:txBody>
      </p:sp>
      <p:pic>
        <p:nvPicPr>
          <p:cNvPr id="21" name="Picture 20" descr="route-C00000-1_6.png"/>
          <p:cNvPicPr>
            <a:picLocks noChangeAspect="1"/>
          </p:cNvPicPr>
          <p:nvPr/>
        </p:nvPicPr>
        <p:blipFill>
          <a:blip r:embed="rId4"/>
          <a:stretch>
            <a:fillRect/>
          </a:stretch>
        </p:blipFill>
        <p:spPr>
          <a:xfrm>
            <a:off x="1409700" y="3505200"/>
            <a:ext cx="203200" cy="203200"/>
          </a:xfrm>
          <a:prstGeom prst="rect">
            <a:avLst/>
          </a:prstGeom>
        </p:spPr>
      </p:pic>
      <p:sp>
        <p:nvSpPr>
          <p:cNvPr id="22" name="TextBox 21"/>
          <p:cNvSpPr txBox="1"/>
          <p:nvPr/>
        </p:nvSpPr>
        <p:spPr>
          <a:xfrm>
            <a:off x="1905000" y="3302000"/>
            <a:ext cx="7620000" cy="609600"/>
          </a:xfrm>
          <a:prstGeom prst="rect">
            <a:avLst/>
          </a:prstGeom>
          <a:noFill/>
        </p:spPr>
        <p:txBody>
          <a:bodyPr wrap="none" anchor="ctr" lIns="0" tIns="0" rIns="0" bIns="0">
            <a:noAutofit/>
          </a:bodyPr>
          <a:lstStyle/>
          <a:p>
            <a:pPr algn="l" marL="0" indent="0">
              <a:lnSpc>
                <a:spcPts val="2000"/>
              </a:lnSpc>
              <a:buNone/>
            </a:pPr>
            <a:r>
              <a:rPr lang="zh-CN" altLang="en-US" sz="1500" b="1">
                <a:solidFill>
                  <a:srgbClr val="1A1A1A"/>
                </a:solidFill>
                <a:latin typeface="微软雅黑"/>
                <a:ea typeface="微软雅黑"/>
                <a:cs typeface="微软雅黑"/>
              </a:rPr>
              <a:t>主要研究内容、技术路线与方法</a:t>
            </a:r>
          </a:p>
        </p:txBody>
      </p:sp>
      <p:sp>
        <p:nvSpPr>
          <p:cNvPr id="23" name="Rectangle 22"/>
          <p:cNvSpPr/>
          <p:nvPr/>
        </p:nvSpPr>
        <p:spPr>
          <a:xfrm>
            <a:off x="4686300" y="3505200"/>
            <a:ext cx="635000" cy="203200"/>
          </a:xfrm>
          <a:prstGeom prst="rect">
            <a:avLst/>
          </a:prstGeom>
          <a:solidFill>
            <a:srgbClr val="FFFFFF"/>
          </a:solidFill>
          <a:ln w="6350">
            <a:solidFill>
              <a:srgbClr val="C00000"/>
            </a:solidFill>
            <a:round/>
          </a:ln>
        </p:spPr>
        <p:txBody>
          <a:bodyPr rtlCol="0" anchor="ctr" lIns="0" rIns="0" tIns="0" bIns="0" wrap="none">
            <a:noAutofit/>
          </a:bodyPr>
          <a:lstStyle/>
          <a:p>
            <a:pPr algn="ctr" marL="0" indent="0">
              <a:lnSpc>
                <a:spcPts val="1150"/>
              </a:lnSpc>
              <a:buNone/>
            </a:pPr>
            <a:r>
              <a:rPr lang="zh-CN" altLang="en-US" sz="900" b="1">
                <a:solidFill>
                  <a:srgbClr val="C00000"/>
                </a:solidFill>
                <a:latin typeface="微软雅黑"/>
                <a:ea typeface="微软雅黑"/>
                <a:cs typeface="微软雅黑"/>
              </a:rPr>
              <a:t>核心章节</a:t>
            </a:r>
          </a:p>
        </p:txBody>
      </p:sp>
      <p:sp>
        <p:nvSpPr>
          <p:cNvPr id="24" name="TextBox 23"/>
          <p:cNvSpPr txBox="1"/>
          <p:nvPr/>
        </p:nvSpPr>
        <p:spPr>
          <a:xfrm>
            <a:off x="10160000" y="3302000"/>
            <a:ext cx="1625600" cy="609600"/>
          </a:xfrm>
          <a:prstGeom prst="rect">
            <a:avLst/>
          </a:prstGeom>
          <a:noFill/>
        </p:spPr>
        <p:txBody>
          <a:bodyPr wrap="none" anchor="ctr" lIns="0" tIns="0" rIns="0" bIns="0">
            <a:noAutofit/>
          </a:bodyPr>
          <a:lstStyle/>
          <a:p>
            <a:pPr algn="r" marL="0" indent="0">
              <a:lnSpc>
                <a:spcPts val="1500"/>
              </a:lnSpc>
              <a:buNone/>
            </a:pPr>
            <a:r>
              <a:rPr lang="zh-CN" altLang="en-US" sz="1050" b="1">
                <a:solidFill>
                  <a:srgbClr val="C00000"/>
                </a:solidFill>
                <a:latin typeface="微软雅黑"/>
                <a:ea typeface="微软雅黑"/>
                <a:cs typeface="微软雅黑"/>
              </a:rPr>
              <a:t>第 7—13 页</a:t>
            </a:r>
          </a:p>
        </p:txBody>
      </p:sp>
      <p:sp>
        <p:nvSpPr>
          <p:cNvPr id="25" name="TextBox 24"/>
          <p:cNvSpPr txBox="1"/>
          <p:nvPr/>
        </p:nvSpPr>
        <p:spPr>
          <a:xfrm>
            <a:off x="584200" y="3911600"/>
            <a:ext cx="698500" cy="609600"/>
          </a:xfrm>
          <a:prstGeom prst="rect">
            <a:avLst/>
          </a:prstGeom>
          <a:noFill/>
        </p:spPr>
        <p:txBody>
          <a:bodyPr wrap="none" anchor="ctr" lIns="0" tIns="0" rIns="0" bIns="0">
            <a:noAutofit/>
          </a:bodyPr>
          <a:lstStyle/>
          <a:p>
            <a:pPr algn="l" marL="0" indent="0">
              <a:lnSpc>
                <a:spcPts val="2800"/>
              </a:lnSpc>
              <a:buNone/>
            </a:pPr>
            <a:r>
              <a:rPr lang="zh-CN" altLang="en-US" sz="2200" b="1">
                <a:solidFill>
                  <a:srgbClr val="DCDCDC"/>
                </a:solidFill>
                <a:latin typeface="Consolas"/>
                <a:ea typeface="微软雅黑"/>
                <a:cs typeface="Consolas"/>
              </a:rPr>
              <a:t>04</a:t>
            </a:r>
          </a:p>
        </p:txBody>
      </p:sp>
      <p:sp>
        <p:nvSpPr>
          <p:cNvPr id="26" name="Oval 25"/>
          <p:cNvSpPr/>
          <p:nvPr/>
        </p:nvSpPr>
        <p:spPr>
          <a:xfrm>
            <a:off x="1320800" y="4025900"/>
            <a:ext cx="381000" cy="381000"/>
          </a:xfrm>
          <a:prstGeom prst="ellipse">
            <a:avLst/>
          </a:prstGeom>
          <a:solidFill>
            <a:srgbClr val="F6F6F6"/>
          </a:solidFill>
          <a:ln>
            <a:noFill/>
          </a:ln>
        </p:spPr>
        <p:txBody>
          <a:bodyPr rtlCol="0" anchor="ctr" lIns="0" rIns="0" tIns="0" bIns="0"/>
          <a:lstStyle/>
          <a:p>
            <a:pPr algn="ctr"/>
          </a:p>
        </p:txBody>
      </p:sp>
      <p:pic>
        <p:nvPicPr>
          <p:cNvPr id="27" name="Picture 26" descr="target-arrow-666666-1_6.png"/>
          <p:cNvPicPr>
            <a:picLocks noChangeAspect="1"/>
          </p:cNvPicPr>
          <p:nvPr/>
        </p:nvPicPr>
        <p:blipFill>
          <a:blip r:embed="rId5"/>
          <a:stretch>
            <a:fillRect/>
          </a:stretch>
        </p:blipFill>
        <p:spPr>
          <a:xfrm>
            <a:off x="1409700" y="4114800"/>
            <a:ext cx="203200" cy="203200"/>
          </a:xfrm>
          <a:prstGeom prst="rect">
            <a:avLst/>
          </a:prstGeom>
        </p:spPr>
      </p:pic>
      <p:sp>
        <p:nvSpPr>
          <p:cNvPr id="28" name="TextBox 27"/>
          <p:cNvSpPr txBox="1"/>
          <p:nvPr/>
        </p:nvSpPr>
        <p:spPr>
          <a:xfrm>
            <a:off x="1905000" y="3911600"/>
            <a:ext cx="7620000" cy="609600"/>
          </a:xfrm>
          <a:prstGeom prst="rect">
            <a:avLst/>
          </a:prstGeom>
          <a:noFill/>
        </p:spPr>
        <p:txBody>
          <a:bodyPr wrap="none" anchor="ctr" lIns="0" tIns="0" rIns="0" bIns="0">
            <a:noAutofit/>
          </a:bodyPr>
          <a:lstStyle/>
          <a:p>
            <a:pPr algn="l" marL="0" indent="0">
              <a:lnSpc>
                <a:spcPts val="2000"/>
              </a:lnSpc>
              <a:buNone/>
            </a:pPr>
            <a:r>
              <a:rPr lang="zh-CN" altLang="en-US" sz="1500" b="1">
                <a:solidFill>
                  <a:srgbClr val="1A1A1A"/>
                </a:solidFill>
                <a:latin typeface="微软雅黑"/>
                <a:ea typeface="微软雅黑"/>
                <a:cs typeface="微软雅黑"/>
              </a:rPr>
              <a:t>预期成果与效益</a:t>
            </a:r>
          </a:p>
        </p:txBody>
      </p:sp>
      <p:sp>
        <p:nvSpPr>
          <p:cNvPr id="29" name="TextBox 28"/>
          <p:cNvSpPr txBox="1"/>
          <p:nvPr/>
        </p:nvSpPr>
        <p:spPr>
          <a:xfrm>
            <a:off x="10160000" y="3911600"/>
            <a:ext cx="1625600" cy="609600"/>
          </a:xfrm>
          <a:prstGeom prst="rect">
            <a:avLst/>
          </a:prstGeom>
          <a:noFill/>
        </p:spPr>
        <p:txBody>
          <a:bodyPr wrap="none" anchor="ctr" lIns="0" tIns="0" rIns="0" bIns="0">
            <a:noAutofit/>
          </a:bodyPr>
          <a:lstStyle/>
          <a:p>
            <a:pPr algn="r" marL="0" indent="0">
              <a:lnSpc>
                <a:spcPts val="1500"/>
              </a:lnSpc>
              <a:buNone/>
            </a:pPr>
            <a:r>
              <a:rPr lang="zh-CN" altLang="en-US" sz="1050" b="1">
                <a:solidFill>
                  <a:srgbClr val="8C8C8C"/>
                </a:solidFill>
                <a:latin typeface="微软雅黑"/>
                <a:ea typeface="微软雅黑"/>
                <a:cs typeface="微软雅黑"/>
              </a:rPr>
              <a:t>第 14—15 页</a:t>
            </a:r>
          </a:p>
        </p:txBody>
      </p:sp>
      <p:cxnSp>
        <p:nvCxnSpPr>
          <p:cNvPr id="30" name="Connector 29"/>
          <p:cNvCxnSpPr/>
          <p:nvPr/>
        </p:nvCxnSpPr>
        <p:spPr>
          <a:xfrm>
            <a:off x="1905000" y="4521200"/>
            <a:ext cx="9880600" cy="0"/>
          </a:xfrm>
          <a:prstGeom prst="line">
            <a:avLst/>
          </a:prstGeom>
          <a:ln w="6350">
            <a:solidFill>
              <a:srgbClr val="E9E9E9"/>
            </a:solidFill>
            <a:round/>
          </a:ln>
        </p:spPr>
      </p:cxnSp>
      <p:sp>
        <p:nvSpPr>
          <p:cNvPr id="31" name="TextBox 30"/>
          <p:cNvSpPr txBox="1"/>
          <p:nvPr/>
        </p:nvSpPr>
        <p:spPr>
          <a:xfrm>
            <a:off x="584200" y="4521200"/>
            <a:ext cx="698500" cy="609600"/>
          </a:xfrm>
          <a:prstGeom prst="rect">
            <a:avLst/>
          </a:prstGeom>
          <a:noFill/>
        </p:spPr>
        <p:txBody>
          <a:bodyPr wrap="none" anchor="ctr" lIns="0" tIns="0" rIns="0" bIns="0">
            <a:noAutofit/>
          </a:bodyPr>
          <a:lstStyle/>
          <a:p>
            <a:pPr algn="l" marL="0" indent="0">
              <a:lnSpc>
                <a:spcPts val="2800"/>
              </a:lnSpc>
              <a:buNone/>
            </a:pPr>
            <a:r>
              <a:rPr lang="zh-CN" altLang="en-US" sz="2200" b="1">
                <a:solidFill>
                  <a:srgbClr val="DCDCDC"/>
                </a:solidFill>
                <a:latin typeface="Consolas"/>
                <a:ea typeface="微软雅黑"/>
                <a:cs typeface="Consolas"/>
              </a:rPr>
              <a:t>05</a:t>
            </a:r>
          </a:p>
        </p:txBody>
      </p:sp>
      <p:sp>
        <p:nvSpPr>
          <p:cNvPr id="32" name="Oval 31"/>
          <p:cNvSpPr/>
          <p:nvPr/>
        </p:nvSpPr>
        <p:spPr>
          <a:xfrm>
            <a:off x="1320800" y="4635500"/>
            <a:ext cx="381000" cy="381000"/>
          </a:xfrm>
          <a:prstGeom prst="ellipse">
            <a:avLst/>
          </a:prstGeom>
          <a:solidFill>
            <a:srgbClr val="F6F6F6"/>
          </a:solidFill>
          <a:ln>
            <a:noFill/>
          </a:ln>
        </p:spPr>
        <p:txBody>
          <a:bodyPr rtlCol="0" anchor="ctr" lIns="0" rIns="0" tIns="0" bIns="0"/>
          <a:lstStyle/>
          <a:p>
            <a:pPr algn="ctr"/>
          </a:p>
        </p:txBody>
      </p:sp>
      <p:pic>
        <p:nvPicPr>
          <p:cNvPr id="33" name="Picture 32" descr="coins-666666-1_6.png"/>
          <p:cNvPicPr>
            <a:picLocks noChangeAspect="1"/>
          </p:cNvPicPr>
          <p:nvPr/>
        </p:nvPicPr>
        <p:blipFill>
          <a:blip r:embed="rId6"/>
          <a:stretch>
            <a:fillRect/>
          </a:stretch>
        </p:blipFill>
        <p:spPr>
          <a:xfrm>
            <a:off x="1409700" y="4724400"/>
            <a:ext cx="203200" cy="203200"/>
          </a:xfrm>
          <a:prstGeom prst="rect">
            <a:avLst/>
          </a:prstGeom>
        </p:spPr>
      </p:pic>
      <p:sp>
        <p:nvSpPr>
          <p:cNvPr id="34" name="TextBox 33"/>
          <p:cNvSpPr txBox="1"/>
          <p:nvPr/>
        </p:nvSpPr>
        <p:spPr>
          <a:xfrm>
            <a:off x="1905000" y="4521200"/>
            <a:ext cx="7620000" cy="609600"/>
          </a:xfrm>
          <a:prstGeom prst="rect">
            <a:avLst/>
          </a:prstGeom>
          <a:noFill/>
        </p:spPr>
        <p:txBody>
          <a:bodyPr wrap="none" anchor="ctr" lIns="0" tIns="0" rIns="0" bIns="0">
            <a:noAutofit/>
          </a:bodyPr>
          <a:lstStyle/>
          <a:p>
            <a:pPr algn="l" marL="0" indent="0">
              <a:lnSpc>
                <a:spcPts val="2000"/>
              </a:lnSpc>
              <a:buNone/>
            </a:pPr>
            <a:r>
              <a:rPr lang="zh-CN" altLang="en-US" sz="1500" b="1">
                <a:solidFill>
                  <a:srgbClr val="1A1A1A"/>
                </a:solidFill>
                <a:latin typeface="微软雅黑"/>
                <a:ea typeface="微软雅黑"/>
                <a:cs typeface="微软雅黑"/>
              </a:rPr>
              <a:t>经费预算合理性</a:t>
            </a:r>
          </a:p>
        </p:txBody>
      </p:sp>
      <p:sp>
        <p:nvSpPr>
          <p:cNvPr id="35" name="TextBox 34"/>
          <p:cNvSpPr txBox="1"/>
          <p:nvPr/>
        </p:nvSpPr>
        <p:spPr>
          <a:xfrm>
            <a:off x="10160000" y="4521200"/>
            <a:ext cx="1625600" cy="609600"/>
          </a:xfrm>
          <a:prstGeom prst="rect">
            <a:avLst/>
          </a:prstGeom>
          <a:noFill/>
        </p:spPr>
        <p:txBody>
          <a:bodyPr wrap="none" anchor="ctr" lIns="0" tIns="0" rIns="0" bIns="0">
            <a:noAutofit/>
          </a:bodyPr>
          <a:lstStyle/>
          <a:p>
            <a:pPr algn="r" marL="0" indent="0">
              <a:lnSpc>
                <a:spcPts val="1500"/>
              </a:lnSpc>
              <a:buNone/>
            </a:pPr>
            <a:r>
              <a:rPr lang="zh-CN" altLang="en-US" sz="1050" b="1">
                <a:solidFill>
                  <a:srgbClr val="8C8C8C"/>
                </a:solidFill>
                <a:latin typeface="微软雅黑"/>
                <a:ea typeface="微软雅黑"/>
                <a:cs typeface="微软雅黑"/>
              </a:rPr>
              <a:t>第 16 页</a:t>
            </a:r>
          </a:p>
        </p:txBody>
      </p:sp>
      <p:cxnSp>
        <p:nvCxnSpPr>
          <p:cNvPr id="36" name="Connector 35"/>
          <p:cNvCxnSpPr/>
          <p:nvPr/>
        </p:nvCxnSpPr>
        <p:spPr>
          <a:xfrm>
            <a:off x="1905000" y="5130800"/>
            <a:ext cx="9880600" cy="0"/>
          </a:xfrm>
          <a:prstGeom prst="line">
            <a:avLst/>
          </a:prstGeom>
          <a:ln w="6350">
            <a:solidFill>
              <a:srgbClr val="E9E9E9"/>
            </a:solidFill>
            <a:round/>
          </a:ln>
        </p:spPr>
      </p:cxnSp>
      <p:sp>
        <p:nvSpPr>
          <p:cNvPr id="37" name="TextBox 36"/>
          <p:cNvSpPr txBox="1"/>
          <p:nvPr/>
        </p:nvSpPr>
        <p:spPr>
          <a:xfrm>
            <a:off x="584200" y="5130800"/>
            <a:ext cx="698500" cy="609600"/>
          </a:xfrm>
          <a:prstGeom prst="rect">
            <a:avLst/>
          </a:prstGeom>
          <a:noFill/>
        </p:spPr>
        <p:txBody>
          <a:bodyPr wrap="none" anchor="ctr" lIns="0" tIns="0" rIns="0" bIns="0">
            <a:noAutofit/>
          </a:bodyPr>
          <a:lstStyle/>
          <a:p>
            <a:pPr algn="l" marL="0" indent="0">
              <a:lnSpc>
                <a:spcPts val="2800"/>
              </a:lnSpc>
              <a:buNone/>
            </a:pPr>
            <a:r>
              <a:rPr lang="zh-CN" altLang="en-US" sz="2200" b="1">
                <a:solidFill>
                  <a:srgbClr val="DCDCDC"/>
                </a:solidFill>
                <a:latin typeface="Consolas"/>
                <a:ea typeface="微软雅黑"/>
                <a:cs typeface="Consolas"/>
              </a:rPr>
              <a:t>06</a:t>
            </a:r>
          </a:p>
        </p:txBody>
      </p:sp>
      <p:sp>
        <p:nvSpPr>
          <p:cNvPr id="38" name="Oval 37"/>
          <p:cNvSpPr/>
          <p:nvPr/>
        </p:nvSpPr>
        <p:spPr>
          <a:xfrm>
            <a:off x="1320800" y="5245100"/>
            <a:ext cx="381000" cy="381000"/>
          </a:xfrm>
          <a:prstGeom prst="ellipse">
            <a:avLst/>
          </a:prstGeom>
          <a:solidFill>
            <a:srgbClr val="F6F6F6"/>
          </a:solidFill>
          <a:ln>
            <a:noFill/>
          </a:ln>
        </p:spPr>
        <p:txBody>
          <a:bodyPr rtlCol="0" anchor="ctr" lIns="0" rIns="0" tIns="0" bIns="0"/>
          <a:lstStyle/>
          <a:p>
            <a:pPr algn="ctr"/>
          </a:p>
        </p:txBody>
      </p:sp>
      <p:pic>
        <p:nvPicPr>
          <p:cNvPr id="39" name="Picture 38" descr="sitemap-666666-1_6.png"/>
          <p:cNvPicPr>
            <a:picLocks noChangeAspect="1"/>
          </p:cNvPicPr>
          <p:nvPr/>
        </p:nvPicPr>
        <p:blipFill>
          <a:blip r:embed="rId7"/>
          <a:stretch>
            <a:fillRect/>
          </a:stretch>
        </p:blipFill>
        <p:spPr>
          <a:xfrm>
            <a:off x="1409700" y="5334000"/>
            <a:ext cx="203200" cy="203200"/>
          </a:xfrm>
          <a:prstGeom prst="rect">
            <a:avLst/>
          </a:prstGeom>
        </p:spPr>
      </p:pic>
      <p:sp>
        <p:nvSpPr>
          <p:cNvPr id="40" name="TextBox 39"/>
          <p:cNvSpPr txBox="1"/>
          <p:nvPr/>
        </p:nvSpPr>
        <p:spPr>
          <a:xfrm>
            <a:off x="1905000" y="5130800"/>
            <a:ext cx="7620000" cy="609600"/>
          </a:xfrm>
          <a:prstGeom prst="rect">
            <a:avLst/>
          </a:prstGeom>
          <a:noFill/>
        </p:spPr>
        <p:txBody>
          <a:bodyPr wrap="none" anchor="ctr" lIns="0" tIns="0" rIns="0" bIns="0">
            <a:noAutofit/>
          </a:bodyPr>
          <a:lstStyle/>
          <a:p>
            <a:pPr algn="l" marL="0" indent="0">
              <a:lnSpc>
                <a:spcPts val="2000"/>
              </a:lnSpc>
              <a:buNone/>
            </a:pPr>
            <a:r>
              <a:rPr lang="zh-CN" altLang="en-US" sz="1500" b="1">
                <a:solidFill>
                  <a:srgbClr val="1A1A1A"/>
                </a:solidFill>
                <a:latin typeface="微软雅黑"/>
                <a:ea typeface="微软雅黑"/>
                <a:cs typeface="微软雅黑"/>
              </a:rPr>
              <a:t>项目管理计划</a:t>
            </a:r>
          </a:p>
        </p:txBody>
      </p:sp>
      <p:sp>
        <p:nvSpPr>
          <p:cNvPr id="41" name="TextBox 40"/>
          <p:cNvSpPr txBox="1"/>
          <p:nvPr/>
        </p:nvSpPr>
        <p:spPr>
          <a:xfrm>
            <a:off x="10160000" y="5130800"/>
            <a:ext cx="1625600" cy="609600"/>
          </a:xfrm>
          <a:prstGeom prst="rect">
            <a:avLst/>
          </a:prstGeom>
          <a:noFill/>
        </p:spPr>
        <p:txBody>
          <a:bodyPr wrap="none" anchor="ctr" lIns="0" tIns="0" rIns="0" bIns="0">
            <a:noAutofit/>
          </a:bodyPr>
          <a:lstStyle/>
          <a:p>
            <a:pPr algn="r" marL="0" indent="0">
              <a:lnSpc>
                <a:spcPts val="1500"/>
              </a:lnSpc>
              <a:buNone/>
            </a:pPr>
            <a:r>
              <a:rPr lang="zh-CN" altLang="en-US" sz="1050" b="1">
                <a:solidFill>
                  <a:srgbClr val="8C8C8C"/>
                </a:solidFill>
                <a:latin typeface="微软雅黑"/>
                <a:ea typeface="微软雅黑"/>
                <a:cs typeface="微软雅黑"/>
              </a:rPr>
              <a:t>第 17—18 页</a:t>
            </a:r>
          </a:p>
        </p:txBody>
      </p:sp>
      <p:cxnSp>
        <p:nvCxnSpPr>
          <p:cNvPr id="42" name="Connector 41"/>
          <p:cNvCxnSpPr/>
          <p:nvPr/>
        </p:nvCxnSpPr>
        <p:spPr>
          <a:xfrm>
            <a:off x="1905000" y="5740400"/>
            <a:ext cx="9880600" cy="0"/>
          </a:xfrm>
          <a:prstGeom prst="line">
            <a:avLst/>
          </a:prstGeom>
          <a:ln w="6350">
            <a:solidFill>
              <a:srgbClr val="E9E9E9"/>
            </a:solidFill>
            <a:round/>
          </a:ln>
        </p:spPr>
      </p:cxnSp>
      <p:sp>
        <p:nvSpPr>
          <p:cNvPr id="43" name="TextBox 42"/>
          <p:cNvSpPr txBox="1"/>
          <p:nvPr/>
        </p:nvSpPr>
        <p:spPr>
          <a:xfrm>
            <a:off x="584200" y="5740400"/>
            <a:ext cx="698500" cy="609600"/>
          </a:xfrm>
          <a:prstGeom prst="rect">
            <a:avLst/>
          </a:prstGeom>
          <a:noFill/>
        </p:spPr>
        <p:txBody>
          <a:bodyPr wrap="none" anchor="ctr" lIns="0" tIns="0" rIns="0" bIns="0">
            <a:noAutofit/>
          </a:bodyPr>
          <a:lstStyle/>
          <a:p>
            <a:pPr algn="l" marL="0" indent="0">
              <a:lnSpc>
                <a:spcPts val="2800"/>
              </a:lnSpc>
              <a:buNone/>
            </a:pPr>
            <a:r>
              <a:rPr lang="zh-CN" altLang="en-US" sz="2200" b="1">
                <a:solidFill>
                  <a:srgbClr val="DCDCDC"/>
                </a:solidFill>
                <a:latin typeface="Consolas"/>
                <a:ea typeface="微软雅黑"/>
                <a:cs typeface="Consolas"/>
              </a:rPr>
              <a:t>07</a:t>
            </a:r>
          </a:p>
        </p:txBody>
      </p:sp>
      <p:sp>
        <p:nvSpPr>
          <p:cNvPr id="44" name="Oval 43"/>
          <p:cNvSpPr/>
          <p:nvPr/>
        </p:nvSpPr>
        <p:spPr>
          <a:xfrm>
            <a:off x="1320800" y="5854700"/>
            <a:ext cx="381000" cy="381000"/>
          </a:xfrm>
          <a:prstGeom prst="ellipse">
            <a:avLst/>
          </a:prstGeom>
          <a:solidFill>
            <a:srgbClr val="F6F6F6"/>
          </a:solidFill>
          <a:ln>
            <a:noFill/>
          </a:ln>
        </p:spPr>
        <p:txBody>
          <a:bodyPr rtlCol="0" anchor="ctr" lIns="0" rIns="0" tIns="0" bIns="0"/>
          <a:lstStyle/>
          <a:p>
            <a:pPr algn="ctr"/>
          </a:p>
        </p:txBody>
      </p:sp>
      <p:pic>
        <p:nvPicPr>
          <p:cNvPr id="45" name="Picture 44" descr="trophy-666666-1_6.png"/>
          <p:cNvPicPr>
            <a:picLocks noChangeAspect="1"/>
          </p:cNvPicPr>
          <p:nvPr/>
        </p:nvPicPr>
        <p:blipFill>
          <a:blip r:embed="rId8"/>
          <a:stretch>
            <a:fillRect/>
          </a:stretch>
        </p:blipFill>
        <p:spPr>
          <a:xfrm>
            <a:off x="1409700" y="5943600"/>
            <a:ext cx="203200" cy="203200"/>
          </a:xfrm>
          <a:prstGeom prst="rect">
            <a:avLst/>
          </a:prstGeom>
        </p:spPr>
      </p:pic>
      <p:sp>
        <p:nvSpPr>
          <p:cNvPr id="46" name="TextBox 45"/>
          <p:cNvSpPr txBox="1"/>
          <p:nvPr/>
        </p:nvSpPr>
        <p:spPr>
          <a:xfrm>
            <a:off x="1905000" y="5740400"/>
            <a:ext cx="7620000" cy="609600"/>
          </a:xfrm>
          <a:prstGeom prst="rect">
            <a:avLst/>
          </a:prstGeom>
          <a:noFill/>
        </p:spPr>
        <p:txBody>
          <a:bodyPr wrap="none" anchor="ctr" lIns="0" tIns="0" rIns="0" bIns="0">
            <a:noAutofit/>
          </a:bodyPr>
          <a:lstStyle/>
          <a:p>
            <a:pPr algn="l" marL="0" indent="0">
              <a:lnSpc>
                <a:spcPts val="2000"/>
              </a:lnSpc>
              <a:buNone/>
            </a:pPr>
            <a:r>
              <a:rPr lang="zh-CN" altLang="en-US" sz="1500" b="1">
                <a:solidFill>
                  <a:srgbClr val="1A1A1A"/>
                </a:solidFill>
                <a:latin typeface="微软雅黑"/>
                <a:ea typeface="微软雅黑"/>
                <a:cs typeface="微软雅黑"/>
              </a:rPr>
              <a:t>成果介绍</a:t>
            </a:r>
          </a:p>
        </p:txBody>
      </p:sp>
      <p:sp>
        <p:nvSpPr>
          <p:cNvPr id="47" name="TextBox 46"/>
          <p:cNvSpPr txBox="1"/>
          <p:nvPr/>
        </p:nvSpPr>
        <p:spPr>
          <a:xfrm>
            <a:off x="10160000" y="5740400"/>
            <a:ext cx="1625600" cy="609600"/>
          </a:xfrm>
          <a:prstGeom prst="rect">
            <a:avLst/>
          </a:prstGeom>
          <a:noFill/>
        </p:spPr>
        <p:txBody>
          <a:bodyPr wrap="none" anchor="ctr" lIns="0" tIns="0" rIns="0" bIns="0">
            <a:noAutofit/>
          </a:bodyPr>
          <a:lstStyle/>
          <a:p>
            <a:pPr algn="r" marL="0" indent="0">
              <a:lnSpc>
                <a:spcPts val="1500"/>
              </a:lnSpc>
              <a:buNone/>
            </a:pPr>
            <a:r>
              <a:rPr lang="zh-CN" altLang="en-US" sz="1050" b="1">
                <a:solidFill>
                  <a:srgbClr val="8C8C8C"/>
                </a:solidFill>
                <a:latin typeface="微软雅黑"/>
                <a:ea typeface="微软雅黑"/>
                <a:cs typeface="微软雅黑"/>
              </a:rPr>
              <a:t>第 19 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项目简介</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研究重心是引擎，数字样机是引擎的集成产物</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3</a:t>
            </a:r>
          </a:p>
        </p:txBody>
      </p:sp>
      <p:sp>
        <p:nvSpPr>
          <p:cNvPr id="6" name="TextBox 5"/>
          <p:cNvSpPr txBox="1"/>
          <p:nvPr/>
        </p:nvSpPr>
        <p:spPr>
          <a:xfrm>
            <a:off x="406400" y="2082800"/>
            <a:ext cx="5334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项目基本信息</a:t>
            </a:r>
          </a:p>
        </p:txBody>
      </p:sp>
      <p:cxnSp>
        <p:nvCxnSpPr>
          <p:cNvPr id="7" name="Connector 6"/>
          <p:cNvCxnSpPr/>
          <p:nvPr/>
        </p:nvCxnSpPr>
        <p:spPr>
          <a:xfrm>
            <a:off x="406400" y="2362200"/>
            <a:ext cx="5334000" cy="0"/>
          </a:xfrm>
          <a:prstGeom prst="line">
            <a:avLst/>
          </a:prstGeom>
          <a:ln w="6350">
            <a:solidFill>
              <a:srgbClr val="E9E9E9"/>
            </a:solidFill>
            <a:round/>
          </a:ln>
        </p:spPr>
      </p:cxnSp>
      <p:sp>
        <p:nvSpPr>
          <p:cNvPr id="8" name="TextBox 7"/>
          <p:cNvSpPr txBox="1"/>
          <p:nvPr/>
        </p:nvSpPr>
        <p:spPr>
          <a:xfrm>
            <a:off x="469900" y="2362200"/>
            <a:ext cx="558800" cy="304800"/>
          </a:xfrm>
          <a:prstGeom prst="rect">
            <a:avLst/>
          </a:prstGeom>
          <a:noFill/>
        </p:spPr>
        <p:txBody>
          <a:bodyPr wrap="square" anchor="ctr" lIns="0" tIns="0" rIns="0" bIns="0">
            <a:noAutofit/>
          </a:bodyPr>
          <a:lstStyle/>
          <a:p>
            <a:pPr algn="l" marL="0" indent="0">
              <a:lnSpc>
                <a:spcPts val="1400"/>
              </a:lnSpc>
              <a:buNone/>
            </a:pPr>
            <a:r>
              <a:rPr lang="zh-CN" altLang="en-US" sz="900" b="1">
                <a:solidFill>
                  <a:srgbClr val="666666"/>
                </a:solidFill>
                <a:latin typeface="微软雅黑"/>
                <a:ea typeface="微软雅黑"/>
                <a:cs typeface="微软雅黑"/>
              </a:rPr>
              <a:t>牵头单位</a:t>
            </a:r>
          </a:p>
        </p:txBody>
      </p:sp>
      <p:sp>
        <p:nvSpPr>
          <p:cNvPr id="9" name="TextBox 8"/>
          <p:cNvSpPr txBox="1"/>
          <p:nvPr/>
        </p:nvSpPr>
        <p:spPr>
          <a:xfrm>
            <a:off x="1155700" y="2362200"/>
            <a:ext cx="1752600" cy="304800"/>
          </a:xfrm>
          <a:prstGeom prst="rect">
            <a:avLst/>
          </a:prstGeom>
          <a:noFill/>
        </p:spPr>
        <p:txBody>
          <a:bodyPr wrap="squar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a:t>
            </a:r>
          </a:p>
        </p:txBody>
      </p:sp>
      <p:sp>
        <p:nvSpPr>
          <p:cNvPr id="10" name="TextBox 9"/>
          <p:cNvSpPr txBox="1"/>
          <p:nvPr/>
        </p:nvSpPr>
        <p:spPr>
          <a:xfrm>
            <a:off x="3035300" y="2362200"/>
            <a:ext cx="660400" cy="304800"/>
          </a:xfrm>
          <a:prstGeom prst="rect">
            <a:avLst/>
          </a:prstGeom>
          <a:noFill/>
        </p:spPr>
        <p:txBody>
          <a:bodyPr wrap="square" anchor="ctr" lIns="0" tIns="0" rIns="0" bIns="0">
            <a:noAutofit/>
          </a:bodyPr>
          <a:lstStyle/>
          <a:p>
            <a:pPr algn="l" marL="0" indent="0">
              <a:lnSpc>
                <a:spcPts val="1400"/>
              </a:lnSpc>
              <a:buNone/>
            </a:pPr>
            <a:r>
              <a:rPr lang="zh-CN" altLang="en-US" sz="900" b="1">
                <a:solidFill>
                  <a:srgbClr val="666666"/>
                </a:solidFill>
                <a:latin typeface="微软雅黑"/>
                <a:ea typeface="微软雅黑"/>
                <a:cs typeface="微软雅黑"/>
              </a:rPr>
              <a:t>项目负责人</a:t>
            </a:r>
          </a:p>
        </p:txBody>
      </p:sp>
      <p:sp>
        <p:nvSpPr>
          <p:cNvPr id="11" name="TextBox 10"/>
          <p:cNvSpPr txBox="1"/>
          <p:nvPr/>
        </p:nvSpPr>
        <p:spPr>
          <a:xfrm>
            <a:off x="3822700" y="2362200"/>
            <a:ext cx="1854200" cy="304800"/>
          </a:xfrm>
          <a:prstGeom prst="rect">
            <a:avLst/>
          </a:prstGeom>
          <a:noFill/>
        </p:spPr>
        <p:txBody>
          <a:bodyPr wrap="squar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a:t>
            </a:r>
          </a:p>
        </p:txBody>
      </p:sp>
      <p:cxnSp>
        <p:nvCxnSpPr>
          <p:cNvPr id="12" name="Connector 11"/>
          <p:cNvCxnSpPr/>
          <p:nvPr/>
        </p:nvCxnSpPr>
        <p:spPr>
          <a:xfrm>
            <a:off x="406400" y="2667000"/>
            <a:ext cx="5334000" cy="0"/>
          </a:xfrm>
          <a:prstGeom prst="line">
            <a:avLst/>
          </a:prstGeom>
          <a:ln w="6350">
            <a:solidFill>
              <a:srgbClr val="E9E9E9"/>
            </a:solidFill>
            <a:round/>
          </a:ln>
        </p:spPr>
      </p:cxnSp>
      <p:sp>
        <p:nvSpPr>
          <p:cNvPr id="13" name="TextBox 12"/>
          <p:cNvSpPr txBox="1"/>
          <p:nvPr/>
        </p:nvSpPr>
        <p:spPr>
          <a:xfrm>
            <a:off x="469900" y="2667000"/>
            <a:ext cx="558800" cy="304800"/>
          </a:xfrm>
          <a:prstGeom prst="rect">
            <a:avLst/>
          </a:prstGeom>
          <a:noFill/>
        </p:spPr>
        <p:txBody>
          <a:bodyPr wrap="square" anchor="ctr" lIns="0" tIns="0" rIns="0" bIns="0">
            <a:noAutofit/>
          </a:bodyPr>
          <a:lstStyle/>
          <a:p>
            <a:pPr algn="l" marL="0" indent="0">
              <a:lnSpc>
                <a:spcPts val="1400"/>
              </a:lnSpc>
              <a:buNone/>
            </a:pPr>
            <a:r>
              <a:rPr lang="zh-CN" altLang="en-US" sz="900" b="1">
                <a:solidFill>
                  <a:srgbClr val="666666"/>
                </a:solidFill>
                <a:latin typeface="微软雅黑"/>
                <a:ea typeface="微软雅黑"/>
                <a:cs typeface="微软雅黑"/>
              </a:rPr>
              <a:t>主管部门</a:t>
            </a:r>
          </a:p>
        </p:txBody>
      </p:sp>
      <p:sp>
        <p:nvSpPr>
          <p:cNvPr id="14" name="TextBox 13"/>
          <p:cNvSpPr txBox="1"/>
          <p:nvPr/>
        </p:nvSpPr>
        <p:spPr>
          <a:xfrm>
            <a:off x="1155700" y="2667000"/>
            <a:ext cx="1752600" cy="304800"/>
          </a:xfrm>
          <a:prstGeom prst="rect">
            <a:avLst/>
          </a:prstGeom>
          <a:noFill/>
        </p:spPr>
        <p:txBody>
          <a:bodyPr wrap="squar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********部（***）</a:t>
            </a:r>
          </a:p>
        </p:txBody>
      </p:sp>
      <p:sp>
        <p:nvSpPr>
          <p:cNvPr id="15" name="TextBox 14"/>
          <p:cNvSpPr txBox="1"/>
          <p:nvPr/>
        </p:nvSpPr>
        <p:spPr>
          <a:xfrm>
            <a:off x="3035300" y="2667000"/>
            <a:ext cx="660400" cy="304800"/>
          </a:xfrm>
          <a:prstGeom prst="rect">
            <a:avLst/>
          </a:prstGeom>
          <a:noFill/>
        </p:spPr>
        <p:txBody>
          <a:bodyPr wrap="square" anchor="ctr" lIns="0" tIns="0" rIns="0" bIns="0">
            <a:noAutofit/>
          </a:bodyPr>
          <a:lstStyle/>
          <a:p>
            <a:pPr algn="l" marL="0" indent="0">
              <a:lnSpc>
                <a:spcPts val="1400"/>
              </a:lnSpc>
              <a:buNone/>
            </a:pPr>
            <a:r>
              <a:rPr lang="zh-CN" altLang="en-US" sz="900" b="1">
                <a:solidFill>
                  <a:srgbClr val="666666"/>
                </a:solidFill>
                <a:latin typeface="微软雅黑"/>
                <a:ea typeface="微软雅黑"/>
                <a:cs typeface="微软雅黑"/>
              </a:rPr>
              <a:t>产业领域</a:t>
            </a:r>
          </a:p>
        </p:txBody>
      </p:sp>
      <p:sp>
        <p:nvSpPr>
          <p:cNvPr id="16" name="TextBox 15"/>
          <p:cNvSpPr txBox="1"/>
          <p:nvPr/>
        </p:nvSpPr>
        <p:spPr>
          <a:xfrm>
            <a:off x="3822700" y="2667000"/>
            <a:ext cx="1854200" cy="304800"/>
          </a:xfrm>
          <a:prstGeom prst="rect">
            <a:avLst/>
          </a:prstGeom>
          <a:noFill/>
        </p:spPr>
        <p:txBody>
          <a:bodyPr wrap="squar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轨道交通装备</a:t>
            </a:r>
          </a:p>
        </p:txBody>
      </p:sp>
      <p:cxnSp>
        <p:nvCxnSpPr>
          <p:cNvPr id="17" name="Connector 16"/>
          <p:cNvCxnSpPr/>
          <p:nvPr/>
        </p:nvCxnSpPr>
        <p:spPr>
          <a:xfrm>
            <a:off x="406400" y="2971800"/>
            <a:ext cx="5334000" cy="0"/>
          </a:xfrm>
          <a:prstGeom prst="line">
            <a:avLst/>
          </a:prstGeom>
          <a:ln w="6350">
            <a:solidFill>
              <a:srgbClr val="E9E9E9"/>
            </a:solidFill>
            <a:round/>
          </a:ln>
        </p:spPr>
      </p:cxnSp>
      <p:sp>
        <p:nvSpPr>
          <p:cNvPr id="18" name="TextBox 17"/>
          <p:cNvSpPr txBox="1"/>
          <p:nvPr/>
        </p:nvSpPr>
        <p:spPr>
          <a:xfrm>
            <a:off x="469900" y="2971800"/>
            <a:ext cx="558800" cy="304800"/>
          </a:xfrm>
          <a:prstGeom prst="rect">
            <a:avLst/>
          </a:prstGeom>
          <a:noFill/>
        </p:spPr>
        <p:txBody>
          <a:bodyPr wrap="square" anchor="ctr" lIns="0" tIns="0" rIns="0" bIns="0">
            <a:noAutofit/>
          </a:bodyPr>
          <a:lstStyle/>
          <a:p>
            <a:pPr algn="l" marL="0" indent="0">
              <a:lnSpc>
                <a:spcPts val="1400"/>
              </a:lnSpc>
              <a:buNone/>
            </a:pPr>
            <a:r>
              <a:rPr lang="zh-CN" altLang="en-US" sz="900" b="1">
                <a:solidFill>
                  <a:srgbClr val="666666"/>
                </a:solidFill>
                <a:latin typeface="微软雅黑"/>
                <a:ea typeface="微软雅黑"/>
                <a:cs typeface="微软雅黑"/>
              </a:rPr>
              <a:t>项目目的</a:t>
            </a:r>
          </a:p>
        </p:txBody>
      </p:sp>
      <p:sp>
        <p:nvSpPr>
          <p:cNvPr id="19" name="TextBox 18"/>
          <p:cNvSpPr txBox="1"/>
          <p:nvPr/>
        </p:nvSpPr>
        <p:spPr>
          <a:xfrm>
            <a:off x="1155700" y="2971800"/>
            <a:ext cx="1752600" cy="304800"/>
          </a:xfrm>
          <a:prstGeom prst="rect">
            <a:avLst/>
          </a:prstGeom>
          <a:noFill/>
        </p:spPr>
        <p:txBody>
          <a:bodyPr wrap="squar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基础前瞻共性技术研究</a:t>
            </a:r>
          </a:p>
        </p:txBody>
      </p:sp>
      <p:sp>
        <p:nvSpPr>
          <p:cNvPr id="20" name="TextBox 19"/>
          <p:cNvSpPr txBox="1"/>
          <p:nvPr/>
        </p:nvSpPr>
        <p:spPr>
          <a:xfrm>
            <a:off x="3035300" y="2971800"/>
            <a:ext cx="660400" cy="304800"/>
          </a:xfrm>
          <a:prstGeom prst="rect">
            <a:avLst/>
          </a:prstGeom>
          <a:noFill/>
        </p:spPr>
        <p:txBody>
          <a:bodyPr wrap="square" anchor="ctr" lIns="0" tIns="0" rIns="0" bIns="0">
            <a:noAutofit/>
          </a:bodyPr>
          <a:lstStyle/>
          <a:p>
            <a:pPr algn="l" marL="0" indent="0">
              <a:lnSpc>
                <a:spcPts val="1400"/>
              </a:lnSpc>
              <a:buNone/>
            </a:pPr>
            <a:r>
              <a:rPr lang="zh-CN" altLang="en-US" sz="900" b="1">
                <a:solidFill>
                  <a:srgbClr val="666666"/>
                </a:solidFill>
                <a:latin typeface="微软雅黑"/>
                <a:ea typeface="微软雅黑"/>
                <a:cs typeface="微软雅黑"/>
              </a:rPr>
              <a:t>研究周期</a:t>
            </a:r>
          </a:p>
        </p:txBody>
      </p:sp>
      <p:sp>
        <p:nvSpPr>
          <p:cNvPr id="21" name="TextBox 20"/>
          <p:cNvSpPr txBox="1"/>
          <p:nvPr/>
        </p:nvSpPr>
        <p:spPr>
          <a:xfrm>
            <a:off x="3822700" y="2971800"/>
            <a:ext cx="1854200" cy="304800"/>
          </a:xfrm>
          <a:prstGeom prst="rect">
            <a:avLst/>
          </a:prstGeom>
          <a:noFill/>
        </p:spPr>
        <p:txBody>
          <a:bodyPr wrap="squar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2027.01—2028.12</a:t>
            </a:r>
          </a:p>
        </p:txBody>
      </p:sp>
      <p:cxnSp>
        <p:nvCxnSpPr>
          <p:cNvPr id="22" name="Connector 21"/>
          <p:cNvCxnSpPr/>
          <p:nvPr/>
        </p:nvCxnSpPr>
        <p:spPr>
          <a:xfrm>
            <a:off x="406400" y="3276600"/>
            <a:ext cx="5334000" cy="0"/>
          </a:xfrm>
          <a:prstGeom prst="line">
            <a:avLst/>
          </a:prstGeom>
          <a:ln w="6350">
            <a:solidFill>
              <a:srgbClr val="E9E9E9"/>
            </a:solidFill>
            <a:round/>
          </a:ln>
        </p:spPr>
      </p:cxnSp>
      <p:sp>
        <p:nvSpPr>
          <p:cNvPr id="23" name="TextBox 22"/>
          <p:cNvSpPr txBox="1"/>
          <p:nvPr/>
        </p:nvSpPr>
        <p:spPr>
          <a:xfrm>
            <a:off x="406400" y="3429000"/>
            <a:ext cx="5334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预计成果物</a:t>
            </a:r>
          </a:p>
        </p:txBody>
      </p:sp>
      <p:cxnSp>
        <p:nvCxnSpPr>
          <p:cNvPr id="24" name="Connector 23"/>
          <p:cNvCxnSpPr/>
          <p:nvPr/>
        </p:nvCxnSpPr>
        <p:spPr>
          <a:xfrm>
            <a:off x="406400" y="3708400"/>
            <a:ext cx="5334000" cy="0"/>
          </a:xfrm>
          <a:prstGeom prst="line">
            <a:avLst/>
          </a:prstGeom>
          <a:ln w="6350">
            <a:solidFill>
              <a:srgbClr val="E9E9E9"/>
            </a:solidFill>
            <a:round/>
          </a:ln>
        </p:spPr>
      </p:cxnSp>
      <p:sp>
        <p:nvSpPr>
          <p:cNvPr id="25" name="TextBox 24"/>
          <p:cNvSpPr txBox="1"/>
          <p:nvPr/>
        </p:nvSpPr>
        <p:spPr>
          <a:xfrm>
            <a:off x="469900" y="3708400"/>
            <a:ext cx="3746500" cy="279400"/>
          </a:xfrm>
          <a:prstGeom prst="rect">
            <a:avLst/>
          </a:prstGeom>
          <a:noFill/>
        </p:spPr>
        <p:txBody>
          <a:bodyPr wrap="non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多智能体协同运行与调度引擎</a:t>
            </a:r>
          </a:p>
        </p:txBody>
      </p:sp>
      <p:sp>
        <p:nvSpPr>
          <p:cNvPr id="26" name="TextBox 25"/>
          <p:cNvSpPr txBox="1"/>
          <p:nvPr/>
        </p:nvSpPr>
        <p:spPr>
          <a:xfrm>
            <a:off x="4216400" y="3708400"/>
            <a:ext cx="1460500" cy="279400"/>
          </a:xfrm>
          <a:prstGeom prst="rect">
            <a:avLst/>
          </a:prstGeom>
          <a:noFill/>
        </p:spPr>
        <p:txBody>
          <a:bodyPr wrap="none" anchor="ctr" lIns="0" tIns="0" rIns="0" bIns="0">
            <a:noAutofit/>
          </a:bodyPr>
          <a:lstStyle/>
          <a:p>
            <a:pPr algn="r" marL="0" indent="0">
              <a:lnSpc>
                <a:spcPts val="1300"/>
              </a:lnSpc>
              <a:buNone/>
            </a:pPr>
            <a:r>
              <a:rPr lang="zh-CN" altLang="en-US" sz="900" b="0">
                <a:solidFill>
                  <a:srgbClr val="666666"/>
                </a:solidFill>
                <a:latin typeface="微软雅黑"/>
                <a:ea typeface="微软雅黑"/>
                <a:cs typeface="微软雅黑"/>
              </a:rPr>
              <a:t>软件 1 套</a:t>
            </a:r>
          </a:p>
        </p:txBody>
      </p:sp>
      <p:cxnSp>
        <p:nvCxnSpPr>
          <p:cNvPr id="27" name="Connector 26"/>
          <p:cNvCxnSpPr/>
          <p:nvPr/>
        </p:nvCxnSpPr>
        <p:spPr>
          <a:xfrm>
            <a:off x="406400" y="3987800"/>
            <a:ext cx="5334000" cy="0"/>
          </a:xfrm>
          <a:prstGeom prst="line">
            <a:avLst/>
          </a:prstGeom>
          <a:ln w="6350">
            <a:solidFill>
              <a:srgbClr val="E9E9E9"/>
            </a:solidFill>
            <a:round/>
          </a:ln>
        </p:spPr>
      </p:cxnSp>
      <p:sp>
        <p:nvSpPr>
          <p:cNvPr id="28" name="TextBox 27"/>
          <p:cNvSpPr txBox="1"/>
          <p:nvPr/>
        </p:nvSpPr>
        <p:spPr>
          <a:xfrm>
            <a:off x="469900" y="3987800"/>
            <a:ext cx="3746500" cy="279400"/>
          </a:xfrm>
          <a:prstGeom prst="rect">
            <a:avLst/>
          </a:prstGeom>
          <a:noFill/>
        </p:spPr>
        <p:txBody>
          <a:bodyPr wrap="non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关键系统仿真智能体／智能孪生模型</a:t>
            </a:r>
          </a:p>
        </p:txBody>
      </p:sp>
      <p:sp>
        <p:nvSpPr>
          <p:cNvPr id="29" name="TextBox 28"/>
          <p:cNvSpPr txBox="1"/>
          <p:nvPr/>
        </p:nvSpPr>
        <p:spPr>
          <a:xfrm>
            <a:off x="4216400" y="3987800"/>
            <a:ext cx="1460500" cy="279400"/>
          </a:xfrm>
          <a:prstGeom prst="rect">
            <a:avLst/>
          </a:prstGeom>
          <a:noFill/>
        </p:spPr>
        <p:txBody>
          <a:bodyPr wrap="none" anchor="ctr" lIns="0" tIns="0" rIns="0" bIns="0">
            <a:noAutofit/>
          </a:bodyPr>
          <a:lstStyle/>
          <a:p>
            <a:pPr algn="r" marL="0" indent="0">
              <a:lnSpc>
                <a:spcPts val="1300"/>
              </a:lnSpc>
              <a:buNone/>
            </a:pPr>
            <a:r>
              <a:rPr lang="zh-CN" altLang="en-US" sz="900" b="0">
                <a:solidFill>
                  <a:srgbClr val="666666"/>
                </a:solidFill>
                <a:latin typeface="微软雅黑"/>
                <a:ea typeface="微软雅黑"/>
                <a:cs typeface="微软雅黑"/>
              </a:rPr>
              <a:t>模型 1 套</a:t>
            </a:r>
          </a:p>
        </p:txBody>
      </p:sp>
      <p:cxnSp>
        <p:nvCxnSpPr>
          <p:cNvPr id="30" name="Connector 29"/>
          <p:cNvCxnSpPr/>
          <p:nvPr/>
        </p:nvCxnSpPr>
        <p:spPr>
          <a:xfrm>
            <a:off x="406400" y="4267200"/>
            <a:ext cx="5334000" cy="0"/>
          </a:xfrm>
          <a:prstGeom prst="line">
            <a:avLst/>
          </a:prstGeom>
          <a:ln w="6350">
            <a:solidFill>
              <a:srgbClr val="E9E9E9"/>
            </a:solidFill>
            <a:round/>
          </a:ln>
        </p:spPr>
      </p:cxnSp>
      <p:sp>
        <p:nvSpPr>
          <p:cNvPr id="31" name="TextBox 30"/>
          <p:cNvSpPr txBox="1"/>
          <p:nvPr/>
        </p:nvSpPr>
        <p:spPr>
          <a:xfrm>
            <a:off x="469900" y="4267200"/>
            <a:ext cx="3746500" cy="279400"/>
          </a:xfrm>
          <a:prstGeom prst="rect">
            <a:avLst/>
          </a:prstGeom>
          <a:noFill/>
        </p:spPr>
        <p:txBody>
          <a:bodyPr wrap="non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列车级数字样机</a:t>
            </a:r>
          </a:p>
        </p:txBody>
      </p:sp>
      <p:sp>
        <p:nvSpPr>
          <p:cNvPr id="32" name="TextBox 31"/>
          <p:cNvSpPr txBox="1"/>
          <p:nvPr/>
        </p:nvSpPr>
        <p:spPr>
          <a:xfrm>
            <a:off x="4216400" y="4267200"/>
            <a:ext cx="1460500" cy="279400"/>
          </a:xfrm>
          <a:prstGeom prst="rect">
            <a:avLst/>
          </a:prstGeom>
          <a:noFill/>
        </p:spPr>
        <p:txBody>
          <a:bodyPr wrap="none" anchor="ctr" lIns="0" tIns="0" rIns="0" bIns="0">
            <a:noAutofit/>
          </a:bodyPr>
          <a:lstStyle/>
          <a:p>
            <a:pPr algn="r" marL="0" indent="0">
              <a:lnSpc>
                <a:spcPts val="1300"/>
              </a:lnSpc>
              <a:buNone/>
            </a:pPr>
            <a:r>
              <a:rPr lang="zh-CN" altLang="en-US" sz="900" b="0">
                <a:solidFill>
                  <a:srgbClr val="666666"/>
                </a:solidFill>
                <a:latin typeface="微软雅黑"/>
                <a:ea typeface="微软雅黑"/>
                <a:cs typeface="微软雅黑"/>
              </a:rPr>
              <a:t>系统 1 套</a:t>
            </a:r>
          </a:p>
        </p:txBody>
      </p:sp>
      <p:cxnSp>
        <p:nvCxnSpPr>
          <p:cNvPr id="33" name="Connector 32"/>
          <p:cNvCxnSpPr/>
          <p:nvPr/>
        </p:nvCxnSpPr>
        <p:spPr>
          <a:xfrm>
            <a:off x="406400" y="4546600"/>
            <a:ext cx="5334000" cy="0"/>
          </a:xfrm>
          <a:prstGeom prst="line">
            <a:avLst/>
          </a:prstGeom>
          <a:ln w="6350">
            <a:solidFill>
              <a:srgbClr val="E9E9E9"/>
            </a:solidFill>
            <a:round/>
          </a:ln>
        </p:spPr>
      </p:cxnSp>
      <p:sp>
        <p:nvSpPr>
          <p:cNvPr id="34" name="TextBox 33"/>
          <p:cNvSpPr txBox="1"/>
          <p:nvPr/>
        </p:nvSpPr>
        <p:spPr>
          <a:xfrm>
            <a:off x="469900" y="4546600"/>
            <a:ext cx="3746500" cy="279400"/>
          </a:xfrm>
          <a:prstGeom prst="rect">
            <a:avLst/>
          </a:prstGeom>
          <a:noFill/>
        </p:spPr>
        <p:txBody>
          <a:bodyPr wrap="non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列车级数字样机构建方法体系与技术规范</a:t>
            </a:r>
          </a:p>
        </p:txBody>
      </p:sp>
      <p:sp>
        <p:nvSpPr>
          <p:cNvPr id="35" name="TextBox 34"/>
          <p:cNvSpPr txBox="1"/>
          <p:nvPr/>
        </p:nvSpPr>
        <p:spPr>
          <a:xfrm>
            <a:off x="4216400" y="4546600"/>
            <a:ext cx="1460500" cy="279400"/>
          </a:xfrm>
          <a:prstGeom prst="rect">
            <a:avLst/>
          </a:prstGeom>
          <a:noFill/>
        </p:spPr>
        <p:txBody>
          <a:bodyPr wrap="none" anchor="ctr" lIns="0" tIns="0" rIns="0" bIns="0">
            <a:noAutofit/>
          </a:bodyPr>
          <a:lstStyle/>
          <a:p>
            <a:pPr algn="r" marL="0" indent="0">
              <a:lnSpc>
                <a:spcPts val="1300"/>
              </a:lnSpc>
              <a:buNone/>
            </a:pPr>
            <a:r>
              <a:rPr lang="zh-CN" altLang="en-US" sz="900" b="0">
                <a:solidFill>
                  <a:srgbClr val="666666"/>
                </a:solidFill>
                <a:latin typeface="微软雅黑"/>
                <a:ea typeface="微软雅黑"/>
                <a:cs typeface="微软雅黑"/>
              </a:rPr>
              <a:t>规范 1 套</a:t>
            </a:r>
          </a:p>
        </p:txBody>
      </p:sp>
      <p:cxnSp>
        <p:nvCxnSpPr>
          <p:cNvPr id="36" name="Connector 35"/>
          <p:cNvCxnSpPr/>
          <p:nvPr/>
        </p:nvCxnSpPr>
        <p:spPr>
          <a:xfrm>
            <a:off x="406400" y="4826000"/>
            <a:ext cx="5334000" cy="0"/>
          </a:xfrm>
          <a:prstGeom prst="line">
            <a:avLst/>
          </a:prstGeom>
          <a:ln w="6350">
            <a:solidFill>
              <a:srgbClr val="E9E9E9"/>
            </a:solidFill>
            <a:round/>
          </a:ln>
        </p:spPr>
      </p:cxnSp>
      <p:sp>
        <p:nvSpPr>
          <p:cNvPr id="37" name="TextBox 36"/>
          <p:cNvSpPr txBox="1"/>
          <p:nvPr/>
        </p:nvSpPr>
        <p:spPr>
          <a:xfrm>
            <a:off x="469900" y="4826000"/>
            <a:ext cx="3746500" cy="279400"/>
          </a:xfrm>
          <a:prstGeom prst="rect">
            <a:avLst/>
          </a:prstGeom>
          <a:noFill/>
        </p:spPr>
        <p:txBody>
          <a:bodyPr wrap="non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示范应用与验证报告</a:t>
            </a:r>
          </a:p>
        </p:txBody>
      </p:sp>
      <p:sp>
        <p:nvSpPr>
          <p:cNvPr id="38" name="TextBox 37"/>
          <p:cNvSpPr txBox="1"/>
          <p:nvPr/>
        </p:nvSpPr>
        <p:spPr>
          <a:xfrm>
            <a:off x="4216400" y="4826000"/>
            <a:ext cx="1460500" cy="279400"/>
          </a:xfrm>
          <a:prstGeom prst="rect">
            <a:avLst/>
          </a:prstGeom>
          <a:noFill/>
        </p:spPr>
        <p:txBody>
          <a:bodyPr wrap="none" anchor="ctr" lIns="0" tIns="0" rIns="0" bIns="0">
            <a:noAutofit/>
          </a:bodyPr>
          <a:lstStyle/>
          <a:p>
            <a:pPr algn="r" marL="0" indent="0">
              <a:lnSpc>
                <a:spcPts val="1300"/>
              </a:lnSpc>
              <a:buNone/>
            </a:pPr>
            <a:r>
              <a:rPr lang="zh-CN" altLang="en-US" sz="900" b="0">
                <a:solidFill>
                  <a:srgbClr val="666666"/>
                </a:solidFill>
                <a:latin typeface="微软雅黑"/>
                <a:ea typeface="微软雅黑"/>
                <a:cs typeface="微软雅黑"/>
              </a:rPr>
              <a:t>报告 1 份</a:t>
            </a:r>
          </a:p>
        </p:txBody>
      </p:sp>
      <p:cxnSp>
        <p:nvCxnSpPr>
          <p:cNvPr id="39" name="Connector 38"/>
          <p:cNvCxnSpPr/>
          <p:nvPr/>
        </p:nvCxnSpPr>
        <p:spPr>
          <a:xfrm>
            <a:off x="406400" y="5105400"/>
            <a:ext cx="5334000" cy="0"/>
          </a:xfrm>
          <a:prstGeom prst="line">
            <a:avLst/>
          </a:prstGeom>
          <a:ln w="6350">
            <a:solidFill>
              <a:srgbClr val="E9E9E9"/>
            </a:solidFill>
            <a:round/>
          </a:ln>
        </p:spPr>
      </p:cxnSp>
      <p:sp>
        <p:nvSpPr>
          <p:cNvPr id="40" name="TextBox 39"/>
          <p:cNvSpPr txBox="1"/>
          <p:nvPr/>
        </p:nvSpPr>
        <p:spPr>
          <a:xfrm>
            <a:off x="469900" y="5105400"/>
            <a:ext cx="3746500" cy="279400"/>
          </a:xfrm>
          <a:prstGeom prst="rect">
            <a:avLst/>
          </a:prstGeom>
          <a:noFill/>
        </p:spPr>
        <p:txBody>
          <a:bodyPr wrap="non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知识产权与标准</a:t>
            </a:r>
          </a:p>
        </p:txBody>
      </p:sp>
      <p:sp>
        <p:nvSpPr>
          <p:cNvPr id="41" name="TextBox 40"/>
          <p:cNvSpPr txBox="1"/>
          <p:nvPr/>
        </p:nvSpPr>
        <p:spPr>
          <a:xfrm>
            <a:off x="4216400" y="5105400"/>
            <a:ext cx="1460500" cy="279400"/>
          </a:xfrm>
          <a:prstGeom prst="rect">
            <a:avLst/>
          </a:prstGeom>
          <a:noFill/>
        </p:spPr>
        <p:txBody>
          <a:bodyPr wrap="none" anchor="ctr" lIns="0" tIns="0" rIns="0" bIns="0">
            <a:noAutofit/>
          </a:bodyPr>
          <a:lstStyle/>
          <a:p>
            <a:pPr algn="r" marL="0" indent="0">
              <a:lnSpc>
                <a:spcPts val="1300"/>
              </a:lnSpc>
              <a:buNone/>
            </a:pPr>
            <a:r>
              <a:rPr lang="zh-CN" altLang="en-US" sz="900" b="0">
                <a:solidFill>
                  <a:srgbClr val="666666"/>
                </a:solidFill>
                <a:latin typeface="微软雅黑"/>
                <a:ea typeface="微软雅黑"/>
                <a:cs typeface="微软雅黑"/>
              </a:rPr>
              <a:t>专利 4 · 论文 2 · 标准 2</a:t>
            </a:r>
          </a:p>
        </p:txBody>
      </p:sp>
      <p:cxnSp>
        <p:nvCxnSpPr>
          <p:cNvPr id="42" name="Connector 41"/>
          <p:cNvCxnSpPr/>
          <p:nvPr/>
        </p:nvCxnSpPr>
        <p:spPr>
          <a:xfrm>
            <a:off x="406400" y="5384800"/>
            <a:ext cx="5334000" cy="0"/>
          </a:xfrm>
          <a:prstGeom prst="line">
            <a:avLst/>
          </a:prstGeom>
          <a:ln w="6350">
            <a:solidFill>
              <a:srgbClr val="E9E9E9"/>
            </a:solidFill>
            <a:round/>
          </a:ln>
        </p:spPr>
      </p:cxnSp>
      <p:sp>
        <p:nvSpPr>
          <p:cNvPr id="43" name="TextBox 42"/>
          <p:cNvSpPr txBox="1"/>
          <p:nvPr/>
        </p:nvSpPr>
        <p:spPr>
          <a:xfrm>
            <a:off x="406400" y="5537200"/>
            <a:ext cx="5334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预计经费</a:t>
            </a:r>
          </a:p>
        </p:txBody>
      </p:sp>
      <p:sp>
        <p:nvSpPr>
          <p:cNvPr id="44" name="TextBox 43"/>
          <p:cNvSpPr txBox="1"/>
          <p:nvPr/>
        </p:nvSpPr>
        <p:spPr>
          <a:xfrm>
            <a:off x="1143000" y="5537200"/>
            <a:ext cx="4597400" cy="228600"/>
          </a:xfrm>
          <a:prstGeom prst="rect">
            <a:avLst/>
          </a:prstGeom>
          <a:noFill/>
        </p:spPr>
        <p:txBody>
          <a:bodyPr wrap="none" anchor="ctr" lIns="0" tIns="0" rIns="0" bIns="0">
            <a:noAutofit/>
          </a:bodyPr>
          <a:lstStyle/>
          <a:p>
            <a:pPr algn="l" marL="0" indent="0">
              <a:lnSpc>
                <a:spcPts val="1300"/>
              </a:lnSpc>
              <a:buNone/>
            </a:pPr>
            <a:r>
              <a:rPr lang="zh-CN" altLang="en-US" sz="950" b="1">
                <a:solidFill>
                  <a:srgbClr val="8C8C8C"/>
                </a:solidFill>
                <a:latin typeface="微软雅黑"/>
                <a:ea typeface="微软雅黑"/>
                <a:cs typeface="微软雅黑"/>
              </a:rPr>
              <a:t>总预算 100 万元</a:t>
            </a:r>
          </a:p>
        </p:txBody>
      </p:sp>
      <p:sp>
        <p:nvSpPr>
          <p:cNvPr id="45" name="Rectangle 44"/>
          <p:cNvSpPr/>
          <p:nvPr/>
        </p:nvSpPr>
        <p:spPr>
          <a:xfrm>
            <a:off x="406400" y="5829300"/>
            <a:ext cx="2635250" cy="127000"/>
          </a:xfrm>
          <a:prstGeom prst="rect">
            <a:avLst/>
          </a:prstGeom>
          <a:solidFill>
            <a:srgbClr val="C00000"/>
          </a:solidFill>
          <a:ln>
            <a:noFill/>
          </a:ln>
        </p:spPr>
        <p:txBody>
          <a:bodyPr rtlCol="0" anchor="ctr" lIns="0" rIns="0" tIns="0" bIns="0"/>
          <a:lstStyle/>
          <a:p>
            <a:pPr algn="ctr"/>
          </a:p>
        </p:txBody>
      </p:sp>
      <p:sp>
        <p:nvSpPr>
          <p:cNvPr id="46" name="Rectangle 45"/>
          <p:cNvSpPr/>
          <p:nvPr/>
        </p:nvSpPr>
        <p:spPr>
          <a:xfrm>
            <a:off x="3054350" y="5829300"/>
            <a:ext cx="1581150" cy="127000"/>
          </a:xfrm>
          <a:prstGeom prst="rect">
            <a:avLst/>
          </a:prstGeom>
          <a:solidFill>
            <a:srgbClr val="D86060"/>
          </a:solidFill>
          <a:ln>
            <a:noFill/>
          </a:ln>
        </p:spPr>
        <p:txBody>
          <a:bodyPr rtlCol="0" anchor="ctr" lIns="0" rIns="0" tIns="0" bIns="0"/>
          <a:lstStyle/>
          <a:p>
            <a:pPr algn="ctr"/>
          </a:p>
        </p:txBody>
      </p:sp>
      <p:sp>
        <p:nvSpPr>
          <p:cNvPr id="47" name="Rectangle 46"/>
          <p:cNvSpPr/>
          <p:nvPr/>
        </p:nvSpPr>
        <p:spPr>
          <a:xfrm>
            <a:off x="4648200" y="5829300"/>
            <a:ext cx="263525" cy="127000"/>
          </a:xfrm>
          <a:prstGeom prst="rect">
            <a:avLst/>
          </a:prstGeom>
          <a:solidFill>
            <a:srgbClr val="B8B8B8"/>
          </a:solidFill>
          <a:ln>
            <a:noFill/>
          </a:ln>
        </p:spPr>
        <p:txBody>
          <a:bodyPr rtlCol="0" anchor="ctr" lIns="0" rIns="0" tIns="0" bIns="0"/>
          <a:lstStyle/>
          <a:p>
            <a:pPr algn="ctr"/>
          </a:p>
        </p:txBody>
      </p:sp>
      <p:sp>
        <p:nvSpPr>
          <p:cNvPr id="48" name="Rectangle 47"/>
          <p:cNvSpPr/>
          <p:nvPr/>
        </p:nvSpPr>
        <p:spPr>
          <a:xfrm>
            <a:off x="4924425" y="5829300"/>
            <a:ext cx="263525" cy="127000"/>
          </a:xfrm>
          <a:prstGeom prst="rect">
            <a:avLst/>
          </a:prstGeom>
          <a:solidFill>
            <a:srgbClr val="C8C8C8"/>
          </a:solidFill>
          <a:ln>
            <a:noFill/>
          </a:ln>
        </p:spPr>
        <p:txBody>
          <a:bodyPr rtlCol="0" anchor="ctr" lIns="0" rIns="0" tIns="0" bIns="0"/>
          <a:lstStyle/>
          <a:p>
            <a:pPr algn="ctr"/>
          </a:p>
        </p:txBody>
      </p:sp>
      <p:sp>
        <p:nvSpPr>
          <p:cNvPr id="49" name="Rectangle 48"/>
          <p:cNvSpPr/>
          <p:nvPr/>
        </p:nvSpPr>
        <p:spPr>
          <a:xfrm>
            <a:off x="5200650" y="5829300"/>
            <a:ext cx="263525" cy="127000"/>
          </a:xfrm>
          <a:prstGeom prst="rect">
            <a:avLst/>
          </a:prstGeom>
          <a:solidFill>
            <a:srgbClr val="D8D8D8"/>
          </a:solidFill>
          <a:ln>
            <a:noFill/>
          </a:ln>
        </p:spPr>
        <p:txBody>
          <a:bodyPr rtlCol="0" anchor="ctr" lIns="0" rIns="0" tIns="0" bIns="0"/>
          <a:lstStyle/>
          <a:p>
            <a:pPr algn="ctr"/>
          </a:p>
        </p:txBody>
      </p:sp>
      <p:sp>
        <p:nvSpPr>
          <p:cNvPr id="50" name="Rectangle 49"/>
          <p:cNvSpPr/>
          <p:nvPr/>
        </p:nvSpPr>
        <p:spPr>
          <a:xfrm>
            <a:off x="5476875" y="5829300"/>
            <a:ext cx="263525" cy="127000"/>
          </a:xfrm>
          <a:prstGeom prst="rect">
            <a:avLst/>
          </a:prstGeom>
          <a:solidFill>
            <a:srgbClr val="E6E6E6"/>
          </a:solidFill>
          <a:ln>
            <a:noFill/>
          </a:ln>
        </p:spPr>
        <p:txBody>
          <a:bodyPr rtlCol="0" anchor="ctr" lIns="0" rIns="0" tIns="0" bIns="0"/>
          <a:lstStyle/>
          <a:p>
            <a:pPr algn="ctr"/>
          </a:p>
        </p:txBody>
      </p:sp>
      <p:sp>
        <p:nvSpPr>
          <p:cNvPr id="51" name="TextBox 50"/>
          <p:cNvSpPr txBox="1"/>
          <p:nvPr/>
        </p:nvSpPr>
        <p:spPr>
          <a:xfrm>
            <a:off x="406400" y="5994400"/>
            <a:ext cx="5334000" cy="177800"/>
          </a:xfrm>
          <a:prstGeom prst="rect">
            <a:avLst/>
          </a:prstGeom>
          <a:noFill/>
        </p:spPr>
        <p:txBody>
          <a:bodyPr wrap="none" anchor="t" lIns="0" tIns="0" rIns="0" bIns="0">
            <a:noAutofit/>
          </a:bodyPr>
          <a:lstStyle/>
          <a:p>
            <a:pPr algn="l" marL="0" indent="0">
              <a:lnSpc>
                <a:spcPts val="1300"/>
              </a:lnSpc>
              <a:buNone/>
            </a:pPr>
            <a:r>
              <a:rPr lang="zh-CN" altLang="en-US" sz="850" b="1">
                <a:solidFill>
                  <a:srgbClr val="1A1A1A"/>
                </a:solidFill>
                <a:latin typeface="微软雅黑"/>
                <a:ea typeface="微软雅黑"/>
                <a:cs typeface="微软雅黑"/>
              </a:rPr>
              <a:t>直接投入 50</a:t>
            </a:r>
            <a:r>
              <a:rPr lang="zh-CN" altLang="en-US" sz="850" b="0">
                <a:solidFill>
                  <a:srgbClr val="666666"/>
                </a:solidFill>
                <a:latin typeface="微软雅黑"/>
                <a:ea typeface="微软雅黑"/>
                <a:cs typeface="微软雅黑"/>
              </a:rPr>
              <a:t>　算力服务器 40 · 工作站 10　　</a:t>
            </a:r>
            <a:r>
              <a:rPr lang="zh-CN" altLang="en-US" sz="850" b="1">
                <a:solidFill>
                  <a:srgbClr val="1A1A1A"/>
                </a:solidFill>
                <a:latin typeface="微软雅黑"/>
                <a:ea typeface="微软雅黑"/>
                <a:cs typeface="微软雅黑"/>
              </a:rPr>
              <a:t>人员 30</a:t>
            </a:r>
            <a:r>
              <a:rPr lang="zh-CN" altLang="en-US" sz="850" b="0">
                <a:solidFill>
                  <a:srgbClr val="666666"/>
                </a:solidFill>
                <a:latin typeface="微软雅黑"/>
                <a:ea typeface="微软雅黑"/>
                <a:cs typeface="微软雅黑"/>
              </a:rPr>
              <a:t>　　折旧／外协／成果／其他 各 5</a:t>
            </a:r>
          </a:p>
        </p:txBody>
      </p:sp>
      <p:sp>
        <p:nvSpPr>
          <p:cNvPr id="52" name="TextBox 51"/>
          <p:cNvSpPr txBox="1"/>
          <p:nvPr/>
        </p:nvSpPr>
        <p:spPr>
          <a:xfrm>
            <a:off x="5994400" y="2082800"/>
            <a:ext cx="5791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项目子课题与本课题边界</a:t>
            </a:r>
          </a:p>
        </p:txBody>
      </p:sp>
      <p:cxnSp>
        <p:nvCxnSpPr>
          <p:cNvPr id="53" name="Connector 52"/>
          <p:cNvCxnSpPr/>
          <p:nvPr/>
        </p:nvCxnSpPr>
        <p:spPr>
          <a:xfrm>
            <a:off x="5994400" y="2362200"/>
            <a:ext cx="5791200" cy="0"/>
          </a:xfrm>
          <a:prstGeom prst="line">
            <a:avLst/>
          </a:prstGeom>
          <a:ln w="6350">
            <a:solidFill>
              <a:srgbClr val="E9E9E9"/>
            </a:solidFill>
            <a:round/>
          </a:ln>
        </p:spPr>
      </p:cxnSp>
      <p:sp>
        <p:nvSpPr>
          <p:cNvPr id="54" name="TextBox 53"/>
          <p:cNvSpPr txBox="1"/>
          <p:nvPr/>
        </p:nvSpPr>
        <p:spPr>
          <a:xfrm>
            <a:off x="5994400" y="2362200"/>
            <a:ext cx="533400" cy="584200"/>
          </a:xfrm>
          <a:prstGeom prst="rect">
            <a:avLst/>
          </a:prstGeom>
          <a:noFill/>
        </p:spPr>
        <p:txBody>
          <a:bodyPr wrap="none" anchor="ctr" lIns="0" tIns="0" rIns="0" bIns="0">
            <a:noAutofit/>
          </a:bodyPr>
          <a:lstStyle/>
          <a:p>
            <a:pPr algn="ctr" marL="0" indent="0">
              <a:lnSpc>
                <a:spcPts val="1700"/>
              </a:lnSpc>
              <a:buNone/>
            </a:pPr>
            <a:r>
              <a:rPr lang="zh-CN" altLang="en-US" sz="1300" b="1">
                <a:solidFill>
                  <a:srgbClr val="1A1A1A"/>
                </a:solidFill>
                <a:latin typeface="Consolas"/>
                <a:ea typeface="微软雅黑"/>
                <a:cs typeface="Consolas"/>
              </a:rPr>
              <a:t>7.1</a:t>
            </a:r>
          </a:p>
        </p:txBody>
      </p:sp>
      <p:sp>
        <p:nvSpPr>
          <p:cNvPr id="55" name="TextBox 54"/>
          <p:cNvSpPr txBox="1"/>
          <p:nvPr/>
        </p:nvSpPr>
        <p:spPr>
          <a:xfrm>
            <a:off x="6654800" y="2444750"/>
            <a:ext cx="4064000" cy="203200"/>
          </a:xfrm>
          <a:prstGeom prst="rect">
            <a:avLst/>
          </a:prstGeom>
          <a:noFill/>
        </p:spPr>
        <p:txBody>
          <a:bodyPr wrap="none" anchor="t" lIns="0" tIns="0" rIns="0" bIns="0">
            <a:noAutofit/>
          </a:bodyPr>
          <a:lstStyle/>
          <a:p>
            <a:pPr algn="l" marL="0" indent="0">
              <a:lnSpc>
                <a:spcPts val="1600"/>
              </a:lnSpc>
              <a:buNone/>
            </a:pPr>
            <a:r>
              <a:rPr lang="zh-CN" altLang="en-US" sz="1050" b="1">
                <a:solidFill>
                  <a:srgbClr val="1A1A1A"/>
                </a:solidFill>
                <a:latin typeface="微软雅黑"/>
                <a:ea typeface="微软雅黑"/>
                <a:cs typeface="微软雅黑"/>
              </a:rPr>
              <a:t>高质量数据集</a:t>
            </a:r>
          </a:p>
        </p:txBody>
      </p:sp>
      <p:sp>
        <p:nvSpPr>
          <p:cNvPr id="56" name="TextBox 55"/>
          <p:cNvSpPr txBox="1"/>
          <p:nvPr/>
        </p:nvSpPr>
        <p:spPr>
          <a:xfrm>
            <a:off x="6654800" y="2686050"/>
            <a:ext cx="4978400" cy="190500"/>
          </a:xfrm>
          <a:prstGeom prst="rect">
            <a:avLst/>
          </a:prstGeom>
          <a:noFill/>
        </p:spPr>
        <p:txBody>
          <a:bodyPr wrap="square" anchor="t" lIns="0" tIns="0" rIns="0" bIns="0">
            <a:noAutofit/>
          </a:bodyPr>
          <a:lstStyle/>
          <a:p>
            <a:pPr algn="l" marL="0" indent="0">
              <a:lnSpc>
                <a:spcPts val="1400"/>
              </a:lnSpc>
              <a:buNone/>
            </a:pPr>
            <a:r>
              <a:rPr lang="zh-CN" altLang="en-US" sz="950" b="0">
                <a:solidFill>
                  <a:srgbClr val="666666"/>
                </a:solidFill>
                <a:latin typeface="微软雅黑"/>
                <a:ea typeface="微软雅黑"/>
                <a:cs typeface="微软雅黑"/>
              </a:rPr>
              <a:t>用其数据规范与接口，不重复建库</a:t>
            </a:r>
          </a:p>
        </p:txBody>
      </p:sp>
      <p:cxnSp>
        <p:nvCxnSpPr>
          <p:cNvPr id="57" name="Connector 56"/>
          <p:cNvCxnSpPr/>
          <p:nvPr/>
        </p:nvCxnSpPr>
        <p:spPr>
          <a:xfrm>
            <a:off x="5994400" y="2946400"/>
            <a:ext cx="5791200" cy="0"/>
          </a:xfrm>
          <a:prstGeom prst="line">
            <a:avLst/>
          </a:prstGeom>
          <a:ln w="6350">
            <a:solidFill>
              <a:srgbClr val="E9E9E9"/>
            </a:solidFill>
            <a:round/>
          </a:ln>
        </p:spPr>
      </p:cxnSp>
      <p:sp>
        <p:nvSpPr>
          <p:cNvPr id="58" name="TextBox 57"/>
          <p:cNvSpPr txBox="1"/>
          <p:nvPr/>
        </p:nvSpPr>
        <p:spPr>
          <a:xfrm>
            <a:off x="5994400" y="2946400"/>
            <a:ext cx="533400" cy="584200"/>
          </a:xfrm>
          <a:prstGeom prst="rect">
            <a:avLst/>
          </a:prstGeom>
          <a:noFill/>
        </p:spPr>
        <p:txBody>
          <a:bodyPr wrap="none" anchor="ctr" lIns="0" tIns="0" rIns="0" bIns="0">
            <a:noAutofit/>
          </a:bodyPr>
          <a:lstStyle/>
          <a:p>
            <a:pPr algn="ctr" marL="0" indent="0">
              <a:lnSpc>
                <a:spcPts val="1700"/>
              </a:lnSpc>
              <a:buNone/>
            </a:pPr>
            <a:r>
              <a:rPr lang="zh-CN" altLang="en-US" sz="1300" b="1">
                <a:solidFill>
                  <a:srgbClr val="1A1A1A"/>
                </a:solidFill>
                <a:latin typeface="Consolas"/>
                <a:ea typeface="微软雅黑"/>
                <a:cs typeface="Consolas"/>
              </a:rPr>
              <a:t>7.2</a:t>
            </a:r>
          </a:p>
        </p:txBody>
      </p:sp>
      <p:sp>
        <p:nvSpPr>
          <p:cNvPr id="59" name="TextBox 58"/>
          <p:cNvSpPr txBox="1"/>
          <p:nvPr/>
        </p:nvSpPr>
        <p:spPr>
          <a:xfrm>
            <a:off x="6654800" y="3028950"/>
            <a:ext cx="4064000" cy="203200"/>
          </a:xfrm>
          <a:prstGeom prst="rect">
            <a:avLst/>
          </a:prstGeom>
          <a:noFill/>
        </p:spPr>
        <p:txBody>
          <a:bodyPr wrap="none" anchor="t" lIns="0" tIns="0" rIns="0" bIns="0">
            <a:noAutofit/>
          </a:bodyPr>
          <a:lstStyle/>
          <a:p>
            <a:pPr algn="l" marL="0" indent="0">
              <a:lnSpc>
                <a:spcPts val="1600"/>
              </a:lnSpc>
              <a:buNone/>
            </a:pPr>
            <a:r>
              <a:rPr lang="zh-CN" altLang="en-US" sz="1050" b="1">
                <a:solidFill>
                  <a:srgbClr val="1A1A1A"/>
                </a:solidFill>
                <a:latin typeface="微软雅黑"/>
                <a:ea typeface="微软雅黑"/>
                <a:cs typeface="微软雅黑"/>
              </a:rPr>
              <a:t>多物理域建模与仿真智能体</a:t>
            </a:r>
          </a:p>
        </p:txBody>
      </p:sp>
      <p:sp>
        <p:nvSpPr>
          <p:cNvPr id="60" name="TextBox 59"/>
          <p:cNvSpPr txBox="1"/>
          <p:nvPr/>
        </p:nvSpPr>
        <p:spPr>
          <a:xfrm>
            <a:off x="6654800" y="3270250"/>
            <a:ext cx="4978400" cy="190500"/>
          </a:xfrm>
          <a:prstGeom prst="rect">
            <a:avLst/>
          </a:prstGeom>
          <a:noFill/>
        </p:spPr>
        <p:txBody>
          <a:bodyPr wrap="square" anchor="t" lIns="0" tIns="0" rIns="0" bIns="0">
            <a:noAutofit/>
          </a:bodyPr>
          <a:lstStyle/>
          <a:p>
            <a:pPr algn="l" marL="0" indent="0">
              <a:lnSpc>
                <a:spcPts val="1400"/>
              </a:lnSpc>
              <a:buNone/>
            </a:pPr>
            <a:r>
              <a:rPr lang="zh-CN" altLang="en-US" sz="950" b="0">
                <a:solidFill>
                  <a:srgbClr val="666666"/>
                </a:solidFill>
                <a:latin typeface="微软雅黑"/>
                <a:ea typeface="微软雅黑"/>
                <a:cs typeface="微软雅黑"/>
              </a:rPr>
              <a:t>只建验证必需的智能体</a:t>
            </a:r>
          </a:p>
        </p:txBody>
      </p:sp>
      <p:cxnSp>
        <p:nvCxnSpPr>
          <p:cNvPr id="61" name="Connector 60"/>
          <p:cNvCxnSpPr/>
          <p:nvPr/>
        </p:nvCxnSpPr>
        <p:spPr>
          <a:xfrm>
            <a:off x="5994400" y="3530600"/>
            <a:ext cx="5791200" cy="0"/>
          </a:xfrm>
          <a:prstGeom prst="line">
            <a:avLst/>
          </a:prstGeom>
          <a:ln w="6350">
            <a:solidFill>
              <a:srgbClr val="E9E9E9"/>
            </a:solidFill>
            <a:round/>
          </a:ln>
        </p:spPr>
      </p:cxnSp>
      <p:sp>
        <p:nvSpPr>
          <p:cNvPr id="62" name="Rectangle 61"/>
          <p:cNvSpPr/>
          <p:nvPr/>
        </p:nvSpPr>
        <p:spPr>
          <a:xfrm>
            <a:off x="5994400" y="3530600"/>
            <a:ext cx="5791200" cy="762000"/>
          </a:xfrm>
          <a:prstGeom prst="rect">
            <a:avLst/>
          </a:prstGeom>
          <a:solidFill>
            <a:srgbClr val="FCF2F2"/>
          </a:solidFill>
          <a:ln>
            <a:noFill/>
          </a:ln>
        </p:spPr>
        <p:txBody>
          <a:bodyPr rtlCol="0" anchor="ctr" lIns="0" rIns="0" tIns="0" bIns="0"/>
          <a:lstStyle/>
          <a:p>
            <a:pPr algn="ctr"/>
          </a:p>
        </p:txBody>
      </p:sp>
      <p:sp>
        <p:nvSpPr>
          <p:cNvPr id="63" name="Rectangle 62"/>
          <p:cNvSpPr/>
          <p:nvPr/>
        </p:nvSpPr>
        <p:spPr>
          <a:xfrm>
            <a:off x="5994400" y="3530600"/>
            <a:ext cx="533400" cy="762000"/>
          </a:xfrm>
          <a:prstGeom prst="rect">
            <a:avLst/>
          </a:prstGeom>
          <a:solidFill>
            <a:srgbClr val="C00000"/>
          </a:solidFill>
          <a:ln>
            <a:noFill/>
          </a:ln>
        </p:spPr>
        <p:txBody>
          <a:bodyPr rtlCol="0" anchor="ctr" lIns="0" rIns="0" tIns="0" bIns="0" wrap="none">
            <a:noAutofit/>
          </a:bodyPr>
          <a:lstStyle/>
          <a:p>
            <a:pPr algn="ctr" marL="0" indent="0">
              <a:lnSpc>
                <a:spcPts val="1700"/>
              </a:lnSpc>
              <a:buNone/>
            </a:pPr>
            <a:r>
              <a:rPr lang="zh-CN" altLang="en-US" sz="1300" b="1">
                <a:solidFill>
                  <a:srgbClr val="FFFFFF"/>
                </a:solidFill>
                <a:latin typeface="Consolas"/>
                <a:ea typeface="微软雅黑"/>
                <a:cs typeface="Consolas"/>
              </a:rPr>
              <a:t>7.3</a:t>
            </a:r>
          </a:p>
        </p:txBody>
      </p:sp>
      <p:sp>
        <p:nvSpPr>
          <p:cNvPr id="64" name="TextBox 63"/>
          <p:cNvSpPr txBox="1"/>
          <p:nvPr/>
        </p:nvSpPr>
        <p:spPr>
          <a:xfrm>
            <a:off x="6654800" y="3613150"/>
            <a:ext cx="4064000" cy="203200"/>
          </a:xfrm>
          <a:prstGeom prst="rect">
            <a:avLst/>
          </a:prstGeom>
          <a:noFill/>
        </p:spPr>
        <p:txBody>
          <a:bodyPr wrap="none" anchor="t" lIns="0" tIns="0" rIns="0" bIns="0">
            <a:noAutofit/>
          </a:bodyPr>
          <a:lstStyle/>
          <a:p>
            <a:pPr algn="l" marL="0" indent="0">
              <a:lnSpc>
                <a:spcPts val="1600"/>
              </a:lnSpc>
              <a:buNone/>
            </a:pPr>
            <a:r>
              <a:rPr lang="zh-CN" altLang="en-US" sz="1050" b="1">
                <a:solidFill>
                  <a:srgbClr val="C00000"/>
                </a:solidFill>
                <a:latin typeface="微软雅黑"/>
                <a:ea typeface="微软雅黑"/>
                <a:cs typeface="微软雅黑"/>
              </a:rPr>
              <a:t>协同运行与调度引擎</a:t>
            </a:r>
          </a:p>
        </p:txBody>
      </p:sp>
      <p:sp>
        <p:nvSpPr>
          <p:cNvPr id="65" name="Rectangle 64"/>
          <p:cNvSpPr/>
          <p:nvPr/>
        </p:nvSpPr>
        <p:spPr>
          <a:xfrm>
            <a:off x="7943850" y="3625850"/>
            <a:ext cx="431800" cy="177800"/>
          </a:xfrm>
          <a:prstGeom prst="rect">
            <a:avLst/>
          </a:prstGeom>
          <a:solidFill>
            <a:srgbClr val="FFFFFF"/>
          </a:solidFill>
          <a:ln w="6350">
            <a:solidFill>
              <a:srgbClr val="C00000"/>
            </a:solidFill>
            <a:round/>
          </a:ln>
        </p:spPr>
        <p:txBody>
          <a:bodyPr rtlCol="0" anchor="ctr" lIns="0" rIns="0" tIns="0" bIns="0" wrap="none">
            <a:noAutofit/>
          </a:bodyPr>
          <a:lstStyle/>
          <a:p>
            <a:pPr algn="ctr" marL="0" indent="0">
              <a:lnSpc>
                <a:spcPts val="1050"/>
              </a:lnSpc>
              <a:buNone/>
            </a:pPr>
            <a:r>
              <a:rPr lang="zh-CN" altLang="en-US" sz="800" b="1">
                <a:solidFill>
                  <a:srgbClr val="C00000"/>
                </a:solidFill>
                <a:latin typeface="微软雅黑"/>
                <a:ea typeface="微软雅黑"/>
                <a:cs typeface="微软雅黑"/>
              </a:rPr>
              <a:t>本课题</a:t>
            </a:r>
          </a:p>
        </p:txBody>
      </p:sp>
      <p:sp>
        <p:nvSpPr>
          <p:cNvPr id="66" name="TextBox 65"/>
          <p:cNvSpPr txBox="1"/>
          <p:nvPr/>
        </p:nvSpPr>
        <p:spPr>
          <a:xfrm>
            <a:off x="6654800" y="3854450"/>
            <a:ext cx="4978400" cy="368300"/>
          </a:xfrm>
          <a:prstGeom prst="rect">
            <a:avLst/>
          </a:prstGeom>
          <a:noFill/>
        </p:spPr>
        <p:txBody>
          <a:bodyPr wrap="square" anchor="t" lIns="0" tIns="0" rIns="0" bIns="0">
            <a:noAutofit/>
          </a:bodyPr>
          <a:lstStyle/>
          <a:p>
            <a:pPr algn="l" marL="0" indent="0">
              <a:lnSpc>
                <a:spcPts val="1400"/>
              </a:lnSpc>
              <a:buNone/>
            </a:pPr>
            <a:r>
              <a:rPr lang="zh-CN" altLang="en-US" sz="950" b="0">
                <a:solidFill>
                  <a:srgbClr val="3D3D3D"/>
                </a:solidFill>
                <a:latin typeface="微软雅黑"/>
                <a:ea typeface="微软雅黑"/>
                <a:cs typeface="微软雅黑"/>
              </a:rPr>
              <a:t>核心攻关：多专业智能体“接得上、跑得动、调得灵”</a:t>
            </a:r>
            <a:br>
              <a:rPr lang="zh-CN" altLang="en-US" sz="950"/>
            </a:br>
            <a:r>
              <a:rPr lang="zh-CN" altLang="en-US" sz="950" b="0">
                <a:solidFill>
                  <a:srgbClr val="3D3D3D"/>
                </a:solidFill>
                <a:latin typeface="微软雅黑"/>
                <a:ea typeface="微软雅黑"/>
                <a:cs typeface="微软雅黑"/>
              </a:rPr>
              <a:t>4 个子任务：知识 → 调度 → 执行 → 集成</a:t>
            </a:r>
          </a:p>
        </p:txBody>
      </p:sp>
      <p:cxnSp>
        <p:nvCxnSpPr>
          <p:cNvPr id="67" name="Connector 66"/>
          <p:cNvCxnSpPr/>
          <p:nvPr/>
        </p:nvCxnSpPr>
        <p:spPr>
          <a:xfrm>
            <a:off x="5994400" y="4292600"/>
            <a:ext cx="5791200" cy="0"/>
          </a:xfrm>
          <a:prstGeom prst="line">
            <a:avLst/>
          </a:prstGeom>
          <a:ln w="6350">
            <a:solidFill>
              <a:srgbClr val="E9E9E9"/>
            </a:solidFill>
            <a:round/>
          </a:ln>
        </p:spPr>
      </p:cxnSp>
      <p:sp>
        <p:nvSpPr>
          <p:cNvPr id="68" name="TextBox 67"/>
          <p:cNvSpPr txBox="1"/>
          <p:nvPr/>
        </p:nvSpPr>
        <p:spPr>
          <a:xfrm>
            <a:off x="5994400" y="4292600"/>
            <a:ext cx="533400" cy="584200"/>
          </a:xfrm>
          <a:prstGeom prst="rect">
            <a:avLst/>
          </a:prstGeom>
          <a:noFill/>
        </p:spPr>
        <p:txBody>
          <a:bodyPr wrap="none" anchor="ctr" lIns="0" tIns="0" rIns="0" bIns="0">
            <a:noAutofit/>
          </a:bodyPr>
          <a:lstStyle/>
          <a:p>
            <a:pPr algn="ctr" marL="0" indent="0">
              <a:lnSpc>
                <a:spcPts val="1700"/>
              </a:lnSpc>
              <a:buNone/>
            </a:pPr>
            <a:r>
              <a:rPr lang="zh-CN" altLang="en-US" sz="1300" b="1">
                <a:solidFill>
                  <a:srgbClr val="1A1A1A"/>
                </a:solidFill>
                <a:latin typeface="Consolas"/>
                <a:ea typeface="微软雅黑"/>
                <a:cs typeface="Consolas"/>
              </a:rPr>
              <a:t>7.4</a:t>
            </a:r>
          </a:p>
        </p:txBody>
      </p:sp>
      <p:sp>
        <p:nvSpPr>
          <p:cNvPr id="69" name="TextBox 68"/>
          <p:cNvSpPr txBox="1"/>
          <p:nvPr/>
        </p:nvSpPr>
        <p:spPr>
          <a:xfrm>
            <a:off x="6654800" y="4375150"/>
            <a:ext cx="4064000" cy="203200"/>
          </a:xfrm>
          <a:prstGeom prst="rect">
            <a:avLst/>
          </a:prstGeom>
          <a:noFill/>
        </p:spPr>
        <p:txBody>
          <a:bodyPr wrap="none" anchor="t" lIns="0" tIns="0" rIns="0" bIns="0">
            <a:noAutofit/>
          </a:bodyPr>
          <a:lstStyle/>
          <a:p>
            <a:pPr algn="l" marL="0" indent="0">
              <a:lnSpc>
                <a:spcPts val="1600"/>
              </a:lnSpc>
              <a:buNone/>
            </a:pPr>
            <a:r>
              <a:rPr lang="zh-CN" altLang="en-US" sz="1050" b="1">
                <a:solidFill>
                  <a:srgbClr val="1A1A1A"/>
                </a:solidFill>
                <a:latin typeface="微软雅黑"/>
                <a:ea typeface="微软雅黑"/>
                <a:cs typeface="微软雅黑"/>
              </a:rPr>
              <a:t>数字样机构建</a:t>
            </a:r>
          </a:p>
        </p:txBody>
      </p:sp>
      <p:sp>
        <p:nvSpPr>
          <p:cNvPr id="70" name="TextBox 69"/>
          <p:cNvSpPr txBox="1"/>
          <p:nvPr/>
        </p:nvSpPr>
        <p:spPr>
          <a:xfrm>
            <a:off x="6654800" y="4616450"/>
            <a:ext cx="4978400" cy="190500"/>
          </a:xfrm>
          <a:prstGeom prst="rect">
            <a:avLst/>
          </a:prstGeom>
          <a:noFill/>
        </p:spPr>
        <p:txBody>
          <a:bodyPr wrap="square" anchor="t" lIns="0" tIns="0" rIns="0" bIns="0">
            <a:noAutofit/>
          </a:bodyPr>
          <a:lstStyle/>
          <a:p>
            <a:pPr algn="l" marL="0" indent="0">
              <a:lnSpc>
                <a:spcPts val="1400"/>
              </a:lnSpc>
              <a:buNone/>
            </a:pPr>
            <a:r>
              <a:rPr lang="zh-CN" altLang="en-US" sz="950" b="0">
                <a:solidFill>
                  <a:srgbClr val="666666"/>
                </a:solidFill>
                <a:latin typeface="微软雅黑"/>
                <a:ea typeface="微软雅黑"/>
                <a:cs typeface="微软雅黑"/>
              </a:rPr>
              <a:t>承接智能体集成与协同运行</a:t>
            </a:r>
          </a:p>
        </p:txBody>
      </p:sp>
      <p:cxnSp>
        <p:nvCxnSpPr>
          <p:cNvPr id="71" name="Connector 70"/>
          <p:cNvCxnSpPr/>
          <p:nvPr/>
        </p:nvCxnSpPr>
        <p:spPr>
          <a:xfrm>
            <a:off x="5994400" y="4876800"/>
            <a:ext cx="5791200" cy="0"/>
          </a:xfrm>
          <a:prstGeom prst="line">
            <a:avLst/>
          </a:prstGeom>
          <a:ln w="6350">
            <a:solidFill>
              <a:srgbClr val="E9E9E9"/>
            </a:solidFill>
            <a:round/>
          </a:ln>
        </p:spPr>
      </p:cxnSp>
      <p:sp>
        <p:nvSpPr>
          <p:cNvPr id="72" name="TextBox 71"/>
          <p:cNvSpPr txBox="1"/>
          <p:nvPr/>
        </p:nvSpPr>
        <p:spPr>
          <a:xfrm>
            <a:off x="5994400" y="4876800"/>
            <a:ext cx="533400" cy="584200"/>
          </a:xfrm>
          <a:prstGeom prst="rect">
            <a:avLst/>
          </a:prstGeom>
          <a:noFill/>
        </p:spPr>
        <p:txBody>
          <a:bodyPr wrap="none" anchor="ctr" lIns="0" tIns="0" rIns="0" bIns="0">
            <a:noAutofit/>
          </a:bodyPr>
          <a:lstStyle/>
          <a:p>
            <a:pPr algn="ctr" marL="0" indent="0">
              <a:lnSpc>
                <a:spcPts val="1700"/>
              </a:lnSpc>
              <a:buNone/>
            </a:pPr>
            <a:r>
              <a:rPr lang="zh-CN" altLang="en-US" sz="1300" b="1">
                <a:solidFill>
                  <a:srgbClr val="1A1A1A"/>
                </a:solidFill>
                <a:latin typeface="Consolas"/>
                <a:ea typeface="微软雅黑"/>
                <a:cs typeface="Consolas"/>
              </a:rPr>
              <a:t>7.5</a:t>
            </a:r>
          </a:p>
        </p:txBody>
      </p:sp>
      <p:sp>
        <p:nvSpPr>
          <p:cNvPr id="73" name="TextBox 72"/>
          <p:cNvSpPr txBox="1"/>
          <p:nvPr/>
        </p:nvSpPr>
        <p:spPr>
          <a:xfrm>
            <a:off x="6654800" y="4959350"/>
            <a:ext cx="4064000" cy="203200"/>
          </a:xfrm>
          <a:prstGeom prst="rect">
            <a:avLst/>
          </a:prstGeom>
          <a:noFill/>
        </p:spPr>
        <p:txBody>
          <a:bodyPr wrap="none" anchor="t" lIns="0" tIns="0" rIns="0" bIns="0">
            <a:noAutofit/>
          </a:bodyPr>
          <a:lstStyle/>
          <a:p>
            <a:pPr algn="l" marL="0" indent="0">
              <a:lnSpc>
                <a:spcPts val="1600"/>
              </a:lnSpc>
              <a:buNone/>
            </a:pPr>
            <a:r>
              <a:rPr lang="zh-CN" altLang="en-US" sz="1050" b="1">
                <a:solidFill>
                  <a:srgbClr val="1A1A1A"/>
                </a:solidFill>
                <a:latin typeface="微软雅黑"/>
                <a:ea typeface="微软雅黑"/>
                <a:cs typeface="微软雅黑"/>
              </a:rPr>
              <a:t>方案优化与智能生成</a:t>
            </a:r>
          </a:p>
        </p:txBody>
      </p:sp>
      <p:sp>
        <p:nvSpPr>
          <p:cNvPr id="74" name="TextBox 73"/>
          <p:cNvSpPr txBox="1"/>
          <p:nvPr/>
        </p:nvSpPr>
        <p:spPr>
          <a:xfrm>
            <a:off x="6654800" y="5200650"/>
            <a:ext cx="4978400" cy="190500"/>
          </a:xfrm>
          <a:prstGeom prst="rect">
            <a:avLst/>
          </a:prstGeom>
          <a:noFill/>
        </p:spPr>
        <p:txBody>
          <a:bodyPr wrap="square" anchor="t" lIns="0" tIns="0" rIns="0" bIns="0">
            <a:noAutofit/>
          </a:bodyPr>
          <a:lstStyle/>
          <a:p>
            <a:pPr algn="l" marL="0" indent="0">
              <a:lnSpc>
                <a:spcPts val="1400"/>
              </a:lnSpc>
              <a:buNone/>
            </a:pPr>
            <a:r>
              <a:rPr lang="zh-CN" altLang="en-US" sz="950" b="0">
                <a:solidFill>
                  <a:srgbClr val="666666"/>
                </a:solidFill>
                <a:latin typeface="微软雅黑"/>
                <a:ea typeface="微软雅黑"/>
                <a:cs typeface="微软雅黑"/>
              </a:rPr>
              <a:t>为优化提供验证支撑</a:t>
            </a:r>
          </a:p>
        </p:txBody>
      </p:sp>
      <p:cxnSp>
        <p:nvCxnSpPr>
          <p:cNvPr id="75" name="Connector 74"/>
          <p:cNvCxnSpPr/>
          <p:nvPr/>
        </p:nvCxnSpPr>
        <p:spPr>
          <a:xfrm>
            <a:off x="5994400" y="5461000"/>
            <a:ext cx="5791200" cy="0"/>
          </a:xfrm>
          <a:prstGeom prst="line">
            <a:avLst/>
          </a:prstGeom>
          <a:ln w="6350">
            <a:solidFill>
              <a:srgbClr val="E9E9E9"/>
            </a:solidFill>
            <a:round/>
          </a:ln>
        </p:spPr>
      </p:cxnSp>
      <p:cxnSp>
        <p:nvCxnSpPr>
          <p:cNvPr id="76" name="Connector 75"/>
          <p:cNvCxnSpPr/>
          <p:nvPr/>
        </p:nvCxnSpPr>
        <p:spPr>
          <a:xfrm>
            <a:off x="5994400" y="5588000"/>
            <a:ext cx="5791200" cy="0"/>
          </a:xfrm>
          <a:prstGeom prst="line">
            <a:avLst/>
          </a:prstGeom>
          <a:ln w="9525">
            <a:solidFill>
              <a:srgbClr val="DEDEDE"/>
            </a:solidFill>
            <a:prstDash val="dash"/>
            <a:round/>
          </a:ln>
        </p:spPr>
      </p:cxnSp>
      <p:sp>
        <p:nvSpPr>
          <p:cNvPr id="77" name="TextBox 76"/>
          <p:cNvSpPr txBox="1"/>
          <p:nvPr/>
        </p:nvSpPr>
        <p:spPr>
          <a:xfrm>
            <a:off x="5994400" y="5588000"/>
            <a:ext cx="533400" cy="584200"/>
          </a:xfrm>
          <a:prstGeom prst="rect">
            <a:avLst/>
          </a:prstGeom>
          <a:noFill/>
        </p:spPr>
        <p:txBody>
          <a:bodyPr wrap="none" anchor="ctr" lIns="0" tIns="0" rIns="0" bIns="0">
            <a:noAutofit/>
          </a:bodyPr>
          <a:lstStyle/>
          <a:p>
            <a:pPr algn="ctr" marL="0" indent="0">
              <a:lnSpc>
                <a:spcPts val="1700"/>
              </a:lnSpc>
              <a:buNone/>
            </a:pPr>
            <a:r>
              <a:rPr lang="zh-CN" altLang="en-US" sz="1300" b="1">
                <a:solidFill>
                  <a:srgbClr val="1A1A1A"/>
                </a:solidFill>
                <a:latin typeface="Consolas"/>
                <a:ea typeface="微软雅黑"/>
                <a:cs typeface="Consolas"/>
              </a:rPr>
              <a:t>6.2</a:t>
            </a:r>
          </a:p>
        </p:txBody>
      </p:sp>
      <p:sp>
        <p:nvSpPr>
          <p:cNvPr id="78" name="TextBox 77"/>
          <p:cNvSpPr txBox="1"/>
          <p:nvPr/>
        </p:nvSpPr>
        <p:spPr>
          <a:xfrm>
            <a:off x="6654800" y="5670550"/>
            <a:ext cx="4064000" cy="203200"/>
          </a:xfrm>
          <a:prstGeom prst="rect">
            <a:avLst/>
          </a:prstGeom>
          <a:noFill/>
        </p:spPr>
        <p:txBody>
          <a:bodyPr wrap="none" anchor="t" lIns="0" tIns="0" rIns="0" bIns="0">
            <a:noAutofit/>
          </a:bodyPr>
          <a:lstStyle/>
          <a:p>
            <a:pPr algn="l" marL="0" indent="0">
              <a:lnSpc>
                <a:spcPts val="1600"/>
              </a:lnSpc>
              <a:buNone/>
            </a:pPr>
            <a:r>
              <a:rPr lang="zh-CN" altLang="en-US" sz="1050" b="1">
                <a:solidFill>
                  <a:srgbClr val="1A1A1A"/>
                </a:solidFill>
                <a:latin typeface="微软雅黑"/>
                <a:ea typeface="微软雅黑"/>
                <a:cs typeface="微软雅黑"/>
              </a:rPr>
              <a:t>通用智能体调度平台</a:t>
            </a:r>
          </a:p>
        </p:txBody>
      </p:sp>
      <p:sp>
        <p:nvSpPr>
          <p:cNvPr id="79" name="Rectangle 78"/>
          <p:cNvSpPr/>
          <p:nvPr/>
        </p:nvSpPr>
        <p:spPr>
          <a:xfrm>
            <a:off x="7943850" y="5683250"/>
            <a:ext cx="533400" cy="177800"/>
          </a:xfrm>
          <a:prstGeom prst="rect">
            <a:avLst/>
          </a:prstGeom>
          <a:solidFill>
            <a:srgbClr val="F6F6F6"/>
          </a:solidFill>
          <a:ln>
            <a:noFill/>
          </a:ln>
        </p:spPr>
        <p:txBody>
          <a:bodyPr rtlCol="0" anchor="ctr" lIns="0" rIns="0" tIns="0" bIns="0" wrap="none">
            <a:noAutofit/>
          </a:bodyPr>
          <a:lstStyle/>
          <a:p>
            <a:pPr algn="ctr" marL="0" indent="0">
              <a:lnSpc>
                <a:spcPts val="1050"/>
              </a:lnSpc>
              <a:buNone/>
            </a:pPr>
            <a:r>
              <a:rPr lang="zh-CN" altLang="en-US" sz="800" b="1">
                <a:solidFill>
                  <a:srgbClr val="666666"/>
                </a:solidFill>
                <a:latin typeface="微软雅黑"/>
                <a:ea typeface="微软雅黑"/>
                <a:cs typeface="微软雅黑"/>
              </a:rPr>
              <a:t>相邻项目</a:t>
            </a:r>
          </a:p>
        </p:txBody>
      </p:sp>
      <p:sp>
        <p:nvSpPr>
          <p:cNvPr id="80" name="TextBox 79"/>
          <p:cNvSpPr txBox="1"/>
          <p:nvPr/>
        </p:nvSpPr>
        <p:spPr>
          <a:xfrm>
            <a:off x="6654800" y="5911850"/>
            <a:ext cx="4978400" cy="190500"/>
          </a:xfrm>
          <a:prstGeom prst="rect">
            <a:avLst/>
          </a:prstGeom>
          <a:noFill/>
        </p:spPr>
        <p:txBody>
          <a:bodyPr wrap="square" anchor="t" lIns="0" tIns="0" rIns="0" bIns="0">
            <a:noAutofit/>
          </a:bodyPr>
          <a:lstStyle/>
          <a:p>
            <a:pPr algn="l" marL="0" indent="0">
              <a:lnSpc>
                <a:spcPts val="1400"/>
              </a:lnSpc>
              <a:buNone/>
            </a:pPr>
            <a:r>
              <a:rPr lang="zh-CN" altLang="en-US" sz="950" b="0">
                <a:solidFill>
                  <a:srgbClr val="666666"/>
                </a:solidFill>
                <a:latin typeface="微软雅黑"/>
                <a:ea typeface="微软雅黑"/>
                <a:cs typeface="微软雅黑"/>
              </a:rPr>
              <a:t>本课题专注面向性能验证的领域化编排</a:t>
            </a:r>
          </a:p>
        </p:txBody>
      </p:sp>
      <p:cxnSp>
        <p:nvCxnSpPr>
          <p:cNvPr id="81" name="Connector 80"/>
          <p:cNvCxnSpPr/>
          <p:nvPr/>
        </p:nvCxnSpPr>
        <p:spPr>
          <a:xfrm>
            <a:off x="5994400" y="6172200"/>
            <a:ext cx="5791200" cy="0"/>
          </a:xfrm>
          <a:prstGeom prst="line">
            <a:avLst/>
          </a:prstGeom>
          <a:ln w="9525">
            <a:solidFill>
              <a:srgbClr val="DEDEDE"/>
            </a:solidFill>
            <a:prstDash val="dash"/>
            <a:round/>
          </a:ln>
        </p:spPr>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研究背景与重要性</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一次验证 40 人、2 个月，问题仍到现场才暴露</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4</a:t>
            </a:r>
          </a:p>
        </p:txBody>
      </p:sp>
      <p:sp>
        <p:nvSpPr>
          <p:cNvPr id="6" name="Rectangle 5"/>
          <p:cNvSpPr/>
          <p:nvPr/>
        </p:nvSpPr>
        <p:spPr>
          <a:xfrm>
            <a:off x="406400" y="2082800"/>
            <a:ext cx="1794933" cy="558800"/>
          </a:xfrm>
          <a:prstGeom prst="rect">
            <a:avLst/>
          </a:prstGeom>
          <a:solidFill>
            <a:srgbClr val="FFFFFF"/>
          </a:solidFill>
          <a:ln w="6350">
            <a:solidFill>
              <a:srgbClr val="E9E9E9"/>
            </a:solidFill>
            <a:round/>
          </a:ln>
        </p:spPr>
        <p:txBody>
          <a:bodyPr rtlCol="0" anchor="ctr" lIns="0" rIns="0" tIns="0" bIns="0"/>
          <a:lstStyle/>
          <a:p>
            <a:pPr algn="ctr"/>
          </a:p>
        </p:txBody>
      </p:sp>
      <p:sp>
        <p:nvSpPr>
          <p:cNvPr id="7" name="TextBox 6"/>
          <p:cNvSpPr txBox="1"/>
          <p:nvPr/>
        </p:nvSpPr>
        <p:spPr>
          <a:xfrm>
            <a:off x="508000" y="2082800"/>
            <a:ext cx="1591733" cy="558800"/>
          </a:xfrm>
          <a:prstGeom prst="rect">
            <a:avLst/>
          </a:prstGeom>
          <a:noFill/>
        </p:spPr>
        <p:txBody>
          <a:bodyPr wrap="none" anchor="ctr" lIns="0" tIns="0" rIns="0" bIns="0">
            <a:noAutofit/>
          </a:bodyPr>
          <a:lstStyle/>
          <a:p>
            <a:pPr algn="l" marL="0" indent="0">
              <a:lnSpc>
                <a:spcPts val="2000"/>
              </a:lnSpc>
              <a:buNone/>
            </a:pPr>
            <a:r>
              <a:rPr lang="zh-CN" altLang="en-US" sz="1600" b="1">
                <a:solidFill>
                  <a:srgbClr val="1A1A1A"/>
                </a:solidFill>
                <a:latin typeface="Consolas"/>
                <a:ea typeface="微软雅黑"/>
                <a:cs typeface="Consolas"/>
              </a:rPr>
              <a:t>40</a:t>
            </a:r>
            <a:r>
              <a:rPr lang="zh-CN" altLang="en-US" sz="800" b="0">
                <a:solidFill>
                  <a:srgbClr val="666666"/>
                </a:solidFill>
                <a:latin typeface="Consolas"/>
                <a:ea typeface="微软雅黑"/>
                <a:cs typeface="Consolas"/>
              </a:rPr>
              <a:t> 人</a:t>
            </a:r>
          </a:p>
        </p:txBody>
      </p:sp>
      <p:sp>
        <p:nvSpPr>
          <p:cNvPr id="8" name="TextBox 7"/>
          <p:cNvSpPr txBox="1"/>
          <p:nvPr/>
        </p:nvSpPr>
        <p:spPr>
          <a:xfrm>
            <a:off x="1210733" y="2082800"/>
            <a:ext cx="889000" cy="558800"/>
          </a:xfrm>
          <a:prstGeom prst="rect">
            <a:avLst/>
          </a:prstGeom>
          <a:noFill/>
        </p:spPr>
        <p:txBody>
          <a:bodyPr wrap="none" anchor="ctr" lIns="0" tIns="0" rIns="0" bIns="0">
            <a:noAutofit/>
          </a:bodyPr>
          <a:lstStyle/>
          <a:p>
            <a:pPr algn="r" marL="0" indent="0">
              <a:lnSpc>
                <a:spcPts val="1100"/>
              </a:lnSpc>
              <a:buNone/>
            </a:pPr>
            <a:r>
              <a:rPr lang="zh-CN" altLang="en-US" sz="800" b="1">
                <a:solidFill>
                  <a:srgbClr val="8C8C8C"/>
                </a:solidFill>
                <a:latin typeface="微软雅黑"/>
                <a:ea typeface="微软雅黑"/>
                <a:cs typeface="微软雅黑"/>
              </a:rPr>
              <a:t>研发＋测试＋现场</a:t>
            </a:r>
          </a:p>
        </p:txBody>
      </p:sp>
      <p:sp>
        <p:nvSpPr>
          <p:cNvPr id="9" name="Rectangle 8"/>
          <p:cNvSpPr/>
          <p:nvPr/>
        </p:nvSpPr>
        <p:spPr>
          <a:xfrm>
            <a:off x="2277533" y="2082800"/>
            <a:ext cx="1794933" cy="558800"/>
          </a:xfrm>
          <a:prstGeom prst="rect">
            <a:avLst/>
          </a:prstGeom>
          <a:solidFill>
            <a:srgbClr val="FFFFFF"/>
          </a:solidFill>
          <a:ln w="6350">
            <a:solidFill>
              <a:srgbClr val="E9E9E9"/>
            </a:solidFill>
            <a:round/>
          </a:ln>
        </p:spPr>
        <p:txBody>
          <a:bodyPr rtlCol="0" anchor="ctr" lIns="0" rIns="0" tIns="0" bIns="0"/>
          <a:lstStyle/>
          <a:p>
            <a:pPr algn="ctr"/>
          </a:p>
        </p:txBody>
      </p:sp>
      <p:sp>
        <p:nvSpPr>
          <p:cNvPr id="10" name="TextBox 9"/>
          <p:cNvSpPr txBox="1"/>
          <p:nvPr/>
        </p:nvSpPr>
        <p:spPr>
          <a:xfrm>
            <a:off x="2379133" y="2082800"/>
            <a:ext cx="1591733" cy="558800"/>
          </a:xfrm>
          <a:prstGeom prst="rect">
            <a:avLst/>
          </a:prstGeom>
          <a:noFill/>
        </p:spPr>
        <p:txBody>
          <a:bodyPr wrap="none" anchor="ctr" lIns="0" tIns="0" rIns="0" bIns="0">
            <a:noAutofit/>
          </a:bodyPr>
          <a:lstStyle/>
          <a:p>
            <a:pPr algn="l" marL="0" indent="0">
              <a:lnSpc>
                <a:spcPts val="2000"/>
              </a:lnSpc>
              <a:buNone/>
            </a:pPr>
            <a:r>
              <a:rPr lang="zh-CN" altLang="en-US" sz="900" b="0">
                <a:solidFill>
                  <a:srgbClr val="1A1A1A"/>
                </a:solidFill>
                <a:latin typeface="Consolas"/>
                <a:ea typeface="微软雅黑"/>
                <a:cs typeface="Consolas"/>
              </a:rPr>
              <a:t>约</a:t>
            </a:r>
            <a:r>
              <a:rPr lang="zh-CN" altLang="en-US" sz="1600" b="1">
                <a:solidFill>
                  <a:srgbClr val="1A1A1A"/>
                </a:solidFill>
                <a:latin typeface="Consolas"/>
                <a:ea typeface="微软雅黑"/>
                <a:cs typeface="Consolas"/>
              </a:rPr>
              <a:t>2</a:t>
            </a:r>
            <a:r>
              <a:rPr lang="zh-CN" altLang="en-US" sz="800" b="0">
                <a:solidFill>
                  <a:srgbClr val="666666"/>
                </a:solidFill>
                <a:latin typeface="Consolas"/>
                <a:ea typeface="微软雅黑"/>
                <a:cs typeface="Consolas"/>
              </a:rPr>
              <a:t> 个月</a:t>
            </a:r>
          </a:p>
        </p:txBody>
      </p:sp>
      <p:sp>
        <p:nvSpPr>
          <p:cNvPr id="11" name="TextBox 10"/>
          <p:cNvSpPr txBox="1"/>
          <p:nvPr/>
        </p:nvSpPr>
        <p:spPr>
          <a:xfrm>
            <a:off x="3081867" y="2082800"/>
            <a:ext cx="889000" cy="558800"/>
          </a:xfrm>
          <a:prstGeom prst="rect">
            <a:avLst/>
          </a:prstGeom>
          <a:noFill/>
        </p:spPr>
        <p:txBody>
          <a:bodyPr wrap="none" anchor="ctr" lIns="0" tIns="0" rIns="0" bIns="0">
            <a:noAutofit/>
          </a:bodyPr>
          <a:lstStyle/>
          <a:p>
            <a:pPr algn="r" marL="0" indent="0">
              <a:lnSpc>
                <a:spcPts val="1100"/>
              </a:lnSpc>
              <a:buNone/>
            </a:pPr>
            <a:r>
              <a:rPr lang="zh-CN" altLang="en-US" sz="800" b="1">
                <a:solidFill>
                  <a:srgbClr val="8C8C8C"/>
                </a:solidFill>
                <a:latin typeface="微软雅黑"/>
                <a:ea typeface="微软雅黑"/>
                <a:cs typeface="微软雅黑"/>
              </a:rPr>
              <a:t>一次迭代</a:t>
            </a:r>
          </a:p>
        </p:txBody>
      </p:sp>
      <p:sp>
        <p:nvSpPr>
          <p:cNvPr id="12" name="Rectangle 11"/>
          <p:cNvSpPr/>
          <p:nvPr/>
        </p:nvSpPr>
        <p:spPr>
          <a:xfrm>
            <a:off x="4148667" y="2082800"/>
            <a:ext cx="1794933" cy="558800"/>
          </a:xfrm>
          <a:prstGeom prst="rect">
            <a:avLst/>
          </a:prstGeom>
          <a:solidFill>
            <a:srgbClr val="FFFFFF"/>
          </a:solidFill>
          <a:ln w="6350">
            <a:solidFill>
              <a:srgbClr val="E9E9E9"/>
            </a:solidFill>
            <a:round/>
          </a:ln>
        </p:spPr>
        <p:txBody>
          <a:bodyPr rtlCol="0" anchor="ctr" lIns="0" rIns="0" tIns="0" bIns="0"/>
          <a:lstStyle/>
          <a:p>
            <a:pPr algn="ctr"/>
          </a:p>
        </p:txBody>
      </p:sp>
      <p:sp>
        <p:nvSpPr>
          <p:cNvPr id="13" name="TextBox 12"/>
          <p:cNvSpPr txBox="1"/>
          <p:nvPr/>
        </p:nvSpPr>
        <p:spPr>
          <a:xfrm>
            <a:off x="4250267" y="2082800"/>
            <a:ext cx="1591733" cy="558800"/>
          </a:xfrm>
          <a:prstGeom prst="rect">
            <a:avLst/>
          </a:prstGeom>
          <a:noFill/>
        </p:spPr>
        <p:txBody>
          <a:bodyPr wrap="none" anchor="ctr" lIns="0" tIns="0" rIns="0" bIns="0">
            <a:noAutofit/>
          </a:bodyPr>
          <a:lstStyle/>
          <a:p>
            <a:pPr algn="l" marL="0" indent="0">
              <a:lnSpc>
                <a:spcPts val="2000"/>
              </a:lnSpc>
              <a:buNone/>
            </a:pPr>
            <a:r>
              <a:rPr lang="zh-CN" altLang="en-US" sz="1600" b="1">
                <a:solidFill>
                  <a:srgbClr val="1A1A1A"/>
                </a:solidFill>
                <a:latin typeface="Consolas"/>
                <a:ea typeface="微软雅黑"/>
                <a:cs typeface="Consolas"/>
              </a:rPr>
              <a:t>−10</a:t>
            </a:r>
            <a:r>
              <a:rPr lang="zh-CN" altLang="en-US" sz="800" b="0">
                <a:solidFill>
                  <a:srgbClr val="666666"/>
                </a:solidFill>
                <a:latin typeface="Consolas"/>
                <a:ea typeface="微软雅黑"/>
                <a:cs typeface="Consolas"/>
              </a:rPr>
              <a:t> ℃</a:t>
            </a:r>
          </a:p>
        </p:txBody>
      </p:sp>
      <p:sp>
        <p:nvSpPr>
          <p:cNvPr id="14" name="TextBox 13"/>
          <p:cNvSpPr txBox="1"/>
          <p:nvPr/>
        </p:nvSpPr>
        <p:spPr>
          <a:xfrm>
            <a:off x="4953000" y="2082800"/>
            <a:ext cx="889000" cy="558800"/>
          </a:xfrm>
          <a:prstGeom prst="rect">
            <a:avLst/>
          </a:prstGeom>
          <a:noFill/>
        </p:spPr>
        <p:txBody>
          <a:bodyPr wrap="none" anchor="ctr" lIns="0" tIns="0" rIns="0" bIns="0">
            <a:noAutofit/>
          </a:bodyPr>
          <a:lstStyle/>
          <a:p>
            <a:pPr algn="r" marL="0" indent="0">
              <a:lnSpc>
                <a:spcPts val="1100"/>
              </a:lnSpc>
              <a:buNone/>
            </a:pPr>
            <a:r>
              <a:rPr lang="zh-CN" altLang="en-US" sz="800" b="1">
                <a:solidFill>
                  <a:srgbClr val="8C8C8C"/>
                </a:solidFill>
                <a:latin typeface="微软雅黑"/>
                <a:ea typeface="微软雅黑"/>
                <a:cs typeface="微软雅黑"/>
              </a:rPr>
              <a:t>现场案例</a:t>
            </a:r>
          </a:p>
        </p:txBody>
      </p:sp>
      <p:sp>
        <p:nvSpPr>
          <p:cNvPr id="15" name="TextBox 14"/>
          <p:cNvSpPr txBox="1"/>
          <p:nvPr/>
        </p:nvSpPr>
        <p:spPr>
          <a:xfrm>
            <a:off x="6197600" y="2082800"/>
            <a:ext cx="5588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症结</a:t>
            </a:r>
          </a:p>
        </p:txBody>
      </p:sp>
      <p:sp>
        <p:nvSpPr>
          <p:cNvPr id="16" name="Rectangle 15"/>
          <p:cNvSpPr/>
          <p:nvPr/>
        </p:nvSpPr>
        <p:spPr>
          <a:xfrm>
            <a:off x="6197600" y="2362200"/>
            <a:ext cx="5588000" cy="889000"/>
          </a:xfrm>
          <a:prstGeom prst="rect">
            <a:avLst/>
          </a:prstGeom>
          <a:solidFill>
            <a:srgbClr val="FFFFFF"/>
          </a:solidFill>
          <a:ln w="6350">
            <a:solidFill>
              <a:srgbClr val="E9E9E9"/>
            </a:solidFill>
            <a:round/>
          </a:ln>
        </p:spPr>
        <p:txBody>
          <a:bodyPr rtlCol="0" anchor="ctr" lIns="0" rIns="0" tIns="0" bIns="0"/>
          <a:lstStyle/>
          <a:p>
            <a:pPr algn="ctr"/>
          </a:p>
        </p:txBody>
      </p:sp>
      <p:sp>
        <p:nvSpPr>
          <p:cNvPr id="17" name="Rectangle 16"/>
          <p:cNvSpPr/>
          <p:nvPr/>
        </p:nvSpPr>
        <p:spPr>
          <a:xfrm>
            <a:off x="6197600" y="2362200"/>
            <a:ext cx="19050" cy="889000"/>
          </a:xfrm>
          <a:prstGeom prst="rect">
            <a:avLst/>
          </a:prstGeom>
          <a:solidFill>
            <a:srgbClr val="C9C9C9"/>
          </a:solidFill>
          <a:ln>
            <a:noFill/>
          </a:ln>
        </p:spPr>
        <p:txBody>
          <a:bodyPr rtlCol="0" anchor="ctr" lIns="0" rIns="0" tIns="0" bIns="0"/>
          <a:lstStyle/>
          <a:p>
            <a:pPr algn="ctr"/>
          </a:p>
        </p:txBody>
      </p:sp>
      <p:sp>
        <p:nvSpPr>
          <p:cNvPr id="18" name="TextBox 17"/>
          <p:cNvSpPr txBox="1"/>
          <p:nvPr/>
        </p:nvSpPr>
        <p:spPr>
          <a:xfrm>
            <a:off x="6375400" y="2501900"/>
            <a:ext cx="5232400" cy="254000"/>
          </a:xfrm>
          <a:prstGeom prst="rect">
            <a:avLst/>
          </a:prstGeom>
          <a:noFill/>
        </p:spPr>
        <p:txBody>
          <a:bodyPr wrap="square" anchor="ctr" lIns="0" tIns="0" rIns="0" bIns="0">
            <a:noAutofit/>
          </a:bodyPr>
          <a:lstStyle/>
          <a:p>
            <a:pPr algn="l" marL="0" indent="0">
              <a:lnSpc>
                <a:spcPts val="2000"/>
              </a:lnSpc>
              <a:buNone/>
            </a:pPr>
            <a:r>
              <a:rPr lang="zh-CN" altLang="en-US" sz="1300" b="1">
                <a:solidFill>
                  <a:srgbClr val="C00000"/>
                </a:solidFill>
                <a:latin typeface="微软雅黑"/>
                <a:ea typeface="微软雅黑"/>
                <a:cs typeface="微软雅黑"/>
              </a:rPr>
              <a:t>复杂工况模拟不了</a:t>
            </a:r>
          </a:p>
        </p:txBody>
      </p:sp>
      <p:sp>
        <p:nvSpPr>
          <p:cNvPr id="19" name="TextBox 18"/>
          <p:cNvSpPr txBox="1"/>
          <p:nvPr/>
        </p:nvSpPr>
        <p:spPr>
          <a:xfrm>
            <a:off x="6375400" y="2819400"/>
            <a:ext cx="5303520" cy="355600"/>
          </a:xfrm>
          <a:prstGeom prst="rect">
            <a:avLst/>
          </a:prstGeom>
          <a:noFill/>
        </p:spPr>
        <p:txBody>
          <a:bodyPr wrap="square" anchor="t" lIns="0" tIns="0" rIns="0" bIns="0">
            <a:noAutofit/>
          </a:bodyPr>
          <a:lstStyle/>
          <a:p>
            <a:pPr algn="l" marL="0" indent="0">
              <a:lnSpc>
                <a:spcPts val="1650"/>
              </a:lnSpc>
              <a:buNone/>
            </a:pPr>
            <a:r>
              <a:rPr lang="zh-CN" altLang="en-US" sz="1050" b="0">
                <a:solidFill>
                  <a:srgbClr val="3D3D3D"/>
                </a:solidFill>
                <a:latin typeface="微软雅黑"/>
                <a:ea typeface="微软雅黑"/>
                <a:cs typeface="微软雅黑"/>
              </a:rPr>
              <a:t>多系统耦合、长时序，台架覆盖不到</a:t>
            </a:r>
          </a:p>
        </p:txBody>
      </p:sp>
      <p:sp>
        <p:nvSpPr>
          <p:cNvPr id="20" name="Rectangle 19"/>
          <p:cNvSpPr/>
          <p:nvPr/>
        </p:nvSpPr>
        <p:spPr>
          <a:xfrm>
            <a:off x="6197600" y="3352800"/>
            <a:ext cx="5588000" cy="889000"/>
          </a:xfrm>
          <a:prstGeom prst="rect">
            <a:avLst/>
          </a:prstGeom>
          <a:solidFill>
            <a:srgbClr val="FFFFFF"/>
          </a:solidFill>
          <a:ln w="6350">
            <a:solidFill>
              <a:srgbClr val="E9E9E9"/>
            </a:solidFill>
            <a:round/>
          </a:ln>
        </p:spPr>
        <p:txBody>
          <a:bodyPr rtlCol="0" anchor="ctr" lIns="0" rIns="0" tIns="0" bIns="0"/>
          <a:lstStyle/>
          <a:p>
            <a:pPr algn="ctr"/>
          </a:p>
        </p:txBody>
      </p:sp>
      <p:sp>
        <p:nvSpPr>
          <p:cNvPr id="21" name="Rectangle 20"/>
          <p:cNvSpPr/>
          <p:nvPr/>
        </p:nvSpPr>
        <p:spPr>
          <a:xfrm>
            <a:off x="6197600" y="3352800"/>
            <a:ext cx="19050" cy="889000"/>
          </a:xfrm>
          <a:prstGeom prst="rect">
            <a:avLst/>
          </a:prstGeom>
          <a:solidFill>
            <a:srgbClr val="C9C9C9"/>
          </a:solidFill>
          <a:ln>
            <a:noFill/>
          </a:ln>
        </p:spPr>
        <p:txBody>
          <a:bodyPr rtlCol="0" anchor="ctr" lIns="0" rIns="0" tIns="0" bIns="0"/>
          <a:lstStyle/>
          <a:p>
            <a:pPr algn="ctr"/>
          </a:p>
        </p:txBody>
      </p:sp>
      <p:sp>
        <p:nvSpPr>
          <p:cNvPr id="22" name="TextBox 21"/>
          <p:cNvSpPr txBox="1"/>
          <p:nvPr/>
        </p:nvSpPr>
        <p:spPr>
          <a:xfrm>
            <a:off x="6375400" y="3492500"/>
            <a:ext cx="5232400" cy="254000"/>
          </a:xfrm>
          <a:prstGeom prst="rect">
            <a:avLst/>
          </a:prstGeom>
          <a:noFill/>
        </p:spPr>
        <p:txBody>
          <a:bodyPr wrap="square" anchor="ctr" lIns="0" tIns="0" rIns="0" bIns="0">
            <a:noAutofit/>
          </a:bodyPr>
          <a:lstStyle/>
          <a:p>
            <a:pPr algn="l" marL="0" indent="0">
              <a:lnSpc>
                <a:spcPts val="2000"/>
              </a:lnSpc>
              <a:buNone/>
            </a:pPr>
            <a:r>
              <a:rPr lang="zh-CN" altLang="en-US" sz="1300" b="1">
                <a:solidFill>
                  <a:srgbClr val="C00000"/>
                </a:solidFill>
                <a:latin typeface="微软雅黑"/>
                <a:ea typeface="微软雅黑"/>
                <a:cs typeface="微软雅黑"/>
              </a:rPr>
              <a:t>验证靠人，跟不上迭代</a:t>
            </a:r>
          </a:p>
        </p:txBody>
      </p:sp>
      <p:sp>
        <p:nvSpPr>
          <p:cNvPr id="23" name="TextBox 22"/>
          <p:cNvSpPr txBox="1"/>
          <p:nvPr/>
        </p:nvSpPr>
        <p:spPr>
          <a:xfrm>
            <a:off x="6375400" y="3810000"/>
            <a:ext cx="5303520" cy="355600"/>
          </a:xfrm>
          <a:prstGeom prst="rect">
            <a:avLst/>
          </a:prstGeom>
          <a:noFill/>
        </p:spPr>
        <p:txBody>
          <a:bodyPr wrap="square" anchor="t" lIns="0" tIns="0" rIns="0" bIns="0">
            <a:noAutofit/>
          </a:bodyPr>
          <a:lstStyle/>
          <a:p>
            <a:pPr algn="l" marL="0" indent="0">
              <a:lnSpc>
                <a:spcPts val="1650"/>
              </a:lnSpc>
              <a:buNone/>
            </a:pPr>
            <a:r>
              <a:rPr lang="zh-CN" altLang="en-US" sz="1050" b="0">
                <a:solidFill>
                  <a:srgbClr val="3D3D3D"/>
                </a:solidFill>
                <a:latin typeface="微软雅黑"/>
                <a:ea typeface="微软雅黑"/>
                <a:cs typeface="微软雅黑"/>
              </a:rPr>
              <a:t>工况人工编、环境人工搭、结果人工看</a:t>
            </a:r>
          </a:p>
        </p:txBody>
      </p:sp>
      <p:sp>
        <p:nvSpPr>
          <p:cNvPr id="24" name="Rectangle 23"/>
          <p:cNvSpPr/>
          <p:nvPr/>
        </p:nvSpPr>
        <p:spPr>
          <a:xfrm>
            <a:off x="6197600" y="4343400"/>
            <a:ext cx="5588000" cy="889000"/>
          </a:xfrm>
          <a:prstGeom prst="rect">
            <a:avLst/>
          </a:prstGeom>
          <a:solidFill>
            <a:srgbClr val="FFFFFF"/>
          </a:solidFill>
          <a:ln w="6350">
            <a:solidFill>
              <a:srgbClr val="E9E9E9"/>
            </a:solidFill>
            <a:round/>
          </a:ln>
        </p:spPr>
        <p:txBody>
          <a:bodyPr rtlCol="0" anchor="ctr" lIns="0" rIns="0" tIns="0" bIns="0"/>
          <a:lstStyle/>
          <a:p>
            <a:pPr algn="ctr"/>
          </a:p>
        </p:txBody>
      </p:sp>
      <p:sp>
        <p:nvSpPr>
          <p:cNvPr id="25" name="Rectangle 24"/>
          <p:cNvSpPr/>
          <p:nvPr/>
        </p:nvSpPr>
        <p:spPr>
          <a:xfrm>
            <a:off x="6197600" y="4343400"/>
            <a:ext cx="19050" cy="889000"/>
          </a:xfrm>
          <a:prstGeom prst="rect">
            <a:avLst/>
          </a:prstGeom>
          <a:solidFill>
            <a:srgbClr val="C9C9C9"/>
          </a:solidFill>
          <a:ln>
            <a:noFill/>
          </a:ln>
        </p:spPr>
        <p:txBody>
          <a:bodyPr rtlCol="0" anchor="ctr" lIns="0" rIns="0" tIns="0" bIns="0"/>
          <a:lstStyle/>
          <a:p>
            <a:pPr algn="ctr"/>
          </a:p>
        </p:txBody>
      </p:sp>
      <p:sp>
        <p:nvSpPr>
          <p:cNvPr id="26" name="TextBox 25"/>
          <p:cNvSpPr txBox="1"/>
          <p:nvPr/>
        </p:nvSpPr>
        <p:spPr>
          <a:xfrm>
            <a:off x="6375400" y="4483100"/>
            <a:ext cx="5232400" cy="254000"/>
          </a:xfrm>
          <a:prstGeom prst="rect">
            <a:avLst/>
          </a:prstGeom>
          <a:noFill/>
        </p:spPr>
        <p:txBody>
          <a:bodyPr wrap="square" anchor="ctr" lIns="0" tIns="0" rIns="0" bIns="0">
            <a:noAutofit/>
          </a:bodyPr>
          <a:lstStyle/>
          <a:p>
            <a:pPr algn="l" marL="0" indent="0">
              <a:lnSpc>
                <a:spcPts val="2000"/>
              </a:lnSpc>
              <a:buNone/>
            </a:pPr>
            <a:r>
              <a:rPr lang="zh-CN" altLang="en-US" sz="1300" b="1">
                <a:solidFill>
                  <a:srgbClr val="C00000"/>
                </a:solidFill>
                <a:latin typeface="微软雅黑"/>
                <a:ea typeface="微软雅黑"/>
                <a:cs typeface="微软雅黑"/>
              </a:rPr>
              <a:t>经验散在人手里</a:t>
            </a:r>
          </a:p>
        </p:txBody>
      </p:sp>
      <p:sp>
        <p:nvSpPr>
          <p:cNvPr id="27" name="TextBox 26"/>
          <p:cNvSpPr txBox="1"/>
          <p:nvPr/>
        </p:nvSpPr>
        <p:spPr>
          <a:xfrm>
            <a:off x="6375400" y="4800600"/>
            <a:ext cx="5303520" cy="355600"/>
          </a:xfrm>
          <a:prstGeom prst="rect">
            <a:avLst/>
          </a:prstGeom>
          <a:noFill/>
        </p:spPr>
        <p:txBody>
          <a:bodyPr wrap="square" anchor="t" lIns="0" tIns="0" rIns="0" bIns="0">
            <a:noAutofit/>
          </a:bodyPr>
          <a:lstStyle/>
          <a:p>
            <a:pPr algn="l" marL="0" indent="0">
              <a:lnSpc>
                <a:spcPts val="1650"/>
              </a:lnSpc>
              <a:buNone/>
            </a:pPr>
            <a:r>
              <a:rPr lang="zh-CN" altLang="en-US" sz="1050" b="0">
                <a:solidFill>
                  <a:srgbClr val="3D3D3D"/>
                </a:solidFill>
                <a:latin typeface="微软雅黑"/>
                <a:ea typeface="微软雅黑"/>
                <a:cs typeface="微软雅黑"/>
              </a:rPr>
              <a:t>判据散在标准、大纲和专家经验里</a:t>
            </a:r>
          </a:p>
        </p:txBody>
      </p:sp>
      <p:sp>
        <p:nvSpPr>
          <p:cNvPr id="28" name="TextBox 27"/>
          <p:cNvSpPr txBox="1"/>
          <p:nvPr/>
        </p:nvSpPr>
        <p:spPr>
          <a:xfrm>
            <a:off x="406400" y="2794000"/>
            <a:ext cx="5537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即便如此，问题还是在现场才暴露</a:t>
            </a:r>
          </a:p>
        </p:txBody>
      </p:sp>
      <p:sp>
        <p:nvSpPr>
          <p:cNvPr id="29" name="Rectangle 28"/>
          <p:cNvSpPr/>
          <p:nvPr/>
        </p:nvSpPr>
        <p:spPr>
          <a:xfrm>
            <a:off x="406400" y="3073400"/>
            <a:ext cx="5537200" cy="2159000"/>
          </a:xfrm>
          <a:prstGeom prst="rect">
            <a:avLst/>
          </a:prstGeom>
          <a:solidFill>
            <a:srgbClr val="FCF2F2"/>
          </a:solidFill>
          <a:ln>
            <a:noFill/>
          </a:ln>
        </p:spPr>
        <p:txBody>
          <a:bodyPr rtlCol="0" anchor="ctr" lIns="0" rIns="0" tIns="0" bIns="0"/>
          <a:lstStyle/>
          <a:p>
            <a:pPr algn="ctr"/>
          </a:p>
        </p:txBody>
      </p:sp>
      <p:sp>
        <p:nvSpPr>
          <p:cNvPr id="30" name="Rectangle 29"/>
          <p:cNvSpPr/>
          <p:nvPr/>
        </p:nvSpPr>
        <p:spPr>
          <a:xfrm>
            <a:off x="406400" y="3073400"/>
            <a:ext cx="19050" cy="2159000"/>
          </a:xfrm>
          <a:prstGeom prst="rect">
            <a:avLst/>
          </a:prstGeom>
          <a:solidFill>
            <a:srgbClr val="C00000"/>
          </a:solidFill>
          <a:ln>
            <a:noFill/>
          </a:ln>
        </p:spPr>
        <p:txBody>
          <a:bodyPr rtlCol="0" anchor="ctr" lIns="0" rIns="0" tIns="0" bIns="0"/>
          <a:lstStyle/>
          <a:p>
            <a:pPr algn="ctr"/>
          </a:p>
        </p:txBody>
      </p:sp>
      <p:pic>
        <p:nvPicPr>
          <p:cNvPr id="31" name="Picture 30" descr="quote-8C8C8C-1_6.png"/>
          <p:cNvPicPr>
            <a:picLocks noChangeAspect="1"/>
          </p:cNvPicPr>
          <p:nvPr/>
        </p:nvPicPr>
        <p:blipFill>
          <a:blip r:embed="rId2"/>
          <a:stretch>
            <a:fillRect/>
          </a:stretch>
        </p:blipFill>
        <p:spPr>
          <a:xfrm>
            <a:off x="558800" y="3225800"/>
            <a:ext cx="203200" cy="203200"/>
          </a:xfrm>
          <a:prstGeom prst="rect">
            <a:avLst/>
          </a:prstGeom>
        </p:spPr>
      </p:pic>
      <p:sp>
        <p:nvSpPr>
          <p:cNvPr id="32" name="TextBox 31"/>
          <p:cNvSpPr txBox="1"/>
          <p:nvPr/>
        </p:nvSpPr>
        <p:spPr>
          <a:xfrm>
            <a:off x="863600" y="3073400"/>
            <a:ext cx="4876800" cy="2159000"/>
          </a:xfrm>
          <a:prstGeom prst="rect">
            <a:avLst/>
          </a:prstGeom>
          <a:noFill/>
        </p:spPr>
        <p:txBody>
          <a:bodyPr wrap="square" anchor="ctr" lIns="0" tIns="0" rIns="0" bIns="0">
            <a:noAutofit/>
          </a:bodyPr>
          <a:lstStyle/>
          <a:p>
            <a:pPr algn="l" marL="0" indent="0">
              <a:lnSpc>
                <a:spcPts val="2000"/>
              </a:lnSpc>
              <a:buNone/>
            </a:pPr>
            <a:r>
              <a:rPr lang="zh-CN" altLang="en-US" sz="1200" b="0">
                <a:solidFill>
                  <a:srgbClr val="1A1A1A"/>
                </a:solidFill>
                <a:latin typeface="微软雅黑"/>
                <a:ea typeface="微软雅黑"/>
                <a:cs typeface="微软雅黑"/>
              </a:rPr>
              <a:t>2024 年 12 月，FXN5C 在临哈线长大下坡，约 −10℃：回手柄后风扇仍以 40Hz 运行，低温水 25℃ → 0℃、高温水 78℃，</a:t>
            </a:r>
            <a:r>
              <a:rPr lang="zh-CN" altLang="en-US" sz="1200" b="1">
                <a:solidFill>
                  <a:srgbClr val="1A1A1A"/>
                </a:solidFill>
                <a:latin typeface="微软雅黑"/>
                <a:ea typeface="微软雅黑"/>
                <a:cs typeface="微软雅黑"/>
              </a:rPr>
              <a:t>散热器冻结</a:t>
            </a:r>
            <a:r>
              <a:rPr lang="zh-CN" altLang="en-US" sz="1200" b="0">
                <a:solidFill>
                  <a:srgbClr val="1A1A1A"/>
                </a:solidFill>
                <a:latin typeface="微软雅黑"/>
                <a:ea typeface="微软雅黑"/>
                <a:cs typeface="微软雅黑"/>
              </a:rPr>
              <a:t>。</a:t>
            </a:r>
            <a:br>
              <a:rPr lang="zh-CN" altLang="en-US" sz="1200"/>
            </a:br>
            <a:r>
              <a:rPr lang="zh-CN" altLang="en-US" sz="1200" b="0">
                <a:solidFill>
                  <a:srgbClr val="1A1A1A"/>
                </a:solidFill>
                <a:latin typeface="微软雅黑"/>
                <a:ea typeface="微软雅黑"/>
                <a:cs typeface="微软雅黑"/>
              </a:rPr>
              <a:t>台架没有复现出来。</a:t>
            </a:r>
          </a:p>
        </p:txBody>
      </p:sp>
      <p:sp>
        <p:nvSpPr>
          <p:cNvPr id="33" name="Rectangle 32"/>
          <p:cNvSpPr/>
          <p:nvPr/>
        </p:nvSpPr>
        <p:spPr>
          <a:xfrm>
            <a:off x="406400" y="5435600"/>
            <a:ext cx="19050" cy="914400"/>
          </a:xfrm>
          <a:prstGeom prst="rect">
            <a:avLst/>
          </a:prstGeom>
          <a:solidFill>
            <a:srgbClr val="C00000"/>
          </a:solidFill>
          <a:ln>
            <a:noFill/>
          </a:ln>
        </p:spPr>
        <p:txBody>
          <a:bodyPr rtlCol="0" anchor="ctr" lIns="0" rIns="0" tIns="0" bIns="0"/>
          <a:lstStyle/>
          <a:p>
            <a:pPr algn="ctr"/>
          </a:p>
        </p:txBody>
      </p:sp>
      <p:sp>
        <p:nvSpPr>
          <p:cNvPr id="34" name="TextBox 33"/>
          <p:cNvSpPr txBox="1"/>
          <p:nvPr/>
        </p:nvSpPr>
        <p:spPr>
          <a:xfrm>
            <a:off x="584200" y="5641975"/>
            <a:ext cx="11201400" cy="241300"/>
          </a:xfrm>
          <a:prstGeom prst="rect">
            <a:avLst/>
          </a:prstGeom>
          <a:noFill/>
        </p:spPr>
        <p:txBody>
          <a:bodyPr wrap="square" anchor="t" lIns="0" tIns="0" rIns="0" bIns="0">
            <a:noAutofit/>
          </a:bodyPr>
          <a:lstStyle/>
          <a:p>
            <a:pPr algn="l" marL="0" indent="0">
              <a:lnSpc>
                <a:spcPts val="1900"/>
              </a:lnSpc>
              <a:buNone/>
            </a:pPr>
            <a:r>
              <a:rPr lang="zh-CN" altLang="en-US" sz="1350" b="1">
                <a:solidFill>
                  <a:srgbClr val="1A1A1A"/>
                </a:solidFill>
                <a:latin typeface="微软雅黑"/>
                <a:ea typeface="微软雅黑"/>
                <a:cs typeface="微软雅黑"/>
              </a:rPr>
              <a:t>研究目的：让控制软件每改一版，复杂运用工况都能在数字样机上自动跑一遍、自动判读</a:t>
            </a:r>
          </a:p>
        </p:txBody>
      </p:sp>
      <p:sp>
        <p:nvSpPr>
          <p:cNvPr id="35" name="TextBox 34"/>
          <p:cNvSpPr txBox="1"/>
          <p:nvPr/>
        </p:nvSpPr>
        <p:spPr>
          <a:xfrm>
            <a:off x="584200" y="5934075"/>
            <a:ext cx="11201400" cy="234950"/>
          </a:xfrm>
          <a:prstGeom prst="rect">
            <a:avLst/>
          </a:prstGeom>
          <a:noFill/>
        </p:spPr>
        <p:txBody>
          <a:bodyPr wrap="square" anchor="t" lIns="0" tIns="0" rIns="0" bIns="0">
            <a:noAutofit/>
          </a:bodyPr>
          <a:lstStyle/>
          <a:p>
            <a:pPr algn="l" marL="0" indent="0">
              <a:lnSpc>
                <a:spcPts val="1650"/>
              </a:lnSpc>
              <a:buNone/>
            </a:pPr>
            <a:r>
              <a:rPr lang="zh-CN" altLang="en-US" sz="1050" b="0">
                <a:solidFill>
                  <a:srgbClr val="666666"/>
                </a:solidFill>
                <a:latin typeface="微软雅黑"/>
                <a:ea typeface="微软雅黑"/>
                <a:cs typeface="微软雅黑"/>
              </a:rPr>
              <a:t>问题在研发阶段暴露，现场只做确认。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应用价值</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一句话需求进去，全工况报告出来</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5</a:t>
            </a:r>
          </a:p>
        </p:txBody>
      </p:sp>
      <p:sp>
        <p:nvSpPr>
          <p:cNvPr id="6" name="TextBox 5"/>
          <p:cNvSpPr txBox="1"/>
          <p:nvPr/>
        </p:nvSpPr>
        <p:spPr>
          <a:xfrm>
            <a:off x="406400" y="2082800"/>
            <a:ext cx="11379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用在三个环节</a:t>
            </a:r>
          </a:p>
        </p:txBody>
      </p:sp>
      <p:sp>
        <p:nvSpPr>
          <p:cNvPr id="7" name="Rectangle 6"/>
          <p:cNvSpPr/>
          <p:nvPr/>
        </p:nvSpPr>
        <p:spPr>
          <a:xfrm>
            <a:off x="406400" y="2362200"/>
            <a:ext cx="3623733" cy="1524000"/>
          </a:xfrm>
          <a:prstGeom prst="rect">
            <a:avLst/>
          </a:prstGeom>
          <a:solidFill>
            <a:srgbClr val="FFFFFF"/>
          </a:solidFill>
          <a:ln w="6350">
            <a:solidFill>
              <a:srgbClr val="E9E9E9"/>
            </a:solidFill>
            <a:round/>
          </a:ln>
        </p:spPr>
        <p:txBody>
          <a:bodyPr rtlCol="0" anchor="ctr" lIns="0" rIns="0" tIns="0" bIns="0"/>
          <a:lstStyle/>
          <a:p>
            <a:pPr algn="ctr"/>
          </a:p>
        </p:txBody>
      </p:sp>
      <p:sp>
        <p:nvSpPr>
          <p:cNvPr id="8" name="Rectangle 7"/>
          <p:cNvSpPr/>
          <p:nvPr/>
        </p:nvSpPr>
        <p:spPr>
          <a:xfrm>
            <a:off x="406400" y="2362200"/>
            <a:ext cx="3623733" cy="19050"/>
          </a:xfrm>
          <a:prstGeom prst="rect">
            <a:avLst/>
          </a:prstGeom>
          <a:solidFill>
            <a:srgbClr val="C00000"/>
          </a:solidFill>
          <a:ln>
            <a:noFill/>
          </a:ln>
        </p:spPr>
        <p:txBody>
          <a:bodyPr rtlCol="0" anchor="ctr" lIns="0" rIns="0" tIns="0" bIns="0"/>
          <a:lstStyle/>
          <a:p>
            <a:pPr algn="ctr"/>
          </a:p>
        </p:txBody>
      </p:sp>
      <p:sp>
        <p:nvSpPr>
          <p:cNvPr id="9" name="TextBox 8"/>
          <p:cNvSpPr txBox="1"/>
          <p:nvPr/>
        </p:nvSpPr>
        <p:spPr>
          <a:xfrm>
            <a:off x="584200" y="2552700"/>
            <a:ext cx="3268133" cy="254000"/>
          </a:xfrm>
          <a:prstGeom prst="rect">
            <a:avLst/>
          </a:prstGeom>
          <a:noFill/>
        </p:spPr>
        <p:txBody>
          <a:bodyPr wrap="none" anchor="ctr" lIns="0" tIns="0" rIns="0" bIns="0">
            <a:noAutofit/>
          </a:bodyPr>
          <a:lstStyle/>
          <a:p>
            <a:pPr algn="l" marL="0" indent="0">
              <a:lnSpc>
                <a:spcPts val="1900"/>
              </a:lnSpc>
              <a:buNone/>
            </a:pPr>
            <a:r>
              <a:rPr lang="zh-CN" altLang="en-US" sz="1400" b="1">
                <a:solidFill>
                  <a:srgbClr val="1A1A1A"/>
                </a:solidFill>
                <a:latin typeface="微软雅黑"/>
                <a:ea typeface="微软雅黑"/>
                <a:cs typeface="微软雅黑"/>
              </a:rPr>
              <a:t>研发</a:t>
            </a:r>
            <a:r>
              <a:rPr lang="zh-CN" altLang="en-US" sz="1400" b="1">
                <a:solidFill>
                  <a:srgbClr val="8C8C8C"/>
                </a:solidFill>
                <a:latin typeface="微软雅黑"/>
                <a:ea typeface="微软雅黑"/>
                <a:cs typeface="微软雅黑"/>
              </a:rPr>
              <a:t> · </a:t>
            </a:r>
            <a:r>
              <a:rPr lang="zh-CN" altLang="en-US" sz="1400" b="1">
                <a:solidFill>
                  <a:srgbClr val="1A1A1A"/>
                </a:solidFill>
                <a:latin typeface="微软雅黑"/>
                <a:ea typeface="微软雅黑"/>
                <a:cs typeface="微软雅黑"/>
              </a:rPr>
              <a:t>软件迭代</a:t>
            </a:r>
          </a:p>
        </p:txBody>
      </p:sp>
      <p:sp>
        <p:nvSpPr>
          <p:cNvPr id="10" name="TextBox 9"/>
          <p:cNvSpPr txBox="1"/>
          <p:nvPr/>
        </p:nvSpPr>
        <p:spPr>
          <a:xfrm>
            <a:off x="584200" y="2946400"/>
            <a:ext cx="3268133" cy="190500"/>
          </a:xfrm>
          <a:prstGeom prst="rect">
            <a:avLst/>
          </a:prstGeom>
          <a:noFill/>
        </p:spPr>
        <p:txBody>
          <a:bodyPr wrap="none" anchor="t" lIns="0" tIns="0" rIns="0" bIns="0">
            <a:noAutofit/>
          </a:bodyPr>
          <a:lstStyle/>
          <a:p>
            <a:pPr algn="l" marL="0" indent="0">
              <a:lnSpc>
                <a:spcPts val="1400"/>
              </a:lnSpc>
              <a:buNone/>
            </a:pPr>
            <a:r>
              <a:rPr lang="zh-CN" altLang="en-US" sz="1000" b="1">
                <a:solidFill>
                  <a:srgbClr val="8C8C8C"/>
                </a:solidFill>
                <a:latin typeface="微软雅黑"/>
                <a:ea typeface="微软雅黑"/>
                <a:cs typeface="微软雅黑"/>
              </a:rPr>
              <a:t>现在</a:t>
            </a:r>
            <a:r>
              <a:rPr lang="zh-CN" altLang="en-US" sz="1000" b="0">
                <a:solidFill>
                  <a:srgbClr val="666666"/>
                </a:solidFill>
                <a:latin typeface="微软雅黑"/>
                <a:ea typeface="微软雅黑"/>
                <a:cs typeface="微软雅黑"/>
              </a:rPr>
              <a:t>　台架＋现场验证</a:t>
            </a:r>
          </a:p>
        </p:txBody>
      </p:sp>
      <p:cxnSp>
        <p:nvCxnSpPr>
          <p:cNvPr id="11" name="Connector 10"/>
          <p:cNvCxnSpPr/>
          <p:nvPr/>
        </p:nvCxnSpPr>
        <p:spPr>
          <a:xfrm>
            <a:off x="584200" y="3251200"/>
            <a:ext cx="3268133" cy="0"/>
          </a:xfrm>
          <a:prstGeom prst="line">
            <a:avLst/>
          </a:prstGeom>
          <a:ln w="6350">
            <a:solidFill>
              <a:srgbClr val="E9E9E9"/>
            </a:solidFill>
            <a:round/>
          </a:ln>
        </p:spPr>
      </p:cxnSp>
      <p:sp>
        <p:nvSpPr>
          <p:cNvPr id="12" name="TextBox 11"/>
          <p:cNvSpPr txBox="1"/>
          <p:nvPr/>
        </p:nvSpPr>
        <p:spPr>
          <a:xfrm>
            <a:off x="584200" y="3390900"/>
            <a:ext cx="3268133" cy="254000"/>
          </a:xfrm>
          <a:prstGeom prst="rect">
            <a:avLst/>
          </a:prstGeom>
          <a:noFill/>
        </p:spPr>
        <p:txBody>
          <a:bodyPr wrap="square" anchor="t" lIns="0" tIns="0" rIns="0" bIns="0">
            <a:noAutofit/>
          </a:bodyPr>
          <a:lstStyle/>
          <a:p>
            <a:pPr algn="l" marL="0" indent="0">
              <a:lnSpc>
                <a:spcPts val="1700"/>
              </a:lnSpc>
              <a:buNone/>
            </a:pPr>
            <a:r>
              <a:rPr lang="zh-CN" altLang="en-US" sz="1150" b="1">
                <a:solidFill>
                  <a:srgbClr val="1A1A1A"/>
                </a:solidFill>
                <a:latin typeface="微软雅黑"/>
                <a:ea typeface="微软雅黑"/>
                <a:cs typeface="微软雅黑"/>
              </a:rPr>
              <a:t>全工况在数字样机上自动回归</a:t>
            </a:r>
          </a:p>
        </p:txBody>
      </p:sp>
      <p:sp>
        <p:nvSpPr>
          <p:cNvPr id="13" name="Isosceles Triangle 12"/>
          <p:cNvSpPr/>
          <p:nvPr/>
        </p:nvSpPr>
        <p:spPr>
          <a:xfrm rot="5400000">
            <a:off x="4087283" y="3073400"/>
            <a:ext cx="139700" cy="101600"/>
          </a:xfrm>
          <a:prstGeom prst="triangle">
            <a:avLst/>
          </a:prstGeom>
          <a:solidFill>
            <a:srgbClr val="D2D2D2"/>
          </a:solidFill>
          <a:ln>
            <a:noFill/>
          </a:ln>
        </p:spPr>
        <p:txBody>
          <a:bodyPr rtlCol="0" anchor="ctr" lIns="0" rIns="0" tIns="0" bIns="0"/>
          <a:lstStyle/>
          <a:p>
            <a:pPr algn="ctr"/>
          </a:p>
        </p:txBody>
      </p:sp>
      <p:sp>
        <p:nvSpPr>
          <p:cNvPr id="14" name="Rectangle 13"/>
          <p:cNvSpPr/>
          <p:nvPr/>
        </p:nvSpPr>
        <p:spPr>
          <a:xfrm>
            <a:off x="4284133" y="2362200"/>
            <a:ext cx="3623733" cy="1524000"/>
          </a:xfrm>
          <a:prstGeom prst="rect">
            <a:avLst/>
          </a:prstGeom>
          <a:solidFill>
            <a:srgbClr val="FFFFFF"/>
          </a:solidFill>
          <a:ln w="6350">
            <a:solidFill>
              <a:srgbClr val="E9E9E9"/>
            </a:solidFill>
            <a:round/>
          </a:ln>
        </p:spPr>
        <p:txBody>
          <a:bodyPr rtlCol="0" anchor="ctr" lIns="0" rIns="0" tIns="0" bIns="0"/>
          <a:lstStyle/>
          <a:p>
            <a:pPr algn="ctr"/>
          </a:p>
        </p:txBody>
      </p:sp>
      <p:sp>
        <p:nvSpPr>
          <p:cNvPr id="15" name="Rectangle 14"/>
          <p:cNvSpPr/>
          <p:nvPr/>
        </p:nvSpPr>
        <p:spPr>
          <a:xfrm>
            <a:off x="4284133" y="2362200"/>
            <a:ext cx="3623733" cy="19050"/>
          </a:xfrm>
          <a:prstGeom prst="rect">
            <a:avLst/>
          </a:prstGeom>
          <a:solidFill>
            <a:srgbClr val="C00000"/>
          </a:solidFill>
          <a:ln>
            <a:noFill/>
          </a:ln>
        </p:spPr>
        <p:txBody>
          <a:bodyPr rtlCol="0" anchor="ctr" lIns="0" rIns="0" tIns="0" bIns="0"/>
          <a:lstStyle/>
          <a:p>
            <a:pPr algn="ctr"/>
          </a:p>
        </p:txBody>
      </p:sp>
      <p:sp>
        <p:nvSpPr>
          <p:cNvPr id="16" name="TextBox 15"/>
          <p:cNvSpPr txBox="1"/>
          <p:nvPr/>
        </p:nvSpPr>
        <p:spPr>
          <a:xfrm>
            <a:off x="4461933" y="2552700"/>
            <a:ext cx="3268133" cy="254000"/>
          </a:xfrm>
          <a:prstGeom prst="rect">
            <a:avLst/>
          </a:prstGeom>
          <a:noFill/>
        </p:spPr>
        <p:txBody>
          <a:bodyPr wrap="none" anchor="ctr" lIns="0" tIns="0" rIns="0" bIns="0">
            <a:noAutofit/>
          </a:bodyPr>
          <a:lstStyle/>
          <a:p>
            <a:pPr algn="l" marL="0" indent="0">
              <a:lnSpc>
                <a:spcPts val="1900"/>
              </a:lnSpc>
              <a:buNone/>
            </a:pPr>
            <a:r>
              <a:rPr lang="zh-CN" altLang="en-US" sz="1400" b="1">
                <a:solidFill>
                  <a:srgbClr val="1A1A1A"/>
                </a:solidFill>
                <a:latin typeface="微软雅黑"/>
                <a:ea typeface="微软雅黑"/>
                <a:cs typeface="微软雅黑"/>
              </a:rPr>
              <a:t>试验</a:t>
            </a:r>
            <a:r>
              <a:rPr lang="zh-CN" altLang="en-US" sz="1400" b="1">
                <a:solidFill>
                  <a:srgbClr val="8C8C8C"/>
                </a:solidFill>
                <a:latin typeface="微软雅黑"/>
                <a:ea typeface="微软雅黑"/>
                <a:cs typeface="微软雅黑"/>
              </a:rPr>
              <a:t> · </a:t>
            </a:r>
            <a:r>
              <a:rPr lang="zh-CN" altLang="en-US" sz="1400" b="1">
                <a:solidFill>
                  <a:srgbClr val="1A1A1A"/>
                </a:solidFill>
                <a:latin typeface="微软雅黑"/>
                <a:ea typeface="微软雅黑"/>
                <a:cs typeface="微软雅黑"/>
              </a:rPr>
              <a:t>上线前预试验</a:t>
            </a:r>
          </a:p>
        </p:txBody>
      </p:sp>
      <p:sp>
        <p:nvSpPr>
          <p:cNvPr id="17" name="TextBox 16"/>
          <p:cNvSpPr txBox="1"/>
          <p:nvPr/>
        </p:nvSpPr>
        <p:spPr>
          <a:xfrm>
            <a:off x="4461933" y="2946400"/>
            <a:ext cx="3268133" cy="190500"/>
          </a:xfrm>
          <a:prstGeom prst="rect">
            <a:avLst/>
          </a:prstGeom>
          <a:noFill/>
        </p:spPr>
        <p:txBody>
          <a:bodyPr wrap="none" anchor="t" lIns="0" tIns="0" rIns="0" bIns="0">
            <a:noAutofit/>
          </a:bodyPr>
          <a:lstStyle/>
          <a:p>
            <a:pPr algn="l" marL="0" indent="0">
              <a:lnSpc>
                <a:spcPts val="1400"/>
              </a:lnSpc>
              <a:buNone/>
            </a:pPr>
            <a:r>
              <a:rPr lang="zh-CN" altLang="en-US" sz="1000" b="1">
                <a:solidFill>
                  <a:srgbClr val="8C8C8C"/>
                </a:solidFill>
                <a:latin typeface="微软雅黑"/>
                <a:ea typeface="微软雅黑"/>
                <a:cs typeface="微软雅黑"/>
              </a:rPr>
              <a:t>现在</a:t>
            </a:r>
            <a:r>
              <a:rPr lang="zh-CN" altLang="en-US" sz="1000" b="0">
                <a:solidFill>
                  <a:srgbClr val="666666"/>
                </a:solidFill>
                <a:latin typeface="微软雅黑"/>
                <a:ea typeface="微软雅黑"/>
                <a:cs typeface="微软雅黑"/>
              </a:rPr>
              <a:t>　低温等工况受季节、线路限制</a:t>
            </a:r>
          </a:p>
        </p:txBody>
      </p:sp>
      <p:cxnSp>
        <p:nvCxnSpPr>
          <p:cNvPr id="18" name="Connector 17"/>
          <p:cNvCxnSpPr/>
          <p:nvPr/>
        </p:nvCxnSpPr>
        <p:spPr>
          <a:xfrm>
            <a:off x="4461933" y="3251200"/>
            <a:ext cx="3268134" cy="0"/>
          </a:xfrm>
          <a:prstGeom prst="line">
            <a:avLst/>
          </a:prstGeom>
          <a:ln w="6350">
            <a:solidFill>
              <a:srgbClr val="E9E9E9"/>
            </a:solidFill>
            <a:round/>
          </a:ln>
        </p:spPr>
      </p:cxnSp>
      <p:sp>
        <p:nvSpPr>
          <p:cNvPr id="19" name="TextBox 18"/>
          <p:cNvSpPr txBox="1"/>
          <p:nvPr/>
        </p:nvSpPr>
        <p:spPr>
          <a:xfrm>
            <a:off x="4461933" y="3390900"/>
            <a:ext cx="3268133" cy="254000"/>
          </a:xfrm>
          <a:prstGeom prst="rect">
            <a:avLst/>
          </a:prstGeom>
          <a:noFill/>
        </p:spPr>
        <p:txBody>
          <a:bodyPr wrap="square" anchor="t" lIns="0" tIns="0" rIns="0" bIns="0">
            <a:noAutofit/>
          </a:bodyPr>
          <a:lstStyle/>
          <a:p>
            <a:pPr algn="l" marL="0" indent="0">
              <a:lnSpc>
                <a:spcPts val="1700"/>
              </a:lnSpc>
              <a:buNone/>
            </a:pPr>
            <a:r>
              <a:rPr lang="zh-CN" altLang="en-US" sz="1150" b="1">
                <a:solidFill>
                  <a:srgbClr val="1A1A1A"/>
                </a:solidFill>
                <a:latin typeface="微软雅黑"/>
                <a:ea typeface="微软雅黑"/>
                <a:cs typeface="微软雅黑"/>
              </a:rPr>
              <a:t>先在数字样机上预演，缩减上线项目</a:t>
            </a:r>
          </a:p>
        </p:txBody>
      </p:sp>
      <p:sp>
        <p:nvSpPr>
          <p:cNvPr id="20" name="Isosceles Triangle 19"/>
          <p:cNvSpPr/>
          <p:nvPr/>
        </p:nvSpPr>
        <p:spPr>
          <a:xfrm rot="5400000">
            <a:off x="7965017" y="3073400"/>
            <a:ext cx="139700" cy="101600"/>
          </a:xfrm>
          <a:prstGeom prst="triangle">
            <a:avLst/>
          </a:prstGeom>
          <a:solidFill>
            <a:srgbClr val="D2D2D2"/>
          </a:solidFill>
          <a:ln>
            <a:noFill/>
          </a:ln>
        </p:spPr>
        <p:txBody>
          <a:bodyPr rtlCol="0" anchor="ctr" lIns="0" rIns="0" tIns="0" bIns="0"/>
          <a:lstStyle/>
          <a:p>
            <a:pPr algn="ctr"/>
          </a:p>
        </p:txBody>
      </p:sp>
      <p:sp>
        <p:nvSpPr>
          <p:cNvPr id="21" name="Rectangle 20"/>
          <p:cNvSpPr/>
          <p:nvPr/>
        </p:nvSpPr>
        <p:spPr>
          <a:xfrm>
            <a:off x="8161867" y="2362200"/>
            <a:ext cx="3623733" cy="1524000"/>
          </a:xfrm>
          <a:prstGeom prst="rect">
            <a:avLst/>
          </a:prstGeom>
          <a:solidFill>
            <a:srgbClr val="FFFFFF"/>
          </a:solidFill>
          <a:ln w="6350">
            <a:solidFill>
              <a:srgbClr val="E9E9E9"/>
            </a:solidFill>
            <a:round/>
          </a:ln>
        </p:spPr>
        <p:txBody>
          <a:bodyPr rtlCol="0" anchor="ctr" lIns="0" rIns="0" tIns="0" bIns="0"/>
          <a:lstStyle/>
          <a:p>
            <a:pPr algn="ctr"/>
          </a:p>
        </p:txBody>
      </p:sp>
      <p:sp>
        <p:nvSpPr>
          <p:cNvPr id="22" name="Rectangle 21"/>
          <p:cNvSpPr/>
          <p:nvPr/>
        </p:nvSpPr>
        <p:spPr>
          <a:xfrm>
            <a:off x="8161867" y="2362200"/>
            <a:ext cx="3623733" cy="19050"/>
          </a:xfrm>
          <a:prstGeom prst="rect">
            <a:avLst/>
          </a:prstGeom>
          <a:solidFill>
            <a:srgbClr val="C00000"/>
          </a:solidFill>
          <a:ln>
            <a:noFill/>
          </a:ln>
        </p:spPr>
        <p:txBody>
          <a:bodyPr rtlCol="0" anchor="ctr" lIns="0" rIns="0" tIns="0" bIns="0"/>
          <a:lstStyle/>
          <a:p>
            <a:pPr algn="ctr"/>
          </a:p>
        </p:txBody>
      </p:sp>
      <p:sp>
        <p:nvSpPr>
          <p:cNvPr id="23" name="TextBox 22"/>
          <p:cNvSpPr txBox="1"/>
          <p:nvPr/>
        </p:nvSpPr>
        <p:spPr>
          <a:xfrm>
            <a:off x="8339667" y="2552700"/>
            <a:ext cx="3268133" cy="254000"/>
          </a:xfrm>
          <a:prstGeom prst="rect">
            <a:avLst/>
          </a:prstGeom>
          <a:noFill/>
        </p:spPr>
        <p:txBody>
          <a:bodyPr wrap="none" anchor="ctr" lIns="0" tIns="0" rIns="0" bIns="0">
            <a:noAutofit/>
          </a:bodyPr>
          <a:lstStyle/>
          <a:p>
            <a:pPr algn="l" marL="0" indent="0">
              <a:lnSpc>
                <a:spcPts val="1900"/>
              </a:lnSpc>
              <a:buNone/>
            </a:pPr>
            <a:r>
              <a:rPr lang="zh-CN" altLang="en-US" sz="1400" b="1">
                <a:solidFill>
                  <a:srgbClr val="1A1A1A"/>
                </a:solidFill>
                <a:latin typeface="微软雅黑"/>
                <a:ea typeface="微软雅黑"/>
                <a:cs typeface="微软雅黑"/>
              </a:rPr>
              <a:t>运用</a:t>
            </a:r>
            <a:r>
              <a:rPr lang="zh-CN" altLang="en-US" sz="1400" b="1">
                <a:solidFill>
                  <a:srgbClr val="8C8C8C"/>
                </a:solidFill>
                <a:latin typeface="微软雅黑"/>
                <a:ea typeface="微软雅黑"/>
                <a:cs typeface="微软雅黑"/>
              </a:rPr>
              <a:t> · </a:t>
            </a:r>
            <a:r>
              <a:rPr lang="zh-CN" altLang="en-US" sz="1400" b="1">
                <a:solidFill>
                  <a:srgbClr val="1A1A1A"/>
                </a:solidFill>
                <a:latin typeface="微软雅黑"/>
                <a:ea typeface="微软雅黑"/>
                <a:cs typeface="微软雅黑"/>
              </a:rPr>
              <a:t>问题复现</a:t>
            </a:r>
          </a:p>
        </p:txBody>
      </p:sp>
      <p:sp>
        <p:nvSpPr>
          <p:cNvPr id="24" name="TextBox 23"/>
          <p:cNvSpPr txBox="1"/>
          <p:nvPr/>
        </p:nvSpPr>
        <p:spPr>
          <a:xfrm>
            <a:off x="8339667" y="2946400"/>
            <a:ext cx="3268133" cy="190500"/>
          </a:xfrm>
          <a:prstGeom prst="rect">
            <a:avLst/>
          </a:prstGeom>
          <a:noFill/>
        </p:spPr>
        <p:txBody>
          <a:bodyPr wrap="none" anchor="t" lIns="0" tIns="0" rIns="0" bIns="0">
            <a:noAutofit/>
          </a:bodyPr>
          <a:lstStyle/>
          <a:p>
            <a:pPr algn="l" marL="0" indent="0">
              <a:lnSpc>
                <a:spcPts val="1400"/>
              </a:lnSpc>
              <a:buNone/>
            </a:pPr>
            <a:r>
              <a:rPr lang="zh-CN" altLang="en-US" sz="1000" b="1">
                <a:solidFill>
                  <a:srgbClr val="8C8C8C"/>
                </a:solidFill>
                <a:latin typeface="微软雅黑"/>
                <a:ea typeface="微软雅黑"/>
                <a:cs typeface="微软雅黑"/>
              </a:rPr>
              <a:t>现在</a:t>
            </a:r>
            <a:r>
              <a:rPr lang="zh-CN" altLang="en-US" sz="1000" b="0">
                <a:solidFill>
                  <a:srgbClr val="666666"/>
                </a:solidFill>
                <a:latin typeface="微软雅黑"/>
                <a:ea typeface="微软雅黑"/>
                <a:cs typeface="微软雅黑"/>
              </a:rPr>
              <a:t>　靠经验排查</a:t>
            </a:r>
          </a:p>
        </p:txBody>
      </p:sp>
      <p:cxnSp>
        <p:nvCxnSpPr>
          <p:cNvPr id="25" name="Connector 24"/>
          <p:cNvCxnSpPr/>
          <p:nvPr/>
        </p:nvCxnSpPr>
        <p:spPr>
          <a:xfrm>
            <a:off x="8339667" y="3251200"/>
            <a:ext cx="3268133" cy="0"/>
          </a:xfrm>
          <a:prstGeom prst="line">
            <a:avLst/>
          </a:prstGeom>
          <a:ln w="6350">
            <a:solidFill>
              <a:srgbClr val="E9E9E9"/>
            </a:solidFill>
            <a:round/>
          </a:ln>
        </p:spPr>
      </p:cxnSp>
      <p:sp>
        <p:nvSpPr>
          <p:cNvPr id="26" name="TextBox 25"/>
          <p:cNvSpPr txBox="1"/>
          <p:nvPr/>
        </p:nvSpPr>
        <p:spPr>
          <a:xfrm>
            <a:off x="8339667" y="3390900"/>
            <a:ext cx="3268133" cy="254000"/>
          </a:xfrm>
          <a:prstGeom prst="rect">
            <a:avLst/>
          </a:prstGeom>
          <a:noFill/>
        </p:spPr>
        <p:txBody>
          <a:bodyPr wrap="square" anchor="t" lIns="0" tIns="0" rIns="0" bIns="0">
            <a:noAutofit/>
          </a:bodyPr>
          <a:lstStyle/>
          <a:p>
            <a:pPr algn="l" marL="0" indent="0">
              <a:lnSpc>
                <a:spcPts val="1700"/>
              </a:lnSpc>
              <a:buNone/>
            </a:pPr>
            <a:r>
              <a:rPr lang="zh-CN" altLang="en-US" sz="1150" b="1">
                <a:solidFill>
                  <a:srgbClr val="1A1A1A"/>
                </a:solidFill>
                <a:latin typeface="微软雅黑"/>
                <a:ea typeface="微软雅黑"/>
                <a:cs typeface="微软雅黑"/>
              </a:rPr>
              <a:t>用运行记录复现问题、定位原因</a:t>
            </a:r>
          </a:p>
        </p:txBody>
      </p:sp>
      <p:sp>
        <p:nvSpPr>
          <p:cNvPr id="27" name="TextBox 26"/>
          <p:cNvSpPr txBox="1"/>
          <p:nvPr/>
        </p:nvSpPr>
        <p:spPr>
          <a:xfrm>
            <a:off x="406400" y="4114800"/>
            <a:ext cx="11379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社会经济效益</a:t>
            </a:r>
          </a:p>
        </p:txBody>
      </p:sp>
      <p:sp>
        <p:nvSpPr>
          <p:cNvPr id="28" name="Rectangle 27"/>
          <p:cNvSpPr/>
          <p:nvPr/>
        </p:nvSpPr>
        <p:spPr>
          <a:xfrm>
            <a:off x="406400" y="4394200"/>
            <a:ext cx="3623733" cy="838200"/>
          </a:xfrm>
          <a:prstGeom prst="rect">
            <a:avLst/>
          </a:prstGeom>
          <a:solidFill>
            <a:srgbClr val="FFFFFF"/>
          </a:solidFill>
          <a:ln w="6350">
            <a:solidFill>
              <a:srgbClr val="E9E9E9"/>
            </a:solidFill>
            <a:round/>
          </a:ln>
        </p:spPr>
        <p:txBody>
          <a:bodyPr rtlCol="0" anchor="ctr" lIns="0" rIns="0" tIns="0" bIns="0"/>
          <a:lstStyle/>
          <a:p>
            <a:pPr algn="ctr"/>
          </a:p>
        </p:txBody>
      </p:sp>
      <p:sp>
        <p:nvSpPr>
          <p:cNvPr id="29" name="Rectangle 28"/>
          <p:cNvSpPr/>
          <p:nvPr/>
        </p:nvSpPr>
        <p:spPr>
          <a:xfrm>
            <a:off x="406400" y="4394200"/>
            <a:ext cx="19050" cy="838200"/>
          </a:xfrm>
          <a:prstGeom prst="rect">
            <a:avLst/>
          </a:prstGeom>
          <a:solidFill>
            <a:srgbClr val="C00000"/>
          </a:solidFill>
          <a:ln>
            <a:noFill/>
          </a:ln>
        </p:spPr>
        <p:txBody>
          <a:bodyPr rtlCol="0" anchor="ctr" lIns="0" rIns="0" tIns="0" bIns="0"/>
          <a:lstStyle/>
          <a:p>
            <a:pPr algn="ctr"/>
          </a:p>
        </p:txBody>
      </p:sp>
      <p:sp>
        <p:nvSpPr>
          <p:cNvPr id="30" name="TextBox 29"/>
          <p:cNvSpPr txBox="1"/>
          <p:nvPr/>
        </p:nvSpPr>
        <p:spPr>
          <a:xfrm>
            <a:off x="584200" y="4559300"/>
            <a:ext cx="3268133" cy="203200"/>
          </a:xfrm>
          <a:prstGeom prst="rect">
            <a:avLst/>
          </a:prstGeom>
          <a:noFill/>
        </p:spPr>
        <p:txBody>
          <a:bodyPr wrap="none" anchor="t" lIns="0" tIns="0" rIns="0" bIns="0">
            <a:noAutofit/>
          </a:bodyPr>
          <a:lstStyle/>
          <a:p>
            <a:pPr algn="l" marL="0" indent="0">
              <a:lnSpc>
                <a:spcPts val="1500"/>
              </a:lnSpc>
              <a:buNone/>
            </a:pPr>
            <a:r>
              <a:rPr lang="zh-CN" altLang="en-US" sz="1100" b="1">
                <a:solidFill>
                  <a:srgbClr val="1A1A1A"/>
                </a:solidFill>
                <a:latin typeface="微软雅黑"/>
                <a:ea typeface="微软雅黑"/>
                <a:cs typeface="微软雅黑"/>
              </a:rPr>
              <a:t>经济效益</a:t>
            </a:r>
          </a:p>
        </p:txBody>
      </p:sp>
      <p:sp>
        <p:nvSpPr>
          <p:cNvPr id="31" name="TextBox 30"/>
          <p:cNvSpPr txBox="1"/>
          <p:nvPr/>
        </p:nvSpPr>
        <p:spPr>
          <a:xfrm>
            <a:off x="584200" y="4838700"/>
            <a:ext cx="3268133" cy="254000"/>
          </a:xfrm>
          <a:prstGeom prst="rect">
            <a:avLst/>
          </a:prstGeom>
          <a:noFill/>
        </p:spPr>
        <p:txBody>
          <a:bodyPr wrap="square" anchor="t"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减少现场验证与线路试验投入，缩短迭代周期</a:t>
            </a:r>
          </a:p>
        </p:txBody>
      </p:sp>
      <p:sp>
        <p:nvSpPr>
          <p:cNvPr id="32" name="Rectangle 31"/>
          <p:cNvSpPr/>
          <p:nvPr/>
        </p:nvSpPr>
        <p:spPr>
          <a:xfrm>
            <a:off x="4284133" y="4394200"/>
            <a:ext cx="3623733" cy="838200"/>
          </a:xfrm>
          <a:prstGeom prst="rect">
            <a:avLst/>
          </a:prstGeom>
          <a:solidFill>
            <a:srgbClr val="FFFFFF"/>
          </a:solidFill>
          <a:ln w="6350">
            <a:solidFill>
              <a:srgbClr val="E9E9E9"/>
            </a:solidFill>
            <a:round/>
          </a:ln>
        </p:spPr>
        <p:txBody>
          <a:bodyPr rtlCol="0" anchor="ctr" lIns="0" rIns="0" tIns="0" bIns="0"/>
          <a:lstStyle/>
          <a:p>
            <a:pPr algn="ctr"/>
          </a:p>
        </p:txBody>
      </p:sp>
      <p:sp>
        <p:nvSpPr>
          <p:cNvPr id="33" name="Rectangle 32"/>
          <p:cNvSpPr/>
          <p:nvPr/>
        </p:nvSpPr>
        <p:spPr>
          <a:xfrm>
            <a:off x="4284133" y="4394200"/>
            <a:ext cx="19050" cy="838200"/>
          </a:xfrm>
          <a:prstGeom prst="rect">
            <a:avLst/>
          </a:prstGeom>
          <a:solidFill>
            <a:srgbClr val="C00000"/>
          </a:solidFill>
          <a:ln>
            <a:noFill/>
          </a:ln>
        </p:spPr>
        <p:txBody>
          <a:bodyPr rtlCol="0" anchor="ctr" lIns="0" rIns="0" tIns="0" bIns="0"/>
          <a:lstStyle/>
          <a:p>
            <a:pPr algn="ctr"/>
          </a:p>
        </p:txBody>
      </p:sp>
      <p:sp>
        <p:nvSpPr>
          <p:cNvPr id="34" name="TextBox 33"/>
          <p:cNvSpPr txBox="1"/>
          <p:nvPr/>
        </p:nvSpPr>
        <p:spPr>
          <a:xfrm>
            <a:off x="4461933" y="4559300"/>
            <a:ext cx="3268133" cy="203200"/>
          </a:xfrm>
          <a:prstGeom prst="rect">
            <a:avLst/>
          </a:prstGeom>
          <a:noFill/>
        </p:spPr>
        <p:txBody>
          <a:bodyPr wrap="none" anchor="t" lIns="0" tIns="0" rIns="0" bIns="0">
            <a:noAutofit/>
          </a:bodyPr>
          <a:lstStyle/>
          <a:p>
            <a:pPr algn="l" marL="0" indent="0">
              <a:lnSpc>
                <a:spcPts val="1500"/>
              </a:lnSpc>
              <a:buNone/>
            </a:pPr>
            <a:r>
              <a:rPr lang="zh-CN" altLang="en-US" sz="1100" b="1">
                <a:solidFill>
                  <a:srgbClr val="1A1A1A"/>
                </a:solidFill>
                <a:latin typeface="微软雅黑"/>
                <a:ea typeface="微软雅黑"/>
                <a:cs typeface="微软雅黑"/>
              </a:rPr>
              <a:t>社会效益</a:t>
            </a:r>
          </a:p>
        </p:txBody>
      </p:sp>
      <p:sp>
        <p:nvSpPr>
          <p:cNvPr id="35" name="TextBox 34"/>
          <p:cNvSpPr txBox="1"/>
          <p:nvPr/>
        </p:nvSpPr>
        <p:spPr>
          <a:xfrm>
            <a:off x="4461933" y="4838700"/>
            <a:ext cx="3268133" cy="254000"/>
          </a:xfrm>
          <a:prstGeom prst="rect">
            <a:avLst/>
          </a:prstGeom>
          <a:noFill/>
        </p:spPr>
        <p:txBody>
          <a:bodyPr wrap="square" anchor="t"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复杂工况覆盖更全、结论更可信，减少运用故障</a:t>
            </a:r>
          </a:p>
        </p:txBody>
      </p:sp>
      <p:sp>
        <p:nvSpPr>
          <p:cNvPr id="36" name="Rectangle 35"/>
          <p:cNvSpPr/>
          <p:nvPr/>
        </p:nvSpPr>
        <p:spPr>
          <a:xfrm>
            <a:off x="8161867" y="4394200"/>
            <a:ext cx="3623733" cy="838200"/>
          </a:xfrm>
          <a:prstGeom prst="rect">
            <a:avLst/>
          </a:prstGeom>
          <a:solidFill>
            <a:srgbClr val="FFFFFF"/>
          </a:solidFill>
          <a:ln w="6350">
            <a:solidFill>
              <a:srgbClr val="E9E9E9"/>
            </a:solidFill>
            <a:round/>
          </a:ln>
        </p:spPr>
        <p:txBody>
          <a:bodyPr rtlCol="0" anchor="ctr" lIns="0" rIns="0" tIns="0" bIns="0"/>
          <a:lstStyle/>
          <a:p>
            <a:pPr algn="ctr"/>
          </a:p>
        </p:txBody>
      </p:sp>
      <p:sp>
        <p:nvSpPr>
          <p:cNvPr id="37" name="Rectangle 36"/>
          <p:cNvSpPr/>
          <p:nvPr/>
        </p:nvSpPr>
        <p:spPr>
          <a:xfrm>
            <a:off x="8161867" y="4394200"/>
            <a:ext cx="19050" cy="838200"/>
          </a:xfrm>
          <a:prstGeom prst="rect">
            <a:avLst/>
          </a:prstGeom>
          <a:solidFill>
            <a:srgbClr val="C00000"/>
          </a:solidFill>
          <a:ln>
            <a:noFill/>
          </a:ln>
        </p:spPr>
        <p:txBody>
          <a:bodyPr rtlCol="0" anchor="ctr" lIns="0" rIns="0" tIns="0" bIns="0"/>
          <a:lstStyle/>
          <a:p>
            <a:pPr algn="ctr"/>
          </a:p>
        </p:txBody>
      </p:sp>
      <p:sp>
        <p:nvSpPr>
          <p:cNvPr id="38" name="TextBox 37"/>
          <p:cNvSpPr txBox="1"/>
          <p:nvPr/>
        </p:nvSpPr>
        <p:spPr>
          <a:xfrm>
            <a:off x="8339667" y="4559300"/>
            <a:ext cx="3268133" cy="203200"/>
          </a:xfrm>
          <a:prstGeom prst="rect">
            <a:avLst/>
          </a:prstGeom>
          <a:noFill/>
        </p:spPr>
        <p:txBody>
          <a:bodyPr wrap="none" anchor="t" lIns="0" tIns="0" rIns="0" bIns="0">
            <a:noAutofit/>
          </a:bodyPr>
          <a:lstStyle/>
          <a:p>
            <a:pPr algn="l" marL="0" indent="0">
              <a:lnSpc>
                <a:spcPts val="1500"/>
              </a:lnSpc>
              <a:buNone/>
            </a:pPr>
            <a:r>
              <a:rPr lang="zh-CN" altLang="en-US" sz="1100" b="1">
                <a:solidFill>
                  <a:srgbClr val="1A1A1A"/>
                </a:solidFill>
                <a:latin typeface="微软雅黑"/>
                <a:ea typeface="微软雅黑"/>
                <a:cs typeface="微软雅黑"/>
              </a:rPr>
              <a:t>产业效益</a:t>
            </a:r>
          </a:p>
        </p:txBody>
      </p:sp>
      <p:sp>
        <p:nvSpPr>
          <p:cNvPr id="39" name="TextBox 38"/>
          <p:cNvSpPr txBox="1"/>
          <p:nvPr/>
        </p:nvSpPr>
        <p:spPr>
          <a:xfrm>
            <a:off x="8339667" y="4838700"/>
            <a:ext cx="3268133" cy="254000"/>
          </a:xfrm>
          <a:prstGeom prst="rect">
            <a:avLst/>
          </a:prstGeom>
          <a:noFill/>
        </p:spPr>
        <p:txBody>
          <a:bodyPr wrap="square" anchor="t"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方法可扩展到制动、辅助系统，在**内主机企业推广</a:t>
            </a:r>
          </a:p>
        </p:txBody>
      </p:sp>
      <p:sp>
        <p:nvSpPr>
          <p:cNvPr id="40" name="Rectangle 39"/>
          <p:cNvSpPr/>
          <p:nvPr/>
        </p:nvSpPr>
        <p:spPr>
          <a:xfrm>
            <a:off x="406400" y="5435600"/>
            <a:ext cx="19050" cy="914400"/>
          </a:xfrm>
          <a:prstGeom prst="rect">
            <a:avLst/>
          </a:prstGeom>
          <a:solidFill>
            <a:srgbClr val="C00000"/>
          </a:solidFill>
          <a:ln>
            <a:noFill/>
          </a:ln>
        </p:spPr>
        <p:txBody>
          <a:bodyPr rtlCol="0" anchor="ctr" lIns="0" rIns="0" tIns="0" bIns="0"/>
          <a:lstStyle/>
          <a:p>
            <a:pPr algn="ctr"/>
          </a:p>
        </p:txBody>
      </p:sp>
      <p:sp>
        <p:nvSpPr>
          <p:cNvPr id="41" name="TextBox 40"/>
          <p:cNvSpPr txBox="1"/>
          <p:nvPr/>
        </p:nvSpPr>
        <p:spPr>
          <a:xfrm>
            <a:off x="584200" y="5435600"/>
            <a:ext cx="11201400" cy="914400"/>
          </a:xfrm>
          <a:prstGeom prst="rect">
            <a:avLst/>
          </a:prstGeom>
          <a:noFill/>
        </p:spPr>
        <p:txBody>
          <a:bodyPr wrap="square" anchor="ctr" lIns="0" tIns="0" rIns="0" bIns="0">
            <a:noAutofit/>
          </a:bodyPr>
          <a:lstStyle/>
          <a:p>
            <a:pPr algn="l" marL="0" indent="0">
              <a:lnSpc>
                <a:spcPts val="1750"/>
              </a:lnSpc>
              <a:buNone/>
            </a:pPr>
            <a:r>
              <a:rPr lang="zh-CN" altLang="en-US" sz="1250" b="1">
                <a:solidFill>
                  <a:srgbClr val="1A1A1A"/>
                </a:solidFill>
                <a:latin typeface="微软雅黑"/>
                <a:ea typeface="微软雅黑"/>
                <a:cs typeface="微软雅黑"/>
              </a:rPr>
              <a:t>推动领域发展：性能验证从“单系统、离线、靠现场”，走向“列车级、实时协同、研发阶段可回归”</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立项必要性与紧迫性</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为什么是现在</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6</a:t>
            </a:r>
          </a:p>
        </p:txBody>
      </p:sp>
      <p:sp>
        <p:nvSpPr>
          <p:cNvPr id="6" name="Rectangle 5"/>
          <p:cNvSpPr/>
          <p:nvPr/>
        </p:nvSpPr>
        <p:spPr>
          <a:xfrm>
            <a:off x="406400" y="2082800"/>
            <a:ext cx="3657600" cy="2971800"/>
          </a:xfrm>
          <a:prstGeom prst="rect">
            <a:avLst/>
          </a:prstGeom>
          <a:solidFill>
            <a:srgbClr val="FFFFFF"/>
          </a:solidFill>
          <a:ln w="6350">
            <a:solidFill>
              <a:srgbClr val="E9E9E9"/>
            </a:solidFill>
            <a:round/>
          </a:ln>
        </p:spPr>
        <p:txBody>
          <a:bodyPr rtlCol="0" anchor="ctr" lIns="0" rIns="0" tIns="0" bIns="0"/>
          <a:lstStyle/>
          <a:p>
            <a:pPr algn="ctr"/>
          </a:p>
        </p:txBody>
      </p:sp>
      <p:sp>
        <p:nvSpPr>
          <p:cNvPr id="7" name="Rectangle 6"/>
          <p:cNvSpPr/>
          <p:nvPr/>
        </p:nvSpPr>
        <p:spPr>
          <a:xfrm>
            <a:off x="406400" y="2082800"/>
            <a:ext cx="3657600" cy="19050"/>
          </a:xfrm>
          <a:prstGeom prst="rect">
            <a:avLst/>
          </a:prstGeom>
          <a:solidFill>
            <a:srgbClr val="C00000"/>
          </a:solidFill>
          <a:ln>
            <a:noFill/>
          </a:ln>
        </p:spPr>
        <p:txBody>
          <a:bodyPr rtlCol="0" anchor="ctr" lIns="0" rIns="0" tIns="0" bIns="0"/>
          <a:lstStyle/>
          <a:p>
            <a:pPr algn="ctr"/>
          </a:p>
        </p:txBody>
      </p:sp>
      <p:sp>
        <p:nvSpPr>
          <p:cNvPr id="8" name="Oval 7"/>
          <p:cNvSpPr/>
          <p:nvPr/>
        </p:nvSpPr>
        <p:spPr>
          <a:xfrm>
            <a:off x="1930400" y="2628900"/>
            <a:ext cx="609600" cy="609600"/>
          </a:xfrm>
          <a:prstGeom prst="ellipse">
            <a:avLst/>
          </a:prstGeom>
          <a:solidFill>
            <a:srgbClr val="F5F5F5"/>
          </a:solidFill>
          <a:ln>
            <a:noFill/>
          </a:ln>
        </p:spPr>
        <p:txBody>
          <a:bodyPr rtlCol="0" anchor="ctr" lIns="0" rIns="0" tIns="0" bIns="0"/>
          <a:lstStyle/>
          <a:p>
            <a:pPr algn="ctr"/>
          </a:p>
        </p:txBody>
      </p:sp>
      <p:pic>
        <p:nvPicPr>
          <p:cNvPr id="9" name="Picture 8" descr="cpu-C00000-1_6.png"/>
          <p:cNvPicPr>
            <a:picLocks noChangeAspect="1"/>
          </p:cNvPicPr>
          <p:nvPr/>
        </p:nvPicPr>
        <p:blipFill>
          <a:blip r:embed="rId2"/>
          <a:stretch>
            <a:fillRect/>
          </a:stretch>
        </p:blipFill>
        <p:spPr>
          <a:xfrm>
            <a:off x="2070100" y="2768600"/>
            <a:ext cx="330200" cy="330200"/>
          </a:xfrm>
          <a:prstGeom prst="rect">
            <a:avLst/>
          </a:prstGeom>
        </p:spPr>
      </p:pic>
      <p:sp>
        <p:nvSpPr>
          <p:cNvPr id="10" name="TextBox 9"/>
          <p:cNvSpPr txBox="1"/>
          <p:nvPr/>
        </p:nvSpPr>
        <p:spPr>
          <a:xfrm>
            <a:off x="660400" y="3390900"/>
            <a:ext cx="3149600" cy="279400"/>
          </a:xfrm>
          <a:prstGeom prst="rect">
            <a:avLst/>
          </a:prstGeom>
          <a:noFill/>
        </p:spPr>
        <p:txBody>
          <a:bodyPr wrap="none" anchor="ctr" lIns="0" tIns="0" rIns="0" bIns="0">
            <a:noAutofit/>
          </a:bodyPr>
          <a:lstStyle/>
          <a:p>
            <a:pPr algn="ctr" marL="0" indent="0">
              <a:lnSpc>
                <a:spcPts val="2000"/>
              </a:lnSpc>
              <a:buNone/>
            </a:pPr>
            <a:r>
              <a:rPr lang="zh-CN" altLang="en-US" sz="1500" b="1">
                <a:solidFill>
                  <a:srgbClr val="1A1A1A"/>
                </a:solidFill>
                <a:latin typeface="微软雅黑"/>
                <a:ea typeface="微软雅黑"/>
                <a:cs typeface="微软雅黑"/>
              </a:rPr>
              <a:t>技术条件刚成熟</a:t>
            </a:r>
          </a:p>
        </p:txBody>
      </p:sp>
      <p:sp>
        <p:nvSpPr>
          <p:cNvPr id="11" name="Rectangle 10"/>
          <p:cNvSpPr/>
          <p:nvPr/>
        </p:nvSpPr>
        <p:spPr>
          <a:xfrm>
            <a:off x="2082800" y="3784600"/>
            <a:ext cx="304800" cy="19050"/>
          </a:xfrm>
          <a:prstGeom prst="rect">
            <a:avLst/>
          </a:prstGeom>
          <a:solidFill>
            <a:srgbClr val="C00000"/>
          </a:solidFill>
          <a:ln>
            <a:noFill/>
          </a:ln>
        </p:spPr>
        <p:txBody>
          <a:bodyPr rtlCol="0" anchor="ctr" lIns="0" rIns="0" tIns="0" bIns="0"/>
          <a:lstStyle/>
          <a:p>
            <a:pPr algn="ctr"/>
          </a:p>
        </p:txBody>
      </p:sp>
      <p:sp>
        <p:nvSpPr>
          <p:cNvPr id="12" name="TextBox 11"/>
          <p:cNvSpPr txBox="1"/>
          <p:nvPr/>
        </p:nvSpPr>
        <p:spPr>
          <a:xfrm>
            <a:off x="660400" y="3975100"/>
            <a:ext cx="3149600" cy="558800"/>
          </a:xfrm>
          <a:prstGeom prst="rect">
            <a:avLst/>
          </a:prstGeom>
          <a:noFill/>
        </p:spPr>
        <p:txBody>
          <a:bodyPr wrap="square" anchor="t" lIns="0" tIns="0" rIns="0" bIns="0">
            <a:noAutofit/>
          </a:bodyPr>
          <a:lstStyle/>
          <a:p>
            <a:pPr algn="ctr" marL="0" indent="0">
              <a:lnSpc>
                <a:spcPts val="2100"/>
              </a:lnSpc>
              <a:buNone/>
            </a:pPr>
            <a:r>
              <a:rPr lang="zh-CN" altLang="en-US" sz="1200" b="0">
                <a:solidFill>
                  <a:srgbClr val="3D3D3D"/>
                </a:solidFill>
                <a:latin typeface="微软雅黑"/>
                <a:ea typeface="微软雅黑"/>
                <a:cs typeface="微软雅黑"/>
              </a:rPr>
              <a:t>智能体让“理解—编排—执行”可自动化；</a:t>
            </a:r>
            <a:br>
              <a:rPr lang="zh-CN" altLang="en-US" sz="1200"/>
            </a:br>
            <a:r>
              <a:rPr lang="zh-CN" altLang="en-US" sz="1200" b="0">
                <a:solidFill>
                  <a:srgbClr val="3D3D3D"/>
                </a:solidFill>
                <a:latin typeface="微软雅黑"/>
                <a:ea typeface="微软雅黑"/>
                <a:cs typeface="微软雅黑"/>
              </a:rPr>
              <a:t>GPU＋NPU 异构算力让实时协同算得起</a:t>
            </a:r>
          </a:p>
        </p:txBody>
      </p:sp>
      <p:sp>
        <p:nvSpPr>
          <p:cNvPr id="13" name="Rectangle 12"/>
          <p:cNvSpPr/>
          <p:nvPr/>
        </p:nvSpPr>
        <p:spPr>
          <a:xfrm>
            <a:off x="4267200" y="2082800"/>
            <a:ext cx="3657600" cy="2971800"/>
          </a:xfrm>
          <a:prstGeom prst="rect">
            <a:avLst/>
          </a:prstGeom>
          <a:solidFill>
            <a:srgbClr val="FFFFFF"/>
          </a:solidFill>
          <a:ln w="6350">
            <a:solidFill>
              <a:srgbClr val="E9E9E9"/>
            </a:solidFill>
            <a:round/>
          </a:ln>
        </p:spPr>
        <p:txBody>
          <a:bodyPr rtlCol="0" anchor="ctr" lIns="0" rIns="0" tIns="0" bIns="0"/>
          <a:lstStyle/>
          <a:p>
            <a:pPr algn="ctr"/>
          </a:p>
        </p:txBody>
      </p:sp>
      <p:sp>
        <p:nvSpPr>
          <p:cNvPr id="14" name="Rectangle 13"/>
          <p:cNvSpPr/>
          <p:nvPr/>
        </p:nvSpPr>
        <p:spPr>
          <a:xfrm>
            <a:off x="4267200" y="2082800"/>
            <a:ext cx="3657600" cy="19050"/>
          </a:xfrm>
          <a:prstGeom prst="rect">
            <a:avLst/>
          </a:prstGeom>
          <a:solidFill>
            <a:srgbClr val="C00000"/>
          </a:solidFill>
          <a:ln>
            <a:noFill/>
          </a:ln>
        </p:spPr>
        <p:txBody>
          <a:bodyPr rtlCol="0" anchor="ctr" lIns="0" rIns="0" tIns="0" bIns="0"/>
          <a:lstStyle/>
          <a:p>
            <a:pPr algn="ctr"/>
          </a:p>
        </p:txBody>
      </p:sp>
      <p:sp>
        <p:nvSpPr>
          <p:cNvPr id="15" name="Oval 14"/>
          <p:cNvSpPr/>
          <p:nvPr/>
        </p:nvSpPr>
        <p:spPr>
          <a:xfrm>
            <a:off x="5791200" y="2628900"/>
            <a:ext cx="609600" cy="609600"/>
          </a:xfrm>
          <a:prstGeom prst="ellipse">
            <a:avLst/>
          </a:prstGeom>
          <a:solidFill>
            <a:srgbClr val="F5F5F5"/>
          </a:solidFill>
          <a:ln>
            <a:noFill/>
          </a:ln>
        </p:spPr>
        <p:txBody>
          <a:bodyPr rtlCol="0" anchor="ctr" lIns="0" rIns="0" tIns="0" bIns="0"/>
          <a:lstStyle/>
          <a:p>
            <a:pPr algn="ctr"/>
          </a:p>
        </p:txBody>
      </p:sp>
      <p:pic>
        <p:nvPicPr>
          <p:cNvPr id="16" name="Picture 15" descr="trending-up-C00000-1_6.png"/>
          <p:cNvPicPr>
            <a:picLocks noChangeAspect="1"/>
          </p:cNvPicPr>
          <p:nvPr/>
        </p:nvPicPr>
        <p:blipFill>
          <a:blip r:embed="rId3"/>
          <a:stretch>
            <a:fillRect/>
          </a:stretch>
        </p:blipFill>
        <p:spPr>
          <a:xfrm>
            <a:off x="5930900" y="2768600"/>
            <a:ext cx="330200" cy="330200"/>
          </a:xfrm>
          <a:prstGeom prst="rect">
            <a:avLst/>
          </a:prstGeom>
        </p:spPr>
      </p:pic>
      <p:sp>
        <p:nvSpPr>
          <p:cNvPr id="17" name="TextBox 16"/>
          <p:cNvSpPr txBox="1"/>
          <p:nvPr/>
        </p:nvSpPr>
        <p:spPr>
          <a:xfrm>
            <a:off x="4521200" y="3390900"/>
            <a:ext cx="3149600" cy="279400"/>
          </a:xfrm>
          <a:prstGeom prst="rect">
            <a:avLst/>
          </a:prstGeom>
          <a:noFill/>
        </p:spPr>
        <p:txBody>
          <a:bodyPr wrap="none" anchor="ctr" lIns="0" tIns="0" rIns="0" bIns="0">
            <a:noAutofit/>
          </a:bodyPr>
          <a:lstStyle/>
          <a:p>
            <a:pPr algn="ctr" marL="0" indent="0">
              <a:lnSpc>
                <a:spcPts val="2000"/>
              </a:lnSpc>
              <a:buNone/>
            </a:pPr>
            <a:r>
              <a:rPr lang="zh-CN" altLang="en-US" sz="1500" b="1">
                <a:solidFill>
                  <a:srgbClr val="1A1A1A"/>
                </a:solidFill>
                <a:latin typeface="微软雅黑"/>
                <a:ea typeface="微软雅黑"/>
                <a:cs typeface="微软雅黑"/>
              </a:rPr>
              <a:t>工程需求在加压</a:t>
            </a:r>
          </a:p>
        </p:txBody>
      </p:sp>
      <p:sp>
        <p:nvSpPr>
          <p:cNvPr id="18" name="Rectangle 17"/>
          <p:cNvSpPr/>
          <p:nvPr/>
        </p:nvSpPr>
        <p:spPr>
          <a:xfrm>
            <a:off x="5943600" y="3784600"/>
            <a:ext cx="304800" cy="19050"/>
          </a:xfrm>
          <a:prstGeom prst="rect">
            <a:avLst/>
          </a:prstGeom>
          <a:solidFill>
            <a:srgbClr val="C00000"/>
          </a:solidFill>
          <a:ln>
            <a:noFill/>
          </a:ln>
        </p:spPr>
        <p:txBody>
          <a:bodyPr rtlCol="0" anchor="ctr" lIns="0" rIns="0" tIns="0" bIns="0"/>
          <a:lstStyle/>
          <a:p>
            <a:pPr algn="ctr"/>
          </a:p>
        </p:txBody>
      </p:sp>
      <p:sp>
        <p:nvSpPr>
          <p:cNvPr id="19" name="TextBox 18"/>
          <p:cNvSpPr txBox="1"/>
          <p:nvPr/>
        </p:nvSpPr>
        <p:spPr>
          <a:xfrm>
            <a:off x="4521200" y="3975100"/>
            <a:ext cx="3149600" cy="558800"/>
          </a:xfrm>
          <a:prstGeom prst="rect">
            <a:avLst/>
          </a:prstGeom>
          <a:noFill/>
        </p:spPr>
        <p:txBody>
          <a:bodyPr wrap="square" anchor="t" lIns="0" tIns="0" rIns="0" bIns="0">
            <a:noAutofit/>
          </a:bodyPr>
          <a:lstStyle/>
          <a:p>
            <a:pPr algn="ctr" marL="0" indent="0">
              <a:lnSpc>
                <a:spcPts val="2100"/>
              </a:lnSpc>
              <a:buNone/>
            </a:pPr>
            <a:r>
              <a:rPr lang="zh-CN" altLang="en-US" sz="1200" b="0">
                <a:solidFill>
                  <a:srgbClr val="3D3D3D"/>
                </a:solidFill>
                <a:latin typeface="微软雅黑"/>
                <a:ea typeface="微软雅黑"/>
                <a:cs typeface="微软雅黑"/>
              </a:rPr>
              <a:t>软件迭代加快</a:t>
            </a:r>
            <a:r>
              <a:rPr lang="zh-CN" altLang="en-US" sz="1200" b="1">
                <a:solidFill>
                  <a:srgbClr val="875D1C"/>
                </a:solidFill>
                <a:latin typeface="微软雅黑"/>
                <a:ea typeface="微软雅黑"/>
                <a:cs typeface="微软雅黑"/>
              </a:rPr>
              <a:t>【可补充：近年迭代次数】</a:t>
            </a:r>
            <a:r>
              <a:rPr lang="zh-CN" altLang="en-US" sz="1200" b="0">
                <a:solidFill>
                  <a:srgbClr val="3D3D3D"/>
                </a:solidFill>
                <a:latin typeface="微软雅黑"/>
                <a:ea typeface="微软雅黑"/>
                <a:cs typeface="微软雅黑"/>
              </a:rPr>
              <a:t>，</a:t>
            </a:r>
            <a:br>
              <a:rPr lang="zh-CN" altLang="en-US" sz="1200"/>
            </a:br>
            <a:r>
              <a:rPr lang="zh-CN" altLang="en-US" sz="1200" b="0">
                <a:solidFill>
                  <a:srgbClr val="3D3D3D"/>
                </a:solidFill>
                <a:latin typeface="微软雅黑"/>
                <a:ea typeface="微软雅黑"/>
                <a:cs typeface="微软雅黑"/>
              </a:rPr>
              <a:t>复杂工况问题增多，“台架＋现场”跟不上</a:t>
            </a:r>
          </a:p>
        </p:txBody>
      </p:sp>
      <p:sp>
        <p:nvSpPr>
          <p:cNvPr id="20" name="Rectangle 19"/>
          <p:cNvSpPr/>
          <p:nvPr/>
        </p:nvSpPr>
        <p:spPr>
          <a:xfrm>
            <a:off x="8128000" y="2082800"/>
            <a:ext cx="3657600" cy="2971800"/>
          </a:xfrm>
          <a:prstGeom prst="rect">
            <a:avLst/>
          </a:prstGeom>
          <a:solidFill>
            <a:srgbClr val="FFFFFF"/>
          </a:solidFill>
          <a:ln w="6350">
            <a:solidFill>
              <a:srgbClr val="E9E9E9"/>
            </a:solidFill>
            <a:round/>
          </a:ln>
        </p:spPr>
        <p:txBody>
          <a:bodyPr rtlCol="0" anchor="ctr" lIns="0" rIns="0" tIns="0" bIns="0"/>
          <a:lstStyle/>
          <a:p>
            <a:pPr algn="ctr"/>
          </a:p>
        </p:txBody>
      </p:sp>
      <p:sp>
        <p:nvSpPr>
          <p:cNvPr id="21" name="Rectangle 20"/>
          <p:cNvSpPr/>
          <p:nvPr/>
        </p:nvSpPr>
        <p:spPr>
          <a:xfrm>
            <a:off x="8128000" y="2082800"/>
            <a:ext cx="3657600" cy="19050"/>
          </a:xfrm>
          <a:prstGeom prst="rect">
            <a:avLst/>
          </a:prstGeom>
          <a:solidFill>
            <a:srgbClr val="C00000"/>
          </a:solidFill>
          <a:ln>
            <a:noFill/>
          </a:ln>
        </p:spPr>
        <p:txBody>
          <a:bodyPr rtlCol="0" anchor="ctr" lIns="0" rIns="0" tIns="0" bIns="0"/>
          <a:lstStyle/>
          <a:p>
            <a:pPr algn="ctr"/>
          </a:p>
        </p:txBody>
      </p:sp>
      <p:sp>
        <p:nvSpPr>
          <p:cNvPr id="22" name="Oval 21"/>
          <p:cNvSpPr/>
          <p:nvPr/>
        </p:nvSpPr>
        <p:spPr>
          <a:xfrm>
            <a:off x="9652000" y="2628900"/>
            <a:ext cx="609600" cy="609600"/>
          </a:xfrm>
          <a:prstGeom prst="ellipse">
            <a:avLst/>
          </a:prstGeom>
          <a:solidFill>
            <a:srgbClr val="F5F5F5"/>
          </a:solidFill>
          <a:ln>
            <a:noFill/>
          </a:ln>
        </p:spPr>
        <p:txBody>
          <a:bodyPr rtlCol="0" anchor="ctr" lIns="0" rIns="0" tIns="0" bIns="0"/>
          <a:lstStyle/>
          <a:p>
            <a:pPr algn="ctr"/>
          </a:p>
        </p:txBody>
      </p:sp>
      <p:pic>
        <p:nvPicPr>
          <p:cNvPr id="23" name="Picture 22" descr="shield-check-C00000-1_6.png"/>
          <p:cNvPicPr>
            <a:picLocks noChangeAspect="1"/>
          </p:cNvPicPr>
          <p:nvPr/>
        </p:nvPicPr>
        <p:blipFill>
          <a:blip r:embed="rId4"/>
          <a:stretch>
            <a:fillRect/>
          </a:stretch>
        </p:blipFill>
        <p:spPr>
          <a:xfrm>
            <a:off x="9791700" y="2768600"/>
            <a:ext cx="330200" cy="330200"/>
          </a:xfrm>
          <a:prstGeom prst="rect">
            <a:avLst/>
          </a:prstGeom>
        </p:spPr>
      </p:pic>
      <p:sp>
        <p:nvSpPr>
          <p:cNvPr id="24" name="TextBox 23"/>
          <p:cNvSpPr txBox="1"/>
          <p:nvPr/>
        </p:nvSpPr>
        <p:spPr>
          <a:xfrm>
            <a:off x="8382000" y="3390900"/>
            <a:ext cx="3149600" cy="279400"/>
          </a:xfrm>
          <a:prstGeom prst="rect">
            <a:avLst/>
          </a:prstGeom>
          <a:noFill/>
        </p:spPr>
        <p:txBody>
          <a:bodyPr wrap="none" anchor="ctr" lIns="0" tIns="0" rIns="0" bIns="0">
            <a:noAutofit/>
          </a:bodyPr>
          <a:lstStyle/>
          <a:p>
            <a:pPr algn="ctr" marL="0" indent="0">
              <a:lnSpc>
                <a:spcPts val="2000"/>
              </a:lnSpc>
              <a:buNone/>
            </a:pPr>
            <a:r>
              <a:rPr lang="zh-CN" altLang="en-US" sz="1500" b="1">
                <a:solidFill>
                  <a:srgbClr val="1A1A1A"/>
                </a:solidFill>
                <a:latin typeface="微软雅黑"/>
                <a:ea typeface="微软雅黑"/>
                <a:cs typeface="微软雅黑"/>
              </a:rPr>
              <a:t>自主可控有窗口</a:t>
            </a:r>
          </a:p>
        </p:txBody>
      </p:sp>
      <p:sp>
        <p:nvSpPr>
          <p:cNvPr id="25" name="Rectangle 24"/>
          <p:cNvSpPr/>
          <p:nvPr/>
        </p:nvSpPr>
        <p:spPr>
          <a:xfrm>
            <a:off x="9804400" y="3784600"/>
            <a:ext cx="304800" cy="19050"/>
          </a:xfrm>
          <a:prstGeom prst="rect">
            <a:avLst/>
          </a:prstGeom>
          <a:solidFill>
            <a:srgbClr val="C00000"/>
          </a:solidFill>
          <a:ln>
            <a:noFill/>
          </a:ln>
        </p:spPr>
        <p:txBody>
          <a:bodyPr rtlCol="0" anchor="ctr" lIns="0" rIns="0" tIns="0" bIns="0"/>
          <a:lstStyle/>
          <a:p>
            <a:pPr algn="ctr"/>
          </a:p>
        </p:txBody>
      </p:sp>
      <p:sp>
        <p:nvSpPr>
          <p:cNvPr id="26" name="TextBox 25"/>
          <p:cNvSpPr txBox="1"/>
          <p:nvPr/>
        </p:nvSpPr>
        <p:spPr>
          <a:xfrm>
            <a:off x="8382000" y="3975100"/>
            <a:ext cx="3149600" cy="558800"/>
          </a:xfrm>
          <a:prstGeom prst="rect">
            <a:avLst/>
          </a:prstGeom>
          <a:noFill/>
        </p:spPr>
        <p:txBody>
          <a:bodyPr wrap="square" anchor="t" lIns="0" tIns="0" rIns="0" bIns="0">
            <a:noAutofit/>
          </a:bodyPr>
          <a:lstStyle/>
          <a:p>
            <a:pPr algn="ctr" marL="0" indent="0">
              <a:lnSpc>
                <a:spcPts val="2100"/>
              </a:lnSpc>
              <a:buNone/>
            </a:pPr>
            <a:r>
              <a:rPr lang="zh-CN" altLang="en-US" sz="1200" b="0">
                <a:solidFill>
                  <a:srgbClr val="3D3D3D"/>
                </a:solidFill>
                <a:latin typeface="微软雅黑"/>
                <a:ea typeface="微软雅黑"/>
                <a:cs typeface="微软雅黑"/>
              </a:rPr>
              <a:t>研发设计类工业软件国产化率约 5%；</a:t>
            </a:r>
            <a:br>
              <a:rPr lang="zh-CN" altLang="en-US" sz="1200"/>
            </a:br>
            <a:r>
              <a:rPr lang="zh-CN" altLang="en-US" sz="1200" b="0">
                <a:solidFill>
                  <a:srgbClr val="3D3D3D"/>
                </a:solidFill>
                <a:latin typeface="微软雅黑"/>
                <a:ea typeface="微软雅黑"/>
                <a:cs typeface="微软雅黑"/>
              </a:rPr>
              <a:t>验证引擎这一层现在自己做，才不受制于人</a:t>
            </a:r>
          </a:p>
        </p:txBody>
      </p:sp>
      <p:sp>
        <p:nvSpPr>
          <p:cNvPr id="27" name="Rectangle 26"/>
          <p:cNvSpPr/>
          <p:nvPr/>
        </p:nvSpPr>
        <p:spPr>
          <a:xfrm>
            <a:off x="406400" y="5257800"/>
            <a:ext cx="19050" cy="1092200"/>
          </a:xfrm>
          <a:prstGeom prst="rect">
            <a:avLst/>
          </a:prstGeom>
          <a:solidFill>
            <a:srgbClr val="C00000"/>
          </a:solidFill>
          <a:ln>
            <a:noFill/>
          </a:ln>
        </p:spPr>
        <p:txBody>
          <a:bodyPr rtlCol="0" anchor="ctr" lIns="0" rIns="0" tIns="0" bIns="0"/>
          <a:lstStyle/>
          <a:p>
            <a:pPr algn="ctr"/>
          </a:p>
        </p:txBody>
      </p:sp>
      <p:sp>
        <p:nvSpPr>
          <p:cNvPr id="28" name="TextBox 27"/>
          <p:cNvSpPr txBox="1"/>
          <p:nvPr/>
        </p:nvSpPr>
        <p:spPr>
          <a:xfrm>
            <a:off x="584200" y="5534025"/>
            <a:ext cx="11201400" cy="260350"/>
          </a:xfrm>
          <a:prstGeom prst="rect">
            <a:avLst/>
          </a:prstGeom>
          <a:noFill/>
        </p:spPr>
        <p:txBody>
          <a:bodyPr wrap="square" anchor="t" lIns="0" tIns="0" rIns="0" bIns="0">
            <a:noAutofit/>
          </a:bodyPr>
          <a:lstStyle/>
          <a:p>
            <a:pPr algn="l" marL="0" indent="0">
              <a:lnSpc>
                <a:spcPts val="2050"/>
              </a:lnSpc>
              <a:buNone/>
            </a:pPr>
            <a:r>
              <a:rPr lang="zh-CN" altLang="en-US" sz="1450" b="1">
                <a:solidFill>
                  <a:srgbClr val="1A1A1A"/>
                </a:solidFill>
                <a:latin typeface="微软雅黑"/>
                <a:ea typeface="微软雅黑"/>
                <a:cs typeface="微软雅黑"/>
              </a:rPr>
              <a:t>结论：本课题要做的是</a:t>
            </a:r>
            <a:r>
              <a:rPr lang="zh-CN" altLang="en-US" sz="1450" b="1">
                <a:solidFill>
                  <a:srgbClr val="C00000"/>
                </a:solidFill>
                <a:latin typeface="微软雅黑"/>
                <a:ea typeface="微软雅黑"/>
                <a:cs typeface="微软雅黑"/>
              </a:rPr>
              <a:t>验证环节的自主引擎</a:t>
            </a:r>
          </a:p>
        </p:txBody>
      </p:sp>
      <p:sp>
        <p:nvSpPr>
          <p:cNvPr id="29" name="TextBox 28"/>
          <p:cNvSpPr txBox="1"/>
          <p:nvPr/>
        </p:nvSpPr>
        <p:spPr>
          <a:xfrm>
            <a:off x="584200" y="5857875"/>
            <a:ext cx="11201400" cy="241300"/>
          </a:xfrm>
          <a:prstGeom prst="rect">
            <a:avLst/>
          </a:prstGeom>
          <a:noFill/>
        </p:spPr>
        <p:txBody>
          <a:bodyPr wrap="square" anchor="t" lIns="0" tIns="0" rIns="0" bIns="0">
            <a:noAutofit/>
          </a:bodyPr>
          <a:lstStyle/>
          <a:p>
            <a:pPr algn="l" marL="0" indent="0">
              <a:lnSpc>
                <a:spcPts val="1700"/>
              </a:lnSpc>
              <a:buNone/>
            </a:pPr>
            <a:r>
              <a:rPr lang="zh-CN" altLang="en-US" sz="1100" b="0">
                <a:solidFill>
                  <a:srgbClr val="666666"/>
                </a:solidFill>
                <a:latin typeface="微软雅黑"/>
                <a:ea typeface="微软雅黑"/>
                <a:cs typeface="微软雅黑"/>
              </a:rPr>
              <a:t>晚一年布局，就多一年被动。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总体技术路线</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四层引擎，把验证工作流交给智能体</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7</a:t>
            </a:r>
          </a:p>
        </p:txBody>
      </p:sp>
      <p:sp>
        <p:nvSpPr>
          <p:cNvPr id="6" name="TextBox 5"/>
          <p:cNvSpPr txBox="1"/>
          <p:nvPr/>
        </p:nvSpPr>
        <p:spPr>
          <a:xfrm>
            <a:off x="406400" y="2082800"/>
            <a:ext cx="6045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四层架构与分工</a:t>
            </a:r>
          </a:p>
        </p:txBody>
      </p:sp>
      <p:sp>
        <p:nvSpPr>
          <p:cNvPr id="7" name="Rectangle 6"/>
          <p:cNvSpPr/>
          <p:nvPr/>
        </p:nvSpPr>
        <p:spPr>
          <a:xfrm>
            <a:off x="406400" y="2362200"/>
            <a:ext cx="6045200" cy="673100"/>
          </a:xfrm>
          <a:prstGeom prst="rect">
            <a:avLst/>
          </a:prstGeom>
          <a:solidFill>
            <a:srgbClr val="FFFFFF"/>
          </a:solidFill>
          <a:ln w="6350">
            <a:solidFill>
              <a:srgbClr val="E9E9E9"/>
            </a:solidFill>
            <a:round/>
          </a:ln>
        </p:spPr>
        <p:txBody>
          <a:bodyPr rtlCol="0" anchor="ctr" lIns="0" rIns="0" tIns="0" bIns="0"/>
          <a:lstStyle/>
          <a:p>
            <a:pPr algn="ctr"/>
          </a:p>
        </p:txBody>
      </p:sp>
      <p:sp>
        <p:nvSpPr>
          <p:cNvPr id="8" name="Rectangle 7"/>
          <p:cNvSpPr/>
          <p:nvPr/>
        </p:nvSpPr>
        <p:spPr>
          <a:xfrm>
            <a:off x="406400" y="2362200"/>
            <a:ext cx="1587500" cy="673100"/>
          </a:xfrm>
          <a:prstGeom prst="rect">
            <a:avLst/>
          </a:prstGeom>
          <a:solidFill>
            <a:srgbClr val="FAF1F1"/>
          </a:solidFill>
          <a:ln>
            <a:noFill/>
          </a:ln>
        </p:spPr>
        <p:txBody>
          <a:bodyPr rtlCol="0" anchor="ctr" lIns="0" rIns="0" tIns="0" bIns="0"/>
          <a:lstStyle/>
          <a:p>
            <a:pPr algn="ctr"/>
          </a:p>
        </p:txBody>
      </p:sp>
      <p:sp>
        <p:nvSpPr>
          <p:cNvPr id="9" name="Rectangle 8"/>
          <p:cNvSpPr/>
          <p:nvPr/>
        </p:nvSpPr>
        <p:spPr>
          <a:xfrm>
            <a:off x="406400" y="2362200"/>
            <a:ext cx="19050" cy="673100"/>
          </a:xfrm>
          <a:prstGeom prst="rect">
            <a:avLst/>
          </a:prstGeom>
          <a:solidFill>
            <a:srgbClr val="8E0000"/>
          </a:solidFill>
          <a:ln>
            <a:noFill/>
          </a:ln>
        </p:spPr>
        <p:txBody>
          <a:bodyPr rtlCol="0" anchor="ctr" lIns="0" rIns="0" tIns="0" bIns="0"/>
          <a:lstStyle/>
          <a:p>
            <a:pPr algn="ctr"/>
          </a:p>
        </p:txBody>
      </p:sp>
      <p:sp>
        <p:nvSpPr>
          <p:cNvPr id="10" name="TextBox 9"/>
          <p:cNvSpPr txBox="1"/>
          <p:nvPr/>
        </p:nvSpPr>
        <p:spPr>
          <a:xfrm>
            <a:off x="571500" y="2476500"/>
            <a:ext cx="1358900" cy="215900"/>
          </a:xfrm>
          <a:prstGeom prst="rect">
            <a:avLst/>
          </a:prstGeom>
          <a:noFill/>
        </p:spPr>
        <p:txBody>
          <a:bodyPr wrap="none" anchor="t" lIns="0" tIns="0" rIns="0" bIns="0">
            <a:noAutofit/>
          </a:bodyPr>
          <a:lstStyle/>
          <a:p>
            <a:pPr algn="l" marL="0" indent="0">
              <a:lnSpc>
                <a:spcPts val="1700"/>
              </a:lnSpc>
              <a:buNone/>
            </a:pPr>
            <a:r>
              <a:rPr lang="zh-CN" altLang="en-US" sz="1200" b="1">
                <a:solidFill>
                  <a:srgbClr val="8E0000"/>
                </a:solidFill>
                <a:latin typeface="微软雅黑"/>
                <a:ea typeface="微软雅黑"/>
                <a:cs typeface="微软雅黑"/>
              </a:rPr>
              <a:t>④ 集成层</a:t>
            </a:r>
          </a:p>
        </p:txBody>
      </p:sp>
      <p:sp>
        <p:nvSpPr>
          <p:cNvPr id="11" name="TextBox 10"/>
          <p:cNvSpPr txBox="1"/>
          <p:nvPr/>
        </p:nvSpPr>
        <p:spPr>
          <a:xfrm>
            <a:off x="571500" y="2743200"/>
            <a:ext cx="1384300" cy="177800"/>
          </a:xfrm>
          <a:prstGeom prst="rect">
            <a:avLst/>
          </a:prstGeom>
          <a:noFill/>
        </p:spPr>
        <p:txBody>
          <a:bodyPr wrap="none" anchor="t" lIns="0" tIns="0" rIns="0" bIns="0">
            <a:noAutofit/>
          </a:bodyPr>
          <a:lstStyle/>
          <a:p>
            <a:pPr algn="l" marL="0" indent="0">
              <a:lnSpc>
                <a:spcPts val="1300"/>
              </a:lnSpc>
              <a:buNone/>
            </a:pPr>
            <a:r>
              <a:rPr lang="zh-CN" altLang="en-US" sz="850" b="1">
                <a:solidFill>
                  <a:srgbClr val="1A1A1A"/>
                </a:solidFill>
                <a:latin typeface="微软雅黑"/>
                <a:ea typeface="微软雅黑"/>
                <a:cs typeface="微软雅黑"/>
              </a:rPr>
              <a:t>架构融合与协同运行</a:t>
            </a:r>
          </a:p>
        </p:txBody>
      </p:sp>
      <p:sp>
        <p:nvSpPr>
          <p:cNvPr id="12" name="TextBox 11"/>
          <p:cNvSpPr txBox="1"/>
          <p:nvPr/>
        </p:nvSpPr>
        <p:spPr>
          <a:xfrm>
            <a:off x="2159000" y="2362200"/>
            <a:ext cx="4140200" cy="673100"/>
          </a:xfrm>
          <a:prstGeom prst="rect">
            <a:avLst/>
          </a:prstGeom>
          <a:noFill/>
        </p:spPr>
        <p:txBody>
          <a:bodyPr wrap="square" anchor="ctr" lIns="0" tIns="0" rIns="0" bIns="0">
            <a:noAutofit/>
          </a:bodyPr>
          <a:lstStyle/>
          <a:p>
            <a:pPr algn="l" marL="0" indent="0">
              <a:lnSpc>
                <a:spcPts val="1700"/>
              </a:lnSpc>
              <a:buNone/>
            </a:pPr>
            <a:r>
              <a:rPr lang="zh-CN" altLang="en-US" sz="1100" b="0">
                <a:solidFill>
                  <a:srgbClr val="3D3D3D"/>
                </a:solidFill>
                <a:latin typeface="微软雅黑"/>
                <a:ea typeface="微软雅黑"/>
                <a:cs typeface="微软雅黑"/>
              </a:rPr>
              <a:t>智能体在沙箱中协同运行，集成为数字样机</a:t>
            </a:r>
          </a:p>
        </p:txBody>
      </p:sp>
      <p:sp>
        <p:nvSpPr>
          <p:cNvPr id="13" name="Rectangle 12"/>
          <p:cNvSpPr/>
          <p:nvPr/>
        </p:nvSpPr>
        <p:spPr>
          <a:xfrm>
            <a:off x="406400" y="3111500"/>
            <a:ext cx="6045200" cy="673100"/>
          </a:xfrm>
          <a:prstGeom prst="rect">
            <a:avLst/>
          </a:prstGeom>
          <a:solidFill>
            <a:srgbClr val="FFFFFF"/>
          </a:solidFill>
          <a:ln w="6350">
            <a:solidFill>
              <a:srgbClr val="E9E9E9"/>
            </a:solidFill>
            <a:round/>
          </a:ln>
        </p:spPr>
        <p:txBody>
          <a:bodyPr rtlCol="0" anchor="ctr" lIns="0" rIns="0" tIns="0" bIns="0"/>
          <a:lstStyle/>
          <a:p>
            <a:pPr algn="ctr"/>
          </a:p>
        </p:txBody>
      </p:sp>
      <p:sp>
        <p:nvSpPr>
          <p:cNvPr id="14" name="Rectangle 13"/>
          <p:cNvSpPr/>
          <p:nvPr/>
        </p:nvSpPr>
        <p:spPr>
          <a:xfrm>
            <a:off x="406400" y="3111500"/>
            <a:ext cx="1587500" cy="673100"/>
          </a:xfrm>
          <a:prstGeom prst="rect">
            <a:avLst/>
          </a:prstGeom>
          <a:solidFill>
            <a:srgbClr val="FCF2F2"/>
          </a:solidFill>
          <a:ln>
            <a:noFill/>
          </a:ln>
        </p:spPr>
        <p:txBody>
          <a:bodyPr rtlCol="0" anchor="ctr" lIns="0" rIns="0" tIns="0" bIns="0"/>
          <a:lstStyle/>
          <a:p>
            <a:pPr algn="ctr"/>
          </a:p>
        </p:txBody>
      </p:sp>
      <p:sp>
        <p:nvSpPr>
          <p:cNvPr id="15" name="Rectangle 14"/>
          <p:cNvSpPr/>
          <p:nvPr/>
        </p:nvSpPr>
        <p:spPr>
          <a:xfrm>
            <a:off x="406400" y="3111500"/>
            <a:ext cx="19050" cy="673100"/>
          </a:xfrm>
          <a:prstGeom prst="rect">
            <a:avLst/>
          </a:prstGeom>
          <a:solidFill>
            <a:srgbClr val="C00000"/>
          </a:solidFill>
          <a:ln>
            <a:noFill/>
          </a:ln>
        </p:spPr>
        <p:txBody>
          <a:bodyPr rtlCol="0" anchor="ctr" lIns="0" rIns="0" tIns="0" bIns="0"/>
          <a:lstStyle/>
          <a:p>
            <a:pPr algn="ctr"/>
          </a:p>
        </p:txBody>
      </p:sp>
      <p:sp>
        <p:nvSpPr>
          <p:cNvPr id="16" name="TextBox 15"/>
          <p:cNvSpPr txBox="1"/>
          <p:nvPr/>
        </p:nvSpPr>
        <p:spPr>
          <a:xfrm>
            <a:off x="571500" y="3225800"/>
            <a:ext cx="1358900" cy="215900"/>
          </a:xfrm>
          <a:prstGeom prst="rect">
            <a:avLst/>
          </a:prstGeom>
          <a:noFill/>
        </p:spPr>
        <p:txBody>
          <a:bodyPr wrap="none" anchor="t" lIns="0" tIns="0" rIns="0" bIns="0">
            <a:noAutofit/>
          </a:bodyPr>
          <a:lstStyle/>
          <a:p>
            <a:pPr algn="l" marL="0" indent="0">
              <a:lnSpc>
                <a:spcPts val="1700"/>
              </a:lnSpc>
              <a:buNone/>
            </a:pPr>
            <a:r>
              <a:rPr lang="zh-CN" altLang="en-US" sz="1200" b="1">
                <a:solidFill>
                  <a:srgbClr val="C00000"/>
                </a:solidFill>
                <a:latin typeface="微软雅黑"/>
                <a:ea typeface="微软雅黑"/>
                <a:cs typeface="微软雅黑"/>
              </a:rPr>
              <a:t>③ 执行层</a:t>
            </a:r>
          </a:p>
        </p:txBody>
      </p:sp>
      <p:sp>
        <p:nvSpPr>
          <p:cNvPr id="17" name="TextBox 16"/>
          <p:cNvSpPr txBox="1"/>
          <p:nvPr/>
        </p:nvSpPr>
        <p:spPr>
          <a:xfrm>
            <a:off x="571500" y="3492500"/>
            <a:ext cx="1384300" cy="177800"/>
          </a:xfrm>
          <a:prstGeom prst="rect">
            <a:avLst/>
          </a:prstGeom>
          <a:noFill/>
        </p:spPr>
        <p:txBody>
          <a:bodyPr wrap="none" anchor="t" lIns="0" tIns="0" rIns="0" bIns="0">
            <a:noAutofit/>
          </a:bodyPr>
          <a:lstStyle/>
          <a:p>
            <a:pPr algn="l" marL="0" indent="0">
              <a:lnSpc>
                <a:spcPts val="1300"/>
              </a:lnSpc>
              <a:buNone/>
            </a:pPr>
            <a:r>
              <a:rPr lang="zh-CN" altLang="en-US" sz="850" b="1">
                <a:solidFill>
                  <a:srgbClr val="1A1A1A"/>
                </a:solidFill>
                <a:latin typeface="微软雅黑"/>
                <a:ea typeface="微软雅黑"/>
                <a:cs typeface="微软雅黑"/>
              </a:rPr>
              <a:t>智能体执行</a:t>
            </a:r>
          </a:p>
        </p:txBody>
      </p:sp>
      <p:sp>
        <p:nvSpPr>
          <p:cNvPr id="18" name="TextBox 17"/>
          <p:cNvSpPr txBox="1"/>
          <p:nvPr/>
        </p:nvSpPr>
        <p:spPr>
          <a:xfrm>
            <a:off x="2159000" y="3111500"/>
            <a:ext cx="4140200" cy="673100"/>
          </a:xfrm>
          <a:prstGeom prst="rect">
            <a:avLst/>
          </a:prstGeom>
          <a:noFill/>
        </p:spPr>
        <p:txBody>
          <a:bodyPr wrap="square" anchor="ctr" lIns="0" tIns="0" rIns="0" bIns="0">
            <a:noAutofit/>
          </a:bodyPr>
          <a:lstStyle/>
          <a:p>
            <a:pPr algn="l" marL="0" indent="0">
              <a:lnSpc>
                <a:spcPts val="1700"/>
              </a:lnSpc>
              <a:buNone/>
            </a:pPr>
            <a:r>
              <a:rPr lang="zh-CN" altLang="en-US" sz="1100" b="0">
                <a:solidFill>
                  <a:srgbClr val="3D3D3D"/>
                </a:solidFill>
                <a:latin typeface="微软雅黑"/>
                <a:ea typeface="微软雅黑"/>
                <a:cs typeface="微软雅黑"/>
              </a:rPr>
              <a:t>跑工况、自动判读、生成报告</a:t>
            </a:r>
          </a:p>
        </p:txBody>
      </p:sp>
      <p:sp>
        <p:nvSpPr>
          <p:cNvPr id="19" name="Rectangle 18"/>
          <p:cNvSpPr/>
          <p:nvPr/>
        </p:nvSpPr>
        <p:spPr>
          <a:xfrm>
            <a:off x="406400" y="3860800"/>
            <a:ext cx="6045200" cy="673100"/>
          </a:xfrm>
          <a:prstGeom prst="rect">
            <a:avLst/>
          </a:prstGeom>
          <a:solidFill>
            <a:srgbClr val="FFFFFF"/>
          </a:solidFill>
          <a:ln w="6350">
            <a:solidFill>
              <a:srgbClr val="E9E9E9"/>
            </a:solidFill>
            <a:round/>
          </a:ln>
        </p:spPr>
        <p:txBody>
          <a:bodyPr rtlCol="0" anchor="ctr" lIns="0" rIns="0" tIns="0" bIns="0"/>
          <a:lstStyle/>
          <a:p>
            <a:pPr algn="ctr"/>
          </a:p>
        </p:txBody>
      </p:sp>
      <p:sp>
        <p:nvSpPr>
          <p:cNvPr id="20" name="Rectangle 19"/>
          <p:cNvSpPr/>
          <p:nvPr/>
        </p:nvSpPr>
        <p:spPr>
          <a:xfrm>
            <a:off x="406400" y="3860800"/>
            <a:ext cx="1587500" cy="673100"/>
          </a:xfrm>
          <a:prstGeom prst="rect">
            <a:avLst/>
          </a:prstGeom>
          <a:solidFill>
            <a:srgbClr val="FCF3F3"/>
          </a:solidFill>
          <a:ln>
            <a:noFill/>
          </a:ln>
        </p:spPr>
        <p:txBody>
          <a:bodyPr rtlCol="0" anchor="ctr" lIns="0" rIns="0" tIns="0" bIns="0"/>
          <a:lstStyle/>
          <a:p>
            <a:pPr algn="ctr"/>
          </a:p>
        </p:txBody>
      </p:sp>
      <p:sp>
        <p:nvSpPr>
          <p:cNvPr id="21" name="Rectangle 20"/>
          <p:cNvSpPr/>
          <p:nvPr/>
        </p:nvSpPr>
        <p:spPr>
          <a:xfrm>
            <a:off x="406400" y="3860800"/>
            <a:ext cx="19050" cy="673100"/>
          </a:xfrm>
          <a:prstGeom prst="rect">
            <a:avLst/>
          </a:prstGeom>
          <a:solidFill>
            <a:srgbClr val="C83535"/>
          </a:solidFill>
          <a:ln>
            <a:noFill/>
          </a:ln>
        </p:spPr>
        <p:txBody>
          <a:bodyPr rtlCol="0" anchor="ctr" lIns="0" rIns="0" tIns="0" bIns="0"/>
          <a:lstStyle/>
          <a:p>
            <a:pPr algn="ctr"/>
          </a:p>
        </p:txBody>
      </p:sp>
      <p:sp>
        <p:nvSpPr>
          <p:cNvPr id="22" name="TextBox 21"/>
          <p:cNvSpPr txBox="1"/>
          <p:nvPr/>
        </p:nvSpPr>
        <p:spPr>
          <a:xfrm>
            <a:off x="571500" y="3975100"/>
            <a:ext cx="1358900" cy="215900"/>
          </a:xfrm>
          <a:prstGeom prst="rect">
            <a:avLst/>
          </a:prstGeom>
          <a:noFill/>
        </p:spPr>
        <p:txBody>
          <a:bodyPr wrap="none" anchor="t" lIns="0" tIns="0" rIns="0" bIns="0">
            <a:noAutofit/>
          </a:bodyPr>
          <a:lstStyle/>
          <a:p>
            <a:pPr algn="l" marL="0" indent="0">
              <a:lnSpc>
                <a:spcPts val="1700"/>
              </a:lnSpc>
              <a:buNone/>
            </a:pPr>
            <a:r>
              <a:rPr lang="zh-CN" altLang="en-US" sz="1200" b="1">
                <a:solidFill>
                  <a:srgbClr val="B02A2A"/>
                </a:solidFill>
                <a:latin typeface="微软雅黑"/>
                <a:ea typeface="微软雅黑"/>
                <a:cs typeface="微软雅黑"/>
              </a:rPr>
              <a:t>② 决策层</a:t>
            </a:r>
          </a:p>
        </p:txBody>
      </p:sp>
      <p:sp>
        <p:nvSpPr>
          <p:cNvPr id="23" name="TextBox 22"/>
          <p:cNvSpPr txBox="1"/>
          <p:nvPr/>
        </p:nvSpPr>
        <p:spPr>
          <a:xfrm>
            <a:off x="571500" y="4241800"/>
            <a:ext cx="1384300" cy="177800"/>
          </a:xfrm>
          <a:prstGeom prst="rect">
            <a:avLst/>
          </a:prstGeom>
          <a:noFill/>
        </p:spPr>
        <p:txBody>
          <a:bodyPr wrap="none" anchor="t" lIns="0" tIns="0" rIns="0" bIns="0">
            <a:noAutofit/>
          </a:bodyPr>
          <a:lstStyle/>
          <a:p>
            <a:pPr algn="l" marL="0" indent="0">
              <a:lnSpc>
                <a:spcPts val="1300"/>
              </a:lnSpc>
              <a:buNone/>
            </a:pPr>
            <a:r>
              <a:rPr lang="zh-CN" altLang="en-US" sz="850" b="1">
                <a:solidFill>
                  <a:srgbClr val="1A1A1A"/>
                </a:solidFill>
                <a:latin typeface="微软雅黑"/>
                <a:ea typeface="微软雅黑"/>
                <a:cs typeface="微软雅黑"/>
              </a:rPr>
              <a:t>任务理解与智能编排调度</a:t>
            </a:r>
          </a:p>
        </p:txBody>
      </p:sp>
      <p:sp>
        <p:nvSpPr>
          <p:cNvPr id="24" name="TextBox 23"/>
          <p:cNvSpPr txBox="1"/>
          <p:nvPr/>
        </p:nvSpPr>
        <p:spPr>
          <a:xfrm>
            <a:off x="2159000" y="3860800"/>
            <a:ext cx="4140200" cy="673100"/>
          </a:xfrm>
          <a:prstGeom prst="rect">
            <a:avLst/>
          </a:prstGeom>
          <a:noFill/>
        </p:spPr>
        <p:txBody>
          <a:bodyPr wrap="square" anchor="ctr" lIns="0" tIns="0" rIns="0" bIns="0">
            <a:noAutofit/>
          </a:bodyPr>
          <a:lstStyle/>
          <a:p>
            <a:pPr algn="l" marL="0" indent="0">
              <a:lnSpc>
                <a:spcPts val="1700"/>
              </a:lnSpc>
              <a:buNone/>
            </a:pPr>
            <a:r>
              <a:rPr lang="zh-CN" altLang="en-US" sz="1100" b="0">
                <a:solidFill>
                  <a:srgbClr val="3D3D3D"/>
                </a:solidFill>
                <a:latin typeface="微软雅黑"/>
                <a:ea typeface="微软雅黑"/>
                <a:cs typeface="微软雅黑"/>
              </a:rPr>
              <a:t>需求 → 任务；自动装配智能体、分配精度与算力</a:t>
            </a:r>
          </a:p>
        </p:txBody>
      </p:sp>
      <p:sp>
        <p:nvSpPr>
          <p:cNvPr id="25" name="Rectangle 24"/>
          <p:cNvSpPr/>
          <p:nvPr/>
        </p:nvSpPr>
        <p:spPr>
          <a:xfrm>
            <a:off x="406400" y="4610100"/>
            <a:ext cx="6045200" cy="673100"/>
          </a:xfrm>
          <a:prstGeom prst="rect">
            <a:avLst/>
          </a:prstGeom>
          <a:solidFill>
            <a:srgbClr val="FFFFFF"/>
          </a:solidFill>
          <a:ln w="6350">
            <a:solidFill>
              <a:srgbClr val="E9E9E9"/>
            </a:solidFill>
            <a:round/>
          </a:ln>
        </p:spPr>
        <p:txBody>
          <a:bodyPr rtlCol="0" anchor="ctr" lIns="0" rIns="0" tIns="0" bIns="0"/>
          <a:lstStyle/>
          <a:p>
            <a:pPr algn="ctr"/>
          </a:p>
        </p:txBody>
      </p:sp>
      <p:sp>
        <p:nvSpPr>
          <p:cNvPr id="26" name="Rectangle 25"/>
          <p:cNvSpPr/>
          <p:nvPr/>
        </p:nvSpPr>
        <p:spPr>
          <a:xfrm>
            <a:off x="406400" y="4610100"/>
            <a:ext cx="1587500" cy="673100"/>
          </a:xfrm>
          <a:prstGeom prst="rect">
            <a:avLst/>
          </a:prstGeom>
          <a:solidFill>
            <a:srgbClr val="FDF5F5"/>
          </a:solidFill>
          <a:ln>
            <a:noFill/>
          </a:ln>
        </p:spPr>
        <p:txBody>
          <a:bodyPr rtlCol="0" anchor="ctr" lIns="0" rIns="0" tIns="0" bIns="0"/>
          <a:lstStyle/>
          <a:p>
            <a:pPr algn="ctr"/>
          </a:p>
        </p:txBody>
      </p:sp>
      <p:sp>
        <p:nvSpPr>
          <p:cNvPr id="27" name="Rectangle 26"/>
          <p:cNvSpPr/>
          <p:nvPr/>
        </p:nvSpPr>
        <p:spPr>
          <a:xfrm>
            <a:off x="406400" y="4610100"/>
            <a:ext cx="19050" cy="673100"/>
          </a:xfrm>
          <a:prstGeom prst="rect">
            <a:avLst/>
          </a:prstGeom>
          <a:solidFill>
            <a:srgbClr val="D46A6A"/>
          </a:solidFill>
          <a:ln>
            <a:noFill/>
          </a:ln>
        </p:spPr>
        <p:txBody>
          <a:bodyPr rtlCol="0" anchor="ctr" lIns="0" rIns="0" tIns="0" bIns="0"/>
          <a:lstStyle/>
          <a:p>
            <a:pPr algn="ctr"/>
          </a:p>
        </p:txBody>
      </p:sp>
      <p:sp>
        <p:nvSpPr>
          <p:cNvPr id="28" name="TextBox 27"/>
          <p:cNvSpPr txBox="1"/>
          <p:nvPr/>
        </p:nvSpPr>
        <p:spPr>
          <a:xfrm>
            <a:off x="571500" y="4724400"/>
            <a:ext cx="1358900" cy="215900"/>
          </a:xfrm>
          <a:prstGeom prst="rect">
            <a:avLst/>
          </a:prstGeom>
          <a:noFill/>
        </p:spPr>
        <p:txBody>
          <a:bodyPr wrap="none" anchor="t" lIns="0" tIns="0" rIns="0" bIns="0">
            <a:noAutofit/>
          </a:bodyPr>
          <a:lstStyle/>
          <a:p>
            <a:pPr algn="l" marL="0" indent="0">
              <a:lnSpc>
                <a:spcPts val="1700"/>
              </a:lnSpc>
              <a:buNone/>
            </a:pPr>
            <a:r>
              <a:rPr lang="zh-CN" altLang="en-US" sz="1200" b="1">
                <a:solidFill>
                  <a:srgbClr val="B84848"/>
                </a:solidFill>
                <a:latin typeface="微软雅黑"/>
                <a:ea typeface="微软雅黑"/>
                <a:cs typeface="微软雅黑"/>
              </a:rPr>
              <a:t>① 基础层</a:t>
            </a:r>
          </a:p>
        </p:txBody>
      </p:sp>
      <p:sp>
        <p:nvSpPr>
          <p:cNvPr id="29" name="TextBox 28"/>
          <p:cNvSpPr txBox="1"/>
          <p:nvPr/>
        </p:nvSpPr>
        <p:spPr>
          <a:xfrm>
            <a:off x="571500" y="4991100"/>
            <a:ext cx="1384300" cy="177800"/>
          </a:xfrm>
          <a:prstGeom prst="rect">
            <a:avLst/>
          </a:prstGeom>
          <a:noFill/>
        </p:spPr>
        <p:txBody>
          <a:bodyPr wrap="none" anchor="t" lIns="0" tIns="0" rIns="0" bIns="0">
            <a:noAutofit/>
          </a:bodyPr>
          <a:lstStyle/>
          <a:p>
            <a:pPr algn="l" marL="0" indent="0">
              <a:lnSpc>
                <a:spcPts val="1300"/>
              </a:lnSpc>
              <a:buNone/>
            </a:pPr>
            <a:r>
              <a:rPr lang="zh-CN" altLang="en-US" sz="850" b="1">
                <a:solidFill>
                  <a:srgbClr val="1A1A1A"/>
                </a:solidFill>
                <a:latin typeface="微软雅黑"/>
                <a:ea typeface="微软雅黑"/>
                <a:cs typeface="微软雅黑"/>
              </a:rPr>
              <a:t>测试知识库与任务工作流</a:t>
            </a:r>
          </a:p>
        </p:txBody>
      </p:sp>
      <p:sp>
        <p:nvSpPr>
          <p:cNvPr id="30" name="TextBox 29"/>
          <p:cNvSpPr txBox="1"/>
          <p:nvPr/>
        </p:nvSpPr>
        <p:spPr>
          <a:xfrm>
            <a:off x="2159000" y="4610100"/>
            <a:ext cx="4140200" cy="673100"/>
          </a:xfrm>
          <a:prstGeom prst="rect">
            <a:avLst/>
          </a:prstGeom>
          <a:noFill/>
        </p:spPr>
        <p:txBody>
          <a:bodyPr wrap="square" anchor="ctr" lIns="0" tIns="0" rIns="0" bIns="0">
            <a:noAutofit/>
          </a:bodyPr>
          <a:lstStyle/>
          <a:p>
            <a:pPr algn="l" marL="0" indent="0">
              <a:lnSpc>
                <a:spcPts val="1700"/>
              </a:lnSpc>
              <a:buNone/>
            </a:pPr>
            <a:r>
              <a:rPr lang="zh-CN" altLang="en-US" sz="1100" b="0">
                <a:solidFill>
                  <a:srgbClr val="3D3D3D"/>
                </a:solidFill>
                <a:latin typeface="微软雅黑"/>
                <a:ea typeface="微软雅黑"/>
                <a:cs typeface="微软雅黑"/>
              </a:rPr>
              <a:t>标准、大纲、案例 → 可自动比对的判据</a:t>
            </a:r>
          </a:p>
        </p:txBody>
      </p:sp>
      <p:sp>
        <p:nvSpPr>
          <p:cNvPr id="31" name="TextBox 30"/>
          <p:cNvSpPr txBox="1"/>
          <p:nvPr/>
        </p:nvSpPr>
        <p:spPr>
          <a:xfrm>
            <a:off x="6705600" y="2082800"/>
            <a:ext cx="5080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接入现有体系，不另起炉灶</a:t>
            </a:r>
          </a:p>
        </p:txBody>
      </p:sp>
      <p:cxnSp>
        <p:nvCxnSpPr>
          <p:cNvPr id="32" name="Connector 31"/>
          <p:cNvCxnSpPr/>
          <p:nvPr/>
        </p:nvCxnSpPr>
        <p:spPr>
          <a:xfrm>
            <a:off x="6705600" y="2641600"/>
            <a:ext cx="5080000" cy="0"/>
          </a:xfrm>
          <a:prstGeom prst="line">
            <a:avLst/>
          </a:prstGeom>
          <a:ln w="7620">
            <a:solidFill>
              <a:srgbClr val="666666"/>
            </a:solidFill>
            <a:round/>
          </a:ln>
        </p:spPr>
      </p:cxnSp>
      <p:sp>
        <p:nvSpPr>
          <p:cNvPr id="33" name="TextBox 32"/>
          <p:cNvSpPr txBox="1"/>
          <p:nvPr/>
        </p:nvSpPr>
        <p:spPr>
          <a:xfrm>
            <a:off x="6807200" y="2362200"/>
            <a:ext cx="1955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现有资源</a:t>
            </a:r>
          </a:p>
        </p:txBody>
      </p:sp>
      <p:sp>
        <p:nvSpPr>
          <p:cNvPr id="34" name="TextBox 33"/>
          <p:cNvSpPr txBox="1"/>
          <p:nvPr/>
        </p:nvSpPr>
        <p:spPr>
          <a:xfrm>
            <a:off x="8966200" y="2362200"/>
            <a:ext cx="2717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接入方式</a:t>
            </a:r>
          </a:p>
        </p:txBody>
      </p:sp>
      <p:sp>
        <p:nvSpPr>
          <p:cNvPr id="35" name="TextBox 34"/>
          <p:cNvSpPr txBox="1"/>
          <p:nvPr/>
        </p:nvSpPr>
        <p:spPr>
          <a:xfrm>
            <a:off x="6807200" y="2641600"/>
            <a:ext cx="1955800" cy="660400"/>
          </a:xfrm>
          <a:prstGeom prst="rect">
            <a:avLst/>
          </a:prstGeom>
          <a:noFill/>
        </p:spPr>
        <p:txBody>
          <a:bodyPr wrap="square" anchor="ctr" lIns="0" tIns="0" rIns="0" bIns="0">
            <a:noAutofit/>
          </a:bodyPr>
          <a:lstStyle/>
          <a:p>
            <a:pPr algn="l" marL="0" indent="0">
              <a:lnSpc>
                <a:spcPts val="1500"/>
              </a:lnSpc>
              <a:buNone/>
            </a:pPr>
            <a:r>
              <a:rPr lang="zh-CN" altLang="en-US" sz="1050" b="1">
                <a:solidFill>
                  <a:srgbClr val="1A1A1A"/>
                </a:solidFill>
                <a:latin typeface="微软雅黑"/>
                <a:ea typeface="微软雅黑"/>
                <a:cs typeface="微软雅黑"/>
              </a:rPr>
              <a:t>设计规范、试验大纲</a:t>
            </a:r>
          </a:p>
        </p:txBody>
      </p:sp>
      <p:sp>
        <p:nvSpPr>
          <p:cNvPr id="36" name="TextBox 35"/>
          <p:cNvSpPr txBox="1"/>
          <p:nvPr/>
        </p:nvSpPr>
        <p:spPr>
          <a:xfrm>
            <a:off x="8966200" y="2641600"/>
            <a:ext cx="2717800" cy="660400"/>
          </a:xfrm>
          <a:prstGeom prst="rect">
            <a:avLst/>
          </a:prstGeom>
          <a:noFill/>
        </p:spPr>
        <p:txBody>
          <a:bodyPr wrap="square" anchor="ctr" lIns="0" tIns="0" rIns="0" bIns="0">
            <a:noAutofit/>
          </a:bodyPr>
          <a:lstStyle/>
          <a:p>
            <a:pPr algn="l" marL="0" indent="0">
              <a:lnSpc>
                <a:spcPts val="1500"/>
              </a:lnSpc>
              <a:buNone/>
            </a:pPr>
            <a:r>
              <a:rPr lang="zh-CN" altLang="en-US" sz="1050" b="0">
                <a:solidFill>
                  <a:srgbClr val="3D3D3D"/>
                </a:solidFill>
                <a:latin typeface="微软雅黑"/>
                <a:ea typeface="微软雅黑"/>
                <a:cs typeface="微软雅黑"/>
              </a:rPr>
              <a:t>提取为判据与流程模板</a:t>
            </a:r>
          </a:p>
        </p:txBody>
      </p:sp>
      <p:cxnSp>
        <p:nvCxnSpPr>
          <p:cNvPr id="37" name="Connector 36"/>
          <p:cNvCxnSpPr/>
          <p:nvPr/>
        </p:nvCxnSpPr>
        <p:spPr>
          <a:xfrm>
            <a:off x="6705600" y="3302000"/>
            <a:ext cx="5080000" cy="0"/>
          </a:xfrm>
          <a:prstGeom prst="line">
            <a:avLst/>
          </a:prstGeom>
          <a:ln w="6350">
            <a:solidFill>
              <a:srgbClr val="E9E9E9"/>
            </a:solidFill>
            <a:round/>
          </a:ln>
        </p:spPr>
      </p:cxnSp>
      <p:sp>
        <p:nvSpPr>
          <p:cNvPr id="38" name="TextBox 37"/>
          <p:cNvSpPr txBox="1"/>
          <p:nvPr/>
        </p:nvSpPr>
        <p:spPr>
          <a:xfrm>
            <a:off x="6807200" y="3302000"/>
            <a:ext cx="1955800" cy="660400"/>
          </a:xfrm>
          <a:prstGeom prst="rect">
            <a:avLst/>
          </a:prstGeom>
          <a:noFill/>
        </p:spPr>
        <p:txBody>
          <a:bodyPr wrap="square" anchor="ctr" lIns="0" tIns="0" rIns="0" bIns="0">
            <a:noAutofit/>
          </a:bodyPr>
          <a:lstStyle/>
          <a:p>
            <a:pPr algn="l" marL="0" indent="0">
              <a:lnSpc>
                <a:spcPts val="1500"/>
              </a:lnSpc>
              <a:buNone/>
            </a:pPr>
            <a:r>
              <a:rPr lang="zh-CN" altLang="en-US" sz="1050" b="1">
                <a:solidFill>
                  <a:srgbClr val="1A1A1A"/>
                </a:solidFill>
                <a:latin typeface="微软雅黑"/>
                <a:ea typeface="微软雅黑"/>
                <a:cs typeface="微软雅黑"/>
              </a:rPr>
              <a:t>已有仿真模型、HIL 台架</a:t>
            </a:r>
          </a:p>
        </p:txBody>
      </p:sp>
      <p:sp>
        <p:nvSpPr>
          <p:cNvPr id="39" name="TextBox 38"/>
          <p:cNvSpPr txBox="1"/>
          <p:nvPr/>
        </p:nvSpPr>
        <p:spPr>
          <a:xfrm>
            <a:off x="8966200" y="3302000"/>
            <a:ext cx="2717800" cy="660400"/>
          </a:xfrm>
          <a:prstGeom prst="rect">
            <a:avLst/>
          </a:prstGeom>
          <a:noFill/>
        </p:spPr>
        <p:txBody>
          <a:bodyPr wrap="square" anchor="ctr" lIns="0" tIns="0" rIns="0" bIns="0">
            <a:noAutofit/>
          </a:bodyPr>
          <a:lstStyle/>
          <a:p>
            <a:pPr algn="l" marL="0" indent="0">
              <a:lnSpc>
                <a:spcPts val="1500"/>
              </a:lnSpc>
              <a:buNone/>
            </a:pPr>
            <a:r>
              <a:rPr lang="zh-CN" altLang="en-US" sz="1050" b="0">
                <a:solidFill>
                  <a:srgbClr val="3D3D3D"/>
                </a:solidFill>
                <a:latin typeface="微软雅黑"/>
                <a:ea typeface="微软雅黑"/>
                <a:cs typeface="微软雅黑"/>
              </a:rPr>
              <a:t>标准接口接入，不重复建模</a:t>
            </a:r>
          </a:p>
        </p:txBody>
      </p:sp>
      <p:cxnSp>
        <p:nvCxnSpPr>
          <p:cNvPr id="40" name="Connector 39"/>
          <p:cNvCxnSpPr/>
          <p:nvPr/>
        </p:nvCxnSpPr>
        <p:spPr>
          <a:xfrm>
            <a:off x="6705600" y="3962400"/>
            <a:ext cx="5080000" cy="0"/>
          </a:xfrm>
          <a:prstGeom prst="line">
            <a:avLst/>
          </a:prstGeom>
          <a:ln w="6350">
            <a:solidFill>
              <a:srgbClr val="E9E9E9"/>
            </a:solidFill>
            <a:round/>
          </a:ln>
        </p:spPr>
      </p:cxnSp>
      <p:sp>
        <p:nvSpPr>
          <p:cNvPr id="41" name="TextBox 40"/>
          <p:cNvSpPr txBox="1"/>
          <p:nvPr/>
        </p:nvSpPr>
        <p:spPr>
          <a:xfrm>
            <a:off x="6807200" y="3962400"/>
            <a:ext cx="1955800" cy="660400"/>
          </a:xfrm>
          <a:prstGeom prst="rect">
            <a:avLst/>
          </a:prstGeom>
          <a:noFill/>
        </p:spPr>
        <p:txBody>
          <a:bodyPr wrap="square" anchor="ctr" lIns="0" tIns="0" rIns="0" bIns="0">
            <a:noAutofit/>
          </a:bodyPr>
          <a:lstStyle/>
          <a:p>
            <a:pPr algn="l" marL="0" indent="0">
              <a:lnSpc>
                <a:spcPts val="1500"/>
              </a:lnSpc>
              <a:buNone/>
            </a:pPr>
            <a:r>
              <a:rPr lang="zh-CN" altLang="en-US" sz="1050" b="1">
                <a:solidFill>
                  <a:srgbClr val="1A1A1A"/>
                </a:solidFill>
                <a:latin typeface="微软雅黑"/>
                <a:ea typeface="微软雅黑"/>
                <a:cs typeface="微软雅黑"/>
              </a:rPr>
              <a:t>试验与运用数据</a:t>
            </a:r>
          </a:p>
        </p:txBody>
      </p:sp>
      <p:sp>
        <p:nvSpPr>
          <p:cNvPr id="42" name="TextBox 41"/>
          <p:cNvSpPr txBox="1"/>
          <p:nvPr/>
        </p:nvSpPr>
        <p:spPr>
          <a:xfrm>
            <a:off x="8966200" y="3962400"/>
            <a:ext cx="2717800" cy="660400"/>
          </a:xfrm>
          <a:prstGeom prst="rect">
            <a:avLst/>
          </a:prstGeom>
          <a:noFill/>
        </p:spPr>
        <p:txBody>
          <a:bodyPr wrap="square" anchor="ctr" lIns="0" tIns="0" rIns="0" bIns="0">
            <a:noAutofit/>
          </a:bodyPr>
          <a:lstStyle/>
          <a:p>
            <a:pPr algn="l" marL="0" indent="0">
              <a:lnSpc>
                <a:spcPts val="1500"/>
              </a:lnSpc>
              <a:buNone/>
            </a:pPr>
            <a:r>
              <a:rPr lang="zh-CN" altLang="en-US" sz="1050" b="0">
                <a:solidFill>
                  <a:srgbClr val="3D3D3D"/>
                </a:solidFill>
                <a:latin typeface="微软雅黑"/>
                <a:ea typeface="微软雅黑"/>
                <a:cs typeface="微软雅黑"/>
              </a:rPr>
              <a:t>用于智能体自动标定</a:t>
            </a:r>
          </a:p>
        </p:txBody>
      </p:sp>
      <p:cxnSp>
        <p:nvCxnSpPr>
          <p:cNvPr id="43" name="Connector 42"/>
          <p:cNvCxnSpPr/>
          <p:nvPr/>
        </p:nvCxnSpPr>
        <p:spPr>
          <a:xfrm>
            <a:off x="6705600" y="4622800"/>
            <a:ext cx="5080000" cy="0"/>
          </a:xfrm>
          <a:prstGeom prst="line">
            <a:avLst/>
          </a:prstGeom>
          <a:ln w="6350">
            <a:solidFill>
              <a:srgbClr val="E9E9E9"/>
            </a:solidFill>
            <a:round/>
          </a:ln>
        </p:spPr>
      </p:cxnSp>
      <p:sp>
        <p:nvSpPr>
          <p:cNvPr id="44" name="TextBox 43"/>
          <p:cNvSpPr txBox="1"/>
          <p:nvPr/>
        </p:nvSpPr>
        <p:spPr>
          <a:xfrm>
            <a:off x="6807200" y="4622800"/>
            <a:ext cx="1955800" cy="660400"/>
          </a:xfrm>
          <a:prstGeom prst="rect">
            <a:avLst/>
          </a:prstGeom>
          <a:noFill/>
        </p:spPr>
        <p:txBody>
          <a:bodyPr wrap="square" anchor="ctr" lIns="0" tIns="0" rIns="0" bIns="0">
            <a:noAutofit/>
          </a:bodyPr>
          <a:lstStyle/>
          <a:p>
            <a:pPr algn="l" marL="0" indent="0">
              <a:lnSpc>
                <a:spcPts val="1500"/>
              </a:lnSpc>
              <a:buNone/>
            </a:pPr>
            <a:r>
              <a:rPr lang="zh-CN" altLang="en-US" sz="1050" b="1">
                <a:solidFill>
                  <a:srgbClr val="1A1A1A"/>
                </a:solidFill>
                <a:latin typeface="微软雅黑"/>
                <a:ea typeface="微软雅黑"/>
                <a:cs typeface="微软雅黑"/>
              </a:rPr>
              <a:t>验证报告</a:t>
            </a:r>
          </a:p>
        </p:txBody>
      </p:sp>
      <p:sp>
        <p:nvSpPr>
          <p:cNvPr id="45" name="TextBox 44"/>
          <p:cNvSpPr txBox="1"/>
          <p:nvPr/>
        </p:nvSpPr>
        <p:spPr>
          <a:xfrm>
            <a:off x="8966200" y="4622800"/>
            <a:ext cx="2717800" cy="660400"/>
          </a:xfrm>
          <a:prstGeom prst="rect">
            <a:avLst/>
          </a:prstGeom>
          <a:noFill/>
        </p:spPr>
        <p:txBody>
          <a:bodyPr wrap="square" anchor="ctr" lIns="0" tIns="0" rIns="0" bIns="0">
            <a:noAutofit/>
          </a:bodyPr>
          <a:lstStyle/>
          <a:p>
            <a:pPr algn="l" marL="0" indent="0">
              <a:lnSpc>
                <a:spcPts val="1500"/>
              </a:lnSpc>
              <a:buNone/>
            </a:pPr>
            <a:r>
              <a:rPr lang="zh-CN" altLang="en-US" sz="1050" b="0">
                <a:solidFill>
                  <a:srgbClr val="3D3D3D"/>
                </a:solidFill>
                <a:latin typeface="微软雅黑"/>
                <a:ea typeface="微软雅黑"/>
                <a:cs typeface="微软雅黑"/>
              </a:rPr>
              <a:t>作为设计评审、软件放行的依据</a:t>
            </a:r>
          </a:p>
        </p:txBody>
      </p:sp>
      <p:cxnSp>
        <p:nvCxnSpPr>
          <p:cNvPr id="46" name="Connector 45"/>
          <p:cNvCxnSpPr/>
          <p:nvPr/>
        </p:nvCxnSpPr>
        <p:spPr>
          <a:xfrm>
            <a:off x="6705600" y="5283200"/>
            <a:ext cx="5080000" cy="0"/>
          </a:xfrm>
          <a:prstGeom prst="line">
            <a:avLst/>
          </a:prstGeom>
          <a:ln w="6350">
            <a:solidFill>
              <a:srgbClr val="E9E9E9"/>
            </a:solidFill>
            <a:round/>
          </a:ln>
        </p:spPr>
      </p:cxnSp>
      <p:sp>
        <p:nvSpPr>
          <p:cNvPr id="47" name="Rectangle 46"/>
          <p:cNvSpPr/>
          <p:nvPr/>
        </p:nvSpPr>
        <p:spPr>
          <a:xfrm>
            <a:off x="406400" y="5486400"/>
            <a:ext cx="19050" cy="863600"/>
          </a:xfrm>
          <a:prstGeom prst="rect">
            <a:avLst/>
          </a:prstGeom>
          <a:solidFill>
            <a:srgbClr val="C00000"/>
          </a:solidFill>
          <a:ln>
            <a:noFill/>
          </a:ln>
        </p:spPr>
        <p:txBody>
          <a:bodyPr rtlCol="0" anchor="ctr" lIns="0" rIns="0" tIns="0" bIns="0"/>
          <a:lstStyle/>
          <a:p>
            <a:pPr algn="ctr"/>
          </a:p>
        </p:txBody>
      </p:sp>
      <p:sp>
        <p:nvSpPr>
          <p:cNvPr id="48" name="TextBox 47"/>
          <p:cNvSpPr txBox="1"/>
          <p:nvPr/>
        </p:nvSpPr>
        <p:spPr>
          <a:xfrm>
            <a:off x="584200" y="5661025"/>
            <a:ext cx="11201400" cy="241300"/>
          </a:xfrm>
          <a:prstGeom prst="rect">
            <a:avLst/>
          </a:prstGeom>
          <a:noFill/>
        </p:spPr>
        <p:txBody>
          <a:bodyPr wrap="square" anchor="t" lIns="0" tIns="0" rIns="0" bIns="0">
            <a:noAutofit/>
          </a:bodyPr>
          <a:lstStyle/>
          <a:p>
            <a:pPr algn="l" marL="0" indent="0">
              <a:lnSpc>
                <a:spcPts val="1900"/>
              </a:lnSpc>
              <a:buNone/>
            </a:pPr>
            <a:r>
              <a:rPr lang="zh-CN" altLang="en-US" sz="1350" b="1">
                <a:solidFill>
                  <a:srgbClr val="1A1A1A"/>
                </a:solidFill>
                <a:latin typeface="微软雅黑"/>
                <a:ea typeface="微软雅黑"/>
                <a:cs typeface="微软雅黑"/>
              </a:rPr>
              <a:t>怎么算成功：数字样机复现临哈线散热器冻结；一次软件迭代完成全工况回归</a:t>
            </a:r>
          </a:p>
        </p:txBody>
      </p:sp>
      <p:sp>
        <p:nvSpPr>
          <p:cNvPr id="49" name="TextBox 48"/>
          <p:cNvSpPr txBox="1"/>
          <p:nvPr/>
        </p:nvSpPr>
        <p:spPr>
          <a:xfrm>
            <a:off x="584200" y="5965825"/>
            <a:ext cx="11201400" cy="234950"/>
          </a:xfrm>
          <a:prstGeom prst="rect">
            <a:avLst/>
          </a:prstGeom>
          <a:noFill/>
        </p:spPr>
        <p:txBody>
          <a:bodyPr wrap="square" anchor="t" lIns="0" tIns="0" rIns="0" bIns="0">
            <a:noAutofit/>
          </a:bodyPr>
          <a:lstStyle/>
          <a:p>
            <a:pPr algn="l" marL="0" indent="0">
              <a:lnSpc>
                <a:spcPts val="1650"/>
              </a:lnSpc>
              <a:buNone/>
            </a:pPr>
            <a:r>
              <a:rPr lang="zh-CN" altLang="en-US" sz="1050" b="0">
                <a:solidFill>
                  <a:srgbClr val="666666"/>
                </a:solidFill>
                <a:latin typeface="微软雅黑"/>
                <a:ea typeface="微软雅黑"/>
                <a:cs typeface="微软雅黑"/>
              </a:rPr>
              <a:t>验证周期由约 2 个月缩短至</a:t>
            </a:r>
            <a:r>
              <a:rPr lang="zh-CN" altLang="en-US" sz="1050" b="1">
                <a:solidFill>
                  <a:srgbClr val="875D1C"/>
                </a:solidFill>
                <a:latin typeface="微软雅黑"/>
                <a:ea typeface="微软雅黑"/>
                <a:cs typeface="微软雅黑"/>
              </a:rPr>
              <a:t>【待填】</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研究内容① 测试知识库与任务工作流</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把判据和流程从人手里拿出来</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8</a:t>
            </a:r>
          </a:p>
        </p:txBody>
      </p:sp>
      <p:sp>
        <p:nvSpPr>
          <p:cNvPr id="6" name="Rectangle 5"/>
          <p:cNvSpPr/>
          <p:nvPr/>
        </p:nvSpPr>
        <p:spPr>
          <a:xfrm>
            <a:off x="406400" y="2082800"/>
            <a:ext cx="1651000" cy="304800"/>
          </a:xfrm>
          <a:prstGeom prst="rect">
            <a:avLst/>
          </a:prstGeom>
          <a:solidFill>
            <a:srgbClr val="FFFFFF"/>
          </a:solidFill>
          <a:ln w="6350">
            <a:solidFill>
              <a:srgbClr val="E9E9E9"/>
            </a:solidFill>
            <a:round/>
          </a:ln>
        </p:spPr>
        <p:txBody>
          <a:bodyPr rtlCol="0" anchor="ctr" lIns="0" rIns="0" tIns="0" bIns="0"/>
          <a:lstStyle/>
          <a:p>
            <a:pPr algn="ctr"/>
          </a:p>
        </p:txBody>
      </p:sp>
      <p:sp>
        <p:nvSpPr>
          <p:cNvPr id="7" name="Rectangle 6"/>
          <p:cNvSpPr/>
          <p:nvPr/>
        </p:nvSpPr>
        <p:spPr>
          <a:xfrm>
            <a:off x="406400" y="2082800"/>
            <a:ext cx="19050" cy="304800"/>
          </a:xfrm>
          <a:prstGeom prst="rect">
            <a:avLst/>
          </a:prstGeom>
          <a:solidFill>
            <a:srgbClr val="8E0000"/>
          </a:solidFill>
          <a:ln>
            <a:noFill/>
          </a:ln>
        </p:spPr>
        <p:txBody>
          <a:bodyPr rtlCol="0" anchor="ctr" lIns="0" rIns="0" tIns="0" bIns="0"/>
          <a:lstStyle/>
          <a:p>
            <a:pPr algn="ctr"/>
          </a:p>
        </p:txBody>
      </p:sp>
      <p:sp>
        <p:nvSpPr>
          <p:cNvPr id="8" name="TextBox 7"/>
          <p:cNvSpPr txBox="1"/>
          <p:nvPr/>
        </p:nvSpPr>
        <p:spPr>
          <a:xfrm>
            <a:off x="533400" y="2082800"/>
            <a:ext cx="1460500" cy="3048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④ 集成层</a:t>
            </a:r>
          </a:p>
        </p:txBody>
      </p:sp>
      <p:sp>
        <p:nvSpPr>
          <p:cNvPr id="9" name="Rectangle 8"/>
          <p:cNvSpPr/>
          <p:nvPr/>
        </p:nvSpPr>
        <p:spPr>
          <a:xfrm>
            <a:off x="406400" y="2438400"/>
            <a:ext cx="1651000" cy="304800"/>
          </a:xfrm>
          <a:prstGeom prst="rect">
            <a:avLst/>
          </a:prstGeom>
          <a:solidFill>
            <a:srgbClr val="FFFFFF"/>
          </a:solidFill>
          <a:ln w="6350">
            <a:solidFill>
              <a:srgbClr val="E9E9E9"/>
            </a:solidFill>
            <a:round/>
          </a:ln>
        </p:spPr>
        <p:txBody>
          <a:bodyPr rtlCol="0" anchor="ctr" lIns="0" rIns="0" tIns="0" bIns="0"/>
          <a:lstStyle/>
          <a:p>
            <a:pPr algn="ctr"/>
          </a:p>
        </p:txBody>
      </p:sp>
      <p:sp>
        <p:nvSpPr>
          <p:cNvPr id="10" name="Rectangle 9"/>
          <p:cNvSpPr/>
          <p:nvPr/>
        </p:nvSpPr>
        <p:spPr>
          <a:xfrm>
            <a:off x="406400" y="2438400"/>
            <a:ext cx="19050" cy="304800"/>
          </a:xfrm>
          <a:prstGeom prst="rect">
            <a:avLst/>
          </a:prstGeom>
          <a:solidFill>
            <a:srgbClr val="C00000"/>
          </a:solidFill>
          <a:ln>
            <a:noFill/>
          </a:ln>
        </p:spPr>
        <p:txBody>
          <a:bodyPr rtlCol="0" anchor="ctr" lIns="0" rIns="0" tIns="0" bIns="0"/>
          <a:lstStyle/>
          <a:p>
            <a:pPr algn="ctr"/>
          </a:p>
        </p:txBody>
      </p:sp>
      <p:sp>
        <p:nvSpPr>
          <p:cNvPr id="11" name="TextBox 10"/>
          <p:cNvSpPr txBox="1"/>
          <p:nvPr/>
        </p:nvSpPr>
        <p:spPr>
          <a:xfrm>
            <a:off x="533400" y="2438400"/>
            <a:ext cx="1460500" cy="3048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③ 执行层</a:t>
            </a:r>
          </a:p>
        </p:txBody>
      </p:sp>
      <p:sp>
        <p:nvSpPr>
          <p:cNvPr id="12" name="Rectangle 11"/>
          <p:cNvSpPr/>
          <p:nvPr/>
        </p:nvSpPr>
        <p:spPr>
          <a:xfrm>
            <a:off x="406400" y="2819400"/>
            <a:ext cx="1651000" cy="279400"/>
          </a:xfrm>
          <a:prstGeom prst="rect">
            <a:avLst/>
          </a:prstGeom>
          <a:solidFill>
            <a:srgbClr val="FFFFFF"/>
          </a:solidFill>
          <a:ln w="6350">
            <a:solidFill>
              <a:srgbClr val="E9E9E9"/>
            </a:solidFill>
            <a:round/>
          </a:ln>
        </p:spPr>
        <p:txBody>
          <a:bodyPr rtlCol="0" anchor="ctr" lIns="0" rIns="0" tIns="0" bIns="0"/>
          <a:lstStyle/>
          <a:p>
            <a:pPr algn="ctr"/>
          </a:p>
        </p:txBody>
      </p:sp>
      <p:sp>
        <p:nvSpPr>
          <p:cNvPr id="13" name="Rectangle 12"/>
          <p:cNvSpPr/>
          <p:nvPr/>
        </p:nvSpPr>
        <p:spPr>
          <a:xfrm>
            <a:off x="406400" y="2819400"/>
            <a:ext cx="19050" cy="279400"/>
          </a:xfrm>
          <a:prstGeom prst="rect">
            <a:avLst/>
          </a:prstGeom>
          <a:solidFill>
            <a:srgbClr val="C83535"/>
          </a:solidFill>
          <a:ln>
            <a:noFill/>
          </a:ln>
        </p:spPr>
        <p:txBody>
          <a:bodyPr rtlCol="0" anchor="ctr" lIns="0" rIns="0" tIns="0" bIns="0"/>
          <a:lstStyle/>
          <a:p>
            <a:pPr algn="ctr"/>
          </a:p>
        </p:txBody>
      </p:sp>
      <p:sp>
        <p:nvSpPr>
          <p:cNvPr id="14" name="TextBox 13"/>
          <p:cNvSpPr txBox="1"/>
          <p:nvPr/>
        </p:nvSpPr>
        <p:spPr>
          <a:xfrm>
            <a:off x="533400" y="2819400"/>
            <a:ext cx="1460500" cy="2794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② 决策层</a:t>
            </a:r>
          </a:p>
        </p:txBody>
      </p:sp>
      <p:sp>
        <p:nvSpPr>
          <p:cNvPr id="15" name="Rectangle 14"/>
          <p:cNvSpPr/>
          <p:nvPr/>
        </p:nvSpPr>
        <p:spPr>
          <a:xfrm>
            <a:off x="406400" y="3149600"/>
            <a:ext cx="1651000" cy="279400"/>
          </a:xfrm>
          <a:prstGeom prst="rect">
            <a:avLst/>
          </a:prstGeom>
          <a:solidFill>
            <a:srgbClr val="D46A6A"/>
          </a:solidFill>
          <a:ln>
            <a:noFill/>
          </a:ln>
        </p:spPr>
        <p:txBody>
          <a:bodyPr rtlCol="0" anchor="ctr" lIns="0" rIns="0" tIns="0" bIns="0"/>
          <a:lstStyle/>
          <a:p>
            <a:pPr algn="ctr"/>
          </a:p>
        </p:txBody>
      </p:sp>
      <p:sp>
        <p:nvSpPr>
          <p:cNvPr id="16" name="TextBox 15"/>
          <p:cNvSpPr txBox="1"/>
          <p:nvPr/>
        </p:nvSpPr>
        <p:spPr>
          <a:xfrm>
            <a:off x="533400" y="3149600"/>
            <a:ext cx="1460500" cy="279400"/>
          </a:xfrm>
          <a:prstGeom prst="rect">
            <a:avLst/>
          </a:prstGeom>
          <a:noFill/>
        </p:spPr>
        <p:txBody>
          <a:bodyPr wrap="none" anchor="ctr" lIns="0" tIns="0" rIns="0" bIns="0">
            <a:noAutofit/>
          </a:bodyPr>
          <a:lstStyle/>
          <a:p>
            <a:pPr algn="l" marL="0" indent="0">
              <a:lnSpc>
                <a:spcPts val="1300"/>
              </a:lnSpc>
              <a:buNone/>
            </a:pPr>
            <a:r>
              <a:rPr lang="zh-CN" altLang="en-US" sz="950" b="1">
                <a:solidFill>
                  <a:srgbClr val="FFFFFF"/>
                </a:solidFill>
                <a:latin typeface="微软雅黑"/>
                <a:ea typeface="微软雅黑"/>
                <a:cs typeface="微软雅黑"/>
              </a:rPr>
              <a:t>① 基础层</a:t>
            </a:r>
          </a:p>
        </p:txBody>
      </p:sp>
      <p:sp>
        <p:nvSpPr>
          <p:cNvPr id="17" name="TextBox 16"/>
          <p:cNvSpPr txBox="1"/>
          <p:nvPr/>
        </p:nvSpPr>
        <p:spPr>
          <a:xfrm>
            <a:off x="406400" y="5245100"/>
            <a:ext cx="1651000" cy="215900"/>
          </a:xfrm>
          <a:prstGeom prst="rect">
            <a:avLst/>
          </a:prstGeom>
          <a:noFill/>
        </p:spPr>
        <p:txBody>
          <a:bodyPr wrap="none" anchor="t" lIns="0" tIns="0" rIns="0" bIns="0">
            <a:noAutofit/>
          </a:bodyPr>
          <a:lstStyle/>
          <a:p>
            <a:pPr algn="l" marL="0" indent="0">
              <a:lnSpc>
                <a:spcPts val="1600"/>
              </a:lnSpc>
              <a:buNone/>
            </a:pPr>
            <a:r>
              <a:rPr lang="zh-CN" altLang="en-US" sz="1100" b="1">
                <a:solidFill>
                  <a:srgbClr val="1A1A1A"/>
                </a:solidFill>
                <a:latin typeface="微软雅黑"/>
                <a:ea typeface="微软雅黑"/>
                <a:cs typeface="微软雅黑"/>
              </a:rPr>
              <a:t>产出</a:t>
            </a:r>
          </a:p>
        </p:txBody>
      </p:sp>
      <p:sp>
        <p:nvSpPr>
          <p:cNvPr id="18" name="Rectangle 17"/>
          <p:cNvSpPr/>
          <p:nvPr/>
        </p:nvSpPr>
        <p:spPr>
          <a:xfrm>
            <a:off x="406400" y="5524500"/>
            <a:ext cx="1651000" cy="304800"/>
          </a:xfrm>
          <a:prstGeom prst="rect">
            <a:avLst/>
          </a:prstGeom>
          <a:solidFill>
            <a:srgbClr val="FDF5F5"/>
          </a:solidFill>
          <a:ln>
            <a:noFill/>
          </a:ln>
        </p:spPr>
        <p:txBody>
          <a:bodyPr rtlCol="0" anchor="ctr" lIns="0" rIns="0" tIns="0" bIns="0"/>
          <a:lstStyle/>
          <a:p>
            <a:pPr algn="ctr"/>
          </a:p>
        </p:txBody>
      </p:sp>
      <p:sp>
        <p:nvSpPr>
          <p:cNvPr id="19" name="Rectangle 18"/>
          <p:cNvSpPr/>
          <p:nvPr/>
        </p:nvSpPr>
        <p:spPr>
          <a:xfrm>
            <a:off x="406400" y="5524500"/>
            <a:ext cx="19050" cy="304800"/>
          </a:xfrm>
          <a:prstGeom prst="rect">
            <a:avLst/>
          </a:prstGeom>
          <a:solidFill>
            <a:srgbClr val="D46A6A"/>
          </a:solidFill>
          <a:ln>
            <a:noFill/>
          </a:ln>
        </p:spPr>
        <p:txBody>
          <a:bodyPr rtlCol="0" anchor="ctr" lIns="0" rIns="0" tIns="0" bIns="0"/>
          <a:lstStyle/>
          <a:p>
            <a:pPr algn="ctr"/>
          </a:p>
        </p:txBody>
      </p:sp>
      <p:sp>
        <p:nvSpPr>
          <p:cNvPr id="20" name="TextBox 19"/>
          <p:cNvSpPr txBox="1"/>
          <p:nvPr/>
        </p:nvSpPr>
        <p:spPr>
          <a:xfrm>
            <a:off x="501650" y="5524500"/>
            <a:ext cx="1479550" cy="304800"/>
          </a:xfrm>
          <a:prstGeom prst="rect">
            <a:avLst/>
          </a:prstGeom>
          <a:noFill/>
        </p:spPr>
        <p:txBody>
          <a:bodyPr wrap="square" anchor="ctr" lIns="0" tIns="0" rIns="0" bIns="0">
            <a:noAutofit/>
          </a:bodyPr>
          <a:lstStyle/>
          <a:p>
            <a:pPr algn="l" marL="0" indent="0">
              <a:lnSpc>
                <a:spcPts val="1300"/>
              </a:lnSpc>
              <a:buNone/>
            </a:pPr>
            <a:r>
              <a:rPr lang="zh-CN" altLang="en-US" sz="900" b="1">
                <a:solidFill>
                  <a:srgbClr val="B84848"/>
                </a:solidFill>
                <a:latin typeface="微软雅黑"/>
                <a:ea typeface="微软雅黑"/>
                <a:cs typeface="微软雅黑"/>
              </a:rPr>
              <a:t>✓ 验证判据知识库</a:t>
            </a:r>
          </a:p>
        </p:txBody>
      </p:sp>
      <p:sp>
        <p:nvSpPr>
          <p:cNvPr id="21" name="Rectangle 20"/>
          <p:cNvSpPr/>
          <p:nvPr/>
        </p:nvSpPr>
        <p:spPr>
          <a:xfrm>
            <a:off x="406400" y="5880100"/>
            <a:ext cx="1651000" cy="469900"/>
          </a:xfrm>
          <a:prstGeom prst="rect">
            <a:avLst/>
          </a:prstGeom>
          <a:solidFill>
            <a:srgbClr val="FDF5F5"/>
          </a:solidFill>
          <a:ln>
            <a:noFill/>
          </a:ln>
        </p:spPr>
        <p:txBody>
          <a:bodyPr rtlCol="0" anchor="ctr" lIns="0" rIns="0" tIns="0" bIns="0"/>
          <a:lstStyle/>
          <a:p>
            <a:pPr algn="ctr"/>
          </a:p>
        </p:txBody>
      </p:sp>
      <p:sp>
        <p:nvSpPr>
          <p:cNvPr id="22" name="Rectangle 21"/>
          <p:cNvSpPr/>
          <p:nvPr/>
        </p:nvSpPr>
        <p:spPr>
          <a:xfrm>
            <a:off x="406400" y="5880100"/>
            <a:ext cx="19050" cy="469900"/>
          </a:xfrm>
          <a:prstGeom prst="rect">
            <a:avLst/>
          </a:prstGeom>
          <a:solidFill>
            <a:srgbClr val="D46A6A"/>
          </a:solidFill>
          <a:ln>
            <a:noFill/>
          </a:ln>
        </p:spPr>
        <p:txBody>
          <a:bodyPr rtlCol="0" anchor="ctr" lIns="0" rIns="0" tIns="0" bIns="0"/>
          <a:lstStyle/>
          <a:p>
            <a:pPr algn="ctr"/>
          </a:p>
        </p:txBody>
      </p:sp>
      <p:sp>
        <p:nvSpPr>
          <p:cNvPr id="23" name="TextBox 22"/>
          <p:cNvSpPr txBox="1"/>
          <p:nvPr/>
        </p:nvSpPr>
        <p:spPr>
          <a:xfrm>
            <a:off x="501650" y="5880100"/>
            <a:ext cx="1479550" cy="469900"/>
          </a:xfrm>
          <a:prstGeom prst="rect">
            <a:avLst/>
          </a:prstGeom>
          <a:noFill/>
        </p:spPr>
        <p:txBody>
          <a:bodyPr wrap="square" anchor="ctr" lIns="0" tIns="0" rIns="0" bIns="0">
            <a:noAutofit/>
          </a:bodyPr>
          <a:lstStyle/>
          <a:p>
            <a:pPr algn="l" marL="0" indent="0">
              <a:lnSpc>
                <a:spcPts val="1300"/>
              </a:lnSpc>
              <a:buNone/>
            </a:pPr>
            <a:r>
              <a:rPr lang="zh-CN" altLang="en-US" sz="900" b="1">
                <a:solidFill>
                  <a:srgbClr val="B84848"/>
                </a:solidFill>
                <a:latin typeface="微软雅黑"/>
                <a:ea typeface="微软雅黑"/>
                <a:cs typeface="微软雅黑"/>
              </a:rPr>
              <a:t>✓ 任务工作流定义</a:t>
            </a:r>
            <a:br>
              <a:rPr lang="zh-CN" altLang="en-US" sz="900"/>
            </a:br>
            <a:r>
              <a:rPr lang="zh-CN" altLang="en-US" sz="900" b="1">
                <a:solidFill>
                  <a:srgbClr val="B84848"/>
                </a:solidFill>
                <a:latin typeface="微软雅黑"/>
                <a:ea typeface="微软雅黑"/>
                <a:cs typeface="微软雅黑"/>
              </a:rPr>
              <a:t>与配置规范</a:t>
            </a:r>
          </a:p>
        </p:txBody>
      </p:sp>
      <p:sp>
        <p:nvSpPr>
          <p:cNvPr id="24" name="Rectangle 23"/>
          <p:cNvSpPr/>
          <p:nvPr/>
        </p:nvSpPr>
        <p:spPr>
          <a:xfrm>
            <a:off x="2260600" y="2082800"/>
            <a:ext cx="9525000" cy="660400"/>
          </a:xfrm>
          <a:prstGeom prst="rect">
            <a:avLst/>
          </a:prstGeom>
          <a:solidFill>
            <a:srgbClr val="FFFFFF"/>
          </a:solidFill>
          <a:ln w="6350">
            <a:solidFill>
              <a:srgbClr val="E9E9E9"/>
            </a:solidFill>
            <a:round/>
          </a:ln>
        </p:spPr>
        <p:txBody>
          <a:bodyPr rtlCol="0" anchor="ctr" lIns="0" rIns="0" tIns="0" bIns="0"/>
          <a:lstStyle/>
          <a:p>
            <a:pPr algn="ctr"/>
          </a:p>
        </p:txBody>
      </p:sp>
      <p:sp>
        <p:nvSpPr>
          <p:cNvPr id="25" name="Rectangle 24"/>
          <p:cNvSpPr/>
          <p:nvPr/>
        </p:nvSpPr>
        <p:spPr>
          <a:xfrm>
            <a:off x="2260600" y="2082800"/>
            <a:ext cx="19050" cy="660400"/>
          </a:xfrm>
          <a:prstGeom prst="rect">
            <a:avLst/>
          </a:prstGeom>
          <a:solidFill>
            <a:srgbClr val="C00000"/>
          </a:solidFill>
          <a:ln>
            <a:noFill/>
          </a:ln>
        </p:spPr>
        <p:txBody>
          <a:bodyPr rtlCol="0" anchor="ctr" lIns="0" rIns="0" tIns="0" bIns="0"/>
          <a:lstStyle/>
          <a:p>
            <a:pPr algn="ctr"/>
          </a:p>
        </p:txBody>
      </p:sp>
      <p:sp>
        <p:nvSpPr>
          <p:cNvPr id="26" name="Rectangle 25"/>
          <p:cNvSpPr/>
          <p:nvPr/>
        </p:nvSpPr>
        <p:spPr>
          <a:xfrm>
            <a:off x="2413000" y="2159000"/>
            <a:ext cx="635000" cy="177800"/>
          </a:xfrm>
          <a:prstGeom prst="rect">
            <a:avLst/>
          </a:prstGeom>
          <a:solidFill>
            <a:srgbClr val="FFFFFF"/>
          </a:solidFill>
          <a:ln w="6350">
            <a:solidFill>
              <a:srgbClr val="C00000"/>
            </a:solidFill>
            <a:round/>
          </a:ln>
        </p:spPr>
        <p:txBody>
          <a:bodyPr rtlCol="0" anchor="ctr" lIns="0" rIns="0" tIns="0" bIns="0" wrap="none">
            <a:noAutofit/>
          </a:bodyPr>
          <a:lstStyle/>
          <a:p>
            <a:pPr algn="ctr" marL="0" indent="0">
              <a:lnSpc>
                <a:spcPts val="1050"/>
              </a:lnSpc>
              <a:buNone/>
            </a:pPr>
            <a:r>
              <a:rPr lang="zh-CN" altLang="en-US" sz="800" b="1">
                <a:solidFill>
                  <a:srgbClr val="C00000"/>
                </a:solidFill>
                <a:latin typeface="微软雅黑"/>
                <a:ea typeface="微软雅黑"/>
                <a:cs typeface="微软雅黑"/>
              </a:rPr>
              <a:t>现状与问题</a:t>
            </a:r>
          </a:p>
        </p:txBody>
      </p:sp>
      <p:sp>
        <p:nvSpPr>
          <p:cNvPr id="27" name="TextBox 26"/>
          <p:cNvSpPr txBox="1"/>
          <p:nvPr/>
        </p:nvSpPr>
        <p:spPr>
          <a:xfrm>
            <a:off x="2413000" y="2374900"/>
            <a:ext cx="5384800" cy="342900"/>
          </a:xfrm>
          <a:prstGeom prst="rect">
            <a:avLst/>
          </a:prstGeom>
          <a:noFill/>
        </p:spPr>
        <p:txBody>
          <a:bodyPr wrap="square" anchor="t" lIns="0" tIns="0" rIns="0" bIns="0">
            <a:noAutofit/>
          </a:bodyPr>
          <a:lstStyle/>
          <a:p>
            <a:pPr algn="l" marL="0" indent="0">
              <a:lnSpc>
                <a:spcPts val="1350"/>
              </a:lnSpc>
              <a:buNone/>
            </a:pPr>
            <a:r>
              <a:rPr lang="zh-CN" altLang="en-US" sz="900" b="0">
                <a:solidFill>
                  <a:srgbClr val="1A1A1A"/>
                </a:solidFill>
                <a:latin typeface="微软雅黑"/>
                <a:ea typeface="微软雅黑"/>
                <a:cs typeface="微软雅黑"/>
              </a:rPr>
              <a:t>判一个工况合不合格，依据散在国标、行标、企标、试验大纲和专家经验里，查找比对全靠人工。</a:t>
            </a:r>
          </a:p>
        </p:txBody>
      </p:sp>
      <p:cxnSp>
        <p:nvCxnSpPr>
          <p:cNvPr id="28" name="Connector 27"/>
          <p:cNvCxnSpPr/>
          <p:nvPr/>
        </p:nvCxnSpPr>
        <p:spPr>
          <a:xfrm>
            <a:off x="7975600" y="2184400"/>
            <a:ext cx="0" cy="457200"/>
          </a:xfrm>
          <a:prstGeom prst="line">
            <a:avLst/>
          </a:prstGeom>
          <a:ln w="6350">
            <a:solidFill>
              <a:srgbClr val="DEDEDE"/>
            </a:solidFill>
            <a:round/>
          </a:ln>
        </p:spPr>
      </p:cxnSp>
      <p:sp>
        <p:nvSpPr>
          <p:cNvPr id="29" name="TextBox 28"/>
          <p:cNvSpPr txBox="1"/>
          <p:nvPr/>
        </p:nvSpPr>
        <p:spPr>
          <a:xfrm>
            <a:off x="8153400" y="2159000"/>
            <a:ext cx="1524000" cy="177800"/>
          </a:xfrm>
          <a:prstGeom prst="rect">
            <a:avLst/>
          </a:prstGeom>
          <a:noFill/>
        </p:spPr>
        <p:txBody>
          <a:bodyPr wrap="none" anchor="ctr" lIns="0" tIns="0" rIns="0" bIns="0">
            <a:noAutofit/>
          </a:bodyPr>
          <a:lstStyle/>
          <a:p>
            <a:pPr algn="l" marL="0" indent="0">
              <a:lnSpc>
                <a:spcPts val="1100"/>
              </a:lnSpc>
              <a:buNone/>
            </a:pPr>
            <a:r>
              <a:rPr lang="zh-CN" altLang="en-US" sz="800" b="1">
                <a:solidFill>
                  <a:srgbClr val="8C8C8C"/>
                </a:solidFill>
                <a:latin typeface="微软雅黑"/>
                <a:ea typeface="微软雅黑"/>
                <a:cs typeface="微软雅黑"/>
              </a:rPr>
              <a:t>研究方法</a:t>
            </a:r>
          </a:p>
        </p:txBody>
      </p:sp>
      <p:sp>
        <p:nvSpPr>
          <p:cNvPr id="30" name="TextBox 29"/>
          <p:cNvSpPr txBox="1"/>
          <p:nvPr/>
        </p:nvSpPr>
        <p:spPr>
          <a:xfrm>
            <a:off x="8153400" y="2374900"/>
            <a:ext cx="3454400" cy="342900"/>
          </a:xfrm>
          <a:prstGeom prst="rect">
            <a:avLst/>
          </a:prstGeom>
          <a:noFill/>
        </p:spPr>
        <p:txBody>
          <a:bodyPr wrap="square" anchor="t" lIns="0" tIns="0" rIns="0" bIns="0">
            <a:noAutofit/>
          </a:bodyPr>
          <a:lstStyle/>
          <a:p>
            <a:pPr algn="l" marL="0" indent="0">
              <a:lnSpc>
                <a:spcPts val="1350"/>
              </a:lnSpc>
              <a:buNone/>
            </a:pPr>
            <a:r>
              <a:rPr lang="zh-CN" altLang="en-US" sz="900" b="1">
                <a:solidFill>
                  <a:srgbClr val="1A1A1A"/>
                </a:solidFill>
                <a:latin typeface="微软雅黑"/>
                <a:ea typeface="微软雅黑"/>
                <a:cs typeface="微软雅黑"/>
              </a:rPr>
              <a:t>知识工程</a:t>
            </a:r>
            <a:r>
              <a:rPr lang="zh-CN" altLang="en-US" sz="900" b="0">
                <a:solidFill>
                  <a:srgbClr val="3D3D3D"/>
                </a:solidFill>
                <a:latin typeface="微软雅黑"/>
                <a:ea typeface="微软雅黑"/>
                <a:cs typeface="微软雅黑"/>
              </a:rPr>
              <a:t>：规范形式化、领域知识建模、工作流建模。难点：判据多藏在经验和文档里。</a:t>
            </a:r>
          </a:p>
        </p:txBody>
      </p:sp>
      <p:sp>
        <p:nvSpPr>
          <p:cNvPr id="31" name="Rectangle 30"/>
          <p:cNvSpPr/>
          <p:nvPr/>
        </p:nvSpPr>
        <p:spPr>
          <a:xfrm>
            <a:off x="2260600" y="2819400"/>
            <a:ext cx="30734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32" name="Rectangle 31"/>
          <p:cNvSpPr/>
          <p:nvPr/>
        </p:nvSpPr>
        <p:spPr>
          <a:xfrm>
            <a:off x="2260600" y="2819400"/>
            <a:ext cx="3073400" cy="19050"/>
          </a:xfrm>
          <a:prstGeom prst="rect">
            <a:avLst/>
          </a:prstGeom>
          <a:solidFill>
            <a:srgbClr val="D46A6A"/>
          </a:solidFill>
          <a:ln>
            <a:noFill/>
          </a:ln>
        </p:spPr>
        <p:txBody>
          <a:bodyPr rtlCol="0" anchor="ctr" lIns="0" rIns="0" tIns="0" bIns="0"/>
          <a:lstStyle/>
          <a:p>
            <a:pPr algn="ctr"/>
          </a:p>
        </p:txBody>
      </p:sp>
      <p:sp>
        <p:nvSpPr>
          <p:cNvPr id="33" name="TextBox 32"/>
          <p:cNvSpPr txBox="1"/>
          <p:nvPr/>
        </p:nvSpPr>
        <p:spPr>
          <a:xfrm>
            <a:off x="2400300" y="2921000"/>
            <a:ext cx="27940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B84848"/>
                </a:solidFill>
                <a:latin typeface="Consolas"/>
                <a:ea typeface="微软雅黑"/>
                <a:cs typeface="Consolas"/>
              </a:rPr>
              <a:t>01</a:t>
            </a:r>
            <a:r>
              <a:rPr lang="zh-CN" altLang="en-US" sz="1000" b="1">
                <a:solidFill>
                  <a:srgbClr val="1A1A1A"/>
                </a:solidFill>
                <a:latin typeface="微软雅黑"/>
                <a:ea typeface="微软雅黑"/>
                <a:cs typeface="微软雅黑"/>
              </a:rPr>
              <a:t>  验证判据知识化</a:t>
            </a:r>
          </a:p>
        </p:txBody>
      </p:sp>
      <p:sp>
        <p:nvSpPr>
          <p:cNvPr id="34" name="TextBox 33"/>
          <p:cNvSpPr txBox="1"/>
          <p:nvPr/>
        </p:nvSpPr>
        <p:spPr>
          <a:xfrm>
            <a:off x="2400300" y="3187700"/>
            <a:ext cx="2794000" cy="190500"/>
          </a:xfrm>
          <a:prstGeom prst="rect">
            <a:avLst/>
          </a:prstGeom>
          <a:noFill/>
        </p:spPr>
        <p:txBody>
          <a:bodyPr wrap="square" anchor="t"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规范、大纲、案例 → </a:t>
            </a:r>
            <a:r>
              <a:rPr lang="zh-CN" altLang="en-US" sz="1000" b="1">
                <a:solidFill>
                  <a:srgbClr val="1A1A1A"/>
                </a:solidFill>
                <a:latin typeface="微软雅黑"/>
                <a:ea typeface="微软雅黑"/>
                <a:cs typeface="微软雅黑"/>
              </a:rPr>
              <a:t>可自动比对</a:t>
            </a:r>
            <a:r>
              <a:rPr lang="zh-CN" altLang="en-US" sz="1000" b="0">
                <a:solidFill>
                  <a:srgbClr val="3D3D3D"/>
                </a:solidFill>
                <a:latin typeface="微软雅黑"/>
                <a:ea typeface="微软雅黑"/>
                <a:cs typeface="微软雅黑"/>
              </a:rPr>
              <a:t>的判据</a:t>
            </a:r>
          </a:p>
        </p:txBody>
      </p:sp>
      <p:sp>
        <p:nvSpPr>
          <p:cNvPr id="35" name="Rectangle 34"/>
          <p:cNvSpPr/>
          <p:nvPr/>
        </p:nvSpPr>
        <p:spPr>
          <a:xfrm>
            <a:off x="5486400" y="2819400"/>
            <a:ext cx="30734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36" name="Rectangle 35"/>
          <p:cNvSpPr/>
          <p:nvPr/>
        </p:nvSpPr>
        <p:spPr>
          <a:xfrm>
            <a:off x="5486400" y="2819400"/>
            <a:ext cx="3073400" cy="19050"/>
          </a:xfrm>
          <a:prstGeom prst="rect">
            <a:avLst/>
          </a:prstGeom>
          <a:solidFill>
            <a:srgbClr val="D46A6A"/>
          </a:solidFill>
          <a:ln>
            <a:noFill/>
          </a:ln>
        </p:spPr>
        <p:txBody>
          <a:bodyPr rtlCol="0" anchor="ctr" lIns="0" rIns="0" tIns="0" bIns="0"/>
          <a:lstStyle/>
          <a:p>
            <a:pPr algn="ctr"/>
          </a:p>
        </p:txBody>
      </p:sp>
      <p:sp>
        <p:nvSpPr>
          <p:cNvPr id="37" name="TextBox 36"/>
          <p:cNvSpPr txBox="1"/>
          <p:nvPr/>
        </p:nvSpPr>
        <p:spPr>
          <a:xfrm>
            <a:off x="5626100" y="2921000"/>
            <a:ext cx="27940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B84848"/>
                </a:solidFill>
                <a:latin typeface="Consolas"/>
                <a:ea typeface="微软雅黑"/>
                <a:cs typeface="Consolas"/>
              </a:rPr>
              <a:t>02</a:t>
            </a:r>
            <a:r>
              <a:rPr lang="zh-CN" altLang="en-US" sz="1000" b="1">
                <a:solidFill>
                  <a:srgbClr val="1A1A1A"/>
                </a:solidFill>
                <a:latin typeface="微软雅黑"/>
                <a:ea typeface="微软雅黑"/>
                <a:cs typeface="微软雅黑"/>
              </a:rPr>
              <a:t>  任务工作流建模</a:t>
            </a:r>
          </a:p>
        </p:txBody>
      </p:sp>
      <p:sp>
        <p:nvSpPr>
          <p:cNvPr id="38" name="TextBox 37"/>
          <p:cNvSpPr txBox="1"/>
          <p:nvPr/>
        </p:nvSpPr>
        <p:spPr>
          <a:xfrm>
            <a:off x="5626100" y="3187700"/>
            <a:ext cx="2794000" cy="190500"/>
          </a:xfrm>
          <a:prstGeom prst="rect">
            <a:avLst/>
          </a:prstGeom>
          <a:noFill/>
        </p:spPr>
        <p:txBody>
          <a:bodyPr wrap="square" anchor="t"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分解、流转与异常分支，形成</a:t>
            </a:r>
            <a:r>
              <a:rPr lang="zh-CN" altLang="en-US" sz="1000" b="1">
                <a:solidFill>
                  <a:srgbClr val="1A1A1A"/>
                </a:solidFill>
                <a:latin typeface="微软雅黑"/>
                <a:ea typeface="微软雅黑"/>
                <a:cs typeface="微软雅黑"/>
              </a:rPr>
              <a:t>可配置</a:t>
            </a:r>
            <a:r>
              <a:rPr lang="zh-CN" altLang="en-US" sz="1000" b="0">
                <a:solidFill>
                  <a:srgbClr val="3D3D3D"/>
                </a:solidFill>
                <a:latin typeface="微软雅黑"/>
                <a:ea typeface="微软雅黑"/>
                <a:cs typeface="微软雅黑"/>
              </a:rPr>
              <a:t>模板</a:t>
            </a:r>
          </a:p>
        </p:txBody>
      </p:sp>
      <p:sp>
        <p:nvSpPr>
          <p:cNvPr id="39" name="Rectangle 38"/>
          <p:cNvSpPr/>
          <p:nvPr/>
        </p:nvSpPr>
        <p:spPr>
          <a:xfrm>
            <a:off x="8712200" y="2819400"/>
            <a:ext cx="30734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40" name="Rectangle 39"/>
          <p:cNvSpPr/>
          <p:nvPr/>
        </p:nvSpPr>
        <p:spPr>
          <a:xfrm>
            <a:off x="8712200" y="2819400"/>
            <a:ext cx="3073400" cy="19050"/>
          </a:xfrm>
          <a:prstGeom prst="rect">
            <a:avLst/>
          </a:prstGeom>
          <a:solidFill>
            <a:srgbClr val="D46A6A"/>
          </a:solidFill>
          <a:ln>
            <a:noFill/>
          </a:ln>
        </p:spPr>
        <p:txBody>
          <a:bodyPr rtlCol="0" anchor="ctr" lIns="0" rIns="0" tIns="0" bIns="0"/>
          <a:lstStyle/>
          <a:p>
            <a:pPr algn="ctr"/>
          </a:p>
        </p:txBody>
      </p:sp>
      <p:sp>
        <p:nvSpPr>
          <p:cNvPr id="41" name="TextBox 40"/>
          <p:cNvSpPr txBox="1"/>
          <p:nvPr/>
        </p:nvSpPr>
        <p:spPr>
          <a:xfrm>
            <a:off x="8851900" y="2921000"/>
            <a:ext cx="27940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B84848"/>
                </a:solidFill>
                <a:latin typeface="Consolas"/>
                <a:ea typeface="微软雅黑"/>
                <a:cs typeface="Consolas"/>
              </a:rPr>
              <a:t>03</a:t>
            </a:r>
            <a:r>
              <a:rPr lang="zh-CN" altLang="en-US" sz="1000" b="1">
                <a:solidFill>
                  <a:srgbClr val="1A1A1A"/>
                </a:solidFill>
                <a:latin typeface="微软雅黑"/>
                <a:ea typeface="微软雅黑"/>
                <a:cs typeface="微软雅黑"/>
              </a:rPr>
              <a:t>  知识与流程迭代</a:t>
            </a:r>
          </a:p>
        </p:txBody>
      </p:sp>
      <p:sp>
        <p:nvSpPr>
          <p:cNvPr id="42" name="TextBox 41"/>
          <p:cNvSpPr txBox="1"/>
          <p:nvPr/>
        </p:nvSpPr>
        <p:spPr>
          <a:xfrm>
            <a:off x="8851900" y="3187700"/>
            <a:ext cx="2794000" cy="190500"/>
          </a:xfrm>
          <a:prstGeom prst="rect">
            <a:avLst/>
          </a:prstGeom>
          <a:noFill/>
        </p:spPr>
        <p:txBody>
          <a:bodyPr wrap="square" anchor="t"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结果回流，持续补充判据、修订流程</a:t>
            </a:r>
          </a:p>
        </p:txBody>
      </p:sp>
      <p:sp>
        <p:nvSpPr>
          <p:cNvPr id="43" name="TextBox 42"/>
          <p:cNvSpPr txBox="1"/>
          <p:nvPr/>
        </p:nvSpPr>
        <p:spPr>
          <a:xfrm>
            <a:off x="2260600" y="3530600"/>
            <a:ext cx="9525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从规范到判据、从判据到工作流</a:t>
            </a:r>
          </a:p>
        </p:txBody>
      </p:sp>
      <p:sp>
        <p:nvSpPr>
          <p:cNvPr id="44" name="TextBox 43"/>
          <p:cNvSpPr txBox="1"/>
          <p:nvPr/>
        </p:nvSpPr>
        <p:spPr>
          <a:xfrm>
            <a:off x="4521200" y="3530600"/>
            <a:ext cx="7264400" cy="228600"/>
          </a:xfrm>
          <a:prstGeom prst="rect">
            <a:avLst/>
          </a:prstGeom>
          <a:noFill/>
        </p:spPr>
        <p:txBody>
          <a:bodyPr wrap="none" anchor="ctr" lIns="0" tIns="0" rIns="0" bIns="0">
            <a:noAutofit/>
          </a:bodyPr>
          <a:lstStyle/>
          <a:p>
            <a:pPr algn="l" marL="0" indent="0">
              <a:lnSpc>
                <a:spcPts val="1300"/>
              </a:lnSpc>
              <a:buNone/>
            </a:pPr>
            <a:r>
              <a:rPr lang="zh-CN" altLang="en-US" sz="950" b="1">
                <a:solidFill>
                  <a:srgbClr val="8C8C8C"/>
                </a:solidFill>
                <a:latin typeface="微软雅黑"/>
                <a:ea typeface="微软雅黑"/>
                <a:cs typeface="微软雅黑"/>
              </a:rPr>
              <a:t>示意图</a:t>
            </a:r>
          </a:p>
        </p:txBody>
      </p:sp>
      <p:grpSp>
        <p:nvGrpSpPr>
          <p:cNvPr id="45" name="附图 · 从规范到判据、从判据到工作流"/>
          <p:cNvGrpSpPr/>
          <p:nvPr/>
        </p:nvGrpSpPr>
        <p:grpSpPr>
          <a:xfrm>
            <a:off x="2260600" y="3822700"/>
            <a:ext cx="9525000" cy="2527300"/>
            <a:chOff x="2260600" y="3441700"/>
            <a:chExt cx="9525000" cy="2844800"/>
          </a:xfrm>
        </p:grpSpPr>
        <p:sp>
          <p:nvSpPr>
            <p:cNvPr id="46" name="Rectangle 45"/>
            <p:cNvSpPr/>
            <p:nvPr/>
          </p:nvSpPr>
          <p:spPr>
            <a:xfrm>
              <a:off x="2260600" y="3441700"/>
              <a:ext cx="9525000" cy="2844800"/>
            </a:xfrm>
            <a:prstGeom prst="rect">
              <a:avLst/>
            </a:prstGeom>
            <a:solidFill>
              <a:srgbClr val="F9F9F9"/>
            </a:solidFill>
            <a:ln>
              <a:noFill/>
            </a:ln>
          </p:spPr>
          <p:txBody>
            <a:bodyPr rtlCol="0" anchor="ctr" lIns="0" rIns="0" tIns="0" bIns="0"/>
            <a:lstStyle/>
            <a:p>
              <a:pPr algn="ctr"/>
            </a:p>
          </p:txBody>
        </p:sp>
        <p:sp>
          <p:nvSpPr>
            <p:cNvPr id="47" name="Rectangle 46"/>
            <p:cNvSpPr/>
            <p:nvPr/>
          </p:nvSpPr>
          <p:spPr>
            <a:xfrm>
              <a:off x="2413000" y="3606800"/>
              <a:ext cx="777954" cy="177800"/>
            </a:xfrm>
            <a:prstGeom prst="rect">
              <a:avLst/>
            </a:prstGeom>
            <a:solidFill>
              <a:srgbClr val="FDF5F5"/>
            </a:solidFill>
            <a:ln>
              <a:noFill/>
            </a:ln>
          </p:spPr>
          <p:txBody>
            <a:bodyPr rtlCol="0" anchor="ctr" lIns="0" rIns="0" tIns="0" bIns="0" wrap="none">
              <a:noAutofit/>
            </a:bodyPr>
            <a:lstStyle/>
            <a:p>
              <a:pPr algn="ctr" marL="0" indent="0">
                <a:lnSpc>
                  <a:spcPts val="1050"/>
                </a:lnSpc>
                <a:buNone/>
              </a:pPr>
              <a:r>
                <a:rPr lang="zh-CN" altLang="en-US" sz="800" b="1">
                  <a:solidFill>
                    <a:srgbClr val="B84848"/>
                  </a:solidFill>
                  <a:latin typeface="微软雅黑"/>
                  <a:ea typeface="微软雅黑"/>
                  <a:cs typeface="微软雅黑"/>
                </a:rPr>
                <a:t>01 判据知识化</a:t>
              </a:r>
            </a:p>
          </p:txBody>
        </p:sp>
        <p:sp>
          <p:nvSpPr>
            <p:cNvPr id="48" name="Rectangle 47"/>
            <p:cNvSpPr/>
            <p:nvPr/>
          </p:nvSpPr>
          <p:spPr>
            <a:xfrm>
              <a:off x="2413000" y="3860800"/>
              <a:ext cx="1333500" cy="330200"/>
            </a:xfrm>
            <a:prstGeom prst="rect">
              <a:avLst/>
            </a:prstGeom>
            <a:solidFill>
              <a:srgbClr val="FFFFFF"/>
            </a:solidFill>
            <a:ln w="6350">
              <a:solidFill>
                <a:srgbClr val="E9E9E9"/>
              </a:solidFill>
              <a:round/>
            </a:ln>
          </p:spPr>
          <p:txBody>
            <a:bodyPr rtlCol="0" anchor="ctr" lIns="0" rIns="0" tIns="0" bIns="0"/>
            <a:lstStyle/>
            <a:p>
              <a:pPr algn="ctr"/>
            </a:p>
          </p:txBody>
        </p:sp>
        <p:pic>
          <p:nvPicPr>
            <p:cNvPr id="49" name="Picture 48" descr="file-text-8C8C8C-1_6.png"/>
            <p:cNvPicPr>
              <a:picLocks noChangeAspect="1"/>
            </p:cNvPicPr>
            <p:nvPr/>
          </p:nvPicPr>
          <p:blipFill>
            <a:blip r:embed="rId2"/>
            <a:stretch>
              <a:fillRect/>
            </a:stretch>
          </p:blipFill>
          <p:spPr>
            <a:xfrm>
              <a:off x="2489200" y="3925832"/>
              <a:ext cx="177800" cy="200137"/>
            </a:xfrm>
            <a:prstGeom prst="rect">
              <a:avLst/>
            </a:prstGeom>
          </p:spPr>
        </p:pic>
        <p:sp>
          <p:nvSpPr>
            <p:cNvPr id="50" name="TextBox 49"/>
            <p:cNvSpPr txBox="1"/>
            <p:nvPr/>
          </p:nvSpPr>
          <p:spPr>
            <a:xfrm>
              <a:off x="2730500" y="3892550"/>
              <a:ext cx="952500" cy="139700"/>
            </a:xfrm>
            <a:prstGeom prst="rect">
              <a:avLst/>
            </a:prstGeom>
            <a:noFill/>
          </p:spPr>
          <p:txBody>
            <a:bodyPr wrap="none" anchor="t" lIns="0" tIns="0" rIns="0" bIns="0">
              <a:noAutofit/>
            </a:bodyPr>
            <a:lstStyle/>
            <a:p>
              <a:pPr algn="l" marL="0" indent="0">
                <a:lnSpc>
                  <a:spcPts val="1100"/>
                </a:lnSpc>
                <a:buNone/>
              </a:pPr>
              <a:r>
                <a:rPr lang="zh-CN" altLang="en-US" sz="850" b="1">
                  <a:solidFill>
                    <a:srgbClr val="1A1A1A"/>
                  </a:solidFill>
                  <a:latin typeface="微软雅黑"/>
                  <a:ea typeface="微软雅黑"/>
                  <a:cs typeface="微软雅黑"/>
                </a:rPr>
                <a:t>设计规范</a:t>
              </a:r>
            </a:p>
          </p:txBody>
        </p:sp>
        <p:sp>
          <p:nvSpPr>
            <p:cNvPr id="51" name="TextBox 50"/>
            <p:cNvSpPr txBox="1"/>
            <p:nvPr/>
          </p:nvSpPr>
          <p:spPr>
            <a:xfrm>
              <a:off x="2730500" y="4038600"/>
              <a:ext cx="952500" cy="127000"/>
            </a:xfrm>
            <a:prstGeom prst="rect">
              <a:avLst/>
            </a:prstGeom>
            <a:noFill/>
          </p:spPr>
          <p:txBody>
            <a:bodyPr wrap="none" anchor="t" lIns="0" tIns="0" rIns="0" bIns="0">
              <a:noAutofit/>
            </a:bodyPr>
            <a:lstStyle/>
            <a:p>
              <a:pPr algn="l" marL="0" indent="0">
                <a:lnSpc>
                  <a:spcPts val="1000"/>
                </a:lnSpc>
                <a:buNone/>
              </a:pPr>
              <a:r>
                <a:rPr lang="zh-CN" altLang="en-US" sz="700" b="0">
                  <a:solidFill>
                    <a:srgbClr val="8C8C8C"/>
                  </a:solidFill>
                  <a:latin typeface="微软雅黑"/>
                  <a:ea typeface="微软雅黑"/>
                  <a:cs typeface="微软雅黑"/>
                </a:rPr>
                <a:t>条款与限值要求</a:t>
              </a:r>
            </a:p>
          </p:txBody>
        </p:sp>
        <p:sp>
          <p:nvSpPr>
            <p:cNvPr id="52" name="Rectangle 51"/>
            <p:cNvSpPr/>
            <p:nvPr/>
          </p:nvSpPr>
          <p:spPr>
            <a:xfrm>
              <a:off x="2413000" y="4241800"/>
              <a:ext cx="1333500" cy="330200"/>
            </a:xfrm>
            <a:prstGeom prst="rect">
              <a:avLst/>
            </a:prstGeom>
            <a:solidFill>
              <a:srgbClr val="FFFFFF"/>
            </a:solidFill>
            <a:ln w="6350">
              <a:solidFill>
                <a:srgbClr val="E9E9E9"/>
              </a:solidFill>
              <a:round/>
            </a:ln>
          </p:spPr>
          <p:txBody>
            <a:bodyPr rtlCol="0" anchor="ctr" lIns="0" rIns="0" tIns="0" bIns="0"/>
            <a:lstStyle/>
            <a:p>
              <a:pPr algn="ctr"/>
            </a:p>
          </p:txBody>
        </p:sp>
        <p:pic>
          <p:nvPicPr>
            <p:cNvPr id="53" name="Picture 52" descr="file-text-8C8C8C-1_6.png"/>
            <p:cNvPicPr>
              <a:picLocks noChangeAspect="1"/>
            </p:cNvPicPr>
            <p:nvPr/>
          </p:nvPicPr>
          <p:blipFill>
            <a:blip r:embed="rId2"/>
            <a:stretch>
              <a:fillRect/>
            </a:stretch>
          </p:blipFill>
          <p:spPr>
            <a:xfrm>
              <a:off x="2489200" y="4306832"/>
              <a:ext cx="177800" cy="200137"/>
            </a:xfrm>
            <a:prstGeom prst="rect">
              <a:avLst/>
            </a:prstGeom>
          </p:spPr>
        </p:pic>
        <p:sp>
          <p:nvSpPr>
            <p:cNvPr id="54" name="TextBox 53"/>
            <p:cNvSpPr txBox="1"/>
            <p:nvPr/>
          </p:nvSpPr>
          <p:spPr>
            <a:xfrm>
              <a:off x="2730500" y="4273550"/>
              <a:ext cx="952500" cy="139700"/>
            </a:xfrm>
            <a:prstGeom prst="rect">
              <a:avLst/>
            </a:prstGeom>
            <a:noFill/>
          </p:spPr>
          <p:txBody>
            <a:bodyPr wrap="none" anchor="t" lIns="0" tIns="0" rIns="0" bIns="0">
              <a:noAutofit/>
            </a:bodyPr>
            <a:lstStyle/>
            <a:p>
              <a:pPr algn="l" marL="0" indent="0">
                <a:lnSpc>
                  <a:spcPts val="1100"/>
                </a:lnSpc>
                <a:buNone/>
              </a:pPr>
              <a:r>
                <a:rPr lang="zh-CN" altLang="en-US" sz="850" b="1">
                  <a:solidFill>
                    <a:srgbClr val="1A1A1A"/>
                  </a:solidFill>
                  <a:latin typeface="微软雅黑"/>
                  <a:ea typeface="微软雅黑"/>
                  <a:cs typeface="微软雅黑"/>
                </a:rPr>
                <a:t>运用要求</a:t>
              </a:r>
            </a:p>
          </p:txBody>
        </p:sp>
        <p:sp>
          <p:nvSpPr>
            <p:cNvPr id="55" name="TextBox 54"/>
            <p:cNvSpPr txBox="1"/>
            <p:nvPr/>
          </p:nvSpPr>
          <p:spPr>
            <a:xfrm>
              <a:off x="2730500" y="4419600"/>
              <a:ext cx="952500" cy="127000"/>
            </a:xfrm>
            <a:prstGeom prst="rect">
              <a:avLst/>
            </a:prstGeom>
            <a:noFill/>
          </p:spPr>
          <p:txBody>
            <a:bodyPr wrap="none" anchor="t" lIns="0" tIns="0" rIns="0" bIns="0">
              <a:noAutofit/>
            </a:bodyPr>
            <a:lstStyle/>
            <a:p>
              <a:pPr algn="l" marL="0" indent="0">
                <a:lnSpc>
                  <a:spcPts val="1000"/>
                </a:lnSpc>
                <a:buNone/>
              </a:pPr>
              <a:r>
                <a:rPr lang="zh-CN" altLang="en-US" sz="700" b="0">
                  <a:solidFill>
                    <a:srgbClr val="8C8C8C"/>
                  </a:solidFill>
                  <a:latin typeface="微软雅黑"/>
                  <a:ea typeface="微软雅黑"/>
                  <a:cs typeface="微软雅黑"/>
                </a:rPr>
                <a:t>运用条件与指标</a:t>
              </a:r>
            </a:p>
          </p:txBody>
        </p:sp>
        <p:sp>
          <p:nvSpPr>
            <p:cNvPr id="56" name="Rectangle 55"/>
            <p:cNvSpPr/>
            <p:nvPr/>
          </p:nvSpPr>
          <p:spPr>
            <a:xfrm>
              <a:off x="2413000" y="4622800"/>
              <a:ext cx="1333500" cy="330200"/>
            </a:xfrm>
            <a:prstGeom prst="rect">
              <a:avLst/>
            </a:prstGeom>
            <a:solidFill>
              <a:srgbClr val="FFFFFF"/>
            </a:solidFill>
            <a:ln w="6350">
              <a:solidFill>
                <a:srgbClr val="E9E9E9"/>
              </a:solidFill>
              <a:round/>
            </a:ln>
          </p:spPr>
          <p:txBody>
            <a:bodyPr rtlCol="0" anchor="ctr" lIns="0" rIns="0" tIns="0" bIns="0"/>
            <a:lstStyle/>
            <a:p>
              <a:pPr algn="ctr"/>
            </a:p>
          </p:txBody>
        </p:sp>
        <p:pic>
          <p:nvPicPr>
            <p:cNvPr id="57" name="Picture 56" descr="file-text-8C8C8C-1_6.png"/>
            <p:cNvPicPr>
              <a:picLocks noChangeAspect="1"/>
            </p:cNvPicPr>
            <p:nvPr/>
          </p:nvPicPr>
          <p:blipFill>
            <a:blip r:embed="rId2"/>
            <a:stretch>
              <a:fillRect/>
            </a:stretch>
          </p:blipFill>
          <p:spPr>
            <a:xfrm>
              <a:off x="2489200" y="4687832"/>
              <a:ext cx="177800" cy="200137"/>
            </a:xfrm>
            <a:prstGeom prst="rect">
              <a:avLst/>
            </a:prstGeom>
          </p:spPr>
        </p:pic>
        <p:sp>
          <p:nvSpPr>
            <p:cNvPr id="58" name="TextBox 57"/>
            <p:cNvSpPr txBox="1"/>
            <p:nvPr/>
          </p:nvSpPr>
          <p:spPr>
            <a:xfrm>
              <a:off x="2730500" y="4654550"/>
              <a:ext cx="952500" cy="139700"/>
            </a:xfrm>
            <a:prstGeom prst="rect">
              <a:avLst/>
            </a:prstGeom>
            <a:noFill/>
          </p:spPr>
          <p:txBody>
            <a:bodyPr wrap="none" anchor="t" lIns="0" tIns="0" rIns="0" bIns="0">
              <a:noAutofit/>
            </a:bodyPr>
            <a:lstStyle/>
            <a:p>
              <a:pPr algn="l" marL="0" indent="0">
                <a:lnSpc>
                  <a:spcPts val="1100"/>
                </a:lnSpc>
                <a:buNone/>
              </a:pPr>
              <a:r>
                <a:rPr lang="zh-CN" altLang="en-US" sz="850" b="1">
                  <a:solidFill>
                    <a:srgbClr val="1A1A1A"/>
                  </a:solidFill>
                  <a:latin typeface="微软雅黑"/>
                  <a:ea typeface="微软雅黑"/>
                  <a:cs typeface="微软雅黑"/>
                </a:rPr>
                <a:t>历史案例</a:t>
              </a:r>
            </a:p>
          </p:txBody>
        </p:sp>
        <p:sp>
          <p:nvSpPr>
            <p:cNvPr id="59" name="TextBox 58"/>
            <p:cNvSpPr txBox="1"/>
            <p:nvPr/>
          </p:nvSpPr>
          <p:spPr>
            <a:xfrm>
              <a:off x="2730500" y="4800600"/>
              <a:ext cx="952500" cy="127000"/>
            </a:xfrm>
            <a:prstGeom prst="rect">
              <a:avLst/>
            </a:prstGeom>
            <a:noFill/>
          </p:spPr>
          <p:txBody>
            <a:bodyPr wrap="none" anchor="t" lIns="0" tIns="0" rIns="0" bIns="0">
              <a:noAutofit/>
            </a:bodyPr>
            <a:lstStyle/>
            <a:p>
              <a:pPr algn="l" marL="0" indent="0">
                <a:lnSpc>
                  <a:spcPts val="1000"/>
                </a:lnSpc>
                <a:buNone/>
              </a:pPr>
              <a:r>
                <a:rPr lang="zh-CN" altLang="en-US" sz="700" b="0">
                  <a:solidFill>
                    <a:srgbClr val="8C8C8C"/>
                  </a:solidFill>
                  <a:latin typeface="微软雅黑"/>
                  <a:ea typeface="微软雅黑"/>
                  <a:cs typeface="微软雅黑"/>
                </a:rPr>
                <a:t>故障与异常记录</a:t>
              </a:r>
            </a:p>
          </p:txBody>
        </p:sp>
        <p:cxnSp>
          <p:nvCxnSpPr>
            <p:cNvPr id="60" name="Connector 59"/>
            <p:cNvCxnSpPr/>
            <p:nvPr/>
          </p:nvCxnSpPr>
          <p:spPr>
            <a:xfrm>
              <a:off x="3810000" y="4406900"/>
              <a:ext cx="596900" cy="0"/>
            </a:xfrm>
            <a:prstGeom prst="line">
              <a:avLst/>
            </a:prstGeom>
            <a:ln w="12700">
              <a:solidFill>
                <a:srgbClr val="8C8C8C"/>
              </a:solidFill>
              <a:round/>
              <a:tailEnd type="triangle" w="med" len="med"/>
            </a:ln>
          </p:spPr>
        </p:cxnSp>
        <p:sp>
          <p:nvSpPr>
            <p:cNvPr id="61" name="TextBox 60"/>
            <p:cNvSpPr txBox="1"/>
            <p:nvPr/>
          </p:nvSpPr>
          <p:spPr>
            <a:xfrm>
              <a:off x="3746500" y="4216400"/>
              <a:ext cx="723900" cy="139700"/>
            </a:xfrm>
            <a:prstGeom prst="rect">
              <a:avLst/>
            </a:prstGeom>
            <a:noFill/>
          </p:spPr>
          <p:txBody>
            <a:bodyPr wrap="none" anchor="t" lIns="0" tIns="0" rIns="0" bIns="0">
              <a:noAutofit/>
            </a:bodyPr>
            <a:lstStyle/>
            <a:p>
              <a:pPr algn="ctr" marL="0" indent="0">
                <a:lnSpc>
                  <a:spcPts val="1000"/>
                </a:lnSpc>
                <a:buNone/>
              </a:pPr>
              <a:r>
                <a:rPr lang="zh-CN" altLang="en-US" sz="750" b="1">
                  <a:solidFill>
                    <a:srgbClr val="666666"/>
                  </a:solidFill>
                  <a:latin typeface="微软雅黑"/>
                  <a:ea typeface="微软雅黑"/>
                  <a:cs typeface="微软雅黑"/>
                </a:rPr>
                <a:t>提取 · 形式化</a:t>
              </a:r>
            </a:p>
          </p:txBody>
        </p:sp>
        <p:sp>
          <p:nvSpPr>
            <p:cNvPr id="62" name="Rectangle 61"/>
            <p:cNvSpPr/>
            <p:nvPr/>
          </p:nvSpPr>
          <p:spPr>
            <a:xfrm>
              <a:off x="4483100" y="3860800"/>
              <a:ext cx="2489200" cy="1092200"/>
            </a:xfrm>
            <a:prstGeom prst="rect">
              <a:avLst/>
            </a:prstGeom>
            <a:solidFill>
              <a:srgbClr val="FFFFFF"/>
            </a:solidFill>
            <a:ln w="7620">
              <a:solidFill>
                <a:srgbClr val="F9E8E8"/>
              </a:solidFill>
              <a:round/>
            </a:ln>
          </p:spPr>
          <p:txBody>
            <a:bodyPr rtlCol="0" anchor="ctr" lIns="0" rIns="0" tIns="0" bIns="0"/>
            <a:lstStyle/>
            <a:p>
              <a:pPr algn="ctr"/>
            </a:p>
          </p:txBody>
        </p:sp>
        <p:sp>
          <p:nvSpPr>
            <p:cNvPr id="63" name="Rectangle 62"/>
            <p:cNvSpPr/>
            <p:nvPr/>
          </p:nvSpPr>
          <p:spPr>
            <a:xfrm>
              <a:off x="4483100" y="3860800"/>
              <a:ext cx="2489200" cy="228600"/>
            </a:xfrm>
            <a:prstGeom prst="rect">
              <a:avLst/>
            </a:prstGeom>
            <a:solidFill>
              <a:srgbClr val="FDF5F5"/>
            </a:solidFill>
            <a:ln>
              <a:noFill/>
            </a:ln>
          </p:spPr>
          <p:txBody>
            <a:bodyPr rtlCol="0" anchor="ctr" lIns="0" rIns="0" tIns="0" bIns="0"/>
            <a:lstStyle/>
            <a:p>
              <a:pPr algn="ctr"/>
            </a:p>
          </p:txBody>
        </p:sp>
        <p:sp>
          <p:nvSpPr>
            <p:cNvPr id="64" name="TextBox 63"/>
            <p:cNvSpPr txBox="1"/>
            <p:nvPr/>
          </p:nvSpPr>
          <p:spPr>
            <a:xfrm>
              <a:off x="4572000" y="3860800"/>
              <a:ext cx="2311400" cy="228600"/>
            </a:xfrm>
            <a:prstGeom prst="rect">
              <a:avLst/>
            </a:prstGeom>
            <a:noFill/>
          </p:spPr>
          <p:txBody>
            <a:bodyPr wrap="none" anchor="ctr" lIns="0" tIns="0" rIns="0" bIns="0">
              <a:noAutofit/>
            </a:bodyPr>
            <a:lstStyle/>
            <a:p>
              <a:pPr algn="l" marL="0" indent="0">
                <a:lnSpc>
                  <a:spcPts val="1100"/>
                </a:lnSpc>
                <a:buNone/>
              </a:pPr>
              <a:r>
                <a:rPr lang="zh-CN" altLang="en-US" sz="800" b="1">
                  <a:solidFill>
                    <a:srgbClr val="B84848"/>
                  </a:solidFill>
                  <a:latin typeface="微软雅黑"/>
                  <a:ea typeface="微软雅黑"/>
                  <a:cs typeface="微软雅黑"/>
                </a:rPr>
                <a:t>判据条目（结构化，可自动比对）</a:t>
              </a:r>
            </a:p>
          </p:txBody>
        </p:sp>
        <p:sp>
          <p:nvSpPr>
            <p:cNvPr id="65" name="TextBox 64"/>
            <p:cNvSpPr txBox="1"/>
            <p:nvPr/>
          </p:nvSpPr>
          <p:spPr>
            <a:xfrm>
              <a:off x="4572000" y="4114800"/>
              <a:ext cx="533400" cy="158750"/>
            </a:xfrm>
            <a:prstGeom prst="rect">
              <a:avLst/>
            </a:prstGeom>
            <a:noFill/>
          </p:spPr>
          <p:txBody>
            <a:bodyPr wrap="none" anchor="ctr" lIns="0" tIns="0" rIns="0" bIns="0">
              <a:noAutofit/>
            </a:bodyPr>
            <a:lstStyle/>
            <a:p>
              <a:pPr algn="l" marL="0" indent="0">
                <a:lnSpc>
                  <a:spcPts val="1000"/>
                </a:lnSpc>
                <a:buNone/>
              </a:pPr>
              <a:r>
                <a:rPr lang="zh-CN" altLang="en-US" sz="750" b="0">
                  <a:solidFill>
                    <a:srgbClr val="8C8C8C"/>
                  </a:solidFill>
                  <a:latin typeface="微软雅黑"/>
                  <a:ea typeface="微软雅黑"/>
                  <a:cs typeface="微软雅黑"/>
                </a:rPr>
                <a:t>验证对象</a:t>
              </a:r>
            </a:p>
          </p:txBody>
        </p:sp>
        <p:sp>
          <p:nvSpPr>
            <p:cNvPr id="66" name="TextBox 65"/>
            <p:cNvSpPr txBox="1"/>
            <p:nvPr/>
          </p:nvSpPr>
          <p:spPr>
            <a:xfrm>
              <a:off x="5143500" y="4114800"/>
              <a:ext cx="1739900" cy="158750"/>
            </a:xfrm>
            <a:prstGeom prst="rect">
              <a:avLst/>
            </a:prstGeom>
            <a:noFill/>
          </p:spPr>
          <p:txBody>
            <a:bodyPr wrap="none" anchor="ctr" lIns="0" tIns="0" rIns="0" bIns="0">
              <a:noAutofit/>
            </a:bodyPr>
            <a:lstStyle/>
            <a:p>
              <a:pPr algn="l" marL="0" indent="0">
                <a:lnSpc>
                  <a:spcPts val="1100"/>
                </a:lnSpc>
                <a:buNone/>
              </a:pPr>
              <a:r>
                <a:rPr lang="zh-CN" altLang="en-US" sz="800" b="0">
                  <a:solidFill>
                    <a:srgbClr val="1A1A1A"/>
                  </a:solidFill>
                  <a:latin typeface="微软雅黑"/>
                  <a:ea typeface="微软雅黑"/>
                  <a:cs typeface="微软雅黑"/>
                </a:rPr>
                <a:t>牵引控制系统</a:t>
              </a:r>
            </a:p>
          </p:txBody>
        </p:sp>
        <p:sp>
          <p:nvSpPr>
            <p:cNvPr id="67" name="TextBox 66"/>
            <p:cNvSpPr txBox="1"/>
            <p:nvPr/>
          </p:nvSpPr>
          <p:spPr>
            <a:xfrm>
              <a:off x="4572000" y="4273550"/>
              <a:ext cx="533400" cy="158750"/>
            </a:xfrm>
            <a:prstGeom prst="rect">
              <a:avLst/>
            </a:prstGeom>
            <a:noFill/>
          </p:spPr>
          <p:txBody>
            <a:bodyPr wrap="none" anchor="ctr" lIns="0" tIns="0" rIns="0" bIns="0">
              <a:noAutofit/>
            </a:bodyPr>
            <a:lstStyle/>
            <a:p>
              <a:pPr algn="l" marL="0" indent="0">
                <a:lnSpc>
                  <a:spcPts val="1000"/>
                </a:lnSpc>
                <a:buNone/>
              </a:pPr>
              <a:r>
                <a:rPr lang="zh-CN" altLang="en-US" sz="750" b="0">
                  <a:solidFill>
                    <a:srgbClr val="8C8C8C"/>
                  </a:solidFill>
                  <a:latin typeface="微软雅黑"/>
                  <a:ea typeface="微软雅黑"/>
                  <a:cs typeface="微软雅黑"/>
                </a:rPr>
                <a:t>关键性能</a:t>
              </a:r>
            </a:p>
          </p:txBody>
        </p:sp>
        <p:sp>
          <p:nvSpPr>
            <p:cNvPr id="68" name="TextBox 67"/>
            <p:cNvSpPr txBox="1"/>
            <p:nvPr/>
          </p:nvSpPr>
          <p:spPr>
            <a:xfrm>
              <a:off x="5143500" y="4273550"/>
              <a:ext cx="1739900" cy="158750"/>
            </a:xfrm>
            <a:prstGeom prst="rect">
              <a:avLst/>
            </a:prstGeom>
            <a:noFill/>
          </p:spPr>
          <p:txBody>
            <a:bodyPr wrap="none" anchor="ctr" lIns="0" tIns="0" rIns="0" bIns="0">
              <a:noAutofit/>
            </a:bodyPr>
            <a:lstStyle/>
            <a:p>
              <a:pPr algn="l" marL="0" indent="0">
                <a:lnSpc>
                  <a:spcPts val="1100"/>
                </a:lnSpc>
                <a:buNone/>
              </a:pPr>
              <a:r>
                <a:rPr lang="zh-CN" altLang="en-US" sz="800" b="0">
                  <a:solidFill>
                    <a:srgbClr val="1A1A1A"/>
                  </a:solidFill>
                  <a:latin typeface="微软雅黑"/>
                  <a:ea typeface="微软雅黑"/>
                  <a:cs typeface="微软雅黑"/>
                </a:rPr>
                <a:t>速度跟踪偏差</a:t>
              </a:r>
            </a:p>
          </p:txBody>
        </p:sp>
        <p:sp>
          <p:nvSpPr>
            <p:cNvPr id="69" name="TextBox 68"/>
            <p:cNvSpPr txBox="1"/>
            <p:nvPr/>
          </p:nvSpPr>
          <p:spPr>
            <a:xfrm>
              <a:off x="4572000" y="4432300"/>
              <a:ext cx="533400" cy="158750"/>
            </a:xfrm>
            <a:prstGeom prst="rect">
              <a:avLst/>
            </a:prstGeom>
            <a:noFill/>
          </p:spPr>
          <p:txBody>
            <a:bodyPr wrap="none" anchor="ctr" lIns="0" tIns="0" rIns="0" bIns="0">
              <a:noAutofit/>
            </a:bodyPr>
            <a:lstStyle/>
            <a:p>
              <a:pPr algn="l" marL="0" indent="0">
                <a:lnSpc>
                  <a:spcPts val="1000"/>
                </a:lnSpc>
                <a:buNone/>
              </a:pPr>
              <a:r>
                <a:rPr lang="zh-CN" altLang="en-US" sz="750" b="0">
                  <a:solidFill>
                    <a:srgbClr val="8C8C8C"/>
                  </a:solidFill>
                  <a:latin typeface="微软雅黑"/>
                  <a:ea typeface="微软雅黑"/>
                  <a:cs typeface="微软雅黑"/>
                </a:rPr>
                <a:t>适用工况</a:t>
              </a:r>
            </a:p>
          </p:txBody>
        </p:sp>
        <p:sp>
          <p:nvSpPr>
            <p:cNvPr id="70" name="TextBox 69"/>
            <p:cNvSpPr txBox="1"/>
            <p:nvPr/>
          </p:nvSpPr>
          <p:spPr>
            <a:xfrm>
              <a:off x="5143500" y="4432300"/>
              <a:ext cx="1739900" cy="158750"/>
            </a:xfrm>
            <a:prstGeom prst="rect">
              <a:avLst/>
            </a:prstGeom>
            <a:noFill/>
          </p:spPr>
          <p:txBody>
            <a:bodyPr wrap="none" anchor="ctr" lIns="0" tIns="0" rIns="0" bIns="0">
              <a:noAutofit/>
            </a:bodyPr>
            <a:lstStyle/>
            <a:p>
              <a:pPr algn="l" marL="0" indent="0">
                <a:lnSpc>
                  <a:spcPts val="1100"/>
                </a:lnSpc>
                <a:buNone/>
              </a:pPr>
              <a:r>
                <a:rPr lang="zh-CN" altLang="en-US" sz="800" b="0">
                  <a:solidFill>
                    <a:srgbClr val="1A1A1A"/>
                  </a:solidFill>
                  <a:latin typeface="微软雅黑"/>
                  <a:ea typeface="微软雅黑"/>
                  <a:cs typeface="微软雅黑"/>
                </a:rPr>
                <a:t>长大下坡 · 湿轨</a:t>
              </a:r>
            </a:p>
          </p:txBody>
        </p:sp>
        <p:sp>
          <p:nvSpPr>
            <p:cNvPr id="71" name="TextBox 70"/>
            <p:cNvSpPr txBox="1"/>
            <p:nvPr/>
          </p:nvSpPr>
          <p:spPr>
            <a:xfrm>
              <a:off x="4572000" y="4591050"/>
              <a:ext cx="533400" cy="158750"/>
            </a:xfrm>
            <a:prstGeom prst="rect">
              <a:avLst/>
            </a:prstGeom>
            <a:noFill/>
          </p:spPr>
          <p:txBody>
            <a:bodyPr wrap="none" anchor="ctr" lIns="0" tIns="0" rIns="0" bIns="0">
              <a:noAutofit/>
            </a:bodyPr>
            <a:lstStyle/>
            <a:p>
              <a:pPr algn="l" marL="0" indent="0">
                <a:lnSpc>
                  <a:spcPts val="1000"/>
                </a:lnSpc>
                <a:buNone/>
              </a:pPr>
              <a:r>
                <a:rPr lang="zh-CN" altLang="en-US" sz="750" b="0">
                  <a:solidFill>
                    <a:srgbClr val="8C8C8C"/>
                  </a:solidFill>
                  <a:latin typeface="微软雅黑"/>
                  <a:ea typeface="微软雅黑"/>
                  <a:cs typeface="微软雅黑"/>
                </a:rPr>
                <a:t>判定规则</a:t>
              </a:r>
            </a:p>
          </p:txBody>
        </p:sp>
        <p:sp>
          <p:nvSpPr>
            <p:cNvPr id="72" name="TextBox 71"/>
            <p:cNvSpPr txBox="1"/>
            <p:nvPr/>
          </p:nvSpPr>
          <p:spPr>
            <a:xfrm>
              <a:off x="5143500" y="4591050"/>
              <a:ext cx="1739900" cy="158750"/>
            </a:xfrm>
            <a:prstGeom prst="rect">
              <a:avLst/>
            </a:prstGeom>
            <a:noFill/>
          </p:spPr>
          <p:txBody>
            <a:bodyPr wrap="none" anchor="ctr" lIns="0" tIns="0" rIns="0" bIns="0">
              <a:noAutofit/>
            </a:bodyPr>
            <a:lstStyle/>
            <a:p>
              <a:pPr algn="l" marL="0" indent="0">
                <a:lnSpc>
                  <a:spcPts val="1100"/>
                </a:lnSpc>
                <a:buNone/>
              </a:pPr>
              <a:r>
                <a:rPr lang="zh-CN" altLang="en-US" sz="800" b="1">
                  <a:solidFill>
                    <a:srgbClr val="1A1A1A"/>
                  </a:solidFill>
                  <a:latin typeface="微软雅黑"/>
                  <a:ea typeface="微软雅黑"/>
                  <a:cs typeface="微软雅黑"/>
                </a:rPr>
                <a:t>|实测 − 目标| ≤ 允许偏差</a:t>
              </a:r>
            </a:p>
          </p:txBody>
        </p:sp>
        <p:sp>
          <p:nvSpPr>
            <p:cNvPr id="73" name="TextBox 72"/>
            <p:cNvSpPr txBox="1"/>
            <p:nvPr/>
          </p:nvSpPr>
          <p:spPr>
            <a:xfrm>
              <a:off x="4572000" y="4749800"/>
              <a:ext cx="533400" cy="158750"/>
            </a:xfrm>
            <a:prstGeom prst="rect">
              <a:avLst/>
            </a:prstGeom>
            <a:noFill/>
          </p:spPr>
          <p:txBody>
            <a:bodyPr wrap="none" anchor="ctr" lIns="0" tIns="0" rIns="0" bIns="0">
              <a:noAutofit/>
            </a:bodyPr>
            <a:lstStyle/>
            <a:p>
              <a:pPr algn="l" marL="0" indent="0">
                <a:lnSpc>
                  <a:spcPts val="1000"/>
                </a:lnSpc>
                <a:buNone/>
              </a:pPr>
              <a:r>
                <a:rPr lang="zh-CN" altLang="en-US" sz="750" b="0">
                  <a:solidFill>
                    <a:srgbClr val="8C8C8C"/>
                  </a:solidFill>
                  <a:latin typeface="微软雅黑"/>
                  <a:ea typeface="微软雅黑"/>
                  <a:cs typeface="微软雅黑"/>
                </a:rPr>
                <a:t>来源</a:t>
              </a:r>
            </a:p>
          </p:txBody>
        </p:sp>
        <p:sp>
          <p:nvSpPr>
            <p:cNvPr id="74" name="TextBox 73"/>
            <p:cNvSpPr txBox="1"/>
            <p:nvPr/>
          </p:nvSpPr>
          <p:spPr>
            <a:xfrm>
              <a:off x="5143500" y="4749800"/>
              <a:ext cx="1739900" cy="158750"/>
            </a:xfrm>
            <a:prstGeom prst="rect">
              <a:avLst/>
            </a:prstGeom>
            <a:noFill/>
          </p:spPr>
          <p:txBody>
            <a:bodyPr wrap="none" anchor="ctr" lIns="0" tIns="0" rIns="0" bIns="0">
              <a:noAutofit/>
            </a:bodyPr>
            <a:lstStyle/>
            <a:p>
              <a:pPr algn="l" marL="0" indent="0">
                <a:lnSpc>
                  <a:spcPts val="1100"/>
                </a:lnSpc>
                <a:buNone/>
              </a:pPr>
              <a:r>
                <a:rPr lang="zh-CN" altLang="en-US" sz="800" b="0">
                  <a:solidFill>
                    <a:srgbClr val="1A1A1A"/>
                  </a:solidFill>
                  <a:latin typeface="微软雅黑"/>
                  <a:ea typeface="微软雅黑"/>
                  <a:cs typeface="微软雅黑"/>
                </a:rPr>
                <a:t>设计规范条款</a:t>
              </a:r>
            </a:p>
          </p:txBody>
        </p:sp>
        <p:cxnSp>
          <p:nvCxnSpPr>
            <p:cNvPr id="75" name="Connector 74"/>
            <p:cNvCxnSpPr/>
            <p:nvPr/>
          </p:nvCxnSpPr>
          <p:spPr>
            <a:xfrm>
              <a:off x="7035800" y="4406900"/>
              <a:ext cx="444500" cy="0"/>
            </a:xfrm>
            <a:prstGeom prst="line">
              <a:avLst/>
            </a:prstGeom>
            <a:ln w="12700">
              <a:solidFill>
                <a:srgbClr val="8C8C8C"/>
              </a:solidFill>
              <a:round/>
              <a:tailEnd type="triangle" w="med" len="med"/>
            </a:ln>
          </p:spPr>
        </p:cxnSp>
        <p:sp>
          <p:nvSpPr>
            <p:cNvPr id="76" name="TextBox 75"/>
            <p:cNvSpPr txBox="1"/>
            <p:nvPr/>
          </p:nvSpPr>
          <p:spPr>
            <a:xfrm>
              <a:off x="7035800" y="4216400"/>
              <a:ext cx="444500" cy="139700"/>
            </a:xfrm>
            <a:prstGeom prst="rect">
              <a:avLst/>
            </a:prstGeom>
            <a:noFill/>
          </p:spPr>
          <p:txBody>
            <a:bodyPr wrap="none" anchor="t" lIns="0" tIns="0" rIns="0" bIns="0">
              <a:noAutofit/>
            </a:bodyPr>
            <a:lstStyle/>
            <a:p>
              <a:pPr algn="ctr" marL="0" indent="0">
                <a:lnSpc>
                  <a:spcPts val="1000"/>
                </a:lnSpc>
                <a:buNone/>
              </a:pPr>
              <a:r>
                <a:rPr lang="zh-CN" altLang="en-US" sz="750" b="1">
                  <a:solidFill>
                    <a:srgbClr val="666666"/>
                  </a:solidFill>
                  <a:latin typeface="微软雅黑"/>
                  <a:ea typeface="微软雅黑"/>
                  <a:cs typeface="微软雅黑"/>
                </a:rPr>
                <a:t>入库</a:t>
              </a:r>
            </a:p>
          </p:txBody>
        </p:sp>
        <p:sp>
          <p:nvSpPr>
            <p:cNvPr id="77" name="Can 76"/>
            <p:cNvSpPr/>
            <p:nvPr/>
          </p:nvSpPr>
          <p:spPr>
            <a:xfrm>
              <a:off x="7594600" y="3886200"/>
              <a:ext cx="952500" cy="1041400"/>
            </a:xfrm>
            <a:prstGeom prst="can">
              <a:avLst/>
            </a:prstGeom>
            <a:solidFill>
              <a:srgbClr val="FDF5F5"/>
            </a:solidFill>
            <a:ln w="7620">
              <a:solidFill>
                <a:srgbClr val="D46A6A"/>
              </a:solidFill>
              <a:round/>
            </a:ln>
          </p:spPr>
          <p:txBody>
            <a:bodyPr rtlCol="0" anchor="ctr" lIns="0" rIns="0" tIns="0" bIns="0"/>
            <a:lstStyle/>
            <a:p>
              <a:pPr algn="ctr"/>
            </a:p>
          </p:txBody>
        </p:sp>
        <p:sp>
          <p:nvSpPr>
            <p:cNvPr id="78" name="TextBox 77"/>
            <p:cNvSpPr txBox="1"/>
            <p:nvPr/>
          </p:nvSpPr>
          <p:spPr>
            <a:xfrm>
              <a:off x="7594600" y="4140200"/>
              <a:ext cx="952500" cy="711200"/>
            </a:xfrm>
            <a:prstGeom prst="rect">
              <a:avLst/>
            </a:prstGeom>
            <a:noFill/>
          </p:spPr>
          <p:txBody>
            <a:bodyPr wrap="none" anchor="ctr" lIns="0" tIns="0" rIns="0" bIns="0">
              <a:noAutofit/>
            </a:bodyPr>
            <a:lstStyle/>
            <a:p>
              <a:pPr algn="ctr" marL="0" indent="0">
                <a:lnSpc>
                  <a:spcPts val="1400"/>
                </a:lnSpc>
                <a:buNone/>
              </a:pPr>
              <a:r>
                <a:rPr lang="zh-CN" altLang="en-US" sz="1000" b="1">
                  <a:solidFill>
                    <a:srgbClr val="B84848"/>
                  </a:solidFill>
                  <a:latin typeface="微软雅黑"/>
                  <a:ea typeface="微软雅黑"/>
                  <a:cs typeface="微软雅黑"/>
                </a:rPr>
                <a:t>判据</a:t>
              </a:r>
              <a:br>
                <a:rPr lang="zh-CN" altLang="en-US" sz="1000"/>
              </a:br>
              <a:r>
                <a:rPr lang="zh-CN" altLang="en-US" sz="1000" b="1">
                  <a:solidFill>
                    <a:srgbClr val="B84848"/>
                  </a:solidFill>
                  <a:latin typeface="微软雅黑"/>
                  <a:ea typeface="微软雅黑"/>
                  <a:cs typeface="微软雅黑"/>
                </a:rPr>
                <a:t>知识库</a:t>
              </a:r>
            </a:p>
          </p:txBody>
        </p:sp>
        <p:sp>
          <p:nvSpPr>
            <p:cNvPr id="79" name="Rectangle 78"/>
            <p:cNvSpPr/>
            <p:nvPr/>
          </p:nvSpPr>
          <p:spPr>
            <a:xfrm>
              <a:off x="8737600" y="3924300"/>
              <a:ext cx="2895600" cy="266700"/>
            </a:xfrm>
            <a:prstGeom prst="rect">
              <a:avLst/>
            </a:prstGeom>
            <a:solidFill>
              <a:srgbClr val="FFFFFF"/>
            </a:solidFill>
            <a:ln w="6350">
              <a:solidFill>
                <a:srgbClr val="E9E9E9"/>
              </a:solidFill>
              <a:round/>
            </a:ln>
          </p:spPr>
          <p:txBody>
            <a:bodyPr rtlCol="0" anchor="ctr" lIns="0" rIns="0" tIns="0" bIns="0"/>
            <a:lstStyle/>
            <a:p>
              <a:pPr algn="ctr"/>
            </a:p>
          </p:txBody>
        </p:sp>
        <p:sp>
          <p:nvSpPr>
            <p:cNvPr id="80" name="Rectangle 79"/>
            <p:cNvSpPr/>
            <p:nvPr/>
          </p:nvSpPr>
          <p:spPr>
            <a:xfrm>
              <a:off x="8737600" y="3924300"/>
              <a:ext cx="25400" cy="266700"/>
            </a:xfrm>
            <a:prstGeom prst="rect">
              <a:avLst/>
            </a:prstGeom>
            <a:solidFill>
              <a:srgbClr val="D46A6A"/>
            </a:solidFill>
            <a:ln>
              <a:noFill/>
            </a:ln>
          </p:spPr>
          <p:txBody>
            <a:bodyPr rtlCol="0" anchor="ctr" lIns="0" rIns="0" tIns="0" bIns="0"/>
            <a:lstStyle/>
            <a:p>
              <a:pPr algn="ctr"/>
            </a:p>
          </p:txBody>
        </p:sp>
        <p:sp>
          <p:nvSpPr>
            <p:cNvPr id="81" name="TextBox 80"/>
            <p:cNvSpPr txBox="1"/>
            <p:nvPr/>
          </p:nvSpPr>
          <p:spPr>
            <a:xfrm>
              <a:off x="8851900" y="3924300"/>
              <a:ext cx="2032000" cy="266700"/>
            </a:xfrm>
            <a:prstGeom prst="rect">
              <a:avLst/>
            </a:prstGeom>
            <a:noFill/>
          </p:spPr>
          <p:txBody>
            <a:bodyPr wrap="none" anchor="ctr" lIns="0" tIns="0" rIns="0" bIns="0">
              <a:noAutofit/>
            </a:bodyPr>
            <a:lstStyle/>
            <a:p>
              <a:pPr algn="l" marL="0" indent="0">
                <a:lnSpc>
                  <a:spcPts val="1100"/>
                </a:lnSpc>
                <a:buNone/>
              </a:pPr>
              <a:r>
                <a:rPr lang="zh-CN" altLang="en-US" sz="850" b="0">
                  <a:solidFill>
                    <a:srgbClr val="8C8C8C"/>
                  </a:solidFill>
                  <a:latin typeface="微软雅黑"/>
                  <a:ea typeface="微软雅黑"/>
                  <a:cs typeface="微软雅黑"/>
                </a:rPr>
                <a:t>判据</a:t>
              </a:r>
              <a:r>
                <a:rPr lang="zh-CN" altLang="en-US" sz="850" b="1">
                  <a:solidFill>
                    <a:srgbClr val="1A1A1A"/>
                  </a:solidFill>
                  <a:latin typeface="微软雅黑"/>
                  <a:ea typeface="微软雅黑"/>
                  <a:cs typeface="微软雅黑"/>
                </a:rPr>
                <a:t>　速度跟踪偏差</a:t>
              </a:r>
            </a:p>
          </p:txBody>
        </p:sp>
        <p:sp>
          <p:nvSpPr>
            <p:cNvPr id="82" name="Rectangle 81"/>
            <p:cNvSpPr/>
            <p:nvPr/>
          </p:nvSpPr>
          <p:spPr>
            <a:xfrm>
              <a:off x="8737600" y="4254500"/>
              <a:ext cx="2895600" cy="266700"/>
            </a:xfrm>
            <a:prstGeom prst="rect">
              <a:avLst/>
            </a:prstGeom>
            <a:solidFill>
              <a:srgbClr val="FFFFFF"/>
            </a:solidFill>
            <a:ln w="6350">
              <a:solidFill>
                <a:srgbClr val="E9E9E9"/>
              </a:solidFill>
              <a:round/>
            </a:ln>
          </p:spPr>
          <p:txBody>
            <a:bodyPr rtlCol="0" anchor="ctr" lIns="0" rIns="0" tIns="0" bIns="0"/>
            <a:lstStyle/>
            <a:p>
              <a:pPr algn="ctr"/>
            </a:p>
          </p:txBody>
        </p:sp>
        <p:sp>
          <p:nvSpPr>
            <p:cNvPr id="83" name="Rectangle 82"/>
            <p:cNvSpPr/>
            <p:nvPr/>
          </p:nvSpPr>
          <p:spPr>
            <a:xfrm>
              <a:off x="8737600" y="4254500"/>
              <a:ext cx="25400" cy="266700"/>
            </a:xfrm>
            <a:prstGeom prst="rect">
              <a:avLst/>
            </a:prstGeom>
            <a:solidFill>
              <a:srgbClr val="D46A6A"/>
            </a:solidFill>
            <a:ln>
              <a:noFill/>
            </a:ln>
          </p:spPr>
          <p:txBody>
            <a:bodyPr rtlCol="0" anchor="ctr" lIns="0" rIns="0" tIns="0" bIns="0"/>
            <a:lstStyle/>
            <a:p>
              <a:pPr algn="ctr"/>
            </a:p>
          </p:txBody>
        </p:sp>
        <p:sp>
          <p:nvSpPr>
            <p:cNvPr id="84" name="TextBox 83"/>
            <p:cNvSpPr txBox="1"/>
            <p:nvPr/>
          </p:nvSpPr>
          <p:spPr>
            <a:xfrm>
              <a:off x="8851900" y="4254500"/>
              <a:ext cx="2032000" cy="266700"/>
            </a:xfrm>
            <a:prstGeom prst="rect">
              <a:avLst/>
            </a:prstGeom>
            <a:noFill/>
          </p:spPr>
          <p:txBody>
            <a:bodyPr wrap="none" anchor="ctr" lIns="0" tIns="0" rIns="0" bIns="0">
              <a:noAutofit/>
            </a:bodyPr>
            <a:lstStyle/>
            <a:p>
              <a:pPr algn="l" marL="0" indent="0">
                <a:lnSpc>
                  <a:spcPts val="1100"/>
                </a:lnSpc>
                <a:buNone/>
              </a:pPr>
              <a:r>
                <a:rPr lang="zh-CN" altLang="en-US" sz="850" b="0">
                  <a:solidFill>
                    <a:srgbClr val="8C8C8C"/>
                  </a:solidFill>
                  <a:latin typeface="微软雅黑"/>
                  <a:ea typeface="微软雅黑"/>
                  <a:cs typeface="微软雅黑"/>
                </a:rPr>
                <a:t>判据</a:t>
              </a:r>
              <a:r>
                <a:rPr lang="zh-CN" altLang="en-US" sz="850" b="1">
                  <a:solidFill>
                    <a:srgbClr val="1A1A1A"/>
                  </a:solidFill>
                  <a:latin typeface="微软雅黑"/>
                  <a:ea typeface="微软雅黑"/>
                  <a:cs typeface="微软雅黑"/>
                </a:rPr>
                <a:t>　牵引能耗</a:t>
              </a:r>
            </a:p>
          </p:txBody>
        </p:sp>
        <p:sp>
          <p:nvSpPr>
            <p:cNvPr id="85" name="Rectangle 84"/>
            <p:cNvSpPr/>
            <p:nvPr/>
          </p:nvSpPr>
          <p:spPr>
            <a:xfrm>
              <a:off x="8737600" y="4584700"/>
              <a:ext cx="2895600" cy="266700"/>
            </a:xfrm>
            <a:prstGeom prst="rect">
              <a:avLst/>
            </a:prstGeom>
            <a:solidFill>
              <a:srgbClr val="FFFFFF"/>
            </a:solidFill>
            <a:ln w="6350">
              <a:solidFill>
                <a:srgbClr val="E9E9E9"/>
              </a:solidFill>
              <a:round/>
            </a:ln>
          </p:spPr>
          <p:txBody>
            <a:bodyPr rtlCol="0" anchor="ctr" lIns="0" rIns="0" tIns="0" bIns="0"/>
            <a:lstStyle/>
            <a:p>
              <a:pPr algn="ctr"/>
            </a:p>
          </p:txBody>
        </p:sp>
        <p:sp>
          <p:nvSpPr>
            <p:cNvPr id="86" name="Rectangle 85"/>
            <p:cNvSpPr/>
            <p:nvPr/>
          </p:nvSpPr>
          <p:spPr>
            <a:xfrm>
              <a:off x="8737600" y="4584700"/>
              <a:ext cx="25400" cy="266700"/>
            </a:xfrm>
            <a:prstGeom prst="rect">
              <a:avLst/>
            </a:prstGeom>
            <a:solidFill>
              <a:srgbClr val="D46A6A"/>
            </a:solidFill>
            <a:ln>
              <a:noFill/>
            </a:ln>
          </p:spPr>
          <p:txBody>
            <a:bodyPr rtlCol="0" anchor="ctr" lIns="0" rIns="0" tIns="0" bIns="0"/>
            <a:lstStyle/>
            <a:p>
              <a:pPr algn="ctr"/>
            </a:p>
          </p:txBody>
        </p:sp>
        <p:sp>
          <p:nvSpPr>
            <p:cNvPr id="87" name="TextBox 86"/>
            <p:cNvSpPr txBox="1"/>
            <p:nvPr/>
          </p:nvSpPr>
          <p:spPr>
            <a:xfrm>
              <a:off x="8851900" y="4584700"/>
              <a:ext cx="2032000" cy="266700"/>
            </a:xfrm>
            <a:prstGeom prst="rect">
              <a:avLst/>
            </a:prstGeom>
            <a:noFill/>
          </p:spPr>
          <p:txBody>
            <a:bodyPr wrap="none" anchor="ctr" lIns="0" tIns="0" rIns="0" bIns="0">
              <a:noAutofit/>
            </a:bodyPr>
            <a:lstStyle/>
            <a:p>
              <a:pPr algn="l" marL="0" indent="0">
                <a:lnSpc>
                  <a:spcPts val="1100"/>
                </a:lnSpc>
                <a:buNone/>
              </a:pPr>
              <a:r>
                <a:rPr lang="zh-CN" altLang="en-US" sz="850" b="0">
                  <a:solidFill>
                    <a:srgbClr val="8C8C8C"/>
                  </a:solidFill>
                  <a:latin typeface="微软雅黑"/>
                  <a:ea typeface="微软雅黑"/>
                  <a:cs typeface="微软雅黑"/>
                </a:rPr>
                <a:t>判据</a:t>
              </a:r>
              <a:r>
                <a:rPr lang="zh-CN" altLang="en-US" sz="850" b="1">
                  <a:solidFill>
                    <a:srgbClr val="1A1A1A"/>
                  </a:solidFill>
                  <a:latin typeface="微软雅黑"/>
                  <a:ea typeface="微软雅黑"/>
                  <a:cs typeface="微软雅黑"/>
                </a:rPr>
                <a:t>　运行平稳性</a:t>
              </a:r>
            </a:p>
          </p:txBody>
        </p:sp>
        <p:sp>
          <p:nvSpPr>
            <p:cNvPr id="88" name="Rectangle 87"/>
            <p:cNvSpPr/>
            <p:nvPr/>
          </p:nvSpPr>
          <p:spPr>
            <a:xfrm>
              <a:off x="2413000" y="5105400"/>
              <a:ext cx="777954" cy="177800"/>
            </a:xfrm>
            <a:prstGeom prst="rect">
              <a:avLst/>
            </a:prstGeom>
            <a:solidFill>
              <a:srgbClr val="FDF5F5"/>
            </a:solidFill>
            <a:ln>
              <a:noFill/>
            </a:ln>
          </p:spPr>
          <p:txBody>
            <a:bodyPr rtlCol="0" anchor="ctr" lIns="0" rIns="0" tIns="0" bIns="0" wrap="none">
              <a:noAutofit/>
            </a:bodyPr>
            <a:lstStyle/>
            <a:p>
              <a:pPr algn="ctr" marL="0" indent="0">
                <a:lnSpc>
                  <a:spcPts val="1050"/>
                </a:lnSpc>
                <a:buNone/>
              </a:pPr>
              <a:r>
                <a:rPr lang="zh-CN" altLang="en-US" sz="800" b="1">
                  <a:solidFill>
                    <a:srgbClr val="B84848"/>
                  </a:solidFill>
                  <a:latin typeface="微软雅黑"/>
                  <a:ea typeface="微软雅黑"/>
                  <a:cs typeface="微软雅黑"/>
                </a:rPr>
                <a:t>02 任务工作流</a:t>
              </a:r>
            </a:p>
          </p:txBody>
        </p:sp>
        <p:sp>
          <p:nvSpPr>
            <p:cNvPr id="89" name="Rounded Rectangle 88"/>
            <p:cNvSpPr/>
            <p:nvPr/>
          </p:nvSpPr>
          <p:spPr>
            <a:xfrm>
              <a:off x="2413000" y="5372100"/>
              <a:ext cx="952500" cy="279400"/>
            </a:xfrm>
            <a:prstGeom prst="roundRect">
              <a:avLst>
                <a:gd name="adj" fmla="val 9090"/>
              </a:avLst>
            </a:prstGeom>
            <a:solidFill>
              <a:srgbClr val="FFFFFF"/>
            </a:solidFill>
            <a:ln w="7620">
              <a:solidFill>
                <a:srgbClr val="E9E9E9"/>
              </a:solidFill>
              <a:round/>
            </a:ln>
          </p:spPr>
          <p:txBody>
            <a:bodyPr rtlCol="0" anchor="ctr" lIns="0" rIns="0" tIns="0" bIns="0" wrap="none">
              <a:noAutofit/>
            </a:bodyPr>
            <a:lstStyle/>
            <a:p>
              <a:pPr algn="ctr" marL="0" indent="0">
                <a:lnSpc>
                  <a:spcPts val="1150"/>
                </a:lnSpc>
                <a:buNone/>
              </a:pPr>
              <a:r>
                <a:rPr lang="zh-CN" altLang="en-US" sz="900" b="0">
                  <a:solidFill>
                    <a:srgbClr val="3D3D3D"/>
                  </a:solidFill>
                  <a:latin typeface="微软雅黑"/>
                  <a:ea typeface="微软雅黑"/>
                  <a:cs typeface="微软雅黑"/>
                </a:rPr>
                <a:t>验证目标</a:t>
              </a:r>
            </a:p>
          </p:txBody>
        </p:sp>
        <p:cxnSp>
          <p:nvCxnSpPr>
            <p:cNvPr id="90" name="Connector 89"/>
            <p:cNvCxnSpPr/>
            <p:nvPr/>
          </p:nvCxnSpPr>
          <p:spPr>
            <a:xfrm>
              <a:off x="3403600" y="5511800"/>
              <a:ext cx="266700" cy="0"/>
            </a:xfrm>
            <a:prstGeom prst="line">
              <a:avLst/>
            </a:prstGeom>
            <a:ln w="12700">
              <a:solidFill>
                <a:srgbClr val="8C8C8C"/>
              </a:solidFill>
              <a:round/>
              <a:tailEnd type="triangle" w="med" len="med"/>
            </a:ln>
          </p:spPr>
        </p:cxnSp>
        <p:sp>
          <p:nvSpPr>
            <p:cNvPr id="91" name="Rounded Rectangle 90"/>
            <p:cNvSpPr/>
            <p:nvPr/>
          </p:nvSpPr>
          <p:spPr>
            <a:xfrm>
              <a:off x="3708400" y="5372100"/>
              <a:ext cx="952500" cy="279400"/>
            </a:xfrm>
            <a:prstGeom prst="roundRect">
              <a:avLst>
                <a:gd name="adj" fmla="val 9090"/>
              </a:avLst>
            </a:prstGeom>
            <a:solidFill>
              <a:srgbClr val="FFFFFF"/>
            </a:solidFill>
            <a:ln w="7620">
              <a:solidFill>
                <a:srgbClr val="E9E9E9"/>
              </a:solidFill>
              <a:round/>
            </a:ln>
          </p:spPr>
          <p:txBody>
            <a:bodyPr rtlCol="0" anchor="ctr" lIns="0" rIns="0" tIns="0" bIns="0" wrap="none">
              <a:noAutofit/>
            </a:bodyPr>
            <a:lstStyle/>
            <a:p>
              <a:pPr algn="ctr" marL="0" indent="0">
                <a:lnSpc>
                  <a:spcPts val="1150"/>
                </a:lnSpc>
                <a:buNone/>
              </a:pPr>
              <a:r>
                <a:rPr lang="zh-CN" altLang="en-US" sz="900" b="0">
                  <a:solidFill>
                    <a:srgbClr val="3D3D3D"/>
                  </a:solidFill>
                  <a:latin typeface="微软雅黑"/>
                  <a:ea typeface="微软雅黑"/>
                  <a:cs typeface="微软雅黑"/>
                </a:rPr>
                <a:t>任务分解</a:t>
              </a:r>
            </a:p>
          </p:txBody>
        </p:sp>
        <p:cxnSp>
          <p:nvCxnSpPr>
            <p:cNvPr id="92" name="Connector 91"/>
            <p:cNvCxnSpPr/>
            <p:nvPr/>
          </p:nvCxnSpPr>
          <p:spPr>
            <a:xfrm>
              <a:off x="4699000" y="5511800"/>
              <a:ext cx="266700" cy="0"/>
            </a:xfrm>
            <a:prstGeom prst="line">
              <a:avLst/>
            </a:prstGeom>
            <a:ln w="12700">
              <a:solidFill>
                <a:srgbClr val="8C8C8C"/>
              </a:solidFill>
              <a:round/>
              <a:tailEnd type="triangle" w="med" len="med"/>
            </a:ln>
          </p:spPr>
        </p:cxnSp>
        <p:sp>
          <p:nvSpPr>
            <p:cNvPr id="93" name="Rounded Rectangle 92"/>
            <p:cNvSpPr/>
            <p:nvPr/>
          </p:nvSpPr>
          <p:spPr>
            <a:xfrm>
              <a:off x="5003800" y="5372100"/>
              <a:ext cx="952500" cy="279400"/>
            </a:xfrm>
            <a:prstGeom prst="roundRect">
              <a:avLst>
                <a:gd name="adj" fmla="val 9090"/>
              </a:avLst>
            </a:prstGeom>
            <a:solidFill>
              <a:srgbClr val="FFFFFF"/>
            </a:solidFill>
            <a:ln w="7620">
              <a:solidFill>
                <a:srgbClr val="E9E9E9"/>
              </a:solidFill>
              <a:round/>
            </a:ln>
          </p:spPr>
          <p:txBody>
            <a:bodyPr rtlCol="0" anchor="ctr" lIns="0" rIns="0" tIns="0" bIns="0" wrap="none">
              <a:noAutofit/>
            </a:bodyPr>
            <a:lstStyle/>
            <a:p>
              <a:pPr algn="ctr" marL="0" indent="0">
                <a:lnSpc>
                  <a:spcPts val="1150"/>
                </a:lnSpc>
                <a:buNone/>
              </a:pPr>
              <a:r>
                <a:rPr lang="zh-CN" altLang="en-US" sz="900" b="0">
                  <a:solidFill>
                    <a:srgbClr val="3D3D3D"/>
                  </a:solidFill>
                  <a:latin typeface="微软雅黑"/>
                  <a:ea typeface="微软雅黑"/>
                  <a:cs typeface="微软雅黑"/>
                </a:rPr>
                <a:t>环境装配</a:t>
              </a:r>
            </a:p>
          </p:txBody>
        </p:sp>
        <p:cxnSp>
          <p:nvCxnSpPr>
            <p:cNvPr id="94" name="Connector 93"/>
            <p:cNvCxnSpPr/>
            <p:nvPr/>
          </p:nvCxnSpPr>
          <p:spPr>
            <a:xfrm>
              <a:off x="5994400" y="5511800"/>
              <a:ext cx="266700" cy="0"/>
            </a:xfrm>
            <a:prstGeom prst="line">
              <a:avLst/>
            </a:prstGeom>
            <a:ln w="12700">
              <a:solidFill>
                <a:srgbClr val="8C8C8C"/>
              </a:solidFill>
              <a:round/>
              <a:tailEnd type="triangle" w="med" len="med"/>
            </a:ln>
          </p:spPr>
        </p:cxnSp>
        <p:sp>
          <p:nvSpPr>
            <p:cNvPr id="95" name="Rounded Rectangle 94"/>
            <p:cNvSpPr/>
            <p:nvPr/>
          </p:nvSpPr>
          <p:spPr>
            <a:xfrm>
              <a:off x="6299200" y="5372100"/>
              <a:ext cx="952500" cy="279400"/>
            </a:xfrm>
            <a:prstGeom prst="roundRect">
              <a:avLst>
                <a:gd name="adj" fmla="val 9090"/>
              </a:avLst>
            </a:prstGeom>
            <a:solidFill>
              <a:srgbClr val="FFFFFF"/>
            </a:solidFill>
            <a:ln w="7620">
              <a:solidFill>
                <a:srgbClr val="E9E9E9"/>
              </a:solidFill>
              <a:round/>
            </a:ln>
          </p:spPr>
          <p:txBody>
            <a:bodyPr rtlCol="0" anchor="ctr" lIns="0" rIns="0" tIns="0" bIns="0" wrap="none">
              <a:noAutofit/>
            </a:bodyPr>
            <a:lstStyle/>
            <a:p>
              <a:pPr algn="ctr" marL="0" indent="0">
                <a:lnSpc>
                  <a:spcPts val="1150"/>
                </a:lnSpc>
                <a:buNone/>
              </a:pPr>
              <a:r>
                <a:rPr lang="zh-CN" altLang="en-US" sz="900" b="0">
                  <a:solidFill>
                    <a:srgbClr val="3D3D3D"/>
                  </a:solidFill>
                  <a:latin typeface="微软雅黑"/>
                  <a:ea typeface="微软雅黑"/>
                  <a:cs typeface="微软雅黑"/>
                </a:rPr>
                <a:t>仿真执行</a:t>
              </a:r>
            </a:p>
          </p:txBody>
        </p:sp>
        <p:cxnSp>
          <p:nvCxnSpPr>
            <p:cNvPr id="96" name="Connector 95"/>
            <p:cNvCxnSpPr/>
            <p:nvPr/>
          </p:nvCxnSpPr>
          <p:spPr>
            <a:xfrm>
              <a:off x="7289800" y="5511800"/>
              <a:ext cx="266700" cy="0"/>
            </a:xfrm>
            <a:prstGeom prst="line">
              <a:avLst/>
            </a:prstGeom>
            <a:ln w="12700">
              <a:solidFill>
                <a:srgbClr val="8C8C8C"/>
              </a:solidFill>
              <a:round/>
              <a:tailEnd type="triangle" w="med" len="med"/>
            </a:ln>
          </p:spPr>
        </p:cxnSp>
        <p:sp>
          <p:nvSpPr>
            <p:cNvPr id="97" name="Rounded Rectangle 96"/>
            <p:cNvSpPr/>
            <p:nvPr/>
          </p:nvSpPr>
          <p:spPr>
            <a:xfrm>
              <a:off x="7594600" y="5372100"/>
              <a:ext cx="952500" cy="279400"/>
            </a:xfrm>
            <a:prstGeom prst="roundRect">
              <a:avLst>
                <a:gd name="adj" fmla="val 9090"/>
              </a:avLst>
            </a:prstGeom>
            <a:solidFill>
              <a:srgbClr val="FDF5F5"/>
            </a:solidFill>
            <a:ln w="7620">
              <a:solidFill>
                <a:srgbClr val="F9E8E8"/>
              </a:solidFill>
              <a:round/>
            </a:ln>
          </p:spPr>
          <p:txBody>
            <a:bodyPr rtlCol="0" anchor="ctr" lIns="0" rIns="0" tIns="0" bIns="0" wrap="none">
              <a:noAutofit/>
            </a:bodyPr>
            <a:lstStyle/>
            <a:p>
              <a:pPr algn="ctr" marL="0" indent="0">
                <a:lnSpc>
                  <a:spcPts val="1150"/>
                </a:lnSpc>
                <a:buNone/>
              </a:pPr>
              <a:r>
                <a:rPr lang="zh-CN" altLang="en-US" sz="900" b="1">
                  <a:solidFill>
                    <a:srgbClr val="B84848"/>
                  </a:solidFill>
                  <a:latin typeface="微软雅黑"/>
                  <a:ea typeface="微软雅黑"/>
                  <a:cs typeface="微软雅黑"/>
                </a:rPr>
                <a:t>结果比对</a:t>
              </a:r>
            </a:p>
          </p:txBody>
        </p:sp>
        <p:cxnSp>
          <p:nvCxnSpPr>
            <p:cNvPr id="98" name="Connector 97"/>
            <p:cNvCxnSpPr/>
            <p:nvPr/>
          </p:nvCxnSpPr>
          <p:spPr>
            <a:xfrm>
              <a:off x="8585200" y="5511800"/>
              <a:ext cx="266700" cy="0"/>
            </a:xfrm>
            <a:prstGeom prst="line">
              <a:avLst/>
            </a:prstGeom>
            <a:ln w="12700">
              <a:solidFill>
                <a:srgbClr val="8C8C8C"/>
              </a:solidFill>
              <a:round/>
              <a:tailEnd type="triangle" w="med" len="med"/>
            </a:ln>
          </p:spPr>
        </p:cxnSp>
        <p:sp>
          <p:nvSpPr>
            <p:cNvPr id="99" name="Rounded Rectangle 98"/>
            <p:cNvSpPr/>
            <p:nvPr/>
          </p:nvSpPr>
          <p:spPr>
            <a:xfrm>
              <a:off x="8890000" y="5372100"/>
              <a:ext cx="952500" cy="279400"/>
            </a:xfrm>
            <a:prstGeom prst="roundRect">
              <a:avLst>
                <a:gd name="adj" fmla="val 9090"/>
              </a:avLst>
            </a:prstGeom>
            <a:solidFill>
              <a:srgbClr val="D46A6A"/>
            </a:solidFill>
            <a:ln>
              <a:noFill/>
            </a:ln>
          </p:spPr>
          <p:txBody>
            <a:bodyPr rtlCol="0" anchor="ctr" lIns="0" rIns="0" tIns="0" bIns="0" wrap="none">
              <a:noAutofit/>
            </a:bodyPr>
            <a:lstStyle/>
            <a:p>
              <a:pPr algn="ctr" marL="0" indent="0">
                <a:lnSpc>
                  <a:spcPts val="1150"/>
                </a:lnSpc>
                <a:buNone/>
              </a:pPr>
              <a:r>
                <a:rPr lang="zh-CN" altLang="en-US" sz="900" b="1">
                  <a:solidFill>
                    <a:srgbClr val="1A1A1A"/>
                  </a:solidFill>
                  <a:latin typeface="微软雅黑"/>
                  <a:ea typeface="微软雅黑"/>
                  <a:cs typeface="微软雅黑"/>
                </a:rPr>
                <a:t>验证报告</a:t>
              </a:r>
            </a:p>
          </p:txBody>
        </p:sp>
        <p:sp>
          <p:nvSpPr>
            <p:cNvPr id="100" name="TextBox 99"/>
            <p:cNvSpPr txBox="1"/>
            <p:nvPr/>
          </p:nvSpPr>
          <p:spPr>
            <a:xfrm>
              <a:off x="8547100" y="5334000"/>
              <a:ext cx="342900" cy="127000"/>
            </a:xfrm>
            <a:prstGeom prst="rect">
              <a:avLst/>
            </a:prstGeom>
            <a:noFill/>
          </p:spPr>
          <p:txBody>
            <a:bodyPr wrap="none" anchor="t" lIns="0" tIns="0" rIns="0" bIns="0">
              <a:noAutofit/>
            </a:bodyPr>
            <a:lstStyle/>
            <a:p>
              <a:pPr algn="ctr" marL="0" indent="0">
                <a:lnSpc>
                  <a:spcPts val="900"/>
                </a:lnSpc>
                <a:buNone/>
              </a:pPr>
              <a:r>
                <a:rPr lang="zh-CN" altLang="en-US" sz="700" b="1">
                  <a:solidFill>
                    <a:srgbClr val="666666"/>
                  </a:solidFill>
                  <a:latin typeface="微软雅黑"/>
                  <a:ea typeface="微软雅黑"/>
                  <a:cs typeface="微软雅黑"/>
                </a:rPr>
                <a:t>通过</a:t>
              </a:r>
            </a:p>
          </p:txBody>
        </p:sp>
        <p:sp>
          <p:nvSpPr>
            <p:cNvPr id="101" name="Freeform 100"/>
            <p:cNvSpPr/>
            <p:nvPr/>
          </p:nvSpPr>
          <p:spPr>
            <a:xfrm>
              <a:off x="5480050" y="5651500"/>
              <a:ext cx="2590800" cy="215900"/>
            </a:xfrm>
            <a:custGeom>
              <a:avLst/>
              <a:gdLst/>
              <a:ahLst/>
              <a:cxnLst/>
              <a:rect l="l" t="t" r="r" b="b"/>
              <a:pathLst>
                <a:path w="408" h="34">
                  <a:moveTo>
                    <a:pt x="408" y="0"/>
                  </a:moveTo>
                  <a:lnTo>
                    <a:pt x="408" y="34"/>
                  </a:lnTo>
                  <a:lnTo>
                    <a:pt x="0" y="34"/>
                  </a:lnTo>
                  <a:lnTo>
                    <a:pt x="0" y="2"/>
                  </a:lnTo>
                </a:path>
              </a:pathLst>
            </a:custGeom>
            <a:noFill/>
            <a:ln w="12700">
              <a:solidFill>
                <a:srgbClr val="C00000"/>
              </a:solidFill>
              <a:round/>
              <a:tailEnd type="triangle" w="med" len="med"/>
            </a:ln>
          </p:spPr>
          <p:txBody>
            <a:bodyPr rtlCol="0" anchor="ctr"/>
            <a:lstStyle/>
            <a:p>
              <a:pPr algn="ctr"/>
            </a:p>
          </p:txBody>
        </p:sp>
        <p:sp>
          <p:nvSpPr>
            <p:cNvPr id="102" name="TextBox 101"/>
            <p:cNvSpPr txBox="1"/>
            <p:nvPr/>
          </p:nvSpPr>
          <p:spPr>
            <a:xfrm>
              <a:off x="5480050" y="5905500"/>
              <a:ext cx="2590800" cy="152400"/>
            </a:xfrm>
            <a:prstGeom prst="rect">
              <a:avLst/>
            </a:prstGeom>
            <a:noFill/>
          </p:spPr>
          <p:txBody>
            <a:bodyPr wrap="none" anchor="t" lIns="0" tIns="0" rIns="0" bIns="0">
              <a:noAutofit/>
            </a:bodyPr>
            <a:lstStyle/>
            <a:p>
              <a:pPr algn="ctr" marL="0" indent="0">
                <a:lnSpc>
                  <a:spcPts val="1100"/>
                </a:lnSpc>
                <a:buNone/>
              </a:pPr>
              <a:r>
                <a:rPr lang="zh-CN" altLang="en-US" sz="750" b="1">
                  <a:solidFill>
                    <a:srgbClr val="C00000"/>
                  </a:solidFill>
                  <a:latin typeface="微软雅黑"/>
                  <a:ea typeface="微软雅黑"/>
                  <a:cs typeface="微软雅黑"/>
                </a:rPr>
                <a:t>未通过 → 异常分支：调整后重跑</a:t>
              </a:r>
            </a:p>
          </p:txBody>
        </p:sp>
        <p:cxnSp>
          <p:nvCxnSpPr>
            <p:cNvPr id="103" name="Connector 102"/>
            <p:cNvCxnSpPr/>
            <p:nvPr/>
          </p:nvCxnSpPr>
          <p:spPr>
            <a:xfrm>
              <a:off x="8070850" y="4940300"/>
              <a:ext cx="0" cy="406400"/>
            </a:xfrm>
            <a:prstGeom prst="line">
              <a:avLst/>
            </a:prstGeom>
            <a:ln w="9525">
              <a:solidFill>
                <a:srgbClr val="D46A6A"/>
              </a:solidFill>
              <a:prstDash val="dash"/>
              <a:round/>
              <a:tailEnd type="triangle" w="med" len="med"/>
            </a:ln>
          </p:spPr>
        </p:cxnSp>
        <p:sp>
          <p:nvSpPr>
            <p:cNvPr id="104" name="TextBox 103"/>
            <p:cNvSpPr txBox="1"/>
            <p:nvPr/>
          </p:nvSpPr>
          <p:spPr>
            <a:xfrm>
              <a:off x="8140700" y="5086350"/>
              <a:ext cx="635000" cy="139700"/>
            </a:xfrm>
            <a:prstGeom prst="rect">
              <a:avLst/>
            </a:prstGeom>
            <a:noFill/>
          </p:spPr>
          <p:txBody>
            <a:bodyPr wrap="none" anchor="t" lIns="0" tIns="0" rIns="0" bIns="0">
              <a:noAutofit/>
            </a:bodyPr>
            <a:lstStyle/>
            <a:p>
              <a:pPr algn="l" marL="0" indent="0">
                <a:lnSpc>
                  <a:spcPts val="1000"/>
                </a:lnSpc>
                <a:buNone/>
              </a:pPr>
              <a:r>
                <a:rPr lang="zh-CN" altLang="en-US" sz="750" b="1">
                  <a:solidFill>
                    <a:srgbClr val="B84848"/>
                  </a:solidFill>
                  <a:latin typeface="微软雅黑"/>
                  <a:ea typeface="微软雅黑"/>
                  <a:cs typeface="微软雅黑"/>
                </a:rPr>
                <a:t>调用判据</a:t>
              </a:r>
            </a:p>
          </p:txBody>
        </p:sp>
        <p:sp>
          <p:nvSpPr>
            <p:cNvPr id="105" name="Freeform 104"/>
            <p:cNvSpPr/>
            <p:nvPr/>
          </p:nvSpPr>
          <p:spPr>
            <a:xfrm>
              <a:off x="9867900" y="4889500"/>
              <a:ext cx="1663700" cy="622300"/>
            </a:xfrm>
            <a:custGeom>
              <a:avLst/>
              <a:gdLst/>
              <a:ahLst/>
              <a:cxnLst/>
              <a:rect l="l" t="t" r="r" b="b"/>
              <a:pathLst>
                <a:path w="262" h="98">
                  <a:moveTo>
                    <a:pt x="0" y="98"/>
                  </a:moveTo>
                  <a:lnTo>
                    <a:pt x="262" y="98"/>
                  </a:lnTo>
                  <a:lnTo>
                    <a:pt x="262" y="0"/>
                  </a:lnTo>
                </a:path>
              </a:pathLst>
            </a:custGeom>
            <a:noFill/>
            <a:ln w="12700">
              <a:solidFill>
                <a:srgbClr val="4A4A4A"/>
              </a:solidFill>
              <a:round/>
              <a:tailEnd type="triangle" w="med" len="med"/>
            </a:ln>
          </p:spPr>
          <p:txBody>
            <a:bodyPr rtlCol="0" anchor="ctr"/>
            <a:lstStyle/>
            <a:p>
              <a:pPr algn="ctr"/>
            </a:p>
          </p:txBody>
        </p:sp>
        <p:sp>
          <p:nvSpPr>
            <p:cNvPr id="106" name="Rectangle 105"/>
            <p:cNvSpPr/>
            <p:nvPr/>
          </p:nvSpPr>
          <p:spPr>
            <a:xfrm>
              <a:off x="9969500" y="4991100"/>
              <a:ext cx="676354" cy="177800"/>
            </a:xfrm>
            <a:prstGeom prst="rect">
              <a:avLst/>
            </a:prstGeom>
            <a:solidFill>
              <a:srgbClr val="FDF5F5"/>
            </a:solidFill>
            <a:ln>
              <a:noFill/>
            </a:ln>
          </p:spPr>
          <p:txBody>
            <a:bodyPr rtlCol="0" anchor="ctr" lIns="0" rIns="0" tIns="0" bIns="0" wrap="none">
              <a:noAutofit/>
            </a:bodyPr>
            <a:lstStyle/>
            <a:p>
              <a:pPr algn="ctr" marL="0" indent="0">
                <a:lnSpc>
                  <a:spcPts val="1050"/>
                </a:lnSpc>
                <a:buNone/>
              </a:pPr>
              <a:r>
                <a:rPr lang="zh-CN" altLang="en-US" sz="800" b="1">
                  <a:solidFill>
                    <a:srgbClr val="B84848"/>
                  </a:solidFill>
                  <a:latin typeface="微软雅黑"/>
                  <a:ea typeface="微软雅黑"/>
                  <a:cs typeface="微软雅黑"/>
                </a:rPr>
                <a:t>03 迭代机制</a:t>
              </a:r>
            </a:p>
          </p:txBody>
        </p:sp>
        <p:sp>
          <p:nvSpPr>
            <p:cNvPr id="107" name="TextBox 106"/>
            <p:cNvSpPr txBox="1"/>
            <p:nvPr/>
          </p:nvSpPr>
          <p:spPr>
            <a:xfrm>
              <a:off x="9969500" y="5194300"/>
              <a:ext cx="1460500" cy="139700"/>
            </a:xfrm>
            <a:prstGeom prst="rect">
              <a:avLst/>
            </a:prstGeom>
            <a:noFill/>
          </p:spPr>
          <p:txBody>
            <a:bodyPr wrap="none" anchor="t" lIns="0" tIns="0" rIns="0" bIns="0">
              <a:noAutofit/>
            </a:bodyPr>
            <a:lstStyle/>
            <a:p>
              <a:pPr algn="l" marL="0" indent="0">
                <a:lnSpc>
                  <a:spcPts val="1000"/>
                </a:lnSpc>
                <a:buNone/>
              </a:pPr>
              <a:r>
                <a:rPr lang="zh-CN" altLang="en-US" sz="750" b="0">
                  <a:solidFill>
                    <a:srgbClr val="666666"/>
                  </a:solidFill>
                  <a:latin typeface="微软雅黑"/>
                  <a:ea typeface="微软雅黑"/>
                  <a:cs typeface="微软雅黑"/>
                </a:rPr>
                <a:t>结果回流，更新判据与工作流</a:t>
              </a:r>
            </a:p>
          </p:txBody>
        </p:sp>
      </p:gr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研究内容② 任务理解与智能编排调度</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引擎在此落地</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9</a:t>
            </a:r>
          </a:p>
        </p:txBody>
      </p:sp>
      <p:sp>
        <p:nvSpPr>
          <p:cNvPr id="6" name="Rectangle 5"/>
          <p:cNvSpPr/>
          <p:nvPr/>
        </p:nvSpPr>
        <p:spPr>
          <a:xfrm>
            <a:off x="406400" y="2082800"/>
            <a:ext cx="1651000" cy="304800"/>
          </a:xfrm>
          <a:prstGeom prst="rect">
            <a:avLst/>
          </a:prstGeom>
          <a:solidFill>
            <a:srgbClr val="FFFFFF"/>
          </a:solidFill>
          <a:ln w="6350">
            <a:solidFill>
              <a:srgbClr val="E9E9E9"/>
            </a:solidFill>
            <a:round/>
          </a:ln>
        </p:spPr>
        <p:txBody>
          <a:bodyPr rtlCol="0" anchor="ctr" lIns="0" rIns="0" tIns="0" bIns="0"/>
          <a:lstStyle/>
          <a:p>
            <a:pPr algn="ctr"/>
          </a:p>
        </p:txBody>
      </p:sp>
      <p:sp>
        <p:nvSpPr>
          <p:cNvPr id="7" name="Rectangle 6"/>
          <p:cNvSpPr/>
          <p:nvPr/>
        </p:nvSpPr>
        <p:spPr>
          <a:xfrm>
            <a:off x="406400" y="2082800"/>
            <a:ext cx="19050" cy="304800"/>
          </a:xfrm>
          <a:prstGeom prst="rect">
            <a:avLst/>
          </a:prstGeom>
          <a:solidFill>
            <a:srgbClr val="8E0000"/>
          </a:solidFill>
          <a:ln>
            <a:noFill/>
          </a:ln>
        </p:spPr>
        <p:txBody>
          <a:bodyPr rtlCol="0" anchor="ctr" lIns="0" rIns="0" tIns="0" bIns="0"/>
          <a:lstStyle/>
          <a:p>
            <a:pPr algn="ctr"/>
          </a:p>
        </p:txBody>
      </p:sp>
      <p:sp>
        <p:nvSpPr>
          <p:cNvPr id="8" name="TextBox 7"/>
          <p:cNvSpPr txBox="1"/>
          <p:nvPr/>
        </p:nvSpPr>
        <p:spPr>
          <a:xfrm>
            <a:off x="533400" y="2082800"/>
            <a:ext cx="1460500" cy="3048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④ 集成层</a:t>
            </a:r>
          </a:p>
        </p:txBody>
      </p:sp>
      <p:sp>
        <p:nvSpPr>
          <p:cNvPr id="9" name="Rectangle 8"/>
          <p:cNvSpPr/>
          <p:nvPr/>
        </p:nvSpPr>
        <p:spPr>
          <a:xfrm>
            <a:off x="406400" y="2438400"/>
            <a:ext cx="1651000" cy="304800"/>
          </a:xfrm>
          <a:prstGeom prst="rect">
            <a:avLst/>
          </a:prstGeom>
          <a:solidFill>
            <a:srgbClr val="FFFFFF"/>
          </a:solidFill>
          <a:ln w="6350">
            <a:solidFill>
              <a:srgbClr val="E9E9E9"/>
            </a:solidFill>
            <a:round/>
          </a:ln>
        </p:spPr>
        <p:txBody>
          <a:bodyPr rtlCol="0" anchor="ctr" lIns="0" rIns="0" tIns="0" bIns="0"/>
          <a:lstStyle/>
          <a:p>
            <a:pPr algn="ctr"/>
          </a:p>
        </p:txBody>
      </p:sp>
      <p:sp>
        <p:nvSpPr>
          <p:cNvPr id="10" name="Rectangle 9"/>
          <p:cNvSpPr/>
          <p:nvPr/>
        </p:nvSpPr>
        <p:spPr>
          <a:xfrm>
            <a:off x="406400" y="2438400"/>
            <a:ext cx="19050" cy="304800"/>
          </a:xfrm>
          <a:prstGeom prst="rect">
            <a:avLst/>
          </a:prstGeom>
          <a:solidFill>
            <a:srgbClr val="C00000"/>
          </a:solidFill>
          <a:ln>
            <a:noFill/>
          </a:ln>
        </p:spPr>
        <p:txBody>
          <a:bodyPr rtlCol="0" anchor="ctr" lIns="0" rIns="0" tIns="0" bIns="0"/>
          <a:lstStyle/>
          <a:p>
            <a:pPr algn="ctr"/>
          </a:p>
        </p:txBody>
      </p:sp>
      <p:sp>
        <p:nvSpPr>
          <p:cNvPr id="11" name="TextBox 10"/>
          <p:cNvSpPr txBox="1"/>
          <p:nvPr/>
        </p:nvSpPr>
        <p:spPr>
          <a:xfrm>
            <a:off x="533400" y="2438400"/>
            <a:ext cx="1460500" cy="3048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③ 执行层</a:t>
            </a:r>
          </a:p>
        </p:txBody>
      </p:sp>
      <p:sp>
        <p:nvSpPr>
          <p:cNvPr id="12" name="Rectangle 11"/>
          <p:cNvSpPr/>
          <p:nvPr/>
        </p:nvSpPr>
        <p:spPr>
          <a:xfrm>
            <a:off x="406400" y="2819400"/>
            <a:ext cx="1651000" cy="279400"/>
          </a:xfrm>
          <a:prstGeom prst="rect">
            <a:avLst/>
          </a:prstGeom>
          <a:solidFill>
            <a:srgbClr val="C83535"/>
          </a:solidFill>
          <a:ln>
            <a:noFill/>
          </a:ln>
        </p:spPr>
        <p:txBody>
          <a:bodyPr rtlCol="0" anchor="ctr" lIns="0" rIns="0" tIns="0" bIns="0"/>
          <a:lstStyle/>
          <a:p>
            <a:pPr algn="ctr"/>
          </a:p>
        </p:txBody>
      </p:sp>
      <p:sp>
        <p:nvSpPr>
          <p:cNvPr id="13" name="TextBox 12"/>
          <p:cNvSpPr txBox="1"/>
          <p:nvPr/>
        </p:nvSpPr>
        <p:spPr>
          <a:xfrm>
            <a:off x="533400" y="2819400"/>
            <a:ext cx="1460500" cy="279400"/>
          </a:xfrm>
          <a:prstGeom prst="rect">
            <a:avLst/>
          </a:prstGeom>
          <a:noFill/>
        </p:spPr>
        <p:txBody>
          <a:bodyPr wrap="none" anchor="ctr" lIns="0" tIns="0" rIns="0" bIns="0">
            <a:noAutofit/>
          </a:bodyPr>
          <a:lstStyle/>
          <a:p>
            <a:pPr algn="l" marL="0" indent="0">
              <a:lnSpc>
                <a:spcPts val="1300"/>
              </a:lnSpc>
              <a:buNone/>
            </a:pPr>
            <a:r>
              <a:rPr lang="zh-CN" altLang="en-US" sz="950" b="1">
                <a:solidFill>
                  <a:srgbClr val="FFFFFF"/>
                </a:solidFill>
                <a:latin typeface="微软雅黑"/>
                <a:ea typeface="微软雅黑"/>
                <a:cs typeface="微软雅黑"/>
              </a:rPr>
              <a:t>② 决策层</a:t>
            </a:r>
          </a:p>
        </p:txBody>
      </p:sp>
      <p:sp>
        <p:nvSpPr>
          <p:cNvPr id="14" name="Rectangle 13"/>
          <p:cNvSpPr/>
          <p:nvPr/>
        </p:nvSpPr>
        <p:spPr>
          <a:xfrm>
            <a:off x="406400" y="3149600"/>
            <a:ext cx="1651000" cy="279400"/>
          </a:xfrm>
          <a:prstGeom prst="rect">
            <a:avLst/>
          </a:prstGeom>
          <a:solidFill>
            <a:srgbClr val="FFFFFF"/>
          </a:solidFill>
          <a:ln w="6350">
            <a:solidFill>
              <a:srgbClr val="E9E9E9"/>
            </a:solidFill>
            <a:round/>
          </a:ln>
        </p:spPr>
        <p:txBody>
          <a:bodyPr rtlCol="0" anchor="ctr" lIns="0" rIns="0" tIns="0" bIns="0"/>
          <a:lstStyle/>
          <a:p>
            <a:pPr algn="ctr"/>
          </a:p>
        </p:txBody>
      </p:sp>
      <p:sp>
        <p:nvSpPr>
          <p:cNvPr id="15" name="Rectangle 14"/>
          <p:cNvSpPr/>
          <p:nvPr/>
        </p:nvSpPr>
        <p:spPr>
          <a:xfrm>
            <a:off x="406400" y="3149600"/>
            <a:ext cx="19050" cy="279400"/>
          </a:xfrm>
          <a:prstGeom prst="rect">
            <a:avLst/>
          </a:prstGeom>
          <a:solidFill>
            <a:srgbClr val="D46A6A"/>
          </a:solidFill>
          <a:ln>
            <a:noFill/>
          </a:ln>
        </p:spPr>
        <p:txBody>
          <a:bodyPr rtlCol="0" anchor="ctr" lIns="0" rIns="0" tIns="0" bIns="0"/>
          <a:lstStyle/>
          <a:p>
            <a:pPr algn="ctr"/>
          </a:p>
        </p:txBody>
      </p:sp>
      <p:sp>
        <p:nvSpPr>
          <p:cNvPr id="16" name="TextBox 15"/>
          <p:cNvSpPr txBox="1"/>
          <p:nvPr/>
        </p:nvSpPr>
        <p:spPr>
          <a:xfrm>
            <a:off x="533400" y="3149600"/>
            <a:ext cx="1460500" cy="2794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① 基础层</a:t>
            </a:r>
          </a:p>
        </p:txBody>
      </p:sp>
      <p:sp>
        <p:nvSpPr>
          <p:cNvPr id="17" name="TextBox 16"/>
          <p:cNvSpPr txBox="1"/>
          <p:nvPr/>
        </p:nvSpPr>
        <p:spPr>
          <a:xfrm>
            <a:off x="406400" y="5600700"/>
            <a:ext cx="1651000" cy="215900"/>
          </a:xfrm>
          <a:prstGeom prst="rect">
            <a:avLst/>
          </a:prstGeom>
          <a:noFill/>
        </p:spPr>
        <p:txBody>
          <a:bodyPr wrap="none" anchor="t" lIns="0" tIns="0" rIns="0" bIns="0">
            <a:noAutofit/>
          </a:bodyPr>
          <a:lstStyle/>
          <a:p>
            <a:pPr algn="l" marL="0" indent="0">
              <a:lnSpc>
                <a:spcPts val="1600"/>
              </a:lnSpc>
              <a:buNone/>
            </a:pPr>
            <a:r>
              <a:rPr lang="zh-CN" altLang="en-US" sz="1100" b="1">
                <a:solidFill>
                  <a:srgbClr val="1A1A1A"/>
                </a:solidFill>
                <a:latin typeface="微软雅黑"/>
                <a:ea typeface="微软雅黑"/>
                <a:cs typeface="微软雅黑"/>
              </a:rPr>
              <a:t>产出</a:t>
            </a:r>
          </a:p>
        </p:txBody>
      </p:sp>
      <p:sp>
        <p:nvSpPr>
          <p:cNvPr id="18" name="Rectangle 17"/>
          <p:cNvSpPr/>
          <p:nvPr/>
        </p:nvSpPr>
        <p:spPr>
          <a:xfrm>
            <a:off x="406400" y="5880100"/>
            <a:ext cx="1651000" cy="469900"/>
          </a:xfrm>
          <a:prstGeom prst="rect">
            <a:avLst/>
          </a:prstGeom>
          <a:solidFill>
            <a:srgbClr val="FCF3F3"/>
          </a:solidFill>
          <a:ln>
            <a:noFill/>
          </a:ln>
        </p:spPr>
        <p:txBody>
          <a:bodyPr rtlCol="0" anchor="ctr" lIns="0" rIns="0" tIns="0" bIns="0"/>
          <a:lstStyle/>
          <a:p>
            <a:pPr algn="ctr"/>
          </a:p>
        </p:txBody>
      </p:sp>
      <p:sp>
        <p:nvSpPr>
          <p:cNvPr id="19" name="Rectangle 18"/>
          <p:cNvSpPr/>
          <p:nvPr/>
        </p:nvSpPr>
        <p:spPr>
          <a:xfrm>
            <a:off x="406400" y="5880100"/>
            <a:ext cx="19050" cy="469900"/>
          </a:xfrm>
          <a:prstGeom prst="rect">
            <a:avLst/>
          </a:prstGeom>
          <a:solidFill>
            <a:srgbClr val="C83535"/>
          </a:solidFill>
          <a:ln>
            <a:noFill/>
          </a:ln>
        </p:spPr>
        <p:txBody>
          <a:bodyPr rtlCol="0" anchor="ctr" lIns="0" rIns="0" tIns="0" bIns="0"/>
          <a:lstStyle/>
          <a:p>
            <a:pPr algn="ctr"/>
          </a:p>
        </p:txBody>
      </p:sp>
      <p:sp>
        <p:nvSpPr>
          <p:cNvPr id="20" name="TextBox 19"/>
          <p:cNvSpPr txBox="1"/>
          <p:nvPr/>
        </p:nvSpPr>
        <p:spPr>
          <a:xfrm>
            <a:off x="501650" y="5880100"/>
            <a:ext cx="1479550" cy="469900"/>
          </a:xfrm>
          <a:prstGeom prst="rect">
            <a:avLst/>
          </a:prstGeom>
          <a:noFill/>
        </p:spPr>
        <p:txBody>
          <a:bodyPr wrap="square" anchor="ctr" lIns="0" tIns="0" rIns="0" bIns="0">
            <a:noAutofit/>
          </a:bodyPr>
          <a:lstStyle/>
          <a:p>
            <a:pPr algn="l" marL="0" indent="0">
              <a:lnSpc>
                <a:spcPts val="1300"/>
              </a:lnSpc>
              <a:buNone/>
            </a:pPr>
            <a:r>
              <a:rPr lang="zh-CN" altLang="en-US" sz="900" b="1">
                <a:solidFill>
                  <a:srgbClr val="B02A2A"/>
                </a:solidFill>
                <a:latin typeface="微软雅黑"/>
                <a:ea typeface="微软雅黑"/>
                <a:cs typeface="微软雅黑"/>
              </a:rPr>
              <a:t>✓ 多智能体协同运行与调度引擎（软件1套）</a:t>
            </a:r>
          </a:p>
        </p:txBody>
      </p:sp>
      <p:sp>
        <p:nvSpPr>
          <p:cNvPr id="21" name="Rectangle 20"/>
          <p:cNvSpPr/>
          <p:nvPr/>
        </p:nvSpPr>
        <p:spPr>
          <a:xfrm>
            <a:off x="2260600" y="2082800"/>
            <a:ext cx="9525000" cy="660400"/>
          </a:xfrm>
          <a:prstGeom prst="rect">
            <a:avLst/>
          </a:prstGeom>
          <a:solidFill>
            <a:srgbClr val="FFFFFF"/>
          </a:solidFill>
          <a:ln w="6350">
            <a:solidFill>
              <a:srgbClr val="E9E9E9"/>
            </a:solidFill>
            <a:round/>
          </a:ln>
        </p:spPr>
        <p:txBody>
          <a:bodyPr rtlCol="0" anchor="ctr" lIns="0" rIns="0" tIns="0" bIns="0"/>
          <a:lstStyle/>
          <a:p>
            <a:pPr algn="ctr"/>
          </a:p>
        </p:txBody>
      </p:sp>
      <p:sp>
        <p:nvSpPr>
          <p:cNvPr id="22" name="Rectangle 21"/>
          <p:cNvSpPr/>
          <p:nvPr/>
        </p:nvSpPr>
        <p:spPr>
          <a:xfrm>
            <a:off x="2260600" y="2082800"/>
            <a:ext cx="19050" cy="660400"/>
          </a:xfrm>
          <a:prstGeom prst="rect">
            <a:avLst/>
          </a:prstGeom>
          <a:solidFill>
            <a:srgbClr val="C00000"/>
          </a:solidFill>
          <a:ln>
            <a:noFill/>
          </a:ln>
        </p:spPr>
        <p:txBody>
          <a:bodyPr rtlCol="0" anchor="ctr" lIns="0" rIns="0" tIns="0" bIns="0"/>
          <a:lstStyle/>
          <a:p>
            <a:pPr algn="ctr"/>
          </a:p>
        </p:txBody>
      </p:sp>
      <p:sp>
        <p:nvSpPr>
          <p:cNvPr id="23" name="Rectangle 22"/>
          <p:cNvSpPr/>
          <p:nvPr/>
        </p:nvSpPr>
        <p:spPr>
          <a:xfrm>
            <a:off x="2413000" y="2159000"/>
            <a:ext cx="635000" cy="177800"/>
          </a:xfrm>
          <a:prstGeom prst="rect">
            <a:avLst/>
          </a:prstGeom>
          <a:solidFill>
            <a:srgbClr val="FFFFFF"/>
          </a:solidFill>
          <a:ln w="6350">
            <a:solidFill>
              <a:srgbClr val="C00000"/>
            </a:solidFill>
            <a:round/>
          </a:ln>
        </p:spPr>
        <p:txBody>
          <a:bodyPr rtlCol="0" anchor="ctr" lIns="0" rIns="0" tIns="0" bIns="0" wrap="none">
            <a:noAutofit/>
          </a:bodyPr>
          <a:lstStyle/>
          <a:p>
            <a:pPr algn="ctr" marL="0" indent="0">
              <a:lnSpc>
                <a:spcPts val="1050"/>
              </a:lnSpc>
              <a:buNone/>
            </a:pPr>
            <a:r>
              <a:rPr lang="zh-CN" altLang="en-US" sz="800" b="1">
                <a:solidFill>
                  <a:srgbClr val="C00000"/>
                </a:solidFill>
                <a:latin typeface="微软雅黑"/>
                <a:ea typeface="微软雅黑"/>
                <a:cs typeface="微软雅黑"/>
              </a:rPr>
              <a:t>现状与问题</a:t>
            </a:r>
          </a:p>
        </p:txBody>
      </p:sp>
      <p:sp>
        <p:nvSpPr>
          <p:cNvPr id="24" name="TextBox 23"/>
          <p:cNvSpPr txBox="1"/>
          <p:nvPr/>
        </p:nvSpPr>
        <p:spPr>
          <a:xfrm>
            <a:off x="2413000" y="2374900"/>
            <a:ext cx="5384800" cy="342900"/>
          </a:xfrm>
          <a:prstGeom prst="rect">
            <a:avLst/>
          </a:prstGeom>
          <a:noFill/>
        </p:spPr>
        <p:txBody>
          <a:bodyPr wrap="square" anchor="t" lIns="0" tIns="0" rIns="0" bIns="0">
            <a:noAutofit/>
          </a:bodyPr>
          <a:lstStyle/>
          <a:p>
            <a:pPr algn="l" marL="0" indent="0">
              <a:lnSpc>
                <a:spcPts val="1350"/>
              </a:lnSpc>
              <a:buNone/>
            </a:pPr>
            <a:r>
              <a:rPr lang="zh-CN" altLang="en-US" sz="900" b="0">
                <a:solidFill>
                  <a:srgbClr val="1A1A1A"/>
                </a:solidFill>
                <a:latin typeface="微软雅黑"/>
                <a:ea typeface="微软雅黑"/>
                <a:cs typeface="微软雅黑"/>
              </a:rPr>
              <a:t>区段、温度、轨面、载重、手柄序列组合起来：全用高精度模型算不完，全用简化模型又不可信。</a:t>
            </a:r>
          </a:p>
        </p:txBody>
      </p:sp>
      <p:cxnSp>
        <p:nvCxnSpPr>
          <p:cNvPr id="25" name="Connector 24"/>
          <p:cNvCxnSpPr/>
          <p:nvPr/>
        </p:nvCxnSpPr>
        <p:spPr>
          <a:xfrm>
            <a:off x="7975600" y="2184400"/>
            <a:ext cx="0" cy="457200"/>
          </a:xfrm>
          <a:prstGeom prst="line">
            <a:avLst/>
          </a:prstGeom>
          <a:ln w="6350">
            <a:solidFill>
              <a:srgbClr val="DEDEDE"/>
            </a:solidFill>
            <a:round/>
          </a:ln>
        </p:spPr>
      </p:cxnSp>
      <p:sp>
        <p:nvSpPr>
          <p:cNvPr id="26" name="TextBox 25"/>
          <p:cNvSpPr txBox="1"/>
          <p:nvPr/>
        </p:nvSpPr>
        <p:spPr>
          <a:xfrm>
            <a:off x="8153400" y="2159000"/>
            <a:ext cx="1524000" cy="177800"/>
          </a:xfrm>
          <a:prstGeom prst="rect">
            <a:avLst/>
          </a:prstGeom>
          <a:noFill/>
        </p:spPr>
        <p:txBody>
          <a:bodyPr wrap="none" anchor="ctr" lIns="0" tIns="0" rIns="0" bIns="0">
            <a:noAutofit/>
          </a:bodyPr>
          <a:lstStyle/>
          <a:p>
            <a:pPr algn="l" marL="0" indent="0">
              <a:lnSpc>
                <a:spcPts val="1100"/>
              </a:lnSpc>
              <a:buNone/>
            </a:pPr>
            <a:r>
              <a:rPr lang="zh-CN" altLang="en-US" sz="800" b="1">
                <a:solidFill>
                  <a:srgbClr val="8C8C8C"/>
                </a:solidFill>
                <a:latin typeface="微软雅黑"/>
                <a:ea typeface="微软雅黑"/>
                <a:cs typeface="微软雅黑"/>
              </a:rPr>
              <a:t>研究方法</a:t>
            </a:r>
          </a:p>
        </p:txBody>
      </p:sp>
      <p:sp>
        <p:nvSpPr>
          <p:cNvPr id="27" name="TextBox 26"/>
          <p:cNvSpPr txBox="1"/>
          <p:nvPr/>
        </p:nvSpPr>
        <p:spPr>
          <a:xfrm>
            <a:off x="8153400" y="2374900"/>
            <a:ext cx="3454400" cy="342900"/>
          </a:xfrm>
          <a:prstGeom prst="rect">
            <a:avLst/>
          </a:prstGeom>
          <a:noFill/>
        </p:spPr>
        <p:txBody>
          <a:bodyPr wrap="square" anchor="t" lIns="0" tIns="0" rIns="0" bIns="0">
            <a:noAutofit/>
          </a:bodyPr>
          <a:lstStyle/>
          <a:p>
            <a:pPr algn="l" marL="0" indent="0">
              <a:lnSpc>
                <a:spcPts val="1350"/>
              </a:lnSpc>
              <a:buNone/>
            </a:pPr>
            <a:r>
              <a:rPr lang="zh-CN" altLang="en-US" sz="900" b="1">
                <a:solidFill>
                  <a:srgbClr val="1A1A1A"/>
                </a:solidFill>
                <a:latin typeface="微软雅黑"/>
                <a:ea typeface="微软雅黑"/>
                <a:cs typeface="微软雅黑"/>
              </a:rPr>
              <a:t>智能调度</a:t>
            </a:r>
            <a:r>
              <a:rPr lang="zh-CN" altLang="en-US" sz="900" b="0">
                <a:solidFill>
                  <a:srgbClr val="3D3D3D"/>
                </a:solidFill>
                <a:latin typeface="微软雅黑"/>
                <a:ea typeface="微软雅黑"/>
                <a:cs typeface="微软雅黑"/>
              </a:rPr>
              <a:t>：任务分解与匹配、多目标寻优、保真度—算力协同配置。难点：在线权衡精度与效率。</a:t>
            </a:r>
          </a:p>
        </p:txBody>
      </p:sp>
      <p:sp>
        <p:nvSpPr>
          <p:cNvPr id="28" name="Rectangle 27"/>
          <p:cNvSpPr/>
          <p:nvPr/>
        </p:nvSpPr>
        <p:spPr>
          <a:xfrm>
            <a:off x="2260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29" name="Rectangle 28"/>
          <p:cNvSpPr/>
          <p:nvPr/>
        </p:nvSpPr>
        <p:spPr>
          <a:xfrm>
            <a:off x="2260600" y="2819400"/>
            <a:ext cx="2286000" cy="19050"/>
          </a:xfrm>
          <a:prstGeom prst="rect">
            <a:avLst/>
          </a:prstGeom>
          <a:solidFill>
            <a:srgbClr val="C83535"/>
          </a:solidFill>
          <a:ln>
            <a:noFill/>
          </a:ln>
        </p:spPr>
        <p:txBody>
          <a:bodyPr rtlCol="0" anchor="ctr" lIns="0" rIns="0" tIns="0" bIns="0"/>
          <a:lstStyle/>
          <a:p>
            <a:pPr algn="ctr"/>
          </a:p>
        </p:txBody>
      </p:sp>
      <p:sp>
        <p:nvSpPr>
          <p:cNvPr id="30" name="TextBox 29"/>
          <p:cNvSpPr txBox="1"/>
          <p:nvPr/>
        </p:nvSpPr>
        <p:spPr>
          <a:xfrm>
            <a:off x="2400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B02A2A"/>
                </a:solidFill>
                <a:latin typeface="Consolas"/>
                <a:ea typeface="微软雅黑"/>
                <a:cs typeface="Consolas"/>
              </a:rPr>
              <a:t>01</a:t>
            </a:r>
            <a:r>
              <a:rPr lang="zh-CN" altLang="en-US" sz="1000" b="1">
                <a:solidFill>
                  <a:srgbClr val="1A1A1A"/>
                </a:solidFill>
                <a:latin typeface="微软雅黑"/>
                <a:ea typeface="微软雅黑"/>
                <a:cs typeface="微软雅黑"/>
              </a:rPr>
              <a:t>  目标解析与任务分解</a:t>
            </a:r>
          </a:p>
        </p:txBody>
      </p:sp>
      <p:sp>
        <p:nvSpPr>
          <p:cNvPr id="31" name="TextBox 30"/>
          <p:cNvSpPr txBox="1"/>
          <p:nvPr/>
        </p:nvSpPr>
        <p:spPr>
          <a:xfrm>
            <a:off x="2400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需求 → 对象、性能、判据</a:t>
            </a:r>
          </a:p>
        </p:txBody>
      </p:sp>
      <p:sp>
        <p:nvSpPr>
          <p:cNvPr id="32" name="Rectangle 31"/>
          <p:cNvSpPr/>
          <p:nvPr/>
        </p:nvSpPr>
        <p:spPr>
          <a:xfrm>
            <a:off x="4673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33" name="Rectangle 32"/>
          <p:cNvSpPr/>
          <p:nvPr/>
        </p:nvSpPr>
        <p:spPr>
          <a:xfrm>
            <a:off x="4673600" y="2819400"/>
            <a:ext cx="2286000" cy="19050"/>
          </a:xfrm>
          <a:prstGeom prst="rect">
            <a:avLst/>
          </a:prstGeom>
          <a:solidFill>
            <a:srgbClr val="C83535"/>
          </a:solidFill>
          <a:ln>
            <a:noFill/>
          </a:ln>
        </p:spPr>
        <p:txBody>
          <a:bodyPr rtlCol="0" anchor="ctr" lIns="0" rIns="0" tIns="0" bIns="0"/>
          <a:lstStyle/>
          <a:p>
            <a:pPr algn="ctr"/>
          </a:p>
        </p:txBody>
      </p:sp>
      <p:sp>
        <p:nvSpPr>
          <p:cNvPr id="34" name="TextBox 33"/>
          <p:cNvSpPr txBox="1"/>
          <p:nvPr/>
        </p:nvSpPr>
        <p:spPr>
          <a:xfrm>
            <a:off x="4813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B02A2A"/>
                </a:solidFill>
                <a:latin typeface="Consolas"/>
                <a:ea typeface="微软雅黑"/>
                <a:cs typeface="Consolas"/>
              </a:rPr>
              <a:t>02</a:t>
            </a:r>
            <a:r>
              <a:rPr lang="zh-CN" altLang="en-US" sz="1000" b="1">
                <a:solidFill>
                  <a:srgbClr val="1A1A1A"/>
                </a:solidFill>
                <a:latin typeface="微软雅黑"/>
                <a:ea typeface="微软雅黑"/>
                <a:cs typeface="微软雅黑"/>
              </a:rPr>
              <a:t>  测试环境自动装配</a:t>
            </a:r>
          </a:p>
        </p:txBody>
      </p:sp>
      <p:sp>
        <p:nvSpPr>
          <p:cNvPr id="35" name="TextBox 34"/>
          <p:cNvSpPr txBox="1"/>
          <p:nvPr/>
        </p:nvSpPr>
        <p:spPr>
          <a:xfrm>
            <a:off x="4813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组合智能体、连接接口、配置算力</a:t>
            </a:r>
          </a:p>
        </p:txBody>
      </p:sp>
      <p:sp>
        <p:nvSpPr>
          <p:cNvPr id="36" name="Rectangle 35"/>
          <p:cNvSpPr/>
          <p:nvPr/>
        </p:nvSpPr>
        <p:spPr>
          <a:xfrm>
            <a:off x="7086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37" name="Rectangle 36"/>
          <p:cNvSpPr/>
          <p:nvPr/>
        </p:nvSpPr>
        <p:spPr>
          <a:xfrm>
            <a:off x="7086600" y="2819400"/>
            <a:ext cx="2286000" cy="19050"/>
          </a:xfrm>
          <a:prstGeom prst="rect">
            <a:avLst/>
          </a:prstGeom>
          <a:solidFill>
            <a:srgbClr val="C83535"/>
          </a:solidFill>
          <a:ln>
            <a:noFill/>
          </a:ln>
        </p:spPr>
        <p:txBody>
          <a:bodyPr rtlCol="0" anchor="ctr" lIns="0" rIns="0" tIns="0" bIns="0"/>
          <a:lstStyle/>
          <a:p>
            <a:pPr algn="ctr"/>
          </a:p>
        </p:txBody>
      </p:sp>
      <p:sp>
        <p:nvSpPr>
          <p:cNvPr id="38" name="TextBox 37"/>
          <p:cNvSpPr txBox="1"/>
          <p:nvPr/>
        </p:nvSpPr>
        <p:spPr>
          <a:xfrm>
            <a:off x="7226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B02A2A"/>
                </a:solidFill>
                <a:latin typeface="Consolas"/>
                <a:ea typeface="微软雅黑"/>
                <a:cs typeface="Consolas"/>
              </a:rPr>
              <a:t>03</a:t>
            </a:r>
            <a:r>
              <a:rPr lang="zh-CN" altLang="en-US" sz="1000" b="1">
                <a:solidFill>
                  <a:srgbClr val="1A1A1A"/>
                </a:solidFill>
                <a:latin typeface="微软雅黑"/>
                <a:ea typeface="微软雅黑"/>
                <a:cs typeface="微软雅黑"/>
              </a:rPr>
              <a:t>  保真度与算力自适应调度</a:t>
            </a:r>
          </a:p>
        </p:txBody>
      </p:sp>
      <p:sp>
        <p:nvSpPr>
          <p:cNvPr id="39" name="TextBox 38"/>
          <p:cNvSpPr txBox="1"/>
          <p:nvPr/>
        </p:nvSpPr>
        <p:spPr>
          <a:xfrm>
            <a:off x="7226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常规降阶提速，关键</a:t>
            </a:r>
            <a:r>
              <a:rPr lang="zh-CN" altLang="en-US" sz="950" b="1">
                <a:solidFill>
                  <a:srgbClr val="1A1A1A"/>
                </a:solidFill>
                <a:latin typeface="微软雅黑"/>
                <a:ea typeface="微软雅黑"/>
                <a:cs typeface="微软雅黑"/>
              </a:rPr>
              <a:t>全保真</a:t>
            </a:r>
          </a:p>
        </p:txBody>
      </p:sp>
      <p:sp>
        <p:nvSpPr>
          <p:cNvPr id="40" name="Rectangle 39"/>
          <p:cNvSpPr/>
          <p:nvPr/>
        </p:nvSpPr>
        <p:spPr>
          <a:xfrm>
            <a:off x="9499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41" name="Rectangle 40"/>
          <p:cNvSpPr/>
          <p:nvPr/>
        </p:nvSpPr>
        <p:spPr>
          <a:xfrm>
            <a:off x="9499600" y="2819400"/>
            <a:ext cx="2286000" cy="19050"/>
          </a:xfrm>
          <a:prstGeom prst="rect">
            <a:avLst/>
          </a:prstGeom>
          <a:solidFill>
            <a:srgbClr val="C83535"/>
          </a:solidFill>
          <a:ln>
            <a:noFill/>
          </a:ln>
        </p:spPr>
        <p:txBody>
          <a:bodyPr rtlCol="0" anchor="ctr" lIns="0" rIns="0" tIns="0" bIns="0"/>
          <a:lstStyle/>
          <a:p>
            <a:pPr algn="ctr"/>
          </a:p>
        </p:txBody>
      </p:sp>
      <p:sp>
        <p:nvSpPr>
          <p:cNvPr id="42" name="TextBox 41"/>
          <p:cNvSpPr txBox="1"/>
          <p:nvPr/>
        </p:nvSpPr>
        <p:spPr>
          <a:xfrm>
            <a:off x="9639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B02A2A"/>
                </a:solidFill>
                <a:latin typeface="Consolas"/>
                <a:ea typeface="微软雅黑"/>
                <a:cs typeface="Consolas"/>
              </a:rPr>
              <a:t>04</a:t>
            </a:r>
            <a:r>
              <a:rPr lang="zh-CN" altLang="en-US" sz="1000" b="1">
                <a:solidFill>
                  <a:srgbClr val="1A1A1A"/>
                </a:solidFill>
                <a:latin typeface="微软雅黑"/>
                <a:ea typeface="微软雅黑"/>
                <a:cs typeface="微软雅黑"/>
              </a:rPr>
              <a:t>  执行监控与失败重规划</a:t>
            </a:r>
          </a:p>
        </p:txBody>
      </p:sp>
      <p:sp>
        <p:nvSpPr>
          <p:cNvPr id="43" name="TextBox 42"/>
          <p:cNvSpPr txBox="1"/>
          <p:nvPr/>
        </p:nvSpPr>
        <p:spPr>
          <a:xfrm>
            <a:off x="9639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异常中断，自动重规划</a:t>
            </a:r>
          </a:p>
        </p:txBody>
      </p:sp>
      <p:sp>
        <p:nvSpPr>
          <p:cNvPr id="44" name="TextBox 43"/>
          <p:cNvSpPr txBox="1"/>
          <p:nvPr/>
        </p:nvSpPr>
        <p:spPr>
          <a:xfrm>
            <a:off x="2260600" y="3530600"/>
            <a:ext cx="9525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一次验证中的调度过程：按工况切换保真度、分配算力</a:t>
            </a:r>
          </a:p>
        </p:txBody>
      </p:sp>
      <p:sp>
        <p:nvSpPr>
          <p:cNvPr id="45" name="TextBox 44"/>
          <p:cNvSpPr txBox="1"/>
          <p:nvPr/>
        </p:nvSpPr>
        <p:spPr>
          <a:xfrm>
            <a:off x="6045200" y="3530600"/>
            <a:ext cx="5740400" cy="228600"/>
          </a:xfrm>
          <a:prstGeom prst="rect">
            <a:avLst/>
          </a:prstGeom>
          <a:noFill/>
        </p:spPr>
        <p:txBody>
          <a:bodyPr wrap="none" anchor="ctr" lIns="0" tIns="0" rIns="0" bIns="0">
            <a:noAutofit/>
          </a:bodyPr>
          <a:lstStyle/>
          <a:p>
            <a:pPr algn="l" marL="0" indent="0">
              <a:lnSpc>
                <a:spcPts val="1300"/>
              </a:lnSpc>
              <a:buNone/>
            </a:pPr>
            <a:r>
              <a:rPr lang="zh-CN" altLang="en-US" sz="950" b="1">
                <a:solidFill>
                  <a:srgbClr val="8C8C8C"/>
                </a:solidFill>
                <a:latin typeface="微软雅黑"/>
                <a:ea typeface="微软雅黑"/>
                <a:cs typeface="微软雅黑"/>
              </a:rPr>
              <a:t>示意图</a:t>
            </a:r>
          </a:p>
        </p:txBody>
      </p:sp>
      <p:grpSp>
        <p:nvGrpSpPr>
          <p:cNvPr id="46" name="附图 · 一次验证中的调度过程：按工况切换保真度、分配算力"/>
          <p:cNvGrpSpPr/>
          <p:nvPr/>
        </p:nvGrpSpPr>
        <p:grpSpPr>
          <a:xfrm>
            <a:off x="2260600" y="3822700"/>
            <a:ext cx="9525000" cy="2527300"/>
            <a:chOff x="2260600" y="3441700"/>
            <a:chExt cx="9525000" cy="2844800"/>
          </a:xfrm>
        </p:grpSpPr>
        <p:sp>
          <p:nvSpPr>
            <p:cNvPr id="47" name="Rectangle 46"/>
            <p:cNvSpPr/>
            <p:nvPr/>
          </p:nvSpPr>
          <p:spPr>
            <a:xfrm>
              <a:off x="2260600" y="3441700"/>
              <a:ext cx="9525000" cy="2844800"/>
            </a:xfrm>
            <a:prstGeom prst="rect">
              <a:avLst/>
            </a:prstGeom>
            <a:solidFill>
              <a:srgbClr val="F9F9F9"/>
            </a:solidFill>
            <a:ln>
              <a:noFill/>
            </a:ln>
          </p:spPr>
          <p:txBody>
            <a:bodyPr rtlCol="0" anchor="ctr" lIns="0" rIns="0" tIns="0" bIns="0"/>
            <a:lstStyle/>
            <a:p>
              <a:pPr algn="ctr"/>
            </a:p>
          </p:txBody>
        </p:sp>
        <p:sp>
          <p:nvSpPr>
            <p:cNvPr id="48" name="Rounded Rectangle 47"/>
            <p:cNvSpPr/>
            <p:nvPr/>
          </p:nvSpPr>
          <p:spPr>
            <a:xfrm>
              <a:off x="2413000" y="3556000"/>
              <a:ext cx="1671129" cy="254000"/>
            </a:xfrm>
            <a:prstGeom prst="roundRect">
              <a:avLst>
                <a:gd name="adj" fmla="val 10000"/>
              </a:avLst>
            </a:prstGeom>
            <a:solidFill>
              <a:srgbClr val="FFFFFF"/>
            </a:solidFill>
            <a:ln w="7620">
              <a:solidFill>
                <a:srgbClr val="E9E9E9"/>
              </a:solidFill>
              <a:round/>
            </a:ln>
          </p:spPr>
          <p:txBody>
            <a:bodyPr rtlCol="0" anchor="ctr" lIns="0" rIns="0" tIns="0" bIns="0" wrap="none">
              <a:noAutofit/>
            </a:bodyPr>
            <a:lstStyle/>
            <a:p>
              <a:pPr algn="ctr" marL="0" indent="0">
                <a:lnSpc>
                  <a:spcPts val="1050"/>
                </a:lnSpc>
                <a:buNone/>
              </a:pPr>
              <a:r>
                <a:rPr lang="zh-CN" altLang="en-US" sz="800" b="1">
                  <a:solidFill>
                    <a:srgbClr val="3D3D3D"/>
                  </a:solidFill>
                  <a:latin typeface="微软雅黑"/>
                  <a:ea typeface="微软雅黑"/>
                  <a:cs typeface="微软雅黑"/>
                </a:rPr>
                <a:t>验证任务</a:t>
              </a:r>
              <a:r>
                <a:rPr lang="zh-CN" altLang="en-US" sz="800" b="0">
                  <a:solidFill>
                    <a:srgbClr val="3D3D3D"/>
                  </a:solidFill>
                  <a:latin typeface="微软雅黑"/>
                  <a:ea typeface="微软雅黑"/>
                  <a:cs typeface="微软雅黑"/>
                </a:rPr>
                <a:t>　速度跟踪 ＋ 牵引能耗</a:t>
              </a:r>
            </a:p>
          </p:txBody>
        </p:sp>
        <p:sp>
          <p:nvSpPr>
            <p:cNvPr id="49" name="Isosceles Triangle 48"/>
            <p:cNvSpPr/>
            <p:nvPr/>
          </p:nvSpPr>
          <p:spPr>
            <a:xfrm rot="5400000">
              <a:off x="4173029" y="3644900"/>
              <a:ext cx="101600" cy="76200"/>
            </a:xfrm>
            <a:prstGeom prst="triangle">
              <a:avLst/>
            </a:prstGeom>
            <a:solidFill>
              <a:srgbClr val="D2D2D2"/>
            </a:solidFill>
            <a:ln>
              <a:noFill/>
            </a:ln>
          </p:spPr>
          <p:txBody>
            <a:bodyPr rtlCol="0" anchor="ctr" lIns="0" rIns="0" tIns="0" bIns="0"/>
            <a:lstStyle/>
            <a:p>
              <a:pPr algn="ctr"/>
            </a:p>
          </p:txBody>
        </p:sp>
        <p:sp>
          <p:nvSpPr>
            <p:cNvPr id="50" name="Rounded Rectangle 49"/>
            <p:cNvSpPr/>
            <p:nvPr/>
          </p:nvSpPr>
          <p:spPr>
            <a:xfrm>
              <a:off x="4363530" y="3556000"/>
              <a:ext cx="1750600" cy="254000"/>
            </a:xfrm>
            <a:prstGeom prst="roundRect">
              <a:avLst>
                <a:gd name="adj" fmla="val 10000"/>
              </a:avLst>
            </a:prstGeom>
            <a:solidFill>
              <a:srgbClr val="FFFFFF"/>
            </a:solidFill>
            <a:ln w="7620">
              <a:solidFill>
                <a:srgbClr val="E9E9E9"/>
              </a:solidFill>
              <a:round/>
            </a:ln>
          </p:spPr>
          <p:txBody>
            <a:bodyPr rtlCol="0" anchor="ctr" lIns="0" rIns="0" tIns="0" bIns="0" wrap="none">
              <a:noAutofit/>
            </a:bodyPr>
            <a:lstStyle/>
            <a:p>
              <a:pPr algn="ctr" marL="0" indent="0">
                <a:lnSpc>
                  <a:spcPts val="1050"/>
                </a:lnSpc>
                <a:buNone/>
              </a:pPr>
              <a:r>
                <a:rPr lang="zh-CN" altLang="en-US" sz="800" b="1">
                  <a:solidFill>
                    <a:srgbClr val="3D3D3D"/>
                  </a:solidFill>
                  <a:latin typeface="微软雅黑"/>
                  <a:ea typeface="微软雅黑"/>
                  <a:cs typeface="微软雅黑"/>
                </a:rPr>
                <a:t>01 任务分解</a:t>
              </a:r>
              <a:r>
                <a:rPr lang="zh-CN" altLang="en-US" sz="800" b="0">
                  <a:solidFill>
                    <a:srgbClr val="3D3D3D"/>
                  </a:solidFill>
                  <a:latin typeface="微软雅黑"/>
                  <a:ea typeface="微软雅黑"/>
                  <a:cs typeface="微软雅黑"/>
                </a:rPr>
                <a:t>　对象 · 性能 · 判据</a:t>
              </a:r>
            </a:p>
          </p:txBody>
        </p:sp>
        <p:sp>
          <p:nvSpPr>
            <p:cNvPr id="51" name="Isosceles Triangle 50"/>
            <p:cNvSpPr/>
            <p:nvPr/>
          </p:nvSpPr>
          <p:spPr>
            <a:xfrm rot="5400000">
              <a:off x="6203029" y="3644900"/>
              <a:ext cx="101600" cy="76200"/>
            </a:xfrm>
            <a:prstGeom prst="triangle">
              <a:avLst/>
            </a:prstGeom>
            <a:solidFill>
              <a:srgbClr val="D2D2D2"/>
            </a:solidFill>
            <a:ln>
              <a:noFill/>
            </a:ln>
          </p:spPr>
          <p:txBody>
            <a:bodyPr rtlCol="0" anchor="ctr" lIns="0" rIns="0" tIns="0" bIns="0"/>
            <a:lstStyle/>
            <a:p>
              <a:pPr algn="ctr"/>
            </a:p>
          </p:txBody>
        </p:sp>
        <p:sp>
          <p:nvSpPr>
            <p:cNvPr id="52" name="Rounded Rectangle 51"/>
            <p:cNvSpPr/>
            <p:nvPr/>
          </p:nvSpPr>
          <p:spPr>
            <a:xfrm>
              <a:off x="6393529" y="3556000"/>
              <a:ext cx="2563400" cy="254000"/>
            </a:xfrm>
            <a:prstGeom prst="roundRect">
              <a:avLst>
                <a:gd name="adj" fmla="val 10000"/>
              </a:avLst>
            </a:prstGeom>
            <a:solidFill>
              <a:srgbClr val="FFFFFF"/>
            </a:solidFill>
            <a:ln w="7620">
              <a:solidFill>
                <a:srgbClr val="E9E9E9"/>
              </a:solidFill>
              <a:round/>
            </a:ln>
          </p:spPr>
          <p:txBody>
            <a:bodyPr rtlCol="0" anchor="ctr" lIns="0" rIns="0" tIns="0" bIns="0" wrap="none">
              <a:noAutofit/>
            </a:bodyPr>
            <a:lstStyle/>
            <a:p>
              <a:pPr algn="ctr" marL="0" indent="0">
                <a:lnSpc>
                  <a:spcPts val="1050"/>
                </a:lnSpc>
                <a:buNone/>
              </a:pPr>
              <a:r>
                <a:rPr lang="zh-CN" altLang="en-US" sz="800" b="1">
                  <a:solidFill>
                    <a:srgbClr val="3D3D3D"/>
                  </a:solidFill>
                  <a:latin typeface="微软雅黑"/>
                  <a:ea typeface="微软雅黑"/>
                  <a:cs typeface="微软雅黑"/>
                </a:rPr>
                <a:t>02 环境装配</a:t>
              </a:r>
              <a:r>
                <a:rPr lang="zh-CN" altLang="en-US" sz="800" b="0">
                  <a:solidFill>
                    <a:srgbClr val="3D3D3D"/>
                  </a:solidFill>
                  <a:latin typeface="微软雅黑"/>
                  <a:ea typeface="微软雅黑"/>
                  <a:cs typeface="微软雅黑"/>
                </a:rPr>
                <a:t>　控制系统 · 车辆动力学 · 线路智能体</a:t>
              </a:r>
            </a:p>
          </p:txBody>
        </p:sp>
        <p:sp>
          <p:nvSpPr>
            <p:cNvPr id="53" name="Isosceles Triangle 52"/>
            <p:cNvSpPr/>
            <p:nvPr/>
          </p:nvSpPr>
          <p:spPr>
            <a:xfrm rot="5400000">
              <a:off x="9045829" y="3644900"/>
              <a:ext cx="101600" cy="76200"/>
            </a:xfrm>
            <a:prstGeom prst="triangle">
              <a:avLst/>
            </a:prstGeom>
            <a:solidFill>
              <a:srgbClr val="D2D2D2"/>
            </a:solidFill>
            <a:ln>
              <a:noFill/>
            </a:ln>
          </p:spPr>
          <p:txBody>
            <a:bodyPr rtlCol="0" anchor="ctr" lIns="0" rIns="0" tIns="0" bIns="0"/>
            <a:lstStyle/>
            <a:p>
              <a:pPr algn="ctr"/>
            </a:p>
          </p:txBody>
        </p:sp>
        <p:sp>
          <p:nvSpPr>
            <p:cNvPr id="54" name="Rounded Rectangle 53"/>
            <p:cNvSpPr/>
            <p:nvPr/>
          </p:nvSpPr>
          <p:spPr>
            <a:xfrm>
              <a:off x="9236329" y="3556000"/>
              <a:ext cx="1253554" cy="254000"/>
            </a:xfrm>
            <a:prstGeom prst="roundRect">
              <a:avLst>
                <a:gd name="adj" fmla="val 10000"/>
              </a:avLst>
            </a:prstGeom>
            <a:solidFill>
              <a:srgbClr val="FFFFFF"/>
            </a:solidFill>
            <a:ln w="7620">
              <a:solidFill>
                <a:srgbClr val="E9E9E9"/>
              </a:solidFill>
              <a:round/>
            </a:ln>
          </p:spPr>
          <p:txBody>
            <a:bodyPr rtlCol="0" anchor="ctr" lIns="0" rIns="0" tIns="0" bIns="0" wrap="none">
              <a:noAutofit/>
            </a:bodyPr>
            <a:lstStyle/>
            <a:p>
              <a:pPr algn="ctr" marL="0" indent="0">
                <a:lnSpc>
                  <a:spcPts val="1050"/>
                </a:lnSpc>
                <a:buNone/>
              </a:pPr>
              <a:r>
                <a:rPr lang="zh-CN" altLang="en-US" sz="800" b="1">
                  <a:solidFill>
                    <a:srgbClr val="3D3D3D"/>
                  </a:solidFill>
                  <a:latin typeface="微软雅黑"/>
                  <a:ea typeface="微软雅黑"/>
                  <a:cs typeface="微软雅黑"/>
                </a:rPr>
                <a:t>03—04 调度执行与监控</a:t>
              </a:r>
            </a:p>
          </p:txBody>
        </p:sp>
        <p:sp>
          <p:nvSpPr>
            <p:cNvPr id="55" name="TextBox 54"/>
            <p:cNvSpPr txBox="1"/>
            <p:nvPr/>
          </p:nvSpPr>
          <p:spPr>
            <a:xfrm>
              <a:off x="2413000" y="3924300"/>
              <a:ext cx="990600" cy="254000"/>
            </a:xfrm>
            <a:prstGeom prst="rect">
              <a:avLst/>
            </a:prstGeom>
            <a:noFill/>
          </p:spPr>
          <p:txBody>
            <a:bodyPr wrap="none" anchor="ctr" lIns="0" tIns="0" rIns="0" bIns="0">
              <a:noAutofit/>
            </a:bodyPr>
            <a:lstStyle/>
            <a:p>
              <a:pPr algn="l" marL="0" indent="0">
                <a:lnSpc>
                  <a:spcPts val="1100"/>
                </a:lnSpc>
                <a:buNone/>
              </a:pPr>
              <a:r>
                <a:rPr lang="zh-CN" altLang="en-US" sz="800" b="1">
                  <a:solidFill>
                    <a:srgbClr val="1A1A1A"/>
                  </a:solidFill>
                  <a:latin typeface="微软雅黑"/>
                  <a:ea typeface="微软雅黑"/>
                  <a:cs typeface="微软雅黑"/>
                </a:rPr>
                <a:t>工况</a:t>
              </a:r>
            </a:p>
          </p:txBody>
        </p:sp>
        <p:sp>
          <p:nvSpPr>
            <p:cNvPr id="56" name="TextBox 55"/>
            <p:cNvSpPr txBox="1"/>
            <p:nvPr/>
          </p:nvSpPr>
          <p:spPr>
            <a:xfrm>
              <a:off x="2413000" y="4229100"/>
              <a:ext cx="990600" cy="254000"/>
            </a:xfrm>
            <a:prstGeom prst="rect">
              <a:avLst/>
            </a:prstGeom>
            <a:noFill/>
          </p:spPr>
          <p:txBody>
            <a:bodyPr wrap="none" anchor="ctr" lIns="0" tIns="0" rIns="0" bIns="0">
              <a:noAutofit/>
            </a:bodyPr>
            <a:lstStyle/>
            <a:p>
              <a:pPr algn="l" marL="0" indent="0">
                <a:lnSpc>
                  <a:spcPts val="1100"/>
                </a:lnSpc>
                <a:buNone/>
              </a:pPr>
              <a:r>
                <a:rPr lang="zh-CN" altLang="en-US" sz="800" b="1">
                  <a:solidFill>
                    <a:srgbClr val="B02A2A"/>
                  </a:solidFill>
                  <a:latin typeface="微软雅黑"/>
                  <a:ea typeface="微软雅黑"/>
                  <a:cs typeface="微软雅黑"/>
                </a:rPr>
                <a:t>03</a:t>
              </a:r>
              <a:r>
                <a:rPr lang="zh-CN" altLang="en-US" sz="800" b="1">
                  <a:solidFill>
                    <a:srgbClr val="1A1A1A"/>
                  </a:solidFill>
                  <a:latin typeface="微软雅黑"/>
                  <a:ea typeface="微软雅黑"/>
                  <a:cs typeface="微软雅黑"/>
                </a:rPr>
                <a:t> 模型保真度</a:t>
              </a:r>
            </a:p>
          </p:txBody>
        </p:sp>
        <p:sp>
          <p:nvSpPr>
            <p:cNvPr id="57" name="TextBox 56"/>
            <p:cNvSpPr txBox="1"/>
            <p:nvPr/>
          </p:nvSpPr>
          <p:spPr>
            <a:xfrm>
              <a:off x="2413000" y="4559300"/>
              <a:ext cx="990600" cy="355600"/>
            </a:xfrm>
            <a:prstGeom prst="rect">
              <a:avLst/>
            </a:prstGeom>
            <a:noFill/>
          </p:spPr>
          <p:txBody>
            <a:bodyPr wrap="none" anchor="ctr" lIns="0" tIns="0" rIns="0" bIns="0">
              <a:noAutofit/>
            </a:bodyPr>
            <a:lstStyle/>
            <a:p>
              <a:pPr algn="l" marL="0" indent="0">
                <a:lnSpc>
                  <a:spcPts val="1100"/>
                </a:lnSpc>
                <a:buNone/>
              </a:pPr>
              <a:r>
                <a:rPr lang="zh-CN" altLang="en-US" sz="800" b="1">
                  <a:solidFill>
                    <a:srgbClr val="B02A2A"/>
                  </a:solidFill>
                  <a:latin typeface="微软雅黑"/>
                  <a:ea typeface="微软雅黑"/>
                  <a:cs typeface="微软雅黑"/>
                </a:rPr>
                <a:t>03</a:t>
              </a:r>
              <a:r>
                <a:rPr lang="zh-CN" altLang="en-US" sz="800" b="1">
                  <a:solidFill>
                    <a:srgbClr val="1A1A1A"/>
                  </a:solidFill>
                  <a:latin typeface="微软雅黑"/>
                  <a:ea typeface="微软雅黑"/>
                  <a:cs typeface="微软雅黑"/>
                </a:rPr>
                <a:t> 算力 · GPU</a:t>
              </a:r>
            </a:p>
          </p:txBody>
        </p:sp>
        <p:sp>
          <p:nvSpPr>
            <p:cNvPr id="58" name="TextBox 57"/>
            <p:cNvSpPr txBox="1"/>
            <p:nvPr/>
          </p:nvSpPr>
          <p:spPr>
            <a:xfrm>
              <a:off x="2413000" y="4991100"/>
              <a:ext cx="990600" cy="190500"/>
            </a:xfrm>
            <a:prstGeom prst="rect">
              <a:avLst/>
            </a:prstGeom>
            <a:noFill/>
          </p:spPr>
          <p:txBody>
            <a:bodyPr wrap="none" anchor="ctr" lIns="0" tIns="0" rIns="0" bIns="0">
              <a:noAutofit/>
            </a:bodyPr>
            <a:lstStyle/>
            <a:p>
              <a:pPr algn="l" marL="0" indent="0">
                <a:lnSpc>
                  <a:spcPts val="1100"/>
                </a:lnSpc>
                <a:buNone/>
              </a:pPr>
              <a:r>
                <a:rPr lang="zh-CN" altLang="en-US" sz="800" b="1">
                  <a:solidFill>
                    <a:srgbClr val="B02A2A"/>
                  </a:solidFill>
                  <a:latin typeface="微软雅黑"/>
                  <a:ea typeface="微软雅黑"/>
                  <a:cs typeface="微软雅黑"/>
                </a:rPr>
                <a:t>03</a:t>
              </a:r>
              <a:r>
                <a:rPr lang="zh-CN" altLang="en-US" sz="800" b="1">
                  <a:solidFill>
                    <a:srgbClr val="1A1A1A"/>
                  </a:solidFill>
                  <a:latin typeface="微软雅黑"/>
                  <a:ea typeface="微软雅黑"/>
                  <a:cs typeface="微软雅黑"/>
                </a:rPr>
                <a:t> 算力 · NPU</a:t>
              </a:r>
            </a:p>
          </p:txBody>
        </p:sp>
        <p:sp>
          <p:nvSpPr>
            <p:cNvPr id="59" name="TextBox 58"/>
            <p:cNvSpPr txBox="1"/>
            <p:nvPr/>
          </p:nvSpPr>
          <p:spPr>
            <a:xfrm>
              <a:off x="2413000" y="5334000"/>
              <a:ext cx="990600" cy="254000"/>
            </a:xfrm>
            <a:prstGeom prst="rect">
              <a:avLst/>
            </a:prstGeom>
            <a:noFill/>
          </p:spPr>
          <p:txBody>
            <a:bodyPr wrap="none" anchor="ctr" lIns="0" tIns="0" rIns="0" bIns="0">
              <a:noAutofit/>
            </a:bodyPr>
            <a:lstStyle/>
            <a:p>
              <a:pPr algn="l" marL="0" indent="0">
                <a:lnSpc>
                  <a:spcPts val="1100"/>
                </a:lnSpc>
                <a:buNone/>
              </a:pPr>
              <a:r>
                <a:rPr lang="zh-CN" altLang="en-US" sz="800" b="1">
                  <a:solidFill>
                    <a:srgbClr val="B02A2A"/>
                  </a:solidFill>
                  <a:latin typeface="微软雅黑"/>
                  <a:ea typeface="微软雅黑"/>
                  <a:cs typeface="微软雅黑"/>
                </a:rPr>
                <a:t>04</a:t>
              </a:r>
              <a:r>
                <a:rPr lang="zh-CN" altLang="en-US" sz="800" b="1">
                  <a:solidFill>
                    <a:srgbClr val="1A1A1A"/>
                  </a:solidFill>
                  <a:latin typeface="微软雅黑"/>
                  <a:ea typeface="微软雅黑"/>
                  <a:cs typeface="微软雅黑"/>
                </a:rPr>
                <a:t> 执行监控</a:t>
              </a:r>
            </a:p>
          </p:txBody>
        </p:sp>
        <p:cxnSp>
          <p:nvCxnSpPr>
            <p:cNvPr id="60" name="Connector 59"/>
            <p:cNvCxnSpPr/>
            <p:nvPr/>
          </p:nvCxnSpPr>
          <p:spPr>
            <a:xfrm>
              <a:off x="4987798" y="3886200"/>
              <a:ext cx="0" cy="1727200"/>
            </a:xfrm>
            <a:prstGeom prst="line">
              <a:avLst/>
            </a:prstGeom>
            <a:ln w="6350">
              <a:solidFill>
                <a:srgbClr val="DEDEDE"/>
              </a:solidFill>
              <a:prstDash val="dash"/>
              <a:round/>
            </a:ln>
          </p:spPr>
        </p:cxnSp>
        <p:cxnSp>
          <p:nvCxnSpPr>
            <p:cNvPr id="61" name="Connector 60"/>
            <p:cNvCxnSpPr/>
            <p:nvPr/>
          </p:nvCxnSpPr>
          <p:spPr>
            <a:xfrm>
              <a:off x="6300470" y="3886200"/>
              <a:ext cx="0" cy="1727200"/>
            </a:xfrm>
            <a:prstGeom prst="line">
              <a:avLst/>
            </a:prstGeom>
            <a:ln w="6350">
              <a:solidFill>
                <a:srgbClr val="DEDEDE"/>
              </a:solidFill>
              <a:prstDash val="dash"/>
              <a:round/>
            </a:ln>
          </p:spPr>
        </p:cxnSp>
        <p:cxnSp>
          <p:nvCxnSpPr>
            <p:cNvPr id="62" name="Connector 61"/>
            <p:cNvCxnSpPr/>
            <p:nvPr/>
          </p:nvCxnSpPr>
          <p:spPr>
            <a:xfrm>
              <a:off x="7859268" y="3886200"/>
              <a:ext cx="0" cy="1727200"/>
            </a:xfrm>
            <a:prstGeom prst="line">
              <a:avLst/>
            </a:prstGeom>
            <a:ln w="6350">
              <a:solidFill>
                <a:srgbClr val="DEDEDE"/>
              </a:solidFill>
              <a:prstDash val="dash"/>
              <a:round/>
            </a:ln>
          </p:spPr>
        </p:cxnSp>
        <p:cxnSp>
          <p:nvCxnSpPr>
            <p:cNvPr id="63" name="Connector 62"/>
            <p:cNvCxnSpPr/>
            <p:nvPr/>
          </p:nvCxnSpPr>
          <p:spPr>
            <a:xfrm>
              <a:off x="10074402" y="3886200"/>
              <a:ext cx="0" cy="1727200"/>
            </a:xfrm>
            <a:prstGeom prst="line">
              <a:avLst/>
            </a:prstGeom>
            <a:ln w="6350">
              <a:solidFill>
                <a:srgbClr val="DEDEDE"/>
              </a:solidFill>
              <a:prstDash val="dash"/>
              <a:round/>
            </a:ln>
          </p:spPr>
        </p:cxnSp>
        <p:sp>
          <p:nvSpPr>
            <p:cNvPr id="64" name="Rectangle 63"/>
            <p:cNvSpPr/>
            <p:nvPr/>
          </p:nvSpPr>
          <p:spPr>
            <a:xfrm>
              <a:off x="3441700" y="3924300"/>
              <a:ext cx="1533398" cy="254000"/>
            </a:xfrm>
            <a:prstGeom prst="rect">
              <a:avLst/>
            </a:prstGeom>
            <a:solidFill>
              <a:srgbClr val="FFFFFF"/>
            </a:solidFill>
            <a:ln w="6350">
              <a:solidFill>
                <a:srgbClr val="E9E9E9"/>
              </a:solidFill>
              <a:round/>
            </a:ln>
          </p:spPr>
          <p:txBody>
            <a:bodyPr rtlCol="0" anchor="ctr" lIns="0" rIns="0" tIns="0" bIns="0"/>
            <a:lstStyle/>
            <a:p>
              <a:pPr algn="ctr"/>
            </a:p>
          </p:txBody>
        </p:sp>
        <p:sp>
          <p:nvSpPr>
            <p:cNvPr id="65" name="TextBox 64"/>
            <p:cNvSpPr txBox="1"/>
            <p:nvPr/>
          </p:nvSpPr>
          <p:spPr>
            <a:xfrm>
              <a:off x="3441700" y="3924300"/>
              <a:ext cx="1533398" cy="254000"/>
            </a:xfrm>
            <a:prstGeom prst="rect">
              <a:avLst/>
            </a:prstGeom>
            <a:noFill/>
          </p:spPr>
          <p:txBody>
            <a:bodyPr wrap="none" anchor="ctr" lIns="0" tIns="0" rIns="0" bIns="0">
              <a:noAutofit/>
            </a:bodyPr>
            <a:lstStyle/>
            <a:p>
              <a:pPr algn="ctr" marL="0" indent="0">
                <a:lnSpc>
                  <a:spcPts val="1100"/>
                </a:lnSpc>
                <a:buNone/>
              </a:pPr>
              <a:r>
                <a:rPr lang="zh-CN" altLang="en-US" sz="800" b="0">
                  <a:solidFill>
                    <a:srgbClr val="666666"/>
                  </a:solidFill>
                  <a:latin typeface="微软雅黑"/>
                  <a:ea typeface="微软雅黑"/>
                  <a:cs typeface="微软雅黑"/>
                </a:rPr>
                <a:t>常规直线</a:t>
              </a:r>
            </a:p>
          </p:txBody>
        </p:sp>
        <p:sp>
          <p:nvSpPr>
            <p:cNvPr id="66" name="Rectangle 65"/>
            <p:cNvSpPr/>
            <p:nvPr/>
          </p:nvSpPr>
          <p:spPr>
            <a:xfrm>
              <a:off x="3441700" y="4229100"/>
              <a:ext cx="1533398" cy="254000"/>
            </a:xfrm>
            <a:prstGeom prst="rect">
              <a:avLst/>
            </a:prstGeom>
            <a:solidFill>
              <a:srgbClr val="FCF3F3"/>
            </a:solidFill>
            <a:ln>
              <a:noFill/>
            </a:ln>
          </p:spPr>
          <p:txBody>
            <a:bodyPr rtlCol="0" anchor="ctr" lIns="0" rIns="0" tIns="0" bIns="0"/>
            <a:lstStyle/>
            <a:p>
              <a:pPr algn="ctr"/>
            </a:p>
          </p:txBody>
        </p:sp>
        <p:sp>
          <p:nvSpPr>
            <p:cNvPr id="67" name="TextBox 66"/>
            <p:cNvSpPr txBox="1"/>
            <p:nvPr/>
          </p:nvSpPr>
          <p:spPr>
            <a:xfrm>
              <a:off x="3441700" y="4229100"/>
              <a:ext cx="1533398" cy="254000"/>
            </a:xfrm>
            <a:prstGeom prst="rect">
              <a:avLst/>
            </a:prstGeom>
            <a:noFill/>
          </p:spPr>
          <p:txBody>
            <a:bodyPr wrap="none" anchor="ctr" lIns="0" tIns="0" rIns="0" bIns="0">
              <a:noAutofit/>
            </a:bodyPr>
            <a:lstStyle/>
            <a:p>
              <a:pPr algn="ctr" marL="0" indent="0">
                <a:lnSpc>
                  <a:spcPts val="1100"/>
                </a:lnSpc>
                <a:buNone/>
              </a:pPr>
              <a:r>
                <a:rPr lang="zh-CN" altLang="en-US" sz="800" b="1">
                  <a:solidFill>
                    <a:srgbClr val="B02A2A"/>
                  </a:solidFill>
                  <a:latin typeface="微软雅黑"/>
                  <a:ea typeface="微软雅黑"/>
                  <a:cs typeface="微软雅黑"/>
                </a:rPr>
                <a:t>降阶模型 · 快</a:t>
              </a:r>
            </a:p>
          </p:txBody>
        </p:sp>
        <p:sp>
          <p:nvSpPr>
            <p:cNvPr id="68" name="Rectangle 67"/>
            <p:cNvSpPr/>
            <p:nvPr/>
          </p:nvSpPr>
          <p:spPr>
            <a:xfrm>
              <a:off x="5000498" y="3924300"/>
              <a:ext cx="1287272" cy="254000"/>
            </a:xfrm>
            <a:prstGeom prst="rect">
              <a:avLst/>
            </a:prstGeom>
            <a:solidFill>
              <a:srgbClr val="FFFFFF"/>
            </a:solidFill>
            <a:ln w="6350">
              <a:solidFill>
                <a:srgbClr val="E9E9E9"/>
              </a:solidFill>
              <a:round/>
            </a:ln>
          </p:spPr>
          <p:txBody>
            <a:bodyPr rtlCol="0" anchor="ctr" lIns="0" rIns="0" tIns="0" bIns="0"/>
            <a:lstStyle/>
            <a:p>
              <a:pPr algn="ctr"/>
            </a:p>
          </p:txBody>
        </p:sp>
        <p:sp>
          <p:nvSpPr>
            <p:cNvPr id="69" name="TextBox 68"/>
            <p:cNvSpPr txBox="1"/>
            <p:nvPr/>
          </p:nvSpPr>
          <p:spPr>
            <a:xfrm>
              <a:off x="5000498" y="3924300"/>
              <a:ext cx="1287272" cy="254000"/>
            </a:xfrm>
            <a:prstGeom prst="rect">
              <a:avLst/>
            </a:prstGeom>
            <a:noFill/>
          </p:spPr>
          <p:txBody>
            <a:bodyPr wrap="none" anchor="ctr" lIns="0" tIns="0" rIns="0" bIns="0">
              <a:noAutofit/>
            </a:bodyPr>
            <a:lstStyle/>
            <a:p>
              <a:pPr algn="ctr" marL="0" indent="0">
                <a:lnSpc>
                  <a:spcPts val="1100"/>
                </a:lnSpc>
                <a:buNone/>
              </a:pPr>
              <a:r>
                <a:rPr lang="zh-CN" altLang="en-US" sz="800" b="0">
                  <a:solidFill>
                    <a:srgbClr val="666666"/>
                  </a:solidFill>
                  <a:latin typeface="微软雅黑"/>
                  <a:ea typeface="微软雅黑"/>
                  <a:cs typeface="微软雅黑"/>
                </a:rPr>
                <a:t>小半径曲线</a:t>
              </a:r>
            </a:p>
          </p:txBody>
        </p:sp>
        <p:sp>
          <p:nvSpPr>
            <p:cNvPr id="70" name="Rectangle 69"/>
            <p:cNvSpPr/>
            <p:nvPr/>
          </p:nvSpPr>
          <p:spPr>
            <a:xfrm>
              <a:off x="5000498" y="4229100"/>
              <a:ext cx="1287272" cy="254000"/>
            </a:xfrm>
            <a:prstGeom prst="rect">
              <a:avLst/>
            </a:prstGeom>
            <a:solidFill>
              <a:srgbClr val="C83535"/>
            </a:solidFill>
            <a:ln>
              <a:noFill/>
            </a:ln>
          </p:spPr>
          <p:txBody>
            <a:bodyPr rtlCol="0" anchor="ctr" lIns="0" rIns="0" tIns="0" bIns="0"/>
            <a:lstStyle/>
            <a:p>
              <a:pPr algn="ctr"/>
            </a:p>
          </p:txBody>
        </p:sp>
        <p:sp>
          <p:nvSpPr>
            <p:cNvPr id="71" name="TextBox 70"/>
            <p:cNvSpPr txBox="1"/>
            <p:nvPr/>
          </p:nvSpPr>
          <p:spPr>
            <a:xfrm>
              <a:off x="5000498" y="4229100"/>
              <a:ext cx="1287272" cy="254000"/>
            </a:xfrm>
            <a:prstGeom prst="rect">
              <a:avLst/>
            </a:prstGeom>
            <a:noFill/>
          </p:spPr>
          <p:txBody>
            <a:bodyPr wrap="none" anchor="ctr" lIns="0" tIns="0" rIns="0" bIns="0">
              <a:noAutofit/>
            </a:bodyPr>
            <a:lstStyle/>
            <a:p>
              <a:pPr algn="ctr" marL="0" indent="0">
                <a:lnSpc>
                  <a:spcPts val="1100"/>
                </a:lnSpc>
                <a:buNone/>
              </a:pPr>
              <a:r>
                <a:rPr lang="zh-CN" altLang="en-US" sz="800" b="1">
                  <a:solidFill>
                    <a:srgbClr val="FFFFFF"/>
                  </a:solidFill>
                  <a:latin typeface="微软雅黑"/>
                  <a:ea typeface="微软雅黑"/>
                  <a:cs typeface="微软雅黑"/>
                </a:rPr>
                <a:t>全保真 · 准</a:t>
              </a:r>
            </a:p>
          </p:txBody>
        </p:sp>
        <p:sp>
          <p:nvSpPr>
            <p:cNvPr id="72" name="Rectangle 71"/>
            <p:cNvSpPr/>
            <p:nvPr/>
          </p:nvSpPr>
          <p:spPr>
            <a:xfrm>
              <a:off x="6313170" y="3924300"/>
              <a:ext cx="1533398" cy="254000"/>
            </a:xfrm>
            <a:prstGeom prst="rect">
              <a:avLst/>
            </a:prstGeom>
            <a:solidFill>
              <a:srgbClr val="FFFFFF"/>
            </a:solidFill>
            <a:ln w="6350">
              <a:solidFill>
                <a:srgbClr val="E9E9E9"/>
              </a:solidFill>
              <a:round/>
            </a:ln>
          </p:spPr>
          <p:txBody>
            <a:bodyPr rtlCol="0" anchor="ctr" lIns="0" rIns="0" tIns="0" bIns="0"/>
            <a:lstStyle/>
            <a:p>
              <a:pPr algn="ctr"/>
            </a:p>
          </p:txBody>
        </p:sp>
        <p:sp>
          <p:nvSpPr>
            <p:cNvPr id="73" name="TextBox 72"/>
            <p:cNvSpPr txBox="1"/>
            <p:nvPr/>
          </p:nvSpPr>
          <p:spPr>
            <a:xfrm>
              <a:off x="6313170" y="3924300"/>
              <a:ext cx="1533398" cy="254000"/>
            </a:xfrm>
            <a:prstGeom prst="rect">
              <a:avLst/>
            </a:prstGeom>
            <a:noFill/>
          </p:spPr>
          <p:txBody>
            <a:bodyPr wrap="none" anchor="ctr" lIns="0" tIns="0" rIns="0" bIns="0">
              <a:noAutofit/>
            </a:bodyPr>
            <a:lstStyle/>
            <a:p>
              <a:pPr algn="ctr" marL="0" indent="0">
                <a:lnSpc>
                  <a:spcPts val="1100"/>
                </a:lnSpc>
                <a:buNone/>
              </a:pPr>
              <a:r>
                <a:rPr lang="zh-CN" altLang="en-US" sz="800" b="0">
                  <a:solidFill>
                    <a:srgbClr val="666666"/>
                  </a:solidFill>
                  <a:latin typeface="微软雅黑"/>
                  <a:ea typeface="微软雅黑"/>
                  <a:cs typeface="微软雅黑"/>
                </a:rPr>
                <a:t>常规直线</a:t>
              </a:r>
            </a:p>
          </p:txBody>
        </p:sp>
        <p:sp>
          <p:nvSpPr>
            <p:cNvPr id="74" name="Rectangle 73"/>
            <p:cNvSpPr/>
            <p:nvPr/>
          </p:nvSpPr>
          <p:spPr>
            <a:xfrm>
              <a:off x="6313170" y="4229100"/>
              <a:ext cx="1533398" cy="254000"/>
            </a:xfrm>
            <a:prstGeom prst="rect">
              <a:avLst/>
            </a:prstGeom>
            <a:solidFill>
              <a:srgbClr val="FCF3F3"/>
            </a:solidFill>
            <a:ln>
              <a:noFill/>
            </a:ln>
          </p:spPr>
          <p:txBody>
            <a:bodyPr rtlCol="0" anchor="ctr" lIns="0" rIns="0" tIns="0" bIns="0"/>
            <a:lstStyle/>
            <a:p>
              <a:pPr algn="ctr"/>
            </a:p>
          </p:txBody>
        </p:sp>
        <p:sp>
          <p:nvSpPr>
            <p:cNvPr id="75" name="TextBox 74"/>
            <p:cNvSpPr txBox="1"/>
            <p:nvPr/>
          </p:nvSpPr>
          <p:spPr>
            <a:xfrm>
              <a:off x="6313170" y="4229100"/>
              <a:ext cx="1533398" cy="254000"/>
            </a:xfrm>
            <a:prstGeom prst="rect">
              <a:avLst/>
            </a:prstGeom>
            <a:noFill/>
          </p:spPr>
          <p:txBody>
            <a:bodyPr wrap="none" anchor="ctr" lIns="0" tIns="0" rIns="0" bIns="0">
              <a:noAutofit/>
            </a:bodyPr>
            <a:lstStyle/>
            <a:p>
              <a:pPr algn="ctr" marL="0" indent="0">
                <a:lnSpc>
                  <a:spcPts val="1100"/>
                </a:lnSpc>
                <a:buNone/>
              </a:pPr>
              <a:r>
                <a:rPr lang="zh-CN" altLang="en-US" sz="800" b="1">
                  <a:solidFill>
                    <a:srgbClr val="B02A2A"/>
                  </a:solidFill>
                  <a:latin typeface="微软雅黑"/>
                  <a:ea typeface="微软雅黑"/>
                  <a:cs typeface="微软雅黑"/>
                </a:rPr>
                <a:t>降阶模型 · 快</a:t>
              </a:r>
            </a:p>
          </p:txBody>
        </p:sp>
        <p:sp>
          <p:nvSpPr>
            <p:cNvPr id="76" name="Rectangle 75"/>
            <p:cNvSpPr/>
            <p:nvPr/>
          </p:nvSpPr>
          <p:spPr>
            <a:xfrm>
              <a:off x="7871968" y="3924300"/>
              <a:ext cx="2189734" cy="254000"/>
            </a:xfrm>
            <a:prstGeom prst="rect">
              <a:avLst/>
            </a:prstGeom>
            <a:solidFill>
              <a:srgbClr val="FFFFFF"/>
            </a:solidFill>
            <a:ln w="6350">
              <a:solidFill>
                <a:srgbClr val="E9E9E9"/>
              </a:solidFill>
              <a:round/>
            </a:ln>
          </p:spPr>
          <p:txBody>
            <a:bodyPr rtlCol="0" anchor="ctr" lIns="0" rIns="0" tIns="0" bIns="0"/>
            <a:lstStyle/>
            <a:p>
              <a:pPr algn="ctr"/>
            </a:p>
          </p:txBody>
        </p:sp>
        <p:sp>
          <p:nvSpPr>
            <p:cNvPr id="77" name="TextBox 76"/>
            <p:cNvSpPr txBox="1"/>
            <p:nvPr/>
          </p:nvSpPr>
          <p:spPr>
            <a:xfrm>
              <a:off x="7871968" y="3924300"/>
              <a:ext cx="2189734" cy="254000"/>
            </a:xfrm>
            <a:prstGeom prst="rect">
              <a:avLst/>
            </a:prstGeom>
            <a:noFill/>
          </p:spPr>
          <p:txBody>
            <a:bodyPr wrap="none" anchor="ctr" lIns="0" tIns="0" rIns="0" bIns="0">
              <a:noAutofit/>
            </a:bodyPr>
            <a:lstStyle/>
            <a:p>
              <a:pPr algn="ctr" marL="0" indent="0">
                <a:lnSpc>
                  <a:spcPts val="1100"/>
                </a:lnSpc>
                <a:buNone/>
              </a:pPr>
              <a:r>
                <a:rPr lang="zh-CN" altLang="en-US" sz="800" b="0">
                  <a:solidFill>
                    <a:srgbClr val="666666"/>
                  </a:solidFill>
                  <a:latin typeface="微软雅黑"/>
                  <a:ea typeface="微软雅黑"/>
                  <a:cs typeface="微软雅黑"/>
                </a:rPr>
                <a:t>长大下坡 · 湿轨</a:t>
              </a:r>
            </a:p>
          </p:txBody>
        </p:sp>
        <p:sp>
          <p:nvSpPr>
            <p:cNvPr id="78" name="Rectangle 77"/>
            <p:cNvSpPr/>
            <p:nvPr/>
          </p:nvSpPr>
          <p:spPr>
            <a:xfrm>
              <a:off x="7871968" y="4229100"/>
              <a:ext cx="2189734" cy="254000"/>
            </a:xfrm>
            <a:prstGeom prst="rect">
              <a:avLst/>
            </a:prstGeom>
            <a:solidFill>
              <a:srgbClr val="C83535"/>
            </a:solidFill>
            <a:ln>
              <a:noFill/>
            </a:ln>
          </p:spPr>
          <p:txBody>
            <a:bodyPr rtlCol="0" anchor="ctr" lIns="0" rIns="0" tIns="0" bIns="0"/>
            <a:lstStyle/>
            <a:p>
              <a:pPr algn="ctr"/>
            </a:p>
          </p:txBody>
        </p:sp>
        <p:sp>
          <p:nvSpPr>
            <p:cNvPr id="79" name="TextBox 78"/>
            <p:cNvSpPr txBox="1"/>
            <p:nvPr/>
          </p:nvSpPr>
          <p:spPr>
            <a:xfrm>
              <a:off x="7871968" y="4229100"/>
              <a:ext cx="2189734" cy="254000"/>
            </a:xfrm>
            <a:prstGeom prst="rect">
              <a:avLst/>
            </a:prstGeom>
            <a:noFill/>
          </p:spPr>
          <p:txBody>
            <a:bodyPr wrap="none" anchor="ctr" lIns="0" tIns="0" rIns="0" bIns="0">
              <a:noAutofit/>
            </a:bodyPr>
            <a:lstStyle/>
            <a:p>
              <a:pPr algn="ctr" marL="0" indent="0">
                <a:lnSpc>
                  <a:spcPts val="1100"/>
                </a:lnSpc>
                <a:buNone/>
              </a:pPr>
              <a:r>
                <a:rPr lang="zh-CN" altLang="en-US" sz="800" b="1">
                  <a:solidFill>
                    <a:srgbClr val="FFFFFF"/>
                  </a:solidFill>
                  <a:latin typeface="微软雅黑"/>
                  <a:ea typeface="微软雅黑"/>
                  <a:cs typeface="微软雅黑"/>
                </a:rPr>
                <a:t>全保真 · 准</a:t>
              </a:r>
            </a:p>
          </p:txBody>
        </p:sp>
        <p:sp>
          <p:nvSpPr>
            <p:cNvPr id="80" name="Rectangle 79"/>
            <p:cNvSpPr/>
            <p:nvPr/>
          </p:nvSpPr>
          <p:spPr>
            <a:xfrm>
              <a:off x="10087102" y="3924300"/>
              <a:ext cx="1533398" cy="254000"/>
            </a:xfrm>
            <a:prstGeom prst="rect">
              <a:avLst/>
            </a:prstGeom>
            <a:solidFill>
              <a:srgbClr val="FFFFFF"/>
            </a:solidFill>
            <a:ln w="6350">
              <a:solidFill>
                <a:srgbClr val="E9E9E9"/>
              </a:solidFill>
              <a:round/>
            </a:ln>
          </p:spPr>
          <p:txBody>
            <a:bodyPr rtlCol="0" anchor="ctr" lIns="0" rIns="0" tIns="0" bIns="0"/>
            <a:lstStyle/>
            <a:p>
              <a:pPr algn="ctr"/>
            </a:p>
          </p:txBody>
        </p:sp>
        <p:sp>
          <p:nvSpPr>
            <p:cNvPr id="81" name="TextBox 80"/>
            <p:cNvSpPr txBox="1"/>
            <p:nvPr/>
          </p:nvSpPr>
          <p:spPr>
            <a:xfrm>
              <a:off x="10087102" y="3924300"/>
              <a:ext cx="1533398" cy="254000"/>
            </a:xfrm>
            <a:prstGeom prst="rect">
              <a:avLst/>
            </a:prstGeom>
            <a:noFill/>
          </p:spPr>
          <p:txBody>
            <a:bodyPr wrap="none" anchor="ctr" lIns="0" tIns="0" rIns="0" bIns="0">
              <a:noAutofit/>
            </a:bodyPr>
            <a:lstStyle/>
            <a:p>
              <a:pPr algn="ctr" marL="0" indent="0">
                <a:lnSpc>
                  <a:spcPts val="1100"/>
                </a:lnSpc>
                <a:buNone/>
              </a:pPr>
              <a:r>
                <a:rPr lang="zh-CN" altLang="en-US" sz="800" b="0">
                  <a:solidFill>
                    <a:srgbClr val="666666"/>
                  </a:solidFill>
                  <a:latin typeface="微软雅黑"/>
                  <a:ea typeface="微软雅黑"/>
                  <a:cs typeface="微软雅黑"/>
                </a:rPr>
                <a:t>常规直线</a:t>
              </a:r>
            </a:p>
          </p:txBody>
        </p:sp>
        <p:sp>
          <p:nvSpPr>
            <p:cNvPr id="82" name="Rectangle 81"/>
            <p:cNvSpPr/>
            <p:nvPr/>
          </p:nvSpPr>
          <p:spPr>
            <a:xfrm>
              <a:off x="10087102" y="4229100"/>
              <a:ext cx="1533398" cy="254000"/>
            </a:xfrm>
            <a:prstGeom prst="rect">
              <a:avLst/>
            </a:prstGeom>
            <a:solidFill>
              <a:srgbClr val="FCF3F3"/>
            </a:solidFill>
            <a:ln>
              <a:noFill/>
            </a:ln>
          </p:spPr>
          <p:txBody>
            <a:bodyPr rtlCol="0" anchor="ctr" lIns="0" rIns="0" tIns="0" bIns="0"/>
            <a:lstStyle/>
            <a:p>
              <a:pPr algn="ctr"/>
            </a:p>
          </p:txBody>
        </p:sp>
        <p:sp>
          <p:nvSpPr>
            <p:cNvPr id="83" name="TextBox 82"/>
            <p:cNvSpPr txBox="1"/>
            <p:nvPr/>
          </p:nvSpPr>
          <p:spPr>
            <a:xfrm>
              <a:off x="10087102" y="4229100"/>
              <a:ext cx="1533398" cy="254000"/>
            </a:xfrm>
            <a:prstGeom prst="rect">
              <a:avLst/>
            </a:prstGeom>
            <a:noFill/>
          </p:spPr>
          <p:txBody>
            <a:bodyPr wrap="none" anchor="ctr" lIns="0" tIns="0" rIns="0" bIns="0">
              <a:noAutofit/>
            </a:bodyPr>
            <a:lstStyle/>
            <a:p>
              <a:pPr algn="ctr" marL="0" indent="0">
                <a:lnSpc>
                  <a:spcPts val="1100"/>
                </a:lnSpc>
                <a:buNone/>
              </a:pPr>
              <a:r>
                <a:rPr lang="zh-CN" altLang="en-US" sz="800" b="1">
                  <a:solidFill>
                    <a:srgbClr val="B02A2A"/>
                  </a:solidFill>
                  <a:latin typeface="微软雅黑"/>
                  <a:ea typeface="微软雅黑"/>
                  <a:cs typeface="微软雅黑"/>
                </a:rPr>
                <a:t>降阶模型 · 快</a:t>
              </a:r>
            </a:p>
          </p:txBody>
        </p:sp>
        <p:sp>
          <p:nvSpPr>
            <p:cNvPr id="84" name="Freeform 83"/>
            <p:cNvSpPr/>
            <p:nvPr/>
          </p:nvSpPr>
          <p:spPr>
            <a:xfrm>
              <a:off x="3429000" y="4622800"/>
              <a:ext cx="8204200" cy="292100"/>
            </a:xfrm>
            <a:custGeom>
              <a:avLst/>
              <a:gdLst/>
              <a:ahLst/>
              <a:cxnLst/>
              <a:rect l="l" t="t" r="r" b="b"/>
              <a:pathLst>
                <a:path w="1292" h="46">
                  <a:moveTo>
                    <a:pt x="0" y="46"/>
                  </a:moveTo>
                  <a:lnTo>
                    <a:pt x="0" y="30"/>
                  </a:lnTo>
                  <a:lnTo>
                    <a:pt x="245" y="30"/>
                  </a:lnTo>
                  <a:lnTo>
                    <a:pt x="245" y="0"/>
                  </a:lnTo>
                  <a:lnTo>
                    <a:pt x="452" y="0"/>
                  </a:lnTo>
                  <a:lnTo>
                    <a:pt x="452" y="30"/>
                  </a:lnTo>
                  <a:lnTo>
                    <a:pt x="698" y="30"/>
                  </a:lnTo>
                  <a:lnTo>
                    <a:pt x="698" y="0"/>
                  </a:lnTo>
                  <a:lnTo>
                    <a:pt x="1047" y="0"/>
                  </a:lnTo>
                  <a:lnTo>
                    <a:pt x="1047" y="30"/>
                  </a:lnTo>
                  <a:lnTo>
                    <a:pt x="1292" y="30"/>
                  </a:lnTo>
                  <a:lnTo>
                    <a:pt x="1292" y="46"/>
                  </a:lnTo>
                  <a:close/>
                </a:path>
              </a:pathLst>
            </a:custGeom>
            <a:solidFill>
              <a:srgbClr val="F8E4E4"/>
            </a:solidFill>
            <a:ln w="9525">
              <a:solidFill>
                <a:srgbClr val="C83535"/>
              </a:solidFill>
              <a:round/>
            </a:ln>
          </p:spPr>
          <p:txBody>
            <a:bodyPr rtlCol="0" anchor="ctr"/>
            <a:lstStyle/>
            <a:p>
              <a:pPr algn="ctr"/>
            </a:p>
          </p:txBody>
        </p:sp>
        <p:sp>
          <p:nvSpPr>
            <p:cNvPr id="85" name="Freeform 84"/>
            <p:cNvSpPr/>
            <p:nvPr/>
          </p:nvSpPr>
          <p:spPr>
            <a:xfrm>
              <a:off x="3429000" y="5035550"/>
              <a:ext cx="8204200" cy="146050"/>
            </a:xfrm>
            <a:custGeom>
              <a:avLst/>
              <a:gdLst/>
              <a:ahLst/>
              <a:cxnLst/>
              <a:rect l="l" t="t" r="r" b="b"/>
              <a:pathLst>
                <a:path w="1292" h="23">
                  <a:moveTo>
                    <a:pt x="0" y="23"/>
                  </a:moveTo>
                  <a:lnTo>
                    <a:pt x="0" y="16"/>
                  </a:lnTo>
                  <a:lnTo>
                    <a:pt x="230" y="16"/>
                  </a:lnTo>
                  <a:lnTo>
                    <a:pt x="245" y="0"/>
                  </a:lnTo>
                  <a:lnTo>
                    <a:pt x="260" y="16"/>
                  </a:lnTo>
                  <a:lnTo>
                    <a:pt x="437" y="16"/>
                  </a:lnTo>
                  <a:lnTo>
                    <a:pt x="452" y="0"/>
                  </a:lnTo>
                  <a:lnTo>
                    <a:pt x="467" y="16"/>
                  </a:lnTo>
                  <a:lnTo>
                    <a:pt x="683" y="16"/>
                  </a:lnTo>
                  <a:lnTo>
                    <a:pt x="698" y="0"/>
                  </a:lnTo>
                  <a:lnTo>
                    <a:pt x="713" y="16"/>
                  </a:lnTo>
                  <a:lnTo>
                    <a:pt x="1032" y="16"/>
                  </a:lnTo>
                  <a:lnTo>
                    <a:pt x="1047" y="0"/>
                  </a:lnTo>
                  <a:lnTo>
                    <a:pt x="1062" y="16"/>
                  </a:lnTo>
                  <a:lnTo>
                    <a:pt x="1292" y="16"/>
                  </a:lnTo>
                  <a:lnTo>
                    <a:pt x="1292" y="23"/>
                  </a:lnTo>
                  <a:close/>
                </a:path>
              </a:pathLst>
            </a:custGeom>
            <a:solidFill>
              <a:srgbClr val="F8E4E4"/>
            </a:solidFill>
            <a:ln w="9525">
              <a:solidFill>
                <a:srgbClr val="C83535"/>
              </a:solidFill>
              <a:round/>
            </a:ln>
          </p:spPr>
          <p:txBody>
            <a:bodyPr rtlCol="0" anchor="ctr"/>
            <a:lstStyle/>
            <a:p>
              <a:pPr algn="ctr"/>
            </a:p>
          </p:txBody>
        </p:sp>
        <p:sp>
          <p:nvSpPr>
            <p:cNvPr id="86" name="TextBox 85"/>
            <p:cNvSpPr txBox="1"/>
            <p:nvPr/>
          </p:nvSpPr>
          <p:spPr>
            <a:xfrm>
              <a:off x="9728200" y="4584700"/>
              <a:ext cx="1854200" cy="139700"/>
            </a:xfrm>
            <a:prstGeom prst="rect">
              <a:avLst/>
            </a:prstGeom>
            <a:noFill/>
          </p:spPr>
          <p:txBody>
            <a:bodyPr wrap="none" anchor="t" lIns="0" tIns="0" rIns="0" bIns="0">
              <a:noAutofit/>
            </a:bodyPr>
            <a:lstStyle/>
            <a:p>
              <a:pPr algn="r" marL="0" indent="0">
                <a:lnSpc>
                  <a:spcPts val="1000"/>
                </a:lnSpc>
                <a:buNone/>
              </a:pPr>
              <a:r>
                <a:rPr lang="zh-CN" altLang="en-US" sz="700" b="0">
                  <a:solidFill>
                    <a:srgbClr val="8C8C8C"/>
                  </a:solidFill>
                  <a:latin typeface="微软雅黑"/>
                  <a:ea typeface="微软雅黑"/>
                  <a:cs typeface="微软雅黑"/>
                </a:rPr>
                <a:t>多物理域模型并行仿真</a:t>
              </a:r>
            </a:p>
          </p:txBody>
        </p:sp>
        <p:sp>
          <p:nvSpPr>
            <p:cNvPr id="87" name="TextBox 86"/>
            <p:cNvSpPr txBox="1"/>
            <p:nvPr/>
          </p:nvSpPr>
          <p:spPr>
            <a:xfrm>
              <a:off x="9728200" y="5003800"/>
              <a:ext cx="1854200" cy="127000"/>
            </a:xfrm>
            <a:prstGeom prst="rect">
              <a:avLst/>
            </a:prstGeom>
            <a:noFill/>
          </p:spPr>
          <p:txBody>
            <a:bodyPr wrap="none" anchor="t" lIns="0" tIns="0" rIns="0" bIns="0">
              <a:noAutofit/>
            </a:bodyPr>
            <a:lstStyle/>
            <a:p>
              <a:pPr algn="r" marL="0" indent="0">
                <a:lnSpc>
                  <a:spcPts val="1000"/>
                </a:lnSpc>
                <a:buNone/>
              </a:pPr>
              <a:r>
                <a:rPr lang="zh-CN" altLang="en-US" sz="700" b="0">
                  <a:solidFill>
                    <a:srgbClr val="8C8C8C"/>
                  </a:solidFill>
                  <a:latin typeface="微软雅黑"/>
                  <a:ea typeface="微软雅黑"/>
                  <a:cs typeface="微软雅黑"/>
                </a:rPr>
                <a:t>切换时的推理与编排决策</a:t>
              </a:r>
            </a:p>
          </p:txBody>
        </p:sp>
        <p:cxnSp>
          <p:nvCxnSpPr>
            <p:cNvPr id="88" name="Connector 87"/>
            <p:cNvCxnSpPr/>
            <p:nvPr/>
          </p:nvCxnSpPr>
          <p:spPr>
            <a:xfrm>
              <a:off x="3429000" y="5461000"/>
              <a:ext cx="8204200" cy="0"/>
            </a:xfrm>
            <a:prstGeom prst="line">
              <a:avLst/>
            </a:prstGeom>
            <a:ln w="12700">
              <a:solidFill>
                <a:srgbClr val="DEDEDE"/>
              </a:solidFill>
              <a:round/>
            </a:ln>
          </p:spPr>
        </p:cxnSp>
        <p:pic>
          <p:nvPicPr>
            <p:cNvPr id="89" name="Picture 88" descr="circle-check-4A4A4A-1_6.png"/>
            <p:cNvPicPr>
              <a:picLocks noChangeAspect="1"/>
            </p:cNvPicPr>
            <p:nvPr/>
          </p:nvPicPr>
          <p:blipFill>
            <a:blip r:embed="rId2"/>
            <a:stretch>
              <a:fillRect/>
            </a:stretch>
          </p:blipFill>
          <p:spPr>
            <a:xfrm>
              <a:off x="4138549" y="5382375"/>
              <a:ext cx="139700" cy="157250"/>
            </a:xfrm>
            <a:prstGeom prst="rect">
              <a:avLst/>
            </a:prstGeom>
          </p:spPr>
        </p:pic>
        <p:pic>
          <p:nvPicPr>
            <p:cNvPr id="90" name="Picture 89" descr="circle-check-4A4A4A-1_6.png"/>
            <p:cNvPicPr>
              <a:picLocks noChangeAspect="1"/>
            </p:cNvPicPr>
            <p:nvPr/>
          </p:nvPicPr>
          <p:blipFill>
            <a:blip r:embed="rId2"/>
            <a:stretch>
              <a:fillRect/>
            </a:stretch>
          </p:blipFill>
          <p:spPr>
            <a:xfrm>
              <a:off x="5574284" y="5382375"/>
              <a:ext cx="139700" cy="157250"/>
            </a:xfrm>
            <a:prstGeom prst="rect">
              <a:avLst/>
            </a:prstGeom>
          </p:spPr>
        </p:pic>
        <p:pic>
          <p:nvPicPr>
            <p:cNvPr id="91" name="Picture 90" descr="circle-check-4A4A4A-1_6.png"/>
            <p:cNvPicPr>
              <a:picLocks noChangeAspect="1"/>
            </p:cNvPicPr>
            <p:nvPr/>
          </p:nvPicPr>
          <p:blipFill>
            <a:blip r:embed="rId2"/>
            <a:stretch>
              <a:fillRect/>
            </a:stretch>
          </p:blipFill>
          <p:spPr>
            <a:xfrm>
              <a:off x="7010019" y="5382375"/>
              <a:ext cx="139700" cy="157250"/>
            </a:xfrm>
            <a:prstGeom prst="rect">
              <a:avLst/>
            </a:prstGeom>
          </p:spPr>
        </p:pic>
        <p:pic>
          <p:nvPicPr>
            <p:cNvPr id="92" name="Picture 91" descr="circle-check-4A4A4A-1_6.png"/>
            <p:cNvPicPr>
              <a:picLocks noChangeAspect="1"/>
            </p:cNvPicPr>
            <p:nvPr/>
          </p:nvPicPr>
          <p:blipFill>
            <a:blip r:embed="rId2"/>
            <a:stretch>
              <a:fillRect/>
            </a:stretch>
          </p:blipFill>
          <p:spPr>
            <a:xfrm>
              <a:off x="8343202" y="5382375"/>
              <a:ext cx="139700" cy="157250"/>
            </a:xfrm>
            <a:prstGeom prst="rect">
              <a:avLst/>
            </a:prstGeom>
          </p:spPr>
        </p:pic>
        <p:pic>
          <p:nvPicPr>
            <p:cNvPr id="93" name="Picture 92" descr="alert-circle-C00000-1_6.png"/>
            <p:cNvPicPr>
              <a:picLocks noChangeAspect="1"/>
            </p:cNvPicPr>
            <p:nvPr/>
          </p:nvPicPr>
          <p:blipFill>
            <a:blip r:embed="rId3"/>
            <a:stretch>
              <a:fillRect/>
            </a:stretch>
          </p:blipFill>
          <p:spPr>
            <a:xfrm>
              <a:off x="9150101" y="5368080"/>
              <a:ext cx="165100" cy="185841"/>
            </a:xfrm>
            <a:prstGeom prst="rect">
              <a:avLst/>
            </a:prstGeom>
          </p:spPr>
        </p:pic>
        <p:sp>
          <p:nvSpPr>
            <p:cNvPr id="94" name="TextBox 93"/>
            <p:cNvSpPr txBox="1"/>
            <p:nvPr/>
          </p:nvSpPr>
          <p:spPr>
            <a:xfrm>
              <a:off x="9346951" y="5270500"/>
              <a:ext cx="762000" cy="139700"/>
            </a:xfrm>
            <a:prstGeom prst="rect">
              <a:avLst/>
            </a:prstGeom>
            <a:noFill/>
          </p:spPr>
          <p:txBody>
            <a:bodyPr wrap="none" anchor="t" lIns="0" tIns="0" rIns="0" bIns="0">
              <a:noAutofit/>
            </a:bodyPr>
            <a:lstStyle/>
            <a:p>
              <a:pPr algn="l" marL="0" indent="0">
                <a:lnSpc>
                  <a:spcPts val="1000"/>
                </a:lnSpc>
                <a:buNone/>
              </a:pPr>
              <a:r>
                <a:rPr lang="zh-CN" altLang="en-US" sz="700" b="1">
                  <a:solidFill>
                    <a:srgbClr val="C00000"/>
                  </a:solidFill>
                  <a:latin typeface="微软雅黑"/>
                  <a:ea typeface="微软雅黑"/>
                  <a:cs typeface="微软雅黑"/>
                </a:rPr>
                <a:t>异常中断</a:t>
              </a:r>
            </a:p>
          </p:txBody>
        </p:sp>
        <p:sp>
          <p:nvSpPr>
            <p:cNvPr id="95" name="Freeform 94"/>
            <p:cNvSpPr/>
            <p:nvPr/>
          </p:nvSpPr>
          <p:spPr>
            <a:xfrm>
              <a:off x="7962900" y="5537200"/>
              <a:ext cx="1270000" cy="101600"/>
            </a:xfrm>
            <a:custGeom>
              <a:avLst/>
              <a:gdLst/>
              <a:ahLst/>
              <a:cxnLst/>
              <a:rect l="l" t="t" r="r" b="b"/>
              <a:pathLst>
                <a:path w="200" h="16">
                  <a:moveTo>
                    <a:pt x="200" y="1"/>
                  </a:moveTo>
                  <a:lnTo>
                    <a:pt x="200" y="16"/>
                  </a:lnTo>
                  <a:lnTo>
                    <a:pt x="0" y="16"/>
                  </a:lnTo>
                  <a:lnTo>
                    <a:pt x="0" y="0"/>
                  </a:lnTo>
                </a:path>
              </a:pathLst>
            </a:custGeom>
            <a:noFill/>
            <a:ln w="11430">
              <a:solidFill>
                <a:srgbClr val="C00000"/>
              </a:solidFill>
              <a:round/>
              <a:tailEnd type="triangle" w="med" len="med"/>
            </a:ln>
          </p:spPr>
          <p:txBody>
            <a:bodyPr rtlCol="0" anchor="ctr"/>
            <a:lstStyle/>
            <a:p>
              <a:pPr algn="ctr"/>
            </a:p>
          </p:txBody>
        </p:sp>
        <p:sp>
          <p:nvSpPr>
            <p:cNvPr id="96" name="TextBox 95"/>
            <p:cNvSpPr txBox="1"/>
            <p:nvPr/>
          </p:nvSpPr>
          <p:spPr>
            <a:xfrm>
              <a:off x="7960868" y="5651500"/>
              <a:ext cx="1271783" cy="127000"/>
            </a:xfrm>
            <a:prstGeom prst="rect">
              <a:avLst/>
            </a:prstGeom>
            <a:noFill/>
          </p:spPr>
          <p:txBody>
            <a:bodyPr wrap="none" anchor="t" lIns="0" tIns="0" rIns="0" bIns="0">
              <a:noAutofit/>
            </a:bodyPr>
            <a:lstStyle/>
            <a:p>
              <a:pPr algn="ctr" marL="0" indent="0">
                <a:lnSpc>
                  <a:spcPts val="1000"/>
                </a:lnSpc>
                <a:buNone/>
              </a:pPr>
              <a:r>
                <a:rPr lang="zh-CN" altLang="en-US" sz="700" b="1">
                  <a:solidFill>
                    <a:srgbClr val="C00000"/>
                  </a:solidFill>
                  <a:latin typeface="微软雅黑"/>
                  <a:ea typeface="微软雅黑"/>
                  <a:cs typeface="微软雅黑"/>
                </a:rPr>
                <a:t>重规划</a:t>
              </a:r>
            </a:p>
          </p:txBody>
        </p:sp>
        <p:pic>
          <p:nvPicPr>
            <p:cNvPr id="97" name="Picture 96" descr="circle-check-4A4A4A-1_6.png"/>
            <p:cNvPicPr>
              <a:picLocks noChangeAspect="1"/>
            </p:cNvPicPr>
            <p:nvPr/>
          </p:nvPicPr>
          <p:blipFill>
            <a:blip r:embed="rId2"/>
            <a:stretch>
              <a:fillRect/>
            </a:stretch>
          </p:blipFill>
          <p:spPr>
            <a:xfrm>
              <a:off x="10783951" y="5382375"/>
              <a:ext cx="139700" cy="157250"/>
            </a:xfrm>
            <a:prstGeom prst="rect">
              <a:avLst/>
            </a:prstGeom>
          </p:spPr>
        </p:pic>
        <p:cxnSp>
          <p:nvCxnSpPr>
            <p:cNvPr id="98" name="Connector 97"/>
            <p:cNvCxnSpPr/>
            <p:nvPr/>
          </p:nvCxnSpPr>
          <p:spPr>
            <a:xfrm>
              <a:off x="3429000" y="6007100"/>
              <a:ext cx="8204200" cy="0"/>
            </a:xfrm>
            <a:prstGeom prst="line">
              <a:avLst/>
            </a:prstGeom>
            <a:ln w="12700">
              <a:solidFill>
                <a:srgbClr val="C6C6C6"/>
              </a:solidFill>
              <a:round/>
              <a:tailEnd type="triangle" w="med" len="med"/>
            </a:ln>
          </p:spPr>
        </p:cxnSp>
        <p:sp>
          <p:nvSpPr>
            <p:cNvPr id="99" name="TextBox 98"/>
            <p:cNvSpPr txBox="1"/>
            <p:nvPr/>
          </p:nvSpPr>
          <p:spPr>
            <a:xfrm>
              <a:off x="10109200" y="5842000"/>
              <a:ext cx="1498600" cy="139700"/>
            </a:xfrm>
            <a:prstGeom prst="rect">
              <a:avLst/>
            </a:prstGeom>
            <a:noFill/>
          </p:spPr>
          <p:txBody>
            <a:bodyPr wrap="none" anchor="t" lIns="0" tIns="0" rIns="0" bIns="0">
              <a:noAutofit/>
            </a:bodyPr>
            <a:lstStyle/>
            <a:p>
              <a:pPr algn="r" marL="0" indent="0">
                <a:lnSpc>
                  <a:spcPts val="1000"/>
                </a:lnSpc>
                <a:buNone/>
              </a:pPr>
              <a:r>
                <a:rPr lang="zh-CN" altLang="en-US" sz="700" b="0">
                  <a:solidFill>
                    <a:srgbClr val="8C8C8C"/>
                  </a:solidFill>
                  <a:latin typeface="微软雅黑"/>
                  <a:ea typeface="微软雅黑"/>
                  <a:cs typeface="微软雅黑"/>
                </a:rPr>
                <a:t>仿真推进（里程）</a:t>
              </a:r>
            </a:p>
          </p:txBody>
        </p:sp>
      </p:gr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研究内容③ 智能体执行</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把 −10℃ 现场的问题在研发室里跑出来</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10</a:t>
            </a:r>
          </a:p>
        </p:txBody>
      </p:sp>
      <p:sp>
        <p:nvSpPr>
          <p:cNvPr id="6" name="Rectangle 5"/>
          <p:cNvSpPr/>
          <p:nvPr/>
        </p:nvSpPr>
        <p:spPr>
          <a:xfrm>
            <a:off x="406400" y="2082800"/>
            <a:ext cx="1651000" cy="304800"/>
          </a:xfrm>
          <a:prstGeom prst="rect">
            <a:avLst/>
          </a:prstGeom>
          <a:solidFill>
            <a:srgbClr val="FFFFFF"/>
          </a:solidFill>
          <a:ln w="6350">
            <a:solidFill>
              <a:srgbClr val="E9E9E9"/>
            </a:solidFill>
            <a:round/>
          </a:ln>
        </p:spPr>
        <p:txBody>
          <a:bodyPr rtlCol="0" anchor="ctr" lIns="0" rIns="0" tIns="0" bIns="0"/>
          <a:lstStyle/>
          <a:p>
            <a:pPr algn="ctr"/>
          </a:p>
        </p:txBody>
      </p:sp>
      <p:sp>
        <p:nvSpPr>
          <p:cNvPr id="7" name="Rectangle 6"/>
          <p:cNvSpPr/>
          <p:nvPr/>
        </p:nvSpPr>
        <p:spPr>
          <a:xfrm>
            <a:off x="406400" y="2082800"/>
            <a:ext cx="19050" cy="304800"/>
          </a:xfrm>
          <a:prstGeom prst="rect">
            <a:avLst/>
          </a:prstGeom>
          <a:solidFill>
            <a:srgbClr val="8E0000"/>
          </a:solidFill>
          <a:ln>
            <a:noFill/>
          </a:ln>
        </p:spPr>
        <p:txBody>
          <a:bodyPr rtlCol="0" anchor="ctr" lIns="0" rIns="0" tIns="0" bIns="0"/>
          <a:lstStyle/>
          <a:p>
            <a:pPr algn="ctr"/>
          </a:p>
        </p:txBody>
      </p:sp>
      <p:sp>
        <p:nvSpPr>
          <p:cNvPr id="8" name="TextBox 7"/>
          <p:cNvSpPr txBox="1"/>
          <p:nvPr/>
        </p:nvSpPr>
        <p:spPr>
          <a:xfrm>
            <a:off x="533400" y="2082800"/>
            <a:ext cx="1460500" cy="3048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④ 集成层</a:t>
            </a:r>
          </a:p>
        </p:txBody>
      </p:sp>
      <p:sp>
        <p:nvSpPr>
          <p:cNvPr id="9" name="Rectangle 8"/>
          <p:cNvSpPr/>
          <p:nvPr/>
        </p:nvSpPr>
        <p:spPr>
          <a:xfrm>
            <a:off x="406400" y="2438400"/>
            <a:ext cx="1651000" cy="304800"/>
          </a:xfrm>
          <a:prstGeom prst="rect">
            <a:avLst/>
          </a:prstGeom>
          <a:solidFill>
            <a:srgbClr val="C00000"/>
          </a:solidFill>
          <a:ln>
            <a:noFill/>
          </a:ln>
        </p:spPr>
        <p:txBody>
          <a:bodyPr rtlCol="0" anchor="ctr" lIns="0" rIns="0" tIns="0" bIns="0"/>
          <a:lstStyle/>
          <a:p>
            <a:pPr algn="ctr"/>
          </a:p>
        </p:txBody>
      </p:sp>
      <p:sp>
        <p:nvSpPr>
          <p:cNvPr id="10" name="TextBox 9"/>
          <p:cNvSpPr txBox="1"/>
          <p:nvPr/>
        </p:nvSpPr>
        <p:spPr>
          <a:xfrm>
            <a:off x="533400" y="2438400"/>
            <a:ext cx="1460500" cy="304800"/>
          </a:xfrm>
          <a:prstGeom prst="rect">
            <a:avLst/>
          </a:prstGeom>
          <a:noFill/>
        </p:spPr>
        <p:txBody>
          <a:bodyPr wrap="none" anchor="ctr" lIns="0" tIns="0" rIns="0" bIns="0">
            <a:noAutofit/>
          </a:bodyPr>
          <a:lstStyle/>
          <a:p>
            <a:pPr algn="l" marL="0" indent="0">
              <a:lnSpc>
                <a:spcPts val="1300"/>
              </a:lnSpc>
              <a:buNone/>
            </a:pPr>
            <a:r>
              <a:rPr lang="zh-CN" altLang="en-US" sz="950" b="1">
                <a:solidFill>
                  <a:srgbClr val="FFFFFF"/>
                </a:solidFill>
                <a:latin typeface="微软雅黑"/>
                <a:ea typeface="微软雅黑"/>
                <a:cs typeface="微软雅黑"/>
              </a:rPr>
              <a:t>③ 执行层</a:t>
            </a:r>
          </a:p>
        </p:txBody>
      </p:sp>
      <p:sp>
        <p:nvSpPr>
          <p:cNvPr id="11" name="Rectangle 10"/>
          <p:cNvSpPr/>
          <p:nvPr/>
        </p:nvSpPr>
        <p:spPr>
          <a:xfrm>
            <a:off x="406400" y="2819400"/>
            <a:ext cx="1651000" cy="279400"/>
          </a:xfrm>
          <a:prstGeom prst="rect">
            <a:avLst/>
          </a:prstGeom>
          <a:solidFill>
            <a:srgbClr val="FFFFFF"/>
          </a:solidFill>
          <a:ln w="6350">
            <a:solidFill>
              <a:srgbClr val="E9E9E9"/>
            </a:solidFill>
            <a:round/>
          </a:ln>
        </p:spPr>
        <p:txBody>
          <a:bodyPr rtlCol="0" anchor="ctr" lIns="0" rIns="0" tIns="0" bIns="0"/>
          <a:lstStyle/>
          <a:p>
            <a:pPr algn="ctr"/>
          </a:p>
        </p:txBody>
      </p:sp>
      <p:sp>
        <p:nvSpPr>
          <p:cNvPr id="12" name="Rectangle 11"/>
          <p:cNvSpPr/>
          <p:nvPr/>
        </p:nvSpPr>
        <p:spPr>
          <a:xfrm>
            <a:off x="406400" y="2819400"/>
            <a:ext cx="19050" cy="279400"/>
          </a:xfrm>
          <a:prstGeom prst="rect">
            <a:avLst/>
          </a:prstGeom>
          <a:solidFill>
            <a:srgbClr val="C83535"/>
          </a:solidFill>
          <a:ln>
            <a:noFill/>
          </a:ln>
        </p:spPr>
        <p:txBody>
          <a:bodyPr rtlCol="0" anchor="ctr" lIns="0" rIns="0" tIns="0" bIns="0"/>
          <a:lstStyle/>
          <a:p>
            <a:pPr algn="ctr"/>
          </a:p>
        </p:txBody>
      </p:sp>
      <p:sp>
        <p:nvSpPr>
          <p:cNvPr id="13" name="TextBox 12"/>
          <p:cNvSpPr txBox="1"/>
          <p:nvPr/>
        </p:nvSpPr>
        <p:spPr>
          <a:xfrm>
            <a:off x="533400" y="2819400"/>
            <a:ext cx="1460500" cy="2794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② 决策层</a:t>
            </a:r>
          </a:p>
        </p:txBody>
      </p:sp>
      <p:sp>
        <p:nvSpPr>
          <p:cNvPr id="14" name="Rectangle 13"/>
          <p:cNvSpPr/>
          <p:nvPr/>
        </p:nvSpPr>
        <p:spPr>
          <a:xfrm>
            <a:off x="406400" y="3149600"/>
            <a:ext cx="1651000" cy="279400"/>
          </a:xfrm>
          <a:prstGeom prst="rect">
            <a:avLst/>
          </a:prstGeom>
          <a:solidFill>
            <a:srgbClr val="FFFFFF"/>
          </a:solidFill>
          <a:ln w="6350">
            <a:solidFill>
              <a:srgbClr val="E9E9E9"/>
            </a:solidFill>
            <a:round/>
          </a:ln>
        </p:spPr>
        <p:txBody>
          <a:bodyPr rtlCol="0" anchor="ctr" lIns="0" rIns="0" tIns="0" bIns="0"/>
          <a:lstStyle/>
          <a:p>
            <a:pPr algn="ctr"/>
          </a:p>
        </p:txBody>
      </p:sp>
      <p:sp>
        <p:nvSpPr>
          <p:cNvPr id="15" name="Rectangle 14"/>
          <p:cNvSpPr/>
          <p:nvPr/>
        </p:nvSpPr>
        <p:spPr>
          <a:xfrm>
            <a:off x="406400" y="3149600"/>
            <a:ext cx="19050" cy="279400"/>
          </a:xfrm>
          <a:prstGeom prst="rect">
            <a:avLst/>
          </a:prstGeom>
          <a:solidFill>
            <a:srgbClr val="D46A6A"/>
          </a:solidFill>
          <a:ln>
            <a:noFill/>
          </a:ln>
        </p:spPr>
        <p:txBody>
          <a:bodyPr rtlCol="0" anchor="ctr" lIns="0" rIns="0" tIns="0" bIns="0"/>
          <a:lstStyle/>
          <a:p>
            <a:pPr algn="ctr"/>
          </a:p>
        </p:txBody>
      </p:sp>
      <p:sp>
        <p:nvSpPr>
          <p:cNvPr id="16" name="TextBox 15"/>
          <p:cNvSpPr txBox="1"/>
          <p:nvPr/>
        </p:nvSpPr>
        <p:spPr>
          <a:xfrm>
            <a:off x="533400" y="3149600"/>
            <a:ext cx="1460500" cy="2794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① 基础层</a:t>
            </a:r>
          </a:p>
        </p:txBody>
      </p:sp>
      <p:sp>
        <p:nvSpPr>
          <p:cNvPr id="17" name="TextBox 16"/>
          <p:cNvSpPr txBox="1"/>
          <p:nvPr/>
        </p:nvSpPr>
        <p:spPr>
          <a:xfrm>
            <a:off x="406400" y="4889500"/>
            <a:ext cx="1651000" cy="215900"/>
          </a:xfrm>
          <a:prstGeom prst="rect">
            <a:avLst/>
          </a:prstGeom>
          <a:noFill/>
        </p:spPr>
        <p:txBody>
          <a:bodyPr wrap="none" anchor="t" lIns="0" tIns="0" rIns="0" bIns="0">
            <a:noAutofit/>
          </a:bodyPr>
          <a:lstStyle/>
          <a:p>
            <a:pPr algn="l" marL="0" indent="0">
              <a:lnSpc>
                <a:spcPts val="1600"/>
              </a:lnSpc>
              <a:buNone/>
            </a:pPr>
            <a:r>
              <a:rPr lang="zh-CN" altLang="en-US" sz="1100" b="1">
                <a:solidFill>
                  <a:srgbClr val="1A1A1A"/>
                </a:solidFill>
                <a:latin typeface="微软雅黑"/>
                <a:ea typeface="微软雅黑"/>
                <a:cs typeface="微软雅黑"/>
              </a:rPr>
              <a:t>产出</a:t>
            </a:r>
          </a:p>
        </p:txBody>
      </p:sp>
      <p:sp>
        <p:nvSpPr>
          <p:cNvPr id="18" name="Rectangle 17"/>
          <p:cNvSpPr/>
          <p:nvPr/>
        </p:nvSpPr>
        <p:spPr>
          <a:xfrm>
            <a:off x="406400" y="5168900"/>
            <a:ext cx="1651000" cy="469900"/>
          </a:xfrm>
          <a:prstGeom prst="rect">
            <a:avLst/>
          </a:prstGeom>
          <a:solidFill>
            <a:srgbClr val="FCF2F2"/>
          </a:solidFill>
          <a:ln>
            <a:noFill/>
          </a:ln>
        </p:spPr>
        <p:txBody>
          <a:bodyPr rtlCol="0" anchor="ctr" lIns="0" rIns="0" tIns="0" bIns="0"/>
          <a:lstStyle/>
          <a:p>
            <a:pPr algn="ctr"/>
          </a:p>
        </p:txBody>
      </p:sp>
      <p:sp>
        <p:nvSpPr>
          <p:cNvPr id="19" name="Rectangle 18"/>
          <p:cNvSpPr/>
          <p:nvPr/>
        </p:nvSpPr>
        <p:spPr>
          <a:xfrm>
            <a:off x="406400" y="5168900"/>
            <a:ext cx="19050" cy="469900"/>
          </a:xfrm>
          <a:prstGeom prst="rect">
            <a:avLst/>
          </a:prstGeom>
          <a:solidFill>
            <a:srgbClr val="C00000"/>
          </a:solidFill>
          <a:ln>
            <a:noFill/>
          </a:ln>
        </p:spPr>
        <p:txBody>
          <a:bodyPr rtlCol="0" anchor="ctr" lIns="0" rIns="0" tIns="0" bIns="0"/>
          <a:lstStyle/>
          <a:p>
            <a:pPr algn="ctr"/>
          </a:p>
        </p:txBody>
      </p:sp>
      <p:sp>
        <p:nvSpPr>
          <p:cNvPr id="20" name="TextBox 19"/>
          <p:cNvSpPr txBox="1"/>
          <p:nvPr/>
        </p:nvSpPr>
        <p:spPr>
          <a:xfrm>
            <a:off x="501650" y="5168900"/>
            <a:ext cx="1479550" cy="469900"/>
          </a:xfrm>
          <a:prstGeom prst="rect">
            <a:avLst/>
          </a:prstGeom>
          <a:noFill/>
        </p:spPr>
        <p:txBody>
          <a:bodyPr wrap="square" anchor="ctr" lIns="0" tIns="0" rIns="0" bIns="0">
            <a:noAutofit/>
          </a:bodyPr>
          <a:lstStyle/>
          <a:p>
            <a:pPr algn="l" marL="0" indent="0">
              <a:lnSpc>
                <a:spcPts val="1300"/>
              </a:lnSpc>
              <a:buNone/>
            </a:pPr>
            <a:r>
              <a:rPr lang="zh-CN" altLang="en-US" sz="900" b="1">
                <a:solidFill>
                  <a:srgbClr val="C00000"/>
                </a:solidFill>
                <a:latin typeface="微软雅黑"/>
                <a:ea typeface="微软雅黑"/>
                <a:cs typeface="微软雅黑"/>
              </a:rPr>
              <a:t>✓ 关键系统仿真智能体／</a:t>
            </a:r>
            <a:br>
              <a:rPr lang="zh-CN" altLang="en-US" sz="900"/>
            </a:br>
            <a:r>
              <a:rPr lang="zh-CN" altLang="en-US" sz="900" b="1">
                <a:solidFill>
                  <a:srgbClr val="C00000"/>
                </a:solidFill>
                <a:latin typeface="微软雅黑"/>
                <a:ea typeface="微软雅黑"/>
                <a:cs typeface="微软雅黑"/>
              </a:rPr>
              <a:t>智能孪生模型</a:t>
            </a:r>
          </a:p>
        </p:txBody>
      </p:sp>
      <p:sp>
        <p:nvSpPr>
          <p:cNvPr id="21" name="Rectangle 20"/>
          <p:cNvSpPr/>
          <p:nvPr/>
        </p:nvSpPr>
        <p:spPr>
          <a:xfrm>
            <a:off x="406400" y="5689600"/>
            <a:ext cx="1651000" cy="304800"/>
          </a:xfrm>
          <a:prstGeom prst="rect">
            <a:avLst/>
          </a:prstGeom>
          <a:solidFill>
            <a:srgbClr val="FCF2F2"/>
          </a:solidFill>
          <a:ln>
            <a:noFill/>
          </a:ln>
        </p:spPr>
        <p:txBody>
          <a:bodyPr rtlCol="0" anchor="ctr" lIns="0" rIns="0" tIns="0" bIns="0"/>
          <a:lstStyle/>
          <a:p>
            <a:pPr algn="ctr"/>
          </a:p>
        </p:txBody>
      </p:sp>
      <p:sp>
        <p:nvSpPr>
          <p:cNvPr id="22" name="Rectangle 21"/>
          <p:cNvSpPr/>
          <p:nvPr/>
        </p:nvSpPr>
        <p:spPr>
          <a:xfrm>
            <a:off x="406400" y="5689600"/>
            <a:ext cx="19050" cy="304800"/>
          </a:xfrm>
          <a:prstGeom prst="rect">
            <a:avLst/>
          </a:prstGeom>
          <a:solidFill>
            <a:srgbClr val="C00000"/>
          </a:solidFill>
          <a:ln>
            <a:noFill/>
          </a:ln>
        </p:spPr>
        <p:txBody>
          <a:bodyPr rtlCol="0" anchor="ctr" lIns="0" rIns="0" tIns="0" bIns="0"/>
          <a:lstStyle/>
          <a:p>
            <a:pPr algn="ctr"/>
          </a:p>
        </p:txBody>
      </p:sp>
      <p:sp>
        <p:nvSpPr>
          <p:cNvPr id="23" name="TextBox 22"/>
          <p:cNvSpPr txBox="1"/>
          <p:nvPr/>
        </p:nvSpPr>
        <p:spPr>
          <a:xfrm>
            <a:off x="501650" y="5689600"/>
            <a:ext cx="1479550" cy="304800"/>
          </a:xfrm>
          <a:prstGeom prst="rect">
            <a:avLst/>
          </a:prstGeom>
          <a:noFill/>
        </p:spPr>
        <p:txBody>
          <a:bodyPr wrap="square" anchor="ctr" lIns="0" tIns="0" rIns="0" bIns="0">
            <a:noAutofit/>
          </a:bodyPr>
          <a:lstStyle/>
          <a:p>
            <a:pPr algn="l" marL="0" indent="0">
              <a:lnSpc>
                <a:spcPts val="1300"/>
              </a:lnSpc>
              <a:buNone/>
            </a:pPr>
            <a:r>
              <a:rPr lang="zh-CN" altLang="en-US" sz="900" b="1">
                <a:solidFill>
                  <a:srgbClr val="C00000"/>
                </a:solidFill>
                <a:latin typeface="微软雅黑"/>
                <a:ea typeface="微软雅黑"/>
                <a:cs typeface="微软雅黑"/>
              </a:rPr>
              <a:t>✓ 用例与线路数据集</a:t>
            </a:r>
          </a:p>
        </p:txBody>
      </p:sp>
      <p:sp>
        <p:nvSpPr>
          <p:cNvPr id="24" name="Rectangle 23"/>
          <p:cNvSpPr/>
          <p:nvPr/>
        </p:nvSpPr>
        <p:spPr>
          <a:xfrm>
            <a:off x="406400" y="6045200"/>
            <a:ext cx="1651000" cy="304800"/>
          </a:xfrm>
          <a:prstGeom prst="rect">
            <a:avLst/>
          </a:prstGeom>
          <a:solidFill>
            <a:srgbClr val="FCF2F2"/>
          </a:solidFill>
          <a:ln>
            <a:noFill/>
          </a:ln>
        </p:spPr>
        <p:txBody>
          <a:bodyPr rtlCol="0" anchor="ctr" lIns="0" rIns="0" tIns="0" bIns="0"/>
          <a:lstStyle/>
          <a:p>
            <a:pPr algn="ctr"/>
          </a:p>
        </p:txBody>
      </p:sp>
      <p:sp>
        <p:nvSpPr>
          <p:cNvPr id="25" name="Rectangle 24"/>
          <p:cNvSpPr/>
          <p:nvPr/>
        </p:nvSpPr>
        <p:spPr>
          <a:xfrm>
            <a:off x="406400" y="6045200"/>
            <a:ext cx="19050" cy="304800"/>
          </a:xfrm>
          <a:prstGeom prst="rect">
            <a:avLst/>
          </a:prstGeom>
          <a:solidFill>
            <a:srgbClr val="C00000"/>
          </a:solidFill>
          <a:ln>
            <a:noFill/>
          </a:ln>
        </p:spPr>
        <p:txBody>
          <a:bodyPr rtlCol="0" anchor="ctr" lIns="0" rIns="0" tIns="0" bIns="0"/>
          <a:lstStyle/>
          <a:p>
            <a:pPr algn="ctr"/>
          </a:p>
        </p:txBody>
      </p:sp>
      <p:sp>
        <p:nvSpPr>
          <p:cNvPr id="26" name="TextBox 25"/>
          <p:cNvSpPr txBox="1"/>
          <p:nvPr/>
        </p:nvSpPr>
        <p:spPr>
          <a:xfrm>
            <a:off x="501650" y="6045200"/>
            <a:ext cx="1479550" cy="304800"/>
          </a:xfrm>
          <a:prstGeom prst="rect">
            <a:avLst/>
          </a:prstGeom>
          <a:noFill/>
        </p:spPr>
        <p:txBody>
          <a:bodyPr wrap="square" anchor="ctr" lIns="0" tIns="0" rIns="0" bIns="0">
            <a:noAutofit/>
          </a:bodyPr>
          <a:lstStyle/>
          <a:p>
            <a:pPr algn="l" marL="0" indent="0">
              <a:lnSpc>
                <a:spcPts val="1300"/>
              </a:lnSpc>
              <a:buNone/>
            </a:pPr>
            <a:r>
              <a:rPr lang="zh-CN" altLang="en-US" sz="900" b="1">
                <a:solidFill>
                  <a:srgbClr val="C00000"/>
                </a:solidFill>
                <a:latin typeface="微软雅黑"/>
                <a:ea typeface="微软雅黑"/>
                <a:cs typeface="微软雅黑"/>
              </a:rPr>
              <a:t>✓ 验证报告与追溯记录</a:t>
            </a:r>
          </a:p>
        </p:txBody>
      </p:sp>
      <p:sp>
        <p:nvSpPr>
          <p:cNvPr id="27" name="Rectangle 26"/>
          <p:cNvSpPr/>
          <p:nvPr/>
        </p:nvSpPr>
        <p:spPr>
          <a:xfrm>
            <a:off x="2260600" y="2082800"/>
            <a:ext cx="9525000" cy="660400"/>
          </a:xfrm>
          <a:prstGeom prst="rect">
            <a:avLst/>
          </a:prstGeom>
          <a:solidFill>
            <a:srgbClr val="FFFFFF"/>
          </a:solidFill>
          <a:ln w="6350">
            <a:solidFill>
              <a:srgbClr val="E9E9E9"/>
            </a:solidFill>
            <a:round/>
          </a:ln>
        </p:spPr>
        <p:txBody>
          <a:bodyPr rtlCol="0" anchor="ctr" lIns="0" rIns="0" tIns="0" bIns="0"/>
          <a:lstStyle/>
          <a:p>
            <a:pPr algn="ctr"/>
          </a:p>
        </p:txBody>
      </p:sp>
      <p:sp>
        <p:nvSpPr>
          <p:cNvPr id="28" name="Rectangle 27"/>
          <p:cNvSpPr/>
          <p:nvPr/>
        </p:nvSpPr>
        <p:spPr>
          <a:xfrm>
            <a:off x="2260600" y="2082800"/>
            <a:ext cx="19050" cy="660400"/>
          </a:xfrm>
          <a:prstGeom prst="rect">
            <a:avLst/>
          </a:prstGeom>
          <a:solidFill>
            <a:srgbClr val="C00000"/>
          </a:solidFill>
          <a:ln>
            <a:noFill/>
          </a:ln>
        </p:spPr>
        <p:txBody>
          <a:bodyPr rtlCol="0" anchor="ctr" lIns="0" rIns="0" tIns="0" bIns="0"/>
          <a:lstStyle/>
          <a:p>
            <a:pPr algn="ctr"/>
          </a:p>
        </p:txBody>
      </p:sp>
      <p:sp>
        <p:nvSpPr>
          <p:cNvPr id="29" name="Rectangle 28"/>
          <p:cNvSpPr/>
          <p:nvPr/>
        </p:nvSpPr>
        <p:spPr>
          <a:xfrm>
            <a:off x="2413000" y="2159000"/>
            <a:ext cx="635000" cy="177800"/>
          </a:xfrm>
          <a:prstGeom prst="rect">
            <a:avLst/>
          </a:prstGeom>
          <a:solidFill>
            <a:srgbClr val="FFFFFF"/>
          </a:solidFill>
          <a:ln w="6350">
            <a:solidFill>
              <a:srgbClr val="C00000"/>
            </a:solidFill>
            <a:round/>
          </a:ln>
        </p:spPr>
        <p:txBody>
          <a:bodyPr rtlCol="0" anchor="ctr" lIns="0" rIns="0" tIns="0" bIns="0" wrap="none">
            <a:noAutofit/>
          </a:bodyPr>
          <a:lstStyle/>
          <a:p>
            <a:pPr algn="ctr" marL="0" indent="0">
              <a:lnSpc>
                <a:spcPts val="1050"/>
              </a:lnSpc>
              <a:buNone/>
            </a:pPr>
            <a:r>
              <a:rPr lang="zh-CN" altLang="en-US" sz="800" b="1">
                <a:solidFill>
                  <a:srgbClr val="C00000"/>
                </a:solidFill>
                <a:latin typeface="微软雅黑"/>
                <a:ea typeface="微软雅黑"/>
                <a:cs typeface="微软雅黑"/>
              </a:rPr>
              <a:t>现状与问题</a:t>
            </a:r>
          </a:p>
        </p:txBody>
      </p:sp>
      <p:sp>
        <p:nvSpPr>
          <p:cNvPr id="30" name="TextBox 29"/>
          <p:cNvSpPr txBox="1"/>
          <p:nvPr/>
        </p:nvSpPr>
        <p:spPr>
          <a:xfrm>
            <a:off x="2413000" y="2374900"/>
            <a:ext cx="5384800" cy="342900"/>
          </a:xfrm>
          <a:prstGeom prst="rect">
            <a:avLst/>
          </a:prstGeom>
          <a:noFill/>
        </p:spPr>
        <p:txBody>
          <a:bodyPr wrap="square" anchor="t" lIns="0" tIns="0" rIns="0" bIns="0">
            <a:noAutofit/>
          </a:bodyPr>
          <a:lstStyle/>
          <a:p>
            <a:pPr algn="l" marL="0" indent="0">
              <a:lnSpc>
                <a:spcPts val="1350"/>
              </a:lnSpc>
              <a:buNone/>
            </a:pPr>
            <a:r>
              <a:rPr lang="zh-CN" altLang="en-US" sz="900" b="0">
                <a:solidFill>
                  <a:srgbClr val="1A1A1A"/>
                </a:solidFill>
                <a:latin typeface="微软雅黑"/>
                <a:ea typeface="微软雅黑"/>
                <a:cs typeface="微软雅黑"/>
              </a:rPr>
              <a:t>仿真结果靠人看曲线，多系统、长时序问题（如临哈线散热器冻结）难发现、难定位。</a:t>
            </a:r>
          </a:p>
        </p:txBody>
      </p:sp>
      <p:cxnSp>
        <p:nvCxnSpPr>
          <p:cNvPr id="31" name="Connector 30"/>
          <p:cNvCxnSpPr/>
          <p:nvPr/>
        </p:nvCxnSpPr>
        <p:spPr>
          <a:xfrm>
            <a:off x="7975600" y="2184400"/>
            <a:ext cx="0" cy="457200"/>
          </a:xfrm>
          <a:prstGeom prst="line">
            <a:avLst/>
          </a:prstGeom>
          <a:ln w="6350">
            <a:solidFill>
              <a:srgbClr val="DEDEDE"/>
            </a:solidFill>
            <a:round/>
          </a:ln>
        </p:spPr>
      </p:cxnSp>
      <p:sp>
        <p:nvSpPr>
          <p:cNvPr id="32" name="TextBox 31"/>
          <p:cNvSpPr txBox="1"/>
          <p:nvPr/>
        </p:nvSpPr>
        <p:spPr>
          <a:xfrm>
            <a:off x="8153400" y="2159000"/>
            <a:ext cx="1524000" cy="177800"/>
          </a:xfrm>
          <a:prstGeom prst="rect">
            <a:avLst/>
          </a:prstGeom>
          <a:noFill/>
        </p:spPr>
        <p:txBody>
          <a:bodyPr wrap="none" anchor="ctr" lIns="0" tIns="0" rIns="0" bIns="0">
            <a:noAutofit/>
          </a:bodyPr>
          <a:lstStyle/>
          <a:p>
            <a:pPr algn="l" marL="0" indent="0">
              <a:lnSpc>
                <a:spcPts val="1100"/>
              </a:lnSpc>
              <a:buNone/>
            </a:pPr>
            <a:r>
              <a:rPr lang="zh-CN" altLang="en-US" sz="800" b="1">
                <a:solidFill>
                  <a:srgbClr val="8C8C8C"/>
                </a:solidFill>
                <a:latin typeface="微软雅黑"/>
                <a:ea typeface="微软雅黑"/>
                <a:cs typeface="微软雅黑"/>
              </a:rPr>
              <a:t>研究方法</a:t>
            </a:r>
          </a:p>
        </p:txBody>
      </p:sp>
      <p:sp>
        <p:nvSpPr>
          <p:cNvPr id="33" name="TextBox 32"/>
          <p:cNvSpPr txBox="1"/>
          <p:nvPr/>
        </p:nvSpPr>
        <p:spPr>
          <a:xfrm>
            <a:off x="8153400" y="2374900"/>
            <a:ext cx="3454400" cy="342900"/>
          </a:xfrm>
          <a:prstGeom prst="rect">
            <a:avLst/>
          </a:prstGeom>
          <a:noFill/>
        </p:spPr>
        <p:txBody>
          <a:bodyPr wrap="square" anchor="t" lIns="0" tIns="0" rIns="0" bIns="0">
            <a:noAutofit/>
          </a:bodyPr>
          <a:lstStyle/>
          <a:p>
            <a:pPr algn="l" marL="0" indent="0">
              <a:lnSpc>
                <a:spcPts val="1350"/>
              </a:lnSpc>
              <a:buNone/>
            </a:pPr>
            <a:r>
              <a:rPr lang="zh-CN" altLang="en-US" sz="900" b="1">
                <a:solidFill>
                  <a:srgbClr val="1A1A1A"/>
                </a:solidFill>
                <a:latin typeface="微软雅黑"/>
                <a:ea typeface="微软雅黑"/>
                <a:cs typeface="微软雅黑"/>
              </a:rPr>
              <a:t>实时协同与可信评判</a:t>
            </a:r>
            <a:r>
              <a:rPr lang="zh-CN" altLang="en-US" sz="900" b="0">
                <a:solidFill>
                  <a:srgbClr val="3D3D3D"/>
                </a:solidFill>
                <a:latin typeface="微软雅黑"/>
                <a:ea typeface="微软雅黑"/>
                <a:cs typeface="微软雅黑"/>
              </a:rPr>
              <a:t>：分布式协同仿真、时序同步、自动标定。难点：步长差异大、极端工况数据少。</a:t>
            </a:r>
          </a:p>
        </p:txBody>
      </p:sp>
      <p:sp>
        <p:nvSpPr>
          <p:cNvPr id="34" name="Rectangle 33"/>
          <p:cNvSpPr/>
          <p:nvPr/>
        </p:nvSpPr>
        <p:spPr>
          <a:xfrm>
            <a:off x="2260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35" name="Rectangle 34"/>
          <p:cNvSpPr/>
          <p:nvPr/>
        </p:nvSpPr>
        <p:spPr>
          <a:xfrm>
            <a:off x="2260600" y="2819400"/>
            <a:ext cx="2286000" cy="19050"/>
          </a:xfrm>
          <a:prstGeom prst="rect">
            <a:avLst/>
          </a:prstGeom>
          <a:solidFill>
            <a:srgbClr val="C00000"/>
          </a:solidFill>
          <a:ln>
            <a:noFill/>
          </a:ln>
        </p:spPr>
        <p:txBody>
          <a:bodyPr rtlCol="0" anchor="ctr" lIns="0" rIns="0" tIns="0" bIns="0"/>
          <a:lstStyle/>
          <a:p>
            <a:pPr algn="ctr"/>
          </a:p>
        </p:txBody>
      </p:sp>
      <p:sp>
        <p:nvSpPr>
          <p:cNvPr id="36" name="TextBox 35"/>
          <p:cNvSpPr txBox="1"/>
          <p:nvPr/>
        </p:nvSpPr>
        <p:spPr>
          <a:xfrm>
            <a:off x="2400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C00000"/>
                </a:solidFill>
                <a:latin typeface="Consolas"/>
                <a:ea typeface="微软雅黑"/>
                <a:cs typeface="Consolas"/>
              </a:rPr>
              <a:t>01</a:t>
            </a:r>
            <a:r>
              <a:rPr lang="zh-CN" altLang="en-US" sz="1000" b="1">
                <a:solidFill>
                  <a:srgbClr val="1A1A1A"/>
                </a:solidFill>
                <a:latin typeface="微软雅黑"/>
                <a:ea typeface="微软雅黑"/>
                <a:cs typeface="微软雅黑"/>
              </a:rPr>
              <a:t>  仿真智能体</a:t>
            </a:r>
          </a:p>
        </p:txBody>
      </p:sp>
      <p:sp>
        <p:nvSpPr>
          <p:cNvPr id="37" name="TextBox 36"/>
          <p:cNvSpPr txBox="1"/>
          <p:nvPr/>
        </p:nvSpPr>
        <p:spPr>
          <a:xfrm>
            <a:off x="2400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标准化接入，实测数据</a:t>
            </a:r>
            <a:r>
              <a:rPr lang="zh-CN" altLang="en-US" sz="950" b="1">
                <a:solidFill>
                  <a:srgbClr val="1A1A1A"/>
                </a:solidFill>
                <a:latin typeface="微软雅黑"/>
                <a:ea typeface="微软雅黑"/>
                <a:cs typeface="微软雅黑"/>
              </a:rPr>
              <a:t>自动标定</a:t>
            </a:r>
          </a:p>
        </p:txBody>
      </p:sp>
      <p:sp>
        <p:nvSpPr>
          <p:cNvPr id="38" name="Isosceles Triangle 37"/>
          <p:cNvSpPr/>
          <p:nvPr/>
        </p:nvSpPr>
        <p:spPr>
          <a:xfrm rot="5400000">
            <a:off x="4546600" y="3079750"/>
            <a:ext cx="127000" cy="88900"/>
          </a:xfrm>
          <a:prstGeom prst="triangle">
            <a:avLst/>
          </a:prstGeom>
          <a:solidFill>
            <a:srgbClr val="D2D2D2"/>
          </a:solidFill>
          <a:ln>
            <a:noFill/>
          </a:ln>
        </p:spPr>
        <p:txBody>
          <a:bodyPr rtlCol="0" anchor="ctr" lIns="0" rIns="0" tIns="0" bIns="0"/>
          <a:lstStyle/>
          <a:p>
            <a:pPr algn="ctr"/>
          </a:p>
        </p:txBody>
      </p:sp>
      <p:sp>
        <p:nvSpPr>
          <p:cNvPr id="39" name="Rectangle 38"/>
          <p:cNvSpPr/>
          <p:nvPr/>
        </p:nvSpPr>
        <p:spPr>
          <a:xfrm>
            <a:off x="4673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40" name="Rectangle 39"/>
          <p:cNvSpPr/>
          <p:nvPr/>
        </p:nvSpPr>
        <p:spPr>
          <a:xfrm>
            <a:off x="4673600" y="2819400"/>
            <a:ext cx="2286000" cy="19050"/>
          </a:xfrm>
          <a:prstGeom prst="rect">
            <a:avLst/>
          </a:prstGeom>
          <a:solidFill>
            <a:srgbClr val="C00000"/>
          </a:solidFill>
          <a:ln>
            <a:noFill/>
          </a:ln>
        </p:spPr>
        <p:txBody>
          <a:bodyPr rtlCol="0" anchor="ctr" lIns="0" rIns="0" tIns="0" bIns="0"/>
          <a:lstStyle/>
          <a:p>
            <a:pPr algn="ctr"/>
          </a:p>
        </p:txBody>
      </p:sp>
      <p:sp>
        <p:nvSpPr>
          <p:cNvPr id="41" name="TextBox 40"/>
          <p:cNvSpPr txBox="1"/>
          <p:nvPr/>
        </p:nvSpPr>
        <p:spPr>
          <a:xfrm>
            <a:off x="4813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C00000"/>
                </a:solidFill>
                <a:latin typeface="Consolas"/>
                <a:ea typeface="微软雅黑"/>
                <a:cs typeface="Consolas"/>
              </a:rPr>
              <a:t>02</a:t>
            </a:r>
            <a:r>
              <a:rPr lang="zh-CN" altLang="en-US" sz="1000" b="1">
                <a:solidFill>
                  <a:srgbClr val="1A1A1A"/>
                </a:solidFill>
                <a:latin typeface="微软雅黑"/>
                <a:ea typeface="微软雅黑"/>
                <a:cs typeface="微软雅黑"/>
              </a:rPr>
              <a:t>  用例生成</a:t>
            </a:r>
          </a:p>
        </p:txBody>
      </p:sp>
      <p:sp>
        <p:nvSpPr>
          <p:cNvPr id="42" name="TextBox 41"/>
          <p:cNvSpPr txBox="1"/>
          <p:nvPr/>
        </p:nvSpPr>
        <p:spPr>
          <a:xfrm>
            <a:off x="4813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按线路资料自动生成用例</a:t>
            </a:r>
          </a:p>
        </p:txBody>
      </p:sp>
      <p:sp>
        <p:nvSpPr>
          <p:cNvPr id="43" name="Isosceles Triangle 42"/>
          <p:cNvSpPr/>
          <p:nvPr/>
        </p:nvSpPr>
        <p:spPr>
          <a:xfrm rot="5400000">
            <a:off x="6959600" y="3079750"/>
            <a:ext cx="127000" cy="88900"/>
          </a:xfrm>
          <a:prstGeom prst="triangle">
            <a:avLst/>
          </a:prstGeom>
          <a:solidFill>
            <a:srgbClr val="D2D2D2"/>
          </a:solidFill>
          <a:ln>
            <a:noFill/>
          </a:ln>
        </p:spPr>
        <p:txBody>
          <a:bodyPr rtlCol="0" anchor="ctr" lIns="0" rIns="0" tIns="0" bIns="0"/>
          <a:lstStyle/>
          <a:p>
            <a:pPr algn="ctr"/>
          </a:p>
        </p:txBody>
      </p:sp>
      <p:sp>
        <p:nvSpPr>
          <p:cNvPr id="44" name="Rectangle 43"/>
          <p:cNvSpPr/>
          <p:nvPr/>
        </p:nvSpPr>
        <p:spPr>
          <a:xfrm>
            <a:off x="7086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45" name="Rectangle 44"/>
          <p:cNvSpPr/>
          <p:nvPr/>
        </p:nvSpPr>
        <p:spPr>
          <a:xfrm>
            <a:off x="7086600" y="2819400"/>
            <a:ext cx="2286000" cy="19050"/>
          </a:xfrm>
          <a:prstGeom prst="rect">
            <a:avLst/>
          </a:prstGeom>
          <a:solidFill>
            <a:srgbClr val="C00000"/>
          </a:solidFill>
          <a:ln>
            <a:noFill/>
          </a:ln>
        </p:spPr>
        <p:txBody>
          <a:bodyPr rtlCol="0" anchor="ctr" lIns="0" rIns="0" tIns="0" bIns="0"/>
          <a:lstStyle/>
          <a:p>
            <a:pPr algn="ctr"/>
          </a:p>
        </p:txBody>
      </p:sp>
      <p:sp>
        <p:nvSpPr>
          <p:cNvPr id="46" name="TextBox 45"/>
          <p:cNvSpPr txBox="1"/>
          <p:nvPr/>
        </p:nvSpPr>
        <p:spPr>
          <a:xfrm>
            <a:off x="7226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C00000"/>
                </a:solidFill>
                <a:latin typeface="Consolas"/>
                <a:ea typeface="微软雅黑"/>
                <a:cs typeface="Consolas"/>
              </a:rPr>
              <a:t>03</a:t>
            </a:r>
            <a:r>
              <a:rPr lang="zh-CN" altLang="en-US" sz="1000" b="1">
                <a:solidFill>
                  <a:srgbClr val="1A1A1A"/>
                </a:solidFill>
                <a:latin typeface="微软雅黑"/>
                <a:ea typeface="微软雅黑"/>
                <a:cs typeface="微软雅黑"/>
              </a:rPr>
              <a:t>  测试识别</a:t>
            </a:r>
          </a:p>
        </p:txBody>
      </p:sp>
      <p:sp>
        <p:nvSpPr>
          <p:cNvPr id="47" name="TextBox 46"/>
          <p:cNvSpPr txBox="1"/>
          <p:nvPr/>
        </p:nvSpPr>
        <p:spPr>
          <a:xfrm>
            <a:off x="7226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对标判据，</a:t>
            </a:r>
            <a:r>
              <a:rPr lang="zh-CN" altLang="en-US" sz="950" b="1">
                <a:solidFill>
                  <a:srgbClr val="1A1A1A"/>
                </a:solidFill>
                <a:latin typeface="微软雅黑"/>
                <a:ea typeface="微软雅黑"/>
                <a:cs typeface="微软雅黑"/>
              </a:rPr>
              <a:t>识别异常、定位原因</a:t>
            </a:r>
          </a:p>
        </p:txBody>
      </p:sp>
      <p:sp>
        <p:nvSpPr>
          <p:cNvPr id="48" name="Isosceles Triangle 47"/>
          <p:cNvSpPr/>
          <p:nvPr/>
        </p:nvSpPr>
        <p:spPr>
          <a:xfrm rot="5400000">
            <a:off x="9372600" y="3079750"/>
            <a:ext cx="127000" cy="88900"/>
          </a:xfrm>
          <a:prstGeom prst="triangle">
            <a:avLst/>
          </a:prstGeom>
          <a:solidFill>
            <a:srgbClr val="D2D2D2"/>
          </a:solidFill>
          <a:ln>
            <a:noFill/>
          </a:ln>
        </p:spPr>
        <p:txBody>
          <a:bodyPr rtlCol="0" anchor="ctr" lIns="0" rIns="0" tIns="0" bIns="0"/>
          <a:lstStyle/>
          <a:p>
            <a:pPr algn="ctr"/>
          </a:p>
        </p:txBody>
      </p:sp>
      <p:sp>
        <p:nvSpPr>
          <p:cNvPr id="49" name="Rectangle 48"/>
          <p:cNvSpPr/>
          <p:nvPr/>
        </p:nvSpPr>
        <p:spPr>
          <a:xfrm>
            <a:off x="9499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50" name="Rectangle 49"/>
          <p:cNvSpPr/>
          <p:nvPr/>
        </p:nvSpPr>
        <p:spPr>
          <a:xfrm>
            <a:off x="9499600" y="2819400"/>
            <a:ext cx="2286000" cy="19050"/>
          </a:xfrm>
          <a:prstGeom prst="rect">
            <a:avLst/>
          </a:prstGeom>
          <a:solidFill>
            <a:srgbClr val="C00000"/>
          </a:solidFill>
          <a:ln>
            <a:noFill/>
          </a:ln>
        </p:spPr>
        <p:txBody>
          <a:bodyPr rtlCol="0" anchor="ctr" lIns="0" rIns="0" tIns="0" bIns="0"/>
          <a:lstStyle/>
          <a:p>
            <a:pPr algn="ctr"/>
          </a:p>
        </p:txBody>
      </p:sp>
      <p:sp>
        <p:nvSpPr>
          <p:cNvPr id="51" name="TextBox 50"/>
          <p:cNvSpPr txBox="1"/>
          <p:nvPr/>
        </p:nvSpPr>
        <p:spPr>
          <a:xfrm>
            <a:off x="9639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C00000"/>
                </a:solidFill>
                <a:latin typeface="Consolas"/>
                <a:ea typeface="微软雅黑"/>
                <a:cs typeface="Consolas"/>
              </a:rPr>
              <a:t>04</a:t>
            </a:r>
            <a:r>
              <a:rPr lang="zh-CN" altLang="en-US" sz="1000" b="1">
                <a:solidFill>
                  <a:srgbClr val="1A1A1A"/>
                </a:solidFill>
                <a:latin typeface="微软雅黑"/>
                <a:ea typeface="微软雅黑"/>
                <a:cs typeface="微软雅黑"/>
              </a:rPr>
              <a:t>  报告与回归</a:t>
            </a:r>
          </a:p>
        </p:txBody>
      </p:sp>
      <p:sp>
        <p:nvSpPr>
          <p:cNvPr id="52" name="TextBox 51"/>
          <p:cNvSpPr txBox="1"/>
          <p:nvPr/>
        </p:nvSpPr>
        <p:spPr>
          <a:xfrm>
            <a:off x="9639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汇总可追溯，变更后</a:t>
            </a:r>
            <a:r>
              <a:rPr lang="zh-CN" altLang="en-US" sz="950" b="1">
                <a:solidFill>
                  <a:srgbClr val="1A1A1A"/>
                </a:solidFill>
                <a:latin typeface="微软雅黑"/>
                <a:ea typeface="微软雅黑"/>
                <a:cs typeface="微软雅黑"/>
              </a:rPr>
              <a:t>回归重跑</a:t>
            </a:r>
          </a:p>
        </p:txBody>
      </p:sp>
      <p:sp>
        <p:nvSpPr>
          <p:cNvPr id="53" name="TextBox 52"/>
          <p:cNvSpPr txBox="1"/>
          <p:nvPr/>
        </p:nvSpPr>
        <p:spPr>
          <a:xfrm>
            <a:off x="2260600" y="3530600"/>
            <a:ext cx="9525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以临哈线散热器冻结为例：识别异常、定位原因</a:t>
            </a:r>
          </a:p>
        </p:txBody>
      </p:sp>
      <p:sp>
        <p:nvSpPr>
          <p:cNvPr id="54" name="TextBox 53"/>
          <p:cNvSpPr txBox="1"/>
          <p:nvPr/>
        </p:nvSpPr>
        <p:spPr>
          <a:xfrm>
            <a:off x="5588000" y="3530600"/>
            <a:ext cx="6197600" cy="228600"/>
          </a:xfrm>
          <a:prstGeom prst="rect">
            <a:avLst/>
          </a:prstGeom>
          <a:noFill/>
        </p:spPr>
        <p:txBody>
          <a:bodyPr wrap="none" anchor="ctr" lIns="0" tIns="0" rIns="0" bIns="0">
            <a:noAutofit/>
          </a:bodyPr>
          <a:lstStyle/>
          <a:p>
            <a:pPr algn="l" marL="0" indent="0">
              <a:lnSpc>
                <a:spcPts val="1300"/>
              </a:lnSpc>
              <a:buNone/>
            </a:pPr>
            <a:r>
              <a:rPr lang="zh-CN" altLang="en-US" sz="950" b="1">
                <a:solidFill>
                  <a:srgbClr val="8C8C8C"/>
                </a:solidFill>
                <a:latin typeface="微软雅黑"/>
                <a:ea typeface="微软雅黑"/>
                <a:cs typeface="微软雅黑"/>
              </a:rPr>
              <a:t>示意图 · 防冻限值【待填】</a:t>
            </a:r>
          </a:p>
        </p:txBody>
      </p:sp>
      <p:grpSp>
        <p:nvGrpSpPr>
          <p:cNvPr id="55" name="附图 · 以临哈线散热器冻结为例：识别异常、定位原因"/>
          <p:cNvGrpSpPr/>
          <p:nvPr/>
        </p:nvGrpSpPr>
        <p:grpSpPr>
          <a:xfrm>
            <a:off x="2260600" y="3822700"/>
            <a:ext cx="9525000" cy="2527300"/>
            <a:chOff x="2260600" y="3441700"/>
            <a:chExt cx="9525000" cy="2844800"/>
          </a:xfrm>
        </p:grpSpPr>
        <p:sp>
          <p:nvSpPr>
            <p:cNvPr id="56" name="Rectangle 55"/>
            <p:cNvSpPr/>
            <p:nvPr/>
          </p:nvSpPr>
          <p:spPr>
            <a:xfrm>
              <a:off x="2260600" y="3441700"/>
              <a:ext cx="9525000" cy="2844800"/>
            </a:xfrm>
            <a:prstGeom prst="rect">
              <a:avLst/>
            </a:prstGeom>
            <a:solidFill>
              <a:srgbClr val="F9F9F9"/>
            </a:solidFill>
            <a:ln>
              <a:noFill/>
            </a:ln>
          </p:spPr>
          <p:txBody>
            <a:bodyPr rtlCol="0" anchor="ctr" lIns="0" rIns="0" tIns="0" bIns="0"/>
            <a:lstStyle/>
            <a:p>
              <a:pPr algn="ctr"/>
            </a:p>
          </p:txBody>
        </p:sp>
        <p:sp>
          <p:nvSpPr>
            <p:cNvPr id="57" name="Rectangle 56"/>
            <p:cNvSpPr/>
            <p:nvPr/>
          </p:nvSpPr>
          <p:spPr>
            <a:xfrm>
              <a:off x="6177915" y="4013200"/>
              <a:ext cx="1950085" cy="1193800"/>
            </a:xfrm>
            <a:prstGeom prst="rect">
              <a:avLst/>
            </a:prstGeom>
            <a:solidFill>
              <a:srgbClr val="FCF2F2"/>
            </a:solidFill>
            <a:ln w="6350">
              <a:solidFill>
                <a:srgbClr val="C00000"/>
              </a:solidFill>
              <a:prstDash val="dash"/>
              <a:round/>
            </a:ln>
          </p:spPr>
          <p:txBody>
            <a:bodyPr rtlCol="0" anchor="ctr" lIns="0" rIns="0" tIns="0" bIns="0"/>
            <a:lstStyle/>
            <a:p>
              <a:pPr algn="ctr"/>
            </a:p>
          </p:txBody>
        </p:sp>
        <p:pic>
          <p:nvPicPr>
            <p:cNvPr id="58" name="Picture 57" descr="alert-circle-C00000-1_6.png"/>
            <p:cNvPicPr>
              <a:picLocks noChangeAspect="1"/>
            </p:cNvPicPr>
            <p:nvPr/>
          </p:nvPicPr>
          <p:blipFill>
            <a:blip r:embed="rId2"/>
            <a:stretch>
              <a:fillRect/>
            </a:stretch>
          </p:blipFill>
          <p:spPr>
            <a:xfrm>
              <a:off x="6241415" y="4603344"/>
              <a:ext cx="114300" cy="128659"/>
            </a:xfrm>
            <a:prstGeom prst="rect">
              <a:avLst/>
            </a:prstGeom>
          </p:spPr>
        </p:pic>
        <p:sp>
          <p:nvSpPr>
            <p:cNvPr id="59" name="TextBox 58"/>
            <p:cNvSpPr txBox="1"/>
            <p:nvPr/>
          </p:nvSpPr>
          <p:spPr>
            <a:xfrm>
              <a:off x="6381115" y="4597823"/>
              <a:ext cx="1708785" cy="139700"/>
            </a:xfrm>
            <a:prstGeom prst="rect">
              <a:avLst/>
            </a:prstGeom>
            <a:noFill/>
          </p:spPr>
          <p:txBody>
            <a:bodyPr wrap="none" anchor="t" lIns="0" tIns="0" rIns="0" bIns="0">
              <a:noAutofit/>
            </a:bodyPr>
            <a:lstStyle/>
            <a:p>
              <a:pPr algn="l" marL="0" indent="0">
                <a:lnSpc>
                  <a:spcPts val="1000"/>
                </a:lnSpc>
                <a:buNone/>
              </a:pPr>
              <a:r>
                <a:rPr lang="zh-CN" altLang="en-US" sz="700" b="1">
                  <a:solidFill>
                    <a:srgbClr val="C00000"/>
                  </a:solidFill>
                  <a:latin typeface="微软雅黑"/>
                  <a:ea typeface="微软雅黑"/>
                  <a:cs typeface="微软雅黑"/>
                </a:rPr>
                <a:t>低温水越限：过冷 → 散热器冻结</a:t>
              </a:r>
            </a:p>
          </p:txBody>
        </p:sp>
        <p:cxnSp>
          <p:nvCxnSpPr>
            <p:cNvPr id="60" name="Connector 59"/>
            <p:cNvCxnSpPr/>
            <p:nvPr/>
          </p:nvCxnSpPr>
          <p:spPr>
            <a:xfrm>
              <a:off x="2857500" y="5129953"/>
              <a:ext cx="5270500" cy="0"/>
            </a:xfrm>
            <a:prstGeom prst="line">
              <a:avLst/>
            </a:prstGeom>
            <a:ln w="9525">
              <a:solidFill>
                <a:srgbClr val="C00000"/>
              </a:solidFill>
              <a:prstDash val="dash"/>
              <a:round/>
            </a:ln>
          </p:spPr>
        </p:cxnSp>
        <p:sp>
          <p:nvSpPr>
            <p:cNvPr id="61" name="TextBox 60"/>
            <p:cNvSpPr txBox="1"/>
            <p:nvPr/>
          </p:nvSpPr>
          <p:spPr>
            <a:xfrm>
              <a:off x="2908300" y="4990253"/>
              <a:ext cx="1270000" cy="127000"/>
            </a:xfrm>
            <a:prstGeom prst="rect">
              <a:avLst/>
            </a:prstGeom>
            <a:noFill/>
          </p:spPr>
          <p:txBody>
            <a:bodyPr wrap="none" anchor="t" lIns="0" tIns="0" rIns="0" bIns="0">
              <a:noAutofit/>
            </a:bodyPr>
            <a:lstStyle/>
            <a:p>
              <a:pPr algn="l" marL="0" indent="0">
                <a:lnSpc>
                  <a:spcPts val="1000"/>
                </a:lnSpc>
                <a:buNone/>
              </a:pPr>
              <a:r>
                <a:rPr lang="zh-CN" altLang="en-US" sz="700" b="1">
                  <a:solidFill>
                    <a:srgbClr val="C00000"/>
                  </a:solidFill>
                  <a:latin typeface="微软雅黑"/>
                  <a:ea typeface="微软雅黑"/>
                  <a:cs typeface="微软雅黑"/>
                </a:rPr>
                <a:t>防冻限值（判据）</a:t>
              </a:r>
            </a:p>
          </p:txBody>
        </p:sp>
        <p:cxnSp>
          <p:nvCxnSpPr>
            <p:cNvPr id="62" name="Connector 61"/>
            <p:cNvCxnSpPr/>
            <p:nvPr/>
          </p:nvCxnSpPr>
          <p:spPr>
            <a:xfrm>
              <a:off x="3911600" y="4000500"/>
              <a:ext cx="0" cy="1206500"/>
            </a:xfrm>
            <a:prstGeom prst="line">
              <a:avLst/>
            </a:prstGeom>
            <a:ln w="7620">
              <a:solidFill>
                <a:srgbClr val="666666"/>
              </a:solidFill>
              <a:prstDash val="dash"/>
              <a:round/>
            </a:ln>
          </p:spPr>
        </p:cxnSp>
        <p:sp>
          <p:nvSpPr>
            <p:cNvPr id="63" name="TextBox 62"/>
            <p:cNvSpPr txBox="1"/>
            <p:nvPr/>
          </p:nvSpPr>
          <p:spPr>
            <a:xfrm>
              <a:off x="3949700" y="4000500"/>
              <a:ext cx="571500" cy="127000"/>
            </a:xfrm>
            <a:prstGeom prst="rect">
              <a:avLst/>
            </a:prstGeom>
            <a:noFill/>
          </p:spPr>
          <p:txBody>
            <a:bodyPr wrap="none" anchor="t" lIns="0" tIns="0" rIns="0" bIns="0">
              <a:noAutofit/>
            </a:bodyPr>
            <a:lstStyle/>
            <a:p>
              <a:pPr algn="l" marL="0" indent="0">
                <a:lnSpc>
                  <a:spcPts val="1000"/>
                </a:lnSpc>
                <a:buNone/>
              </a:pPr>
              <a:r>
                <a:rPr lang="zh-CN" altLang="en-US" sz="700" b="1">
                  <a:solidFill>
                    <a:srgbClr val="666666"/>
                  </a:solidFill>
                  <a:latin typeface="微软雅黑"/>
                  <a:ea typeface="微软雅黑"/>
                  <a:cs typeface="微软雅黑"/>
                </a:rPr>
                <a:t>回手柄</a:t>
              </a:r>
            </a:p>
          </p:txBody>
        </p:sp>
        <p:sp>
          <p:nvSpPr>
            <p:cNvPr id="64" name="Freeform 63"/>
            <p:cNvSpPr/>
            <p:nvPr/>
          </p:nvSpPr>
          <p:spPr>
            <a:xfrm>
              <a:off x="2857500" y="4178300"/>
              <a:ext cx="5270500" cy="25400"/>
            </a:xfrm>
            <a:custGeom>
              <a:avLst/>
              <a:gdLst/>
              <a:ahLst/>
              <a:cxnLst/>
              <a:rect l="l" t="t" r="r" b="b"/>
              <a:pathLst>
                <a:path w="830" h="4">
                  <a:moveTo>
                    <a:pt x="0" y="0"/>
                  </a:moveTo>
                  <a:lnTo>
                    <a:pt x="6" y="0"/>
                  </a:lnTo>
                  <a:lnTo>
                    <a:pt x="15" y="0"/>
                  </a:lnTo>
                  <a:lnTo>
                    <a:pt x="25" y="1"/>
                  </a:lnTo>
                  <a:lnTo>
                    <a:pt x="36" y="1"/>
                  </a:lnTo>
                  <a:lnTo>
                    <a:pt x="48" y="1"/>
                  </a:lnTo>
                  <a:lnTo>
                    <a:pt x="60" y="1"/>
                  </a:lnTo>
                  <a:lnTo>
                    <a:pt x="72" y="1"/>
                  </a:lnTo>
                  <a:lnTo>
                    <a:pt x="83" y="1"/>
                  </a:lnTo>
                  <a:lnTo>
                    <a:pt x="93" y="1"/>
                  </a:lnTo>
                  <a:lnTo>
                    <a:pt x="103" y="1"/>
                  </a:lnTo>
                  <a:lnTo>
                    <a:pt x="112" y="2"/>
                  </a:lnTo>
                  <a:lnTo>
                    <a:pt x="122" y="2"/>
                  </a:lnTo>
                  <a:lnTo>
                    <a:pt x="132" y="2"/>
                  </a:lnTo>
                  <a:lnTo>
                    <a:pt x="142" y="2"/>
                  </a:lnTo>
                  <a:lnTo>
                    <a:pt x="154" y="2"/>
                  </a:lnTo>
                  <a:lnTo>
                    <a:pt x="166" y="2"/>
                  </a:lnTo>
                  <a:lnTo>
                    <a:pt x="180" y="2"/>
                  </a:lnTo>
                  <a:lnTo>
                    <a:pt x="194" y="3"/>
                  </a:lnTo>
                  <a:lnTo>
                    <a:pt x="210" y="3"/>
                  </a:lnTo>
                  <a:lnTo>
                    <a:pt x="226" y="3"/>
                  </a:lnTo>
                  <a:lnTo>
                    <a:pt x="242" y="3"/>
                  </a:lnTo>
                  <a:lnTo>
                    <a:pt x="258" y="4"/>
                  </a:lnTo>
                  <a:lnTo>
                    <a:pt x="275" y="4"/>
                  </a:lnTo>
                  <a:lnTo>
                    <a:pt x="290" y="4"/>
                  </a:lnTo>
                  <a:lnTo>
                    <a:pt x="306" y="4"/>
                  </a:lnTo>
                  <a:lnTo>
                    <a:pt x="321" y="4"/>
                  </a:lnTo>
                  <a:lnTo>
                    <a:pt x="335" y="4"/>
                  </a:lnTo>
                  <a:lnTo>
                    <a:pt x="350" y="4"/>
                  </a:lnTo>
                  <a:lnTo>
                    <a:pt x="365" y="4"/>
                  </a:lnTo>
                  <a:lnTo>
                    <a:pt x="381" y="4"/>
                  </a:lnTo>
                  <a:lnTo>
                    <a:pt x="397" y="4"/>
                  </a:lnTo>
                  <a:lnTo>
                    <a:pt x="415" y="4"/>
                  </a:lnTo>
                  <a:lnTo>
                    <a:pt x="434" y="4"/>
                  </a:lnTo>
                  <a:lnTo>
                    <a:pt x="455" y="4"/>
                  </a:lnTo>
                  <a:lnTo>
                    <a:pt x="476" y="4"/>
                  </a:lnTo>
                  <a:lnTo>
                    <a:pt x="498" y="4"/>
                  </a:lnTo>
                  <a:lnTo>
                    <a:pt x="520" y="4"/>
                  </a:lnTo>
                  <a:lnTo>
                    <a:pt x="541" y="4"/>
                  </a:lnTo>
                  <a:lnTo>
                    <a:pt x="562" y="4"/>
                  </a:lnTo>
                  <a:lnTo>
                    <a:pt x="581" y="4"/>
                  </a:lnTo>
                  <a:lnTo>
                    <a:pt x="599" y="4"/>
                  </a:lnTo>
                  <a:lnTo>
                    <a:pt x="615" y="4"/>
                  </a:lnTo>
                  <a:lnTo>
                    <a:pt x="631" y="4"/>
                  </a:lnTo>
                  <a:lnTo>
                    <a:pt x="646" y="4"/>
                  </a:lnTo>
                  <a:lnTo>
                    <a:pt x="661" y="4"/>
                  </a:lnTo>
                  <a:lnTo>
                    <a:pt x="675" y="4"/>
                  </a:lnTo>
                  <a:lnTo>
                    <a:pt x="690" y="4"/>
                  </a:lnTo>
                  <a:lnTo>
                    <a:pt x="706" y="4"/>
                  </a:lnTo>
                  <a:lnTo>
                    <a:pt x="722" y="4"/>
                  </a:lnTo>
                  <a:lnTo>
                    <a:pt x="740" y="4"/>
                  </a:lnTo>
                  <a:lnTo>
                    <a:pt x="758" y="4"/>
                  </a:lnTo>
                  <a:lnTo>
                    <a:pt x="776" y="4"/>
                  </a:lnTo>
                  <a:lnTo>
                    <a:pt x="792" y="4"/>
                  </a:lnTo>
                  <a:lnTo>
                    <a:pt x="808" y="4"/>
                  </a:lnTo>
                  <a:lnTo>
                    <a:pt x="820" y="4"/>
                  </a:lnTo>
                  <a:lnTo>
                    <a:pt x="830" y="4"/>
                  </a:lnTo>
                </a:path>
              </a:pathLst>
            </a:custGeom>
            <a:noFill/>
            <a:ln w="15875">
              <a:solidFill>
                <a:srgbClr val="666666"/>
              </a:solidFill>
              <a:round/>
            </a:ln>
          </p:spPr>
          <p:txBody>
            <a:bodyPr rtlCol="0" anchor="ctr"/>
            <a:lstStyle/>
            <a:p>
              <a:pPr algn="ctr"/>
            </a:p>
          </p:txBody>
        </p:sp>
        <p:sp>
          <p:nvSpPr>
            <p:cNvPr id="65" name="Freeform 64"/>
            <p:cNvSpPr/>
            <p:nvPr/>
          </p:nvSpPr>
          <p:spPr>
            <a:xfrm>
              <a:off x="2857500" y="4876800"/>
              <a:ext cx="5270500" cy="330200"/>
            </a:xfrm>
            <a:custGeom>
              <a:avLst/>
              <a:gdLst/>
              <a:ahLst/>
              <a:cxnLst/>
              <a:rect l="l" t="t" r="r" b="b"/>
              <a:pathLst>
                <a:path w="830" h="52">
                  <a:moveTo>
                    <a:pt x="0" y="1"/>
                  </a:moveTo>
                  <a:lnTo>
                    <a:pt x="6" y="1"/>
                  </a:lnTo>
                  <a:lnTo>
                    <a:pt x="15" y="1"/>
                  </a:lnTo>
                  <a:lnTo>
                    <a:pt x="25" y="1"/>
                  </a:lnTo>
                  <a:lnTo>
                    <a:pt x="36" y="1"/>
                  </a:lnTo>
                  <a:lnTo>
                    <a:pt x="48" y="1"/>
                  </a:lnTo>
                  <a:lnTo>
                    <a:pt x="60" y="1"/>
                  </a:lnTo>
                  <a:lnTo>
                    <a:pt x="72" y="1"/>
                  </a:lnTo>
                  <a:lnTo>
                    <a:pt x="83" y="1"/>
                  </a:lnTo>
                  <a:lnTo>
                    <a:pt x="93" y="1"/>
                  </a:lnTo>
                  <a:lnTo>
                    <a:pt x="104" y="1"/>
                  </a:lnTo>
                  <a:lnTo>
                    <a:pt x="114" y="1"/>
                  </a:lnTo>
                  <a:lnTo>
                    <a:pt x="124" y="0"/>
                  </a:lnTo>
                  <a:lnTo>
                    <a:pt x="135" y="1"/>
                  </a:lnTo>
                  <a:lnTo>
                    <a:pt x="145" y="1"/>
                  </a:lnTo>
                  <a:lnTo>
                    <a:pt x="156" y="1"/>
                  </a:lnTo>
                  <a:lnTo>
                    <a:pt x="166" y="1"/>
                  </a:lnTo>
                  <a:lnTo>
                    <a:pt x="176" y="2"/>
                  </a:lnTo>
                  <a:lnTo>
                    <a:pt x="186" y="3"/>
                  </a:lnTo>
                  <a:lnTo>
                    <a:pt x="196" y="4"/>
                  </a:lnTo>
                  <a:lnTo>
                    <a:pt x="206" y="5"/>
                  </a:lnTo>
                  <a:lnTo>
                    <a:pt x="217" y="6"/>
                  </a:lnTo>
                  <a:lnTo>
                    <a:pt x="227" y="7"/>
                  </a:lnTo>
                  <a:lnTo>
                    <a:pt x="238" y="8"/>
                  </a:lnTo>
                  <a:lnTo>
                    <a:pt x="249" y="10"/>
                  </a:lnTo>
                  <a:lnTo>
                    <a:pt x="261" y="11"/>
                  </a:lnTo>
                  <a:lnTo>
                    <a:pt x="273" y="12"/>
                  </a:lnTo>
                  <a:lnTo>
                    <a:pt x="285" y="14"/>
                  </a:lnTo>
                  <a:lnTo>
                    <a:pt x="297" y="15"/>
                  </a:lnTo>
                  <a:lnTo>
                    <a:pt x="310" y="17"/>
                  </a:lnTo>
                  <a:lnTo>
                    <a:pt x="323" y="19"/>
                  </a:lnTo>
                  <a:lnTo>
                    <a:pt x="336" y="20"/>
                  </a:lnTo>
                  <a:lnTo>
                    <a:pt x="349" y="22"/>
                  </a:lnTo>
                  <a:lnTo>
                    <a:pt x="362" y="23"/>
                  </a:lnTo>
                  <a:lnTo>
                    <a:pt x="375" y="25"/>
                  </a:lnTo>
                  <a:lnTo>
                    <a:pt x="389" y="26"/>
                  </a:lnTo>
                  <a:lnTo>
                    <a:pt x="403" y="28"/>
                  </a:lnTo>
                  <a:lnTo>
                    <a:pt x="416" y="29"/>
                  </a:lnTo>
                  <a:lnTo>
                    <a:pt x="430" y="31"/>
                  </a:lnTo>
                  <a:lnTo>
                    <a:pt x="443" y="32"/>
                  </a:lnTo>
                  <a:lnTo>
                    <a:pt x="456" y="34"/>
                  </a:lnTo>
                  <a:lnTo>
                    <a:pt x="469" y="35"/>
                  </a:lnTo>
                  <a:lnTo>
                    <a:pt x="482" y="36"/>
                  </a:lnTo>
                  <a:lnTo>
                    <a:pt x="495" y="38"/>
                  </a:lnTo>
                  <a:lnTo>
                    <a:pt x="507" y="39"/>
                  </a:lnTo>
                  <a:lnTo>
                    <a:pt x="520" y="40"/>
                  </a:lnTo>
                  <a:lnTo>
                    <a:pt x="532" y="41"/>
                  </a:lnTo>
                  <a:lnTo>
                    <a:pt x="544" y="42"/>
                  </a:lnTo>
                  <a:lnTo>
                    <a:pt x="556" y="43"/>
                  </a:lnTo>
                  <a:lnTo>
                    <a:pt x="568" y="44"/>
                  </a:lnTo>
                  <a:lnTo>
                    <a:pt x="580" y="45"/>
                  </a:lnTo>
                  <a:lnTo>
                    <a:pt x="592" y="45"/>
                  </a:lnTo>
                  <a:lnTo>
                    <a:pt x="604" y="46"/>
                  </a:lnTo>
                  <a:lnTo>
                    <a:pt x="615" y="47"/>
                  </a:lnTo>
                  <a:lnTo>
                    <a:pt x="627" y="48"/>
                  </a:lnTo>
                  <a:lnTo>
                    <a:pt x="637" y="48"/>
                  </a:lnTo>
                  <a:lnTo>
                    <a:pt x="647" y="49"/>
                  </a:lnTo>
                  <a:lnTo>
                    <a:pt x="657" y="49"/>
                  </a:lnTo>
                  <a:lnTo>
                    <a:pt x="665" y="50"/>
                  </a:lnTo>
                  <a:lnTo>
                    <a:pt x="672" y="50"/>
                  </a:lnTo>
                  <a:lnTo>
                    <a:pt x="679" y="51"/>
                  </a:lnTo>
                  <a:lnTo>
                    <a:pt x="686" y="51"/>
                  </a:lnTo>
                  <a:lnTo>
                    <a:pt x="694" y="51"/>
                  </a:lnTo>
                  <a:lnTo>
                    <a:pt x="703" y="51"/>
                  </a:lnTo>
                  <a:lnTo>
                    <a:pt x="714" y="52"/>
                  </a:lnTo>
                  <a:lnTo>
                    <a:pt x="727" y="52"/>
                  </a:lnTo>
                  <a:lnTo>
                    <a:pt x="742" y="52"/>
                  </a:lnTo>
                  <a:lnTo>
                    <a:pt x="759" y="52"/>
                  </a:lnTo>
                  <a:lnTo>
                    <a:pt x="776" y="52"/>
                  </a:lnTo>
                  <a:lnTo>
                    <a:pt x="793" y="52"/>
                  </a:lnTo>
                  <a:lnTo>
                    <a:pt x="808" y="52"/>
                  </a:lnTo>
                  <a:lnTo>
                    <a:pt x="821" y="52"/>
                  </a:lnTo>
                  <a:lnTo>
                    <a:pt x="830" y="52"/>
                  </a:lnTo>
                </a:path>
              </a:pathLst>
            </a:custGeom>
            <a:noFill/>
            <a:ln w="15875">
              <a:solidFill>
                <a:srgbClr val="C00000"/>
              </a:solidFill>
              <a:round/>
            </a:ln>
          </p:spPr>
          <p:txBody>
            <a:bodyPr rtlCol="0" anchor="ctr"/>
            <a:lstStyle/>
            <a:p>
              <a:pPr algn="ctr"/>
            </a:p>
          </p:txBody>
        </p:sp>
        <p:sp>
          <p:nvSpPr>
            <p:cNvPr id="66" name="TextBox 65"/>
            <p:cNvSpPr txBox="1"/>
            <p:nvPr/>
          </p:nvSpPr>
          <p:spPr>
            <a:xfrm>
              <a:off x="4438650" y="4040293"/>
              <a:ext cx="1270000" cy="139700"/>
            </a:xfrm>
            <a:prstGeom prst="rect">
              <a:avLst/>
            </a:prstGeom>
            <a:noFill/>
          </p:spPr>
          <p:txBody>
            <a:bodyPr wrap="none" anchor="t" lIns="0" tIns="0" rIns="0" bIns="0">
              <a:noAutofit/>
            </a:bodyPr>
            <a:lstStyle/>
            <a:p>
              <a:pPr algn="l" marL="0" indent="0">
                <a:lnSpc>
                  <a:spcPts val="1000"/>
                </a:lnSpc>
                <a:buNone/>
              </a:pPr>
              <a:r>
                <a:rPr lang="zh-CN" altLang="en-US" sz="700" b="1">
                  <a:solidFill>
                    <a:srgbClr val="666666"/>
                  </a:solidFill>
                  <a:latin typeface="微软雅黑"/>
                  <a:ea typeface="微软雅黑"/>
                  <a:cs typeface="微软雅黑"/>
                </a:rPr>
                <a:t>高温水 维持 78℃</a:t>
              </a:r>
            </a:p>
          </p:txBody>
        </p:sp>
        <p:sp>
          <p:nvSpPr>
            <p:cNvPr id="67" name="TextBox 66"/>
            <p:cNvSpPr txBox="1"/>
            <p:nvPr/>
          </p:nvSpPr>
          <p:spPr>
            <a:xfrm>
              <a:off x="4502150" y="4758972"/>
              <a:ext cx="1270000" cy="139700"/>
            </a:xfrm>
            <a:prstGeom prst="rect">
              <a:avLst/>
            </a:prstGeom>
            <a:noFill/>
          </p:spPr>
          <p:txBody>
            <a:bodyPr wrap="none" anchor="t" lIns="0" tIns="0" rIns="0" bIns="0">
              <a:noAutofit/>
            </a:bodyPr>
            <a:lstStyle/>
            <a:p>
              <a:pPr algn="l" marL="0" indent="0">
                <a:lnSpc>
                  <a:spcPts val="1000"/>
                </a:lnSpc>
                <a:buNone/>
              </a:pPr>
              <a:r>
                <a:rPr lang="zh-CN" altLang="en-US" sz="700" b="1">
                  <a:solidFill>
                    <a:srgbClr val="C00000"/>
                  </a:solidFill>
                  <a:latin typeface="微软雅黑"/>
                  <a:ea typeface="微软雅黑"/>
                  <a:cs typeface="微软雅黑"/>
                </a:rPr>
                <a:t>低温水 25℃ → 0℃</a:t>
              </a:r>
            </a:p>
          </p:txBody>
        </p:sp>
        <p:sp>
          <p:nvSpPr>
            <p:cNvPr id="68" name="TextBox 67"/>
            <p:cNvSpPr txBox="1"/>
            <p:nvPr/>
          </p:nvSpPr>
          <p:spPr>
            <a:xfrm>
              <a:off x="2501900" y="4141893"/>
              <a:ext cx="304800" cy="127000"/>
            </a:xfrm>
            <a:prstGeom prst="rect">
              <a:avLst/>
            </a:prstGeom>
            <a:noFill/>
          </p:spPr>
          <p:txBody>
            <a:bodyPr wrap="none" anchor="t" lIns="0" tIns="0" rIns="0" bIns="0">
              <a:noAutofit/>
            </a:bodyPr>
            <a:lstStyle/>
            <a:p>
              <a:pPr algn="r" marL="0" indent="0">
                <a:lnSpc>
                  <a:spcPts val="1000"/>
                </a:lnSpc>
                <a:buNone/>
              </a:pPr>
              <a:r>
                <a:rPr lang="zh-CN" altLang="en-US" sz="650" b="0">
                  <a:solidFill>
                    <a:srgbClr val="8C8C8C"/>
                  </a:solidFill>
                  <a:latin typeface="Consolas"/>
                  <a:ea typeface="微软雅黑"/>
                  <a:cs typeface="Consolas"/>
                </a:rPr>
                <a:t>78℃</a:t>
              </a:r>
            </a:p>
          </p:txBody>
        </p:sp>
        <p:sp>
          <p:nvSpPr>
            <p:cNvPr id="69" name="TextBox 68"/>
            <p:cNvSpPr txBox="1"/>
            <p:nvPr/>
          </p:nvSpPr>
          <p:spPr>
            <a:xfrm>
              <a:off x="2501900" y="4822472"/>
              <a:ext cx="304800" cy="127000"/>
            </a:xfrm>
            <a:prstGeom prst="rect">
              <a:avLst/>
            </a:prstGeom>
            <a:noFill/>
          </p:spPr>
          <p:txBody>
            <a:bodyPr wrap="none" anchor="t" lIns="0" tIns="0" rIns="0" bIns="0">
              <a:noAutofit/>
            </a:bodyPr>
            <a:lstStyle/>
            <a:p>
              <a:pPr algn="r" marL="0" indent="0">
                <a:lnSpc>
                  <a:spcPts val="1000"/>
                </a:lnSpc>
                <a:buNone/>
              </a:pPr>
              <a:r>
                <a:rPr lang="zh-CN" altLang="en-US" sz="650" b="0">
                  <a:solidFill>
                    <a:srgbClr val="8C8C8C"/>
                  </a:solidFill>
                  <a:latin typeface="Consolas"/>
                  <a:ea typeface="微软雅黑"/>
                  <a:cs typeface="Consolas"/>
                </a:rPr>
                <a:t>25℃</a:t>
              </a:r>
            </a:p>
          </p:txBody>
        </p:sp>
        <p:sp>
          <p:nvSpPr>
            <p:cNvPr id="70" name="TextBox 69"/>
            <p:cNvSpPr txBox="1"/>
            <p:nvPr/>
          </p:nvSpPr>
          <p:spPr>
            <a:xfrm>
              <a:off x="2501900" y="5143500"/>
              <a:ext cx="304800" cy="127000"/>
            </a:xfrm>
            <a:prstGeom prst="rect">
              <a:avLst/>
            </a:prstGeom>
            <a:noFill/>
          </p:spPr>
          <p:txBody>
            <a:bodyPr wrap="none" anchor="t" lIns="0" tIns="0" rIns="0" bIns="0">
              <a:noAutofit/>
            </a:bodyPr>
            <a:lstStyle/>
            <a:p>
              <a:pPr algn="r" marL="0" indent="0">
                <a:lnSpc>
                  <a:spcPts val="1000"/>
                </a:lnSpc>
                <a:buNone/>
              </a:pPr>
              <a:r>
                <a:rPr lang="zh-CN" altLang="en-US" sz="650" b="0">
                  <a:solidFill>
                    <a:srgbClr val="8C8C8C"/>
                  </a:solidFill>
                  <a:latin typeface="Consolas"/>
                  <a:ea typeface="微软雅黑"/>
                  <a:cs typeface="Consolas"/>
                </a:rPr>
                <a:t>0℃</a:t>
              </a:r>
            </a:p>
          </p:txBody>
        </p:sp>
        <p:cxnSp>
          <p:nvCxnSpPr>
            <p:cNvPr id="71" name="Connector 70"/>
            <p:cNvCxnSpPr/>
            <p:nvPr/>
          </p:nvCxnSpPr>
          <p:spPr>
            <a:xfrm>
              <a:off x="2857500" y="5207000"/>
              <a:ext cx="5410200" cy="0"/>
            </a:xfrm>
            <a:prstGeom prst="line">
              <a:avLst/>
            </a:prstGeom>
            <a:ln w="9525">
              <a:solidFill>
                <a:srgbClr val="8C8C8C"/>
              </a:solidFill>
              <a:round/>
              <a:tailEnd type="triangle" w="med" len="med"/>
            </a:ln>
          </p:spPr>
        </p:cxnSp>
        <p:cxnSp>
          <p:nvCxnSpPr>
            <p:cNvPr id="72" name="Connector 71"/>
            <p:cNvCxnSpPr/>
            <p:nvPr/>
          </p:nvCxnSpPr>
          <p:spPr>
            <a:xfrm flipV="1">
              <a:off x="2857500" y="3911600"/>
              <a:ext cx="0" cy="1295400"/>
            </a:xfrm>
            <a:prstGeom prst="line">
              <a:avLst/>
            </a:prstGeom>
            <a:ln w="9525">
              <a:solidFill>
                <a:srgbClr val="8C8C8C"/>
              </a:solidFill>
              <a:round/>
              <a:tailEnd type="triangle" w="med" len="med"/>
            </a:ln>
          </p:spPr>
        </p:cxnSp>
        <p:sp>
          <p:nvSpPr>
            <p:cNvPr id="73" name="TextBox 72"/>
            <p:cNvSpPr txBox="1"/>
            <p:nvPr/>
          </p:nvSpPr>
          <p:spPr>
            <a:xfrm>
              <a:off x="2476500" y="3860800"/>
              <a:ext cx="330200" cy="127000"/>
            </a:xfrm>
            <a:prstGeom prst="rect">
              <a:avLst/>
            </a:prstGeom>
            <a:noFill/>
          </p:spPr>
          <p:txBody>
            <a:bodyPr wrap="none" anchor="t" lIns="0" tIns="0" rIns="0" bIns="0">
              <a:noAutofit/>
            </a:bodyPr>
            <a:lstStyle/>
            <a:p>
              <a:pPr algn="r" marL="0" indent="0">
                <a:lnSpc>
                  <a:spcPts val="1000"/>
                </a:lnSpc>
                <a:buNone/>
              </a:pPr>
              <a:r>
                <a:rPr lang="zh-CN" altLang="en-US" sz="700" b="0">
                  <a:solidFill>
                    <a:srgbClr val="8C8C8C"/>
                  </a:solidFill>
                  <a:latin typeface="微软雅黑"/>
                  <a:ea typeface="微软雅黑"/>
                  <a:cs typeface="微软雅黑"/>
                </a:rPr>
                <a:t>水温</a:t>
              </a:r>
            </a:p>
          </p:txBody>
        </p:sp>
        <p:sp>
          <p:nvSpPr>
            <p:cNvPr id="74" name="TextBox 73"/>
            <p:cNvSpPr txBox="1"/>
            <p:nvPr/>
          </p:nvSpPr>
          <p:spPr>
            <a:xfrm>
              <a:off x="7937500" y="5054600"/>
              <a:ext cx="330200" cy="127000"/>
            </a:xfrm>
            <a:prstGeom prst="rect">
              <a:avLst/>
            </a:prstGeom>
            <a:noFill/>
          </p:spPr>
          <p:txBody>
            <a:bodyPr wrap="none" anchor="t" lIns="0" tIns="0" rIns="0" bIns="0">
              <a:noAutofit/>
            </a:bodyPr>
            <a:lstStyle/>
            <a:p>
              <a:pPr algn="r" marL="0" indent="0">
                <a:lnSpc>
                  <a:spcPts val="1000"/>
                </a:lnSpc>
                <a:buNone/>
              </a:pPr>
              <a:r>
                <a:rPr lang="zh-CN" altLang="en-US" sz="700" b="0">
                  <a:solidFill>
                    <a:srgbClr val="8C8C8C"/>
                  </a:solidFill>
                  <a:latin typeface="微软雅黑"/>
                  <a:ea typeface="微软雅黑"/>
                  <a:cs typeface="微软雅黑"/>
                </a:rPr>
                <a:t>时间</a:t>
              </a:r>
            </a:p>
          </p:txBody>
        </p:sp>
        <p:sp>
          <p:nvSpPr>
            <p:cNvPr id="75" name="TextBox 74"/>
            <p:cNvSpPr txBox="1"/>
            <p:nvPr/>
          </p:nvSpPr>
          <p:spPr>
            <a:xfrm>
              <a:off x="2413000" y="5270500"/>
              <a:ext cx="381000" cy="165100"/>
            </a:xfrm>
            <a:prstGeom prst="rect">
              <a:avLst/>
            </a:prstGeom>
            <a:noFill/>
          </p:spPr>
          <p:txBody>
            <a:bodyPr wrap="none" anchor="ctr" lIns="0" tIns="0" rIns="0" bIns="0">
              <a:noAutofit/>
            </a:bodyPr>
            <a:lstStyle/>
            <a:p>
              <a:pPr algn="l" marL="0" indent="0">
                <a:lnSpc>
                  <a:spcPts val="1000"/>
                </a:lnSpc>
                <a:buNone/>
              </a:pPr>
              <a:r>
                <a:rPr lang="zh-CN" altLang="en-US" sz="700" b="1">
                  <a:solidFill>
                    <a:srgbClr val="8C8C8C"/>
                  </a:solidFill>
                  <a:latin typeface="微软雅黑"/>
                  <a:ea typeface="微软雅黑"/>
                  <a:cs typeface="微软雅黑"/>
                </a:rPr>
                <a:t>手柄</a:t>
              </a:r>
            </a:p>
          </p:txBody>
        </p:sp>
        <p:sp>
          <p:nvSpPr>
            <p:cNvPr id="76" name="Rectangle 75"/>
            <p:cNvSpPr/>
            <p:nvPr/>
          </p:nvSpPr>
          <p:spPr>
            <a:xfrm>
              <a:off x="2863850" y="5270500"/>
              <a:ext cx="1041400" cy="165100"/>
            </a:xfrm>
            <a:prstGeom prst="rect">
              <a:avLst/>
            </a:prstGeom>
            <a:solidFill>
              <a:srgbClr val="FFFFFF"/>
            </a:solidFill>
            <a:ln w="6350">
              <a:solidFill>
                <a:srgbClr val="E9E9E9"/>
              </a:solidFill>
              <a:round/>
            </a:ln>
          </p:spPr>
          <p:txBody>
            <a:bodyPr rtlCol="0" anchor="ctr" lIns="0" rIns="0" tIns="0" bIns="0"/>
            <a:lstStyle/>
            <a:p>
              <a:pPr algn="ctr"/>
            </a:p>
          </p:txBody>
        </p:sp>
        <p:sp>
          <p:nvSpPr>
            <p:cNvPr id="77" name="TextBox 76"/>
            <p:cNvSpPr txBox="1"/>
            <p:nvPr/>
          </p:nvSpPr>
          <p:spPr>
            <a:xfrm>
              <a:off x="2863850" y="5270500"/>
              <a:ext cx="1041400" cy="165100"/>
            </a:xfrm>
            <a:prstGeom prst="rect">
              <a:avLst/>
            </a:prstGeom>
            <a:noFill/>
          </p:spPr>
          <p:txBody>
            <a:bodyPr wrap="none" anchor="ctr" lIns="0" tIns="0" rIns="0" bIns="0">
              <a:noAutofit/>
            </a:bodyPr>
            <a:lstStyle/>
            <a:p>
              <a:pPr algn="ctr" marL="0" indent="0">
                <a:lnSpc>
                  <a:spcPts val="1000"/>
                </a:lnSpc>
                <a:buNone/>
              </a:pPr>
              <a:r>
                <a:rPr lang="zh-CN" altLang="en-US" sz="700" b="0">
                  <a:solidFill>
                    <a:srgbClr val="666666"/>
                  </a:solidFill>
                  <a:latin typeface="微软雅黑"/>
                  <a:ea typeface="微软雅黑"/>
                  <a:cs typeface="微软雅黑"/>
                </a:rPr>
                <a:t>牵引</a:t>
              </a:r>
            </a:p>
          </p:txBody>
        </p:sp>
        <p:sp>
          <p:nvSpPr>
            <p:cNvPr id="78" name="Rectangle 77"/>
            <p:cNvSpPr/>
            <p:nvPr/>
          </p:nvSpPr>
          <p:spPr>
            <a:xfrm>
              <a:off x="3917950" y="5270500"/>
              <a:ext cx="4203700" cy="165100"/>
            </a:xfrm>
            <a:prstGeom prst="rect">
              <a:avLst/>
            </a:prstGeom>
            <a:solidFill>
              <a:srgbClr val="FCF2F2"/>
            </a:solidFill>
            <a:ln w="6350">
              <a:solidFill>
                <a:srgbClr val="F8E3E3"/>
              </a:solidFill>
              <a:round/>
            </a:ln>
          </p:spPr>
          <p:txBody>
            <a:bodyPr rtlCol="0" anchor="ctr" lIns="0" rIns="0" tIns="0" bIns="0"/>
            <a:lstStyle/>
            <a:p>
              <a:pPr algn="ctr"/>
            </a:p>
          </p:txBody>
        </p:sp>
        <p:sp>
          <p:nvSpPr>
            <p:cNvPr id="79" name="TextBox 78"/>
            <p:cNvSpPr txBox="1"/>
            <p:nvPr/>
          </p:nvSpPr>
          <p:spPr>
            <a:xfrm>
              <a:off x="3917950" y="5270500"/>
              <a:ext cx="4203700" cy="165100"/>
            </a:xfrm>
            <a:prstGeom prst="rect">
              <a:avLst/>
            </a:prstGeom>
            <a:noFill/>
          </p:spPr>
          <p:txBody>
            <a:bodyPr wrap="none" anchor="ctr" lIns="0" tIns="0" rIns="0" bIns="0">
              <a:noAutofit/>
            </a:bodyPr>
            <a:lstStyle/>
            <a:p>
              <a:pPr algn="ctr" marL="0" indent="0">
                <a:lnSpc>
                  <a:spcPts val="1000"/>
                </a:lnSpc>
                <a:buNone/>
              </a:pPr>
              <a:r>
                <a:rPr lang="zh-CN" altLang="en-US" sz="700" b="1">
                  <a:solidFill>
                    <a:srgbClr val="C00000"/>
                  </a:solidFill>
                  <a:latin typeface="微软雅黑"/>
                  <a:ea typeface="微软雅黑"/>
                  <a:cs typeface="微软雅黑"/>
                </a:rPr>
                <a:t>回手柄</a:t>
              </a:r>
            </a:p>
          </p:txBody>
        </p:sp>
        <p:sp>
          <p:nvSpPr>
            <p:cNvPr id="80" name="TextBox 79"/>
            <p:cNvSpPr txBox="1"/>
            <p:nvPr/>
          </p:nvSpPr>
          <p:spPr>
            <a:xfrm>
              <a:off x="2413000" y="5461000"/>
              <a:ext cx="381000" cy="165100"/>
            </a:xfrm>
            <a:prstGeom prst="rect">
              <a:avLst/>
            </a:prstGeom>
            <a:noFill/>
          </p:spPr>
          <p:txBody>
            <a:bodyPr wrap="none" anchor="ctr" lIns="0" tIns="0" rIns="0" bIns="0">
              <a:noAutofit/>
            </a:bodyPr>
            <a:lstStyle/>
            <a:p>
              <a:pPr algn="l" marL="0" indent="0">
                <a:lnSpc>
                  <a:spcPts val="1000"/>
                </a:lnSpc>
                <a:buNone/>
              </a:pPr>
              <a:r>
                <a:rPr lang="zh-CN" altLang="en-US" sz="700" b="1">
                  <a:solidFill>
                    <a:srgbClr val="8C8C8C"/>
                  </a:solidFill>
                  <a:latin typeface="微软雅黑"/>
                  <a:ea typeface="微软雅黑"/>
                  <a:cs typeface="微软雅黑"/>
                </a:rPr>
                <a:t>风扇</a:t>
              </a:r>
            </a:p>
          </p:txBody>
        </p:sp>
        <p:sp>
          <p:nvSpPr>
            <p:cNvPr id="81" name="Rectangle 80"/>
            <p:cNvSpPr/>
            <p:nvPr/>
          </p:nvSpPr>
          <p:spPr>
            <a:xfrm>
              <a:off x="2863850" y="5461000"/>
              <a:ext cx="1041400" cy="165100"/>
            </a:xfrm>
            <a:prstGeom prst="rect">
              <a:avLst/>
            </a:prstGeom>
            <a:solidFill>
              <a:srgbClr val="FFFFFF"/>
            </a:solidFill>
            <a:ln w="6350">
              <a:solidFill>
                <a:srgbClr val="E9E9E9"/>
              </a:solidFill>
              <a:round/>
            </a:ln>
          </p:spPr>
          <p:txBody>
            <a:bodyPr rtlCol="0" anchor="ctr" lIns="0" rIns="0" tIns="0" bIns="0"/>
            <a:lstStyle/>
            <a:p>
              <a:pPr algn="ctr"/>
            </a:p>
          </p:txBody>
        </p:sp>
        <p:sp>
          <p:nvSpPr>
            <p:cNvPr id="82" name="Rectangle 81"/>
            <p:cNvSpPr/>
            <p:nvPr/>
          </p:nvSpPr>
          <p:spPr>
            <a:xfrm>
              <a:off x="3917950" y="5461000"/>
              <a:ext cx="4203700" cy="165100"/>
            </a:xfrm>
            <a:prstGeom prst="rect">
              <a:avLst/>
            </a:prstGeom>
            <a:solidFill>
              <a:srgbClr val="FCF2F2"/>
            </a:solidFill>
            <a:ln w="6350">
              <a:solidFill>
                <a:srgbClr val="C00000"/>
              </a:solidFill>
              <a:round/>
            </a:ln>
          </p:spPr>
          <p:txBody>
            <a:bodyPr rtlCol="0" anchor="ctr" lIns="0" rIns="0" tIns="0" bIns="0"/>
            <a:lstStyle/>
            <a:p>
              <a:pPr algn="ctr"/>
            </a:p>
          </p:txBody>
        </p:sp>
        <p:sp>
          <p:nvSpPr>
            <p:cNvPr id="83" name="TextBox 82"/>
            <p:cNvSpPr txBox="1"/>
            <p:nvPr/>
          </p:nvSpPr>
          <p:spPr>
            <a:xfrm>
              <a:off x="3917950" y="5461000"/>
              <a:ext cx="4203700" cy="165100"/>
            </a:xfrm>
            <a:prstGeom prst="rect">
              <a:avLst/>
            </a:prstGeom>
            <a:noFill/>
          </p:spPr>
          <p:txBody>
            <a:bodyPr wrap="none" anchor="ctr" lIns="0" tIns="0" rIns="0" bIns="0">
              <a:noAutofit/>
            </a:bodyPr>
            <a:lstStyle/>
            <a:p>
              <a:pPr algn="ctr" marL="0" indent="0">
                <a:lnSpc>
                  <a:spcPts val="1000"/>
                </a:lnSpc>
                <a:buNone/>
              </a:pPr>
              <a:r>
                <a:rPr lang="zh-CN" altLang="en-US" sz="700" b="1">
                  <a:solidFill>
                    <a:srgbClr val="C00000"/>
                  </a:solidFill>
                  <a:latin typeface="微软雅黑"/>
                  <a:ea typeface="微软雅黑"/>
                  <a:cs typeface="微软雅黑"/>
                </a:rPr>
                <a:t>冷却风扇 40Hz 持续运行</a:t>
              </a:r>
            </a:p>
          </p:txBody>
        </p:sp>
        <p:sp>
          <p:nvSpPr>
            <p:cNvPr id="84" name="TextBox 83"/>
            <p:cNvSpPr txBox="1"/>
            <p:nvPr/>
          </p:nvSpPr>
          <p:spPr>
            <a:xfrm>
              <a:off x="2413000" y="5651500"/>
              <a:ext cx="381000" cy="165100"/>
            </a:xfrm>
            <a:prstGeom prst="rect">
              <a:avLst/>
            </a:prstGeom>
            <a:noFill/>
          </p:spPr>
          <p:txBody>
            <a:bodyPr wrap="none" anchor="ctr" lIns="0" tIns="0" rIns="0" bIns="0">
              <a:noAutofit/>
            </a:bodyPr>
            <a:lstStyle/>
            <a:p>
              <a:pPr algn="l" marL="0" indent="0">
                <a:lnSpc>
                  <a:spcPts val="1000"/>
                </a:lnSpc>
                <a:buNone/>
              </a:pPr>
              <a:r>
                <a:rPr lang="zh-CN" altLang="en-US" sz="700" b="1">
                  <a:solidFill>
                    <a:srgbClr val="8C8C8C"/>
                  </a:solidFill>
                  <a:latin typeface="微软雅黑"/>
                  <a:ea typeface="微软雅黑"/>
                  <a:cs typeface="微软雅黑"/>
                </a:rPr>
                <a:t>线路</a:t>
              </a:r>
            </a:p>
          </p:txBody>
        </p:sp>
        <p:sp>
          <p:nvSpPr>
            <p:cNvPr id="85" name="Rectangle 84"/>
            <p:cNvSpPr/>
            <p:nvPr/>
          </p:nvSpPr>
          <p:spPr>
            <a:xfrm>
              <a:off x="2863850" y="5651500"/>
              <a:ext cx="5257800" cy="165100"/>
            </a:xfrm>
            <a:prstGeom prst="rect">
              <a:avLst/>
            </a:prstGeom>
            <a:solidFill>
              <a:srgbClr val="FFFFFF"/>
            </a:solidFill>
            <a:ln w="6350">
              <a:solidFill>
                <a:srgbClr val="E9E9E9"/>
              </a:solidFill>
              <a:round/>
            </a:ln>
          </p:spPr>
          <p:txBody>
            <a:bodyPr rtlCol="0" anchor="ctr" lIns="0" rIns="0" tIns="0" bIns="0"/>
            <a:lstStyle/>
            <a:p>
              <a:pPr algn="ctr"/>
            </a:p>
          </p:txBody>
        </p:sp>
        <p:sp>
          <p:nvSpPr>
            <p:cNvPr id="86" name="TextBox 85"/>
            <p:cNvSpPr txBox="1"/>
            <p:nvPr/>
          </p:nvSpPr>
          <p:spPr>
            <a:xfrm>
              <a:off x="2863850" y="5651500"/>
              <a:ext cx="5257800" cy="165100"/>
            </a:xfrm>
            <a:prstGeom prst="rect">
              <a:avLst/>
            </a:prstGeom>
            <a:noFill/>
          </p:spPr>
          <p:txBody>
            <a:bodyPr wrap="none" anchor="ctr" lIns="0" tIns="0" rIns="0" bIns="0">
              <a:noAutofit/>
            </a:bodyPr>
            <a:lstStyle/>
            <a:p>
              <a:pPr algn="ctr" marL="0" indent="0">
                <a:lnSpc>
                  <a:spcPts val="1000"/>
                </a:lnSpc>
                <a:buNone/>
              </a:pPr>
              <a:r>
                <a:rPr lang="zh-CN" altLang="en-US" sz="700" b="0">
                  <a:solidFill>
                    <a:srgbClr val="666666"/>
                  </a:solidFill>
                  <a:latin typeface="微软雅黑"/>
                  <a:ea typeface="微软雅黑"/>
                  <a:cs typeface="微软雅黑"/>
                </a:rPr>
                <a:t>临哈线长大下坡 · 环境约 −10℃</a:t>
              </a:r>
            </a:p>
          </p:txBody>
        </p:sp>
        <p:sp>
          <p:nvSpPr>
            <p:cNvPr id="87" name="TextBox 86"/>
            <p:cNvSpPr txBox="1"/>
            <p:nvPr/>
          </p:nvSpPr>
          <p:spPr>
            <a:xfrm>
              <a:off x="8648700" y="3848100"/>
              <a:ext cx="2984500" cy="177800"/>
            </a:xfrm>
            <a:prstGeom prst="rect">
              <a:avLst/>
            </a:prstGeom>
            <a:noFill/>
          </p:spPr>
          <p:txBody>
            <a:bodyPr wrap="none" anchor="t" lIns="0" tIns="0" rIns="0" bIns="0">
              <a:noAutofit/>
            </a:bodyPr>
            <a:lstStyle/>
            <a:p>
              <a:pPr algn="l" marL="0" indent="0">
                <a:lnSpc>
                  <a:spcPts val="1300"/>
                </a:lnSpc>
                <a:buNone/>
              </a:pPr>
              <a:r>
                <a:rPr lang="zh-CN" altLang="en-US" sz="900" b="1">
                  <a:solidFill>
                    <a:srgbClr val="1A1A1A"/>
                  </a:solidFill>
                  <a:latin typeface="微软雅黑"/>
                  <a:ea typeface="微软雅黑"/>
                  <a:cs typeface="微软雅黑"/>
                </a:rPr>
                <a:t>识别结果</a:t>
              </a:r>
            </a:p>
          </p:txBody>
        </p:sp>
        <p:sp>
          <p:nvSpPr>
            <p:cNvPr id="88" name="TextBox 87"/>
            <p:cNvSpPr txBox="1"/>
            <p:nvPr/>
          </p:nvSpPr>
          <p:spPr>
            <a:xfrm>
              <a:off x="8712200" y="4064000"/>
              <a:ext cx="1016000" cy="152400"/>
            </a:xfrm>
            <a:prstGeom prst="rect">
              <a:avLst/>
            </a:prstGeom>
            <a:noFill/>
          </p:spPr>
          <p:txBody>
            <a:bodyPr wrap="none" anchor="ctr" lIns="0" tIns="0" rIns="0" bIns="0">
              <a:noAutofit/>
            </a:bodyPr>
            <a:lstStyle/>
            <a:p>
              <a:pPr algn="l" marL="0" indent="0">
                <a:lnSpc>
                  <a:spcPts val="1000"/>
                </a:lnSpc>
                <a:buNone/>
              </a:pPr>
              <a:r>
                <a:rPr lang="zh-CN" altLang="en-US" sz="700" b="1">
                  <a:solidFill>
                    <a:srgbClr val="8C8C8C"/>
                  </a:solidFill>
                  <a:latin typeface="微软雅黑"/>
                  <a:ea typeface="微软雅黑"/>
                  <a:cs typeface="微软雅黑"/>
                </a:rPr>
                <a:t>工况</a:t>
              </a:r>
            </a:p>
          </p:txBody>
        </p:sp>
        <p:sp>
          <p:nvSpPr>
            <p:cNvPr id="89" name="TextBox 88"/>
            <p:cNvSpPr txBox="1"/>
            <p:nvPr/>
          </p:nvSpPr>
          <p:spPr>
            <a:xfrm>
              <a:off x="9791700" y="4064000"/>
              <a:ext cx="889000" cy="152400"/>
            </a:xfrm>
            <a:prstGeom prst="rect">
              <a:avLst/>
            </a:prstGeom>
            <a:noFill/>
          </p:spPr>
          <p:txBody>
            <a:bodyPr wrap="none" anchor="ctr" lIns="0" tIns="0" rIns="0" bIns="0">
              <a:noAutofit/>
            </a:bodyPr>
            <a:lstStyle/>
            <a:p>
              <a:pPr algn="l" marL="0" indent="0">
                <a:lnSpc>
                  <a:spcPts val="1000"/>
                </a:lnSpc>
                <a:buNone/>
              </a:pPr>
              <a:r>
                <a:rPr lang="zh-CN" altLang="en-US" sz="700" b="1">
                  <a:solidFill>
                    <a:srgbClr val="8C8C8C"/>
                  </a:solidFill>
                  <a:latin typeface="微软雅黑"/>
                  <a:ea typeface="微软雅黑"/>
                  <a:cs typeface="微软雅黑"/>
                </a:rPr>
                <a:t>判据</a:t>
              </a:r>
            </a:p>
          </p:txBody>
        </p:sp>
        <p:sp>
          <p:nvSpPr>
            <p:cNvPr id="90" name="TextBox 89"/>
            <p:cNvSpPr txBox="1"/>
            <p:nvPr/>
          </p:nvSpPr>
          <p:spPr>
            <a:xfrm>
              <a:off x="10744200" y="4064000"/>
              <a:ext cx="889000" cy="152400"/>
            </a:xfrm>
            <a:prstGeom prst="rect">
              <a:avLst/>
            </a:prstGeom>
            <a:noFill/>
          </p:spPr>
          <p:txBody>
            <a:bodyPr wrap="none" anchor="ctr" lIns="0" tIns="0" rIns="0" bIns="0">
              <a:noAutofit/>
            </a:bodyPr>
            <a:lstStyle/>
            <a:p>
              <a:pPr algn="l" marL="0" indent="0">
                <a:lnSpc>
                  <a:spcPts val="1000"/>
                </a:lnSpc>
                <a:buNone/>
              </a:pPr>
              <a:r>
                <a:rPr lang="zh-CN" altLang="en-US" sz="700" b="1">
                  <a:solidFill>
                    <a:srgbClr val="8C8C8C"/>
                  </a:solidFill>
                  <a:latin typeface="微软雅黑"/>
                  <a:ea typeface="微软雅黑"/>
                  <a:cs typeface="微软雅黑"/>
                </a:rPr>
                <a:t>结论</a:t>
              </a:r>
            </a:p>
          </p:txBody>
        </p:sp>
        <p:cxnSp>
          <p:nvCxnSpPr>
            <p:cNvPr id="91" name="Connector 90"/>
            <p:cNvCxnSpPr/>
            <p:nvPr/>
          </p:nvCxnSpPr>
          <p:spPr>
            <a:xfrm>
              <a:off x="8648700" y="4229100"/>
              <a:ext cx="2984500" cy="0"/>
            </a:xfrm>
            <a:prstGeom prst="line">
              <a:avLst/>
            </a:prstGeom>
            <a:ln w="7620">
              <a:solidFill>
                <a:srgbClr val="666666"/>
              </a:solidFill>
              <a:round/>
            </a:ln>
          </p:spPr>
        </p:cxnSp>
        <p:sp>
          <p:nvSpPr>
            <p:cNvPr id="92" name="TextBox 91"/>
            <p:cNvSpPr txBox="1"/>
            <p:nvPr/>
          </p:nvSpPr>
          <p:spPr>
            <a:xfrm>
              <a:off x="8712200" y="4241800"/>
              <a:ext cx="1016000" cy="228600"/>
            </a:xfrm>
            <a:prstGeom prst="rect">
              <a:avLst/>
            </a:prstGeom>
            <a:noFill/>
          </p:spPr>
          <p:txBody>
            <a:bodyPr wrap="none" anchor="ctr" lIns="0" tIns="0" rIns="0" bIns="0">
              <a:noAutofit/>
            </a:bodyPr>
            <a:lstStyle/>
            <a:p>
              <a:pPr algn="l" marL="0" indent="0">
                <a:lnSpc>
                  <a:spcPts val="1000"/>
                </a:lnSpc>
                <a:buNone/>
              </a:pPr>
              <a:r>
                <a:rPr lang="zh-CN" altLang="en-US" sz="750" b="0">
                  <a:solidFill>
                    <a:srgbClr val="1A1A1A"/>
                  </a:solidFill>
                  <a:latin typeface="微软雅黑"/>
                  <a:ea typeface="微软雅黑"/>
                  <a:cs typeface="微软雅黑"/>
                </a:rPr>
                <a:t>牵引工况</a:t>
              </a:r>
            </a:p>
          </p:txBody>
        </p:sp>
        <p:sp>
          <p:nvSpPr>
            <p:cNvPr id="93" name="TextBox 92"/>
            <p:cNvSpPr txBox="1"/>
            <p:nvPr/>
          </p:nvSpPr>
          <p:spPr>
            <a:xfrm>
              <a:off x="9791700" y="4241800"/>
              <a:ext cx="889000" cy="228600"/>
            </a:xfrm>
            <a:prstGeom prst="rect">
              <a:avLst/>
            </a:prstGeom>
            <a:noFill/>
          </p:spPr>
          <p:txBody>
            <a:bodyPr wrap="none" anchor="ctr" lIns="0" tIns="0" rIns="0" bIns="0">
              <a:noAutofit/>
            </a:bodyPr>
            <a:lstStyle/>
            <a:p>
              <a:pPr algn="l" marL="0" indent="0">
                <a:lnSpc>
                  <a:spcPts val="1000"/>
                </a:lnSpc>
                <a:buNone/>
              </a:pPr>
              <a:r>
                <a:rPr lang="zh-CN" altLang="en-US" sz="750" b="0">
                  <a:solidFill>
                    <a:srgbClr val="3D3D3D"/>
                  </a:solidFill>
                  <a:latin typeface="微软雅黑"/>
                  <a:ea typeface="微软雅黑"/>
                  <a:cs typeface="微软雅黑"/>
                </a:rPr>
                <a:t>低温水防冻</a:t>
              </a:r>
            </a:p>
          </p:txBody>
        </p:sp>
        <p:sp>
          <p:nvSpPr>
            <p:cNvPr id="94" name="TextBox 93"/>
            <p:cNvSpPr txBox="1"/>
            <p:nvPr/>
          </p:nvSpPr>
          <p:spPr>
            <a:xfrm>
              <a:off x="10744200" y="4241800"/>
              <a:ext cx="889000" cy="228600"/>
            </a:xfrm>
            <a:prstGeom prst="rect">
              <a:avLst/>
            </a:prstGeom>
            <a:noFill/>
          </p:spPr>
          <p:txBody>
            <a:bodyPr wrap="none" anchor="ctr" lIns="0" tIns="0" rIns="0" bIns="0">
              <a:noAutofit/>
            </a:bodyPr>
            <a:lstStyle/>
            <a:p>
              <a:pPr algn="l" marL="0" indent="0">
                <a:lnSpc>
                  <a:spcPts val="1000"/>
                </a:lnSpc>
                <a:buNone/>
              </a:pPr>
              <a:r>
                <a:rPr lang="zh-CN" altLang="en-US" sz="750" b="1">
                  <a:solidFill>
                    <a:srgbClr val="3A3A3A"/>
                  </a:solidFill>
                  <a:latin typeface="微软雅黑"/>
                  <a:ea typeface="微软雅黑"/>
                  <a:cs typeface="微软雅黑"/>
                </a:rPr>
                <a:t>✓ 满足</a:t>
              </a:r>
            </a:p>
          </p:txBody>
        </p:sp>
        <p:cxnSp>
          <p:nvCxnSpPr>
            <p:cNvPr id="95" name="Connector 94"/>
            <p:cNvCxnSpPr/>
            <p:nvPr/>
          </p:nvCxnSpPr>
          <p:spPr>
            <a:xfrm>
              <a:off x="8648700" y="4470400"/>
              <a:ext cx="2984500" cy="0"/>
            </a:xfrm>
            <a:prstGeom prst="line">
              <a:avLst/>
            </a:prstGeom>
            <a:ln w="6350">
              <a:solidFill>
                <a:srgbClr val="E9E9E9"/>
              </a:solidFill>
              <a:round/>
            </a:ln>
          </p:spPr>
        </p:cxnSp>
        <p:sp>
          <p:nvSpPr>
            <p:cNvPr id="96" name="Rectangle 95"/>
            <p:cNvSpPr/>
            <p:nvPr/>
          </p:nvSpPr>
          <p:spPr>
            <a:xfrm>
              <a:off x="8648700" y="4470400"/>
              <a:ext cx="2984500" cy="228600"/>
            </a:xfrm>
            <a:prstGeom prst="rect">
              <a:avLst/>
            </a:prstGeom>
            <a:solidFill>
              <a:srgbClr val="FCF2F2"/>
            </a:solidFill>
            <a:ln>
              <a:noFill/>
            </a:ln>
          </p:spPr>
          <p:txBody>
            <a:bodyPr rtlCol="0" anchor="ctr" lIns="0" rIns="0" tIns="0" bIns="0"/>
            <a:lstStyle/>
            <a:p>
              <a:pPr algn="ctr"/>
            </a:p>
          </p:txBody>
        </p:sp>
        <p:sp>
          <p:nvSpPr>
            <p:cNvPr id="97" name="TextBox 96"/>
            <p:cNvSpPr txBox="1"/>
            <p:nvPr/>
          </p:nvSpPr>
          <p:spPr>
            <a:xfrm>
              <a:off x="8712200" y="4470400"/>
              <a:ext cx="1016000" cy="228600"/>
            </a:xfrm>
            <a:prstGeom prst="rect">
              <a:avLst/>
            </a:prstGeom>
            <a:noFill/>
          </p:spPr>
          <p:txBody>
            <a:bodyPr wrap="none" anchor="ctr" lIns="0" tIns="0" rIns="0" bIns="0">
              <a:noAutofit/>
            </a:bodyPr>
            <a:lstStyle/>
            <a:p>
              <a:pPr algn="l" marL="0" indent="0">
                <a:lnSpc>
                  <a:spcPts val="1000"/>
                </a:lnSpc>
                <a:buNone/>
              </a:pPr>
              <a:r>
                <a:rPr lang="zh-CN" altLang="en-US" sz="750" b="0">
                  <a:solidFill>
                    <a:srgbClr val="1A1A1A"/>
                  </a:solidFill>
                  <a:latin typeface="微软雅黑"/>
                  <a:ea typeface="微软雅黑"/>
                  <a:cs typeface="微软雅黑"/>
                </a:rPr>
                <a:t>回手柄 · 长大下坡</a:t>
              </a:r>
            </a:p>
          </p:txBody>
        </p:sp>
        <p:sp>
          <p:nvSpPr>
            <p:cNvPr id="98" name="TextBox 97"/>
            <p:cNvSpPr txBox="1"/>
            <p:nvPr/>
          </p:nvSpPr>
          <p:spPr>
            <a:xfrm>
              <a:off x="9791700" y="4470400"/>
              <a:ext cx="889000" cy="228600"/>
            </a:xfrm>
            <a:prstGeom prst="rect">
              <a:avLst/>
            </a:prstGeom>
            <a:noFill/>
          </p:spPr>
          <p:txBody>
            <a:bodyPr wrap="none" anchor="ctr" lIns="0" tIns="0" rIns="0" bIns="0">
              <a:noAutofit/>
            </a:bodyPr>
            <a:lstStyle/>
            <a:p>
              <a:pPr algn="l" marL="0" indent="0">
                <a:lnSpc>
                  <a:spcPts val="1000"/>
                </a:lnSpc>
                <a:buNone/>
              </a:pPr>
              <a:r>
                <a:rPr lang="zh-CN" altLang="en-US" sz="750" b="0">
                  <a:solidFill>
                    <a:srgbClr val="3D3D3D"/>
                  </a:solidFill>
                  <a:latin typeface="微软雅黑"/>
                  <a:ea typeface="微软雅黑"/>
                  <a:cs typeface="微软雅黑"/>
                </a:rPr>
                <a:t>低温水防冻</a:t>
              </a:r>
            </a:p>
          </p:txBody>
        </p:sp>
        <p:sp>
          <p:nvSpPr>
            <p:cNvPr id="99" name="TextBox 98"/>
            <p:cNvSpPr txBox="1"/>
            <p:nvPr/>
          </p:nvSpPr>
          <p:spPr>
            <a:xfrm>
              <a:off x="10744200" y="4470400"/>
              <a:ext cx="889000" cy="228600"/>
            </a:xfrm>
            <a:prstGeom prst="rect">
              <a:avLst/>
            </a:prstGeom>
            <a:noFill/>
          </p:spPr>
          <p:txBody>
            <a:bodyPr wrap="none" anchor="ctr" lIns="0" tIns="0" rIns="0" bIns="0">
              <a:noAutofit/>
            </a:bodyPr>
            <a:lstStyle/>
            <a:p>
              <a:pPr algn="l" marL="0" indent="0">
                <a:lnSpc>
                  <a:spcPts val="1000"/>
                </a:lnSpc>
                <a:buNone/>
              </a:pPr>
              <a:r>
                <a:rPr lang="zh-CN" altLang="en-US" sz="750" b="1">
                  <a:solidFill>
                    <a:srgbClr val="C00000"/>
                  </a:solidFill>
                  <a:latin typeface="微软雅黑"/>
                  <a:ea typeface="微软雅黑"/>
                  <a:cs typeface="微软雅黑"/>
                </a:rPr>
                <a:t>✗ 过冷</a:t>
              </a:r>
            </a:p>
          </p:txBody>
        </p:sp>
        <p:cxnSp>
          <p:nvCxnSpPr>
            <p:cNvPr id="100" name="Connector 99"/>
            <p:cNvCxnSpPr/>
            <p:nvPr/>
          </p:nvCxnSpPr>
          <p:spPr>
            <a:xfrm>
              <a:off x="8648700" y="4699000"/>
              <a:ext cx="2984500" cy="0"/>
            </a:xfrm>
            <a:prstGeom prst="line">
              <a:avLst/>
            </a:prstGeom>
            <a:ln w="6350">
              <a:solidFill>
                <a:srgbClr val="E9E9E9"/>
              </a:solidFill>
              <a:round/>
            </a:ln>
          </p:spPr>
        </p:cxnSp>
        <p:sp>
          <p:nvSpPr>
            <p:cNvPr id="101" name="TextBox 100"/>
            <p:cNvSpPr txBox="1"/>
            <p:nvPr/>
          </p:nvSpPr>
          <p:spPr>
            <a:xfrm>
              <a:off x="8712200" y="4699000"/>
              <a:ext cx="1016000" cy="228600"/>
            </a:xfrm>
            <a:prstGeom prst="rect">
              <a:avLst/>
            </a:prstGeom>
            <a:noFill/>
          </p:spPr>
          <p:txBody>
            <a:bodyPr wrap="none" anchor="ctr" lIns="0" tIns="0" rIns="0" bIns="0">
              <a:noAutofit/>
            </a:bodyPr>
            <a:lstStyle/>
            <a:p>
              <a:pPr algn="l" marL="0" indent="0">
                <a:lnSpc>
                  <a:spcPts val="1000"/>
                </a:lnSpc>
                <a:buNone/>
              </a:pPr>
              <a:r>
                <a:rPr lang="zh-CN" altLang="en-US" sz="750" b="0">
                  <a:solidFill>
                    <a:srgbClr val="1A1A1A"/>
                  </a:solidFill>
                  <a:latin typeface="微软雅黑"/>
                  <a:ea typeface="微软雅黑"/>
                  <a:cs typeface="微软雅黑"/>
                </a:rPr>
                <a:t>回手柄 · 长大下坡</a:t>
              </a:r>
            </a:p>
          </p:txBody>
        </p:sp>
        <p:sp>
          <p:nvSpPr>
            <p:cNvPr id="102" name="TextBox 101"/>
            <p:cNvSpPr txBox="1"/>
            <p:nvPr/>
          </p:nvSpPr>
          <p:spPr>
            <a:xfrm>
              <a:off x="9791700" y="4699000"/>
              <a:ext cx="889000" cy="228600"/>
            </a:xfrm>
            <a:prstGeom prst="rect">
              <a:avLst/>
            </a:prstGeom>
            <a:noFill/>
          </p:spPr>
          <p:txBody>
            <a:bodyPr wrap="none" anchor="ctr" lIns="0" tIns="0" rIns="0" bIns="0">
              <a:noAutofit/>
            </a:bodyPr>
            <a:lstStyle/>
            <a:p>
              <a:pPr algn="l" marL="0" indent="0">
                <a:lnSpc>
                  <a:spcPts val="1000"/>
                </a:lnSpc>
                <a:buNone/>
              </a:pPr>
              <a:r>
                <a:rPr lang="zh-CN" altLang="en-US" sz="750" b="0">
                  <a:solidFill>
                    <a:srgbClr val="3D3D3D"/>
                  </a:solidFill>
                  <a:latin typeface="微软雅黑"/>
                  <a:ea typeface="微软雅黑"/>
                  <a:cs typeface="微软雅黑"/>
                </a:rPr>
                <a:t>高温水温度</a:t>
              </a:r>
            </a:p>
          </p:txBody>
        </p:sp>
        <p:sp>
          <p:nvSpPr>
            <p:cNvPr id="103" name="TextBox 102"/>
            <p:cNvSpPr txBox="1"/>
            <p:nvPr/>
          </p:nvSpPr>
          <p:spPr>
            <a:xfrm>
              <a:off x="10744200" y="4699000"/>
              <a:ext cx="889000" cy="228600"/>
            </a:xfrm>
            <a:prstGeom prst="rect">
              <a:avLst/>
            </a:prstGeom>
            <a:noFill/>
          </p:spPr>
          <p:txBody>
            <a:bodyPr wrap="none" anchor="ctr" lIns="0" tIns="0" rIns="0" bIns="0">
              <a:noAutofit/>
            </a:bodyPr>
            <a:lstStyle/>
            <a:p>
              <a:pPr algn="l" marL="0" indent="0">
                <a:lnSpc>
                  <a:spcPts val="1000"/>
                </a:lnSpc>
                <a:buNone/>
              </a:pPr>
              <a:r>
                <a:rPr lang="zh-CN" altLang="en-US" sz="750" b="1">
                  <a:solidFill>
                    <a:srgbClr val="3A3A3A"/>
                  </a:solidFill>
                  <a:latin typeface="微软雅黑"/>
                  <a:ea typeface="微软雅黑"/>
                  <a:cs typeface="微软雅黑"/>
                </a:rPr>
                <a:t>✓ 正常</a:t>
              </a:r>
            </a:p>
          </p:txBody>
        </p:sp>
        <p:cxnSp>
          <p:nvCxnSpPr>
            <p:cNvPr id="104" name="Connector 103"/>
            <p:cNvCxnSpPr/>
            <p:nvPr/>
          </p:nvCxnSpPr>
          <p:spPr>
            <a:xfrm>
              <a:off x="8648700" y="4927600"/>
              <a:ext cx="2984500" cy="0"/>
            </a:xfrm>
            <a:prstGeom prst="line">
              <a:avLst/>
            </a:prstGeom>
            <a:ln w="6350">
              <a:solidFill>
                <a:srgbClr val="E9E9E9"/>
              </a:solidFill>
              <a:round/>
            </a:ln>
          </p:spPr>
        </p:cxnSp>
        <p:sp>
          <p:nvSpPr>
            <p:cNvPr id="105" name="Rectangle 104"/>
            <p:cNvSpPr/>
            <p:nvPr/>
          </p:nvSpPr>
          <p:spPr>
            <a:xfrm>
              <a:off x="8648700" y="5016500"/>
              <a:ext cx="2984500" cy="533400"/>
            </a:xfrm>
            <a:prstGeom prst="rect">
              <a:avLst/>
            </a:prstGeom>
            <a:solidFill>
              <a:srgbClr val="FFFFFF"/>
            </a:solidFill>
            <a:ln w="7620">
              <a:solidFill>
                <a:srgbClr val="C00000"/>
              </a:solidFill>
              <a:round/>
            </a:ln>
          </p:spPr>
          <p:txBody>
            <a:bodyPr rtlCol="0" anchor="ctr" lIns="0" rIns="0" tIns="0" bIns="0"/>
            <a:lstStyle/>
            <a:p>
              <a:pPr algn="ctr"/>
            </a:p>
          </p:txBody>
        </p:sp>
        <p:sp>
          <p:nvSpPr>
            <p:cNvPr id="106" name="TextBox 105"/>
            <p:cNvSpPr txBox="1"/>
            <p:nvPr/>
          </p:nvSpPr>
          <p:spPr>
            <a:xfrm>
              <a:off x="8750300" y="5067300"/>
              <a:ext cx="2781300" cy="139700"/>
            </a:xfrm>
            <a:prstGeom prst="rect">
              <a:avLst/>
            </a:prstGeom>
            <a:noFill/>
          </p:spPr>
          <p:txBody>
            <a:bodyPr wrap="none" anchor="t" lIns="0" tIns="0" rIns="0" bIns="0">
              <a:noAutofit/>
            </a:bodyPr>
            <a:lstStyle/>
            <a:p>
              <a:pPr algn="l" marL="0" indent="0">
                <a:lnSpc>
                  <a:spcPts val="1000"/>
                </a:lnSpc>
                <a:buNone/>
              </a:pPr>
              <a:r>
                <a:rPr lang="zh-CN" altLang="en-US" sz="750" b="1">
                  <a:solidFill>
                    <a:srgbClr val="C00000"/>
                  </a:solidFill>
                  <a:latin typeface="微软雅黑"/>
                  <a:ea typeface="微软雅黑"/>
                  <a:cs typeface="微软雅黑"/>
                </a:rPr>
                <a:t>原因定位</a:t>
              </a:r>
            </a:p>
          </p:txBody>
        </p:sp>
        <p:sp>
          <p:nvSpPr>
            <p:cNvPr id="107" name="TextBox 106"/>
            <p:cNvSpPr txBox="1"/>
            <p:nvPr/>
          </p:nvSpPr>
          <p:spPr>
            <a:xfrm>
              <a:off x="8750300" y="5219700"/>
              <a:ext cx="2781300" cy="304800"/>
            </a:xfrm>
            <a:prstGeom prst="rect">
              <a:avLst/>
            </a:prstGeom>
            <a:noFill/>
          </p:spPr>
          <p:txBody>
            <a:bodyPr wrap="square" anchor="t" lIns="0" tIns="0" rIns="0" bIns="0">
              <a:noAutofit/>
            </a:bodyPr>
            <a:lstStyle/>
            <a:p>
              <a:pPr algn="l" marL="0" indent="0">
                <a:lnSpc>
                  <a:spcPts val="1100"/>
                </a:lnSpc>
                <a:buNone/>
              </a:pPr>
              <a:r>
                <a:rPr lang="zh-CN" altLang="en-US" sz="750" b="0">
                  <a:solidFill>
                    <a:srgbClr val="3D3D3D"/>
                  </a:solidFill>
                  <a:latin typeface="微软雅黑"/>
                  <a:ea typeface="微软雅黑"/>
                  <a:cs typeface="微软雅黑"/>
                </a:rPr>
                <a:t>回手柄后柴油机发热量下降，风扇仍以 40Hz 运行，低温水回路被过度冷却</a:t>
              </a:r>
            </a:p>
          </p:txBody>
        </p:sp>
        <p:sp>
          <p:nvSpPr>
            <p:cNvPr id="108" name="TextBox 107"/>
            <p:cNvSpPr txBox="1"/>
            <p:nvPr/>
          </p:nvSpPr>
          <p:spPr>
            <a:xfrm>
              <a:off x="8648700" y="5626100"/>
              <a:ext cx="2984500" cy="139700"/>
            </a:xfrm>
            <a:prstGeom prst="rect">
              <a:avLst/>
            </a:prstGeom>
            <a:noFill/>
          </p:spPr>
          <p:txBody>
            <a:bodyPr wrap="none" anchor="t" lIns="0" tIns="0" rIns="0" bIns="0">
              <a:noAutofit/>
            </a:bodyPr>
            <a:lstStyle/>
            <a:p>
              <a:pPr algn="l" marL="0" indent="0">
                <a:lnSpc>
                  <a:spcPts val="1000"/>
                </a:lnSpc>
                <a:buNone/>
              </a:pPr>
              <a:r>
                <a:rPr lang="zh-CN" altLang="en-US" sz="750" b="1">
                  <a:solidFill>
                    <a:srgbClr val="C00000"/>
                  </a:solidFill>
                  <a:latin typeface="微软雅黑"/>
                  <a:ea typeface="微软雅黑"/>
                  <a:cs typeface="微软雅黑"/>
                </a:rPr>
                <a:t>→ 写入验证报告；设计修改后，低温工况全量回归重跑</a:t>
              </a:r>
            </a:p>
          </p:txBody>
        </p:sp>
      </p:gr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研究内容④ 架构融合与协同运行</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融合成一个能跑起来的整体</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11</a:t>
            </a:r>
          </a:p>
        </p:txBody>
      </p:sp>
      <p:sp>
        <p:nvSpPr>
          <p:cNvPr id="6" name="Rectangle 5"/>
          <p:cNvSpPr/>
          <p:nvPr/>
        </p:nvSpPr>
        <p:spPr>
          <a:xfrm>
            <a:off x="406400" y="2082800"/>
            <a:ext cx="1651000" cy="304800"/>
          </a:xfrm>
          <a:prstGeom prst="rect">
            <a:avLst/>
          </a:prstGeom>
          <a:solidFill>
            <a:srgbClr val="8E0000"/>
          </a:solidFill>
          <a:ln>
            <a:noFill/>
          </a:ln>
        </p:spPr>
        <p:txBody>
          <a:bodyPr rtlCol="0" anchor="ctr" lIns="0" rIns="0" tIns="0" bIns="0"/>
          <a:lstStyle/>
          <a:p>
            <a:pPr algn="ctr"/>
          </a:p>
        </p:txBody>
      </p:sp>
      <p:sp>
        <p:nvSpPr>
          <p:cNvPr id="7" name="TextBox 6"/>
          <p:cNvSpPr txBox="1"/>
          <p:nvPr/>
        </p:nvSpPr>
        <p:spPr>
          <a:xfrm>
            <a:off x="533400" y="2082800"/>
            <a:ext cx="1460500" cy="304800"/>
          </a:xfrm>
          <a:prstGeom prst="rect">
            <a:avLst/>
          </a:prstGeom>
          <a:noFill/>
        </p:spPr>
        <p:txBody>
          <a:bodyPr wrap="none" anchor="ctr" lIns="0" tIns="0" rIns="0" bIns="0">
            <a:noAutofit/>
          </a:bodyPr>
          <a:lstStyle/>
          <a:p>
            <a:pPr algn="l" marL="0" indent="0">
              <a:lnSpc>
                <a:spcPts val="1300"/>
              </a:lnSpc>
              <a:buNone/>
            </a:pPr>
            <a:r>
              <a:rPr lang="zh-CN" altLang="en-US" sz="950" b="1">
                <a:solidFill>
                  <a:srgbClr val="FFFFFF"/>
                </a:solidFill>
                <a:latin typeface="微软雅黑"/>
                <a:ea typeface="微软雅黑"/>
                <a:cs typeface="微软雅黑"/>
              </a:rPr>
              <a:t>④ 集成层</a:t>
            </a:r>
          </a:p>
        </p:txBody>
      </p:sp>
      <p:sp>
        <p:nvSpPr>
          <p:cNvPr id="8" name="Rectangle 7"/>
          <p:cNvSpPr/>
          <p:nvPr/>
        </p:nvSpPr>
        <p:spPr>
          <a:xfrm>
            <a:off x="406400" y="2438400"/>
            <a:ext cx="1651000" cy="304800"/>
          </a:xfrm>
          <a:prstGeom prst="rect">
            <a:avLst/>
          </a:prstGeom>
          <a:solidFill>
            <a:srgbClr val="FFFFFF"/>
          </a:solidFill>
          <a:ln w="6350">
            <a:solidFill>
              <a:srgbClr val="E9E9E9"/>
            </a:solidFill>
            <a:round/>
          </a:ln>
        </p:spPr>
        <p:txBody>
          <a:bodyPr rtlCol="0" anchor="ctr" lIns="0" rIns="0" tIns="0" bIns="0"/>
          <a:lstStyle/>
          <a:p>
            <a:pPr algn="ctr"/>
          </a:p>
        </p:txBody>
      </p:sp>
      <p:sp>
        <p:nvSpPr>
          <p:cNvPr id="9" name="Rectangle 8"/>
          <p:cNvSpPr/>
          <p:nvPr/>
        </p:nvSpPr>
        <p:spPr>
          <a:xfrm>
            <a:off x="406400" y="2438400"/>
            <a:ext cx="19050" cy="304800"/>
          </a:xfrm>
          <a:prstGeom prst="rect">
            <a:avLst/>
          </a:prstGeom>
          <a:solidFill>
            <a:srgbClr val="C00000"/>
          </a:solidFill>
          <a:ln>
            <a:noFill/>
          </a:ln>
        </p:spPr>
        <p:txBody>
          <a:bodyPr rtlCol="0" anchor="ctr" lIns="0" rIns="0" tIns="0" bIns="0"/>
          <a:lstStyle/>
          <a:p>
            <a:pPr algn="ctr"/>
          </a:p>
        </p:txBody>
      </p:sp>
      <p:sp>
        <p:nvSpPr>
          <p:cNvPr id="10" name="TextBox 9"/>
          <p:cNvSpPr txBox="1"/>
          <p:nvPr/>
        </p:nvSpPr>
        <p:spPr>
          <a:xfrm>
            <a:off x="533400" y="2438400"/>
            <a:ext cx="1460500" cy="3048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③ 执行层</a:t>
            </a:r>
          </a:p>
        </p:txBody>
      </p:sp>
      <p:sp>
        <p:nvSpPr>
          <p:cNvPr id="11" name="Rectangle 10"/>
          <p:cNvSpPr/>
          <p:nvPr/>
        </p:nvSpPr>
        <p:spPr>
          <a:xfrm>
            <a:off x="406400" y="2819400"/>
            <a:ext cx="1651000" cy="279400"/>
          </a:xfrm>
          <a:prstGeom prst="rect">
            <a:avLst/>
          </a:prstGeom>
          <a:solidFill>
            <a:srgbClr val="FFFFFF"/>
          </a:solidFill>
          <a:ln w="6350">
            <a:solidFill>
              <a:srgbClr val="E9E9E9"/>
            </a:solidFill>
            <a:round/>
          </a:ln>
        </p:spPr>
        <p:txBody>
          <a:bodyPr rtlCol="0" anchor="ctr" lIns="0" rIns="0" tIns="0" bIns="0"/>
          <a:lstStyle/>
          <a:p>
            <a:pPr algn="ctr"/>
          </a:p>
        </p:txBody>
      </p:sp>
      <p:sp>
        <p:nvSpPr>
          <p:cNvPr id="12" name="Rectangle 11"/>
          <p:cNvSpPr/>
          <p:nvPr/>
        </p:nvSpPr>
        <p:spPr>
          <a:xfrm>
            <a:off x="406400" y="2819400"/>
            <a:ext cx="19050" cy="279400"/>
          </a:xfrm>
          <a:prstGeom prst="rect">
            <a:avLst/>
          </a:prstGeom>
          <a:solidFill>
            <a:srgbClr val="C83535"/>
          </a:solidFill>
          <a:ln>
            <a:noFill/>
          </a:ln>
        </p:spPr>
        <p:txBody>
          <a:bodyPr rtlCol="0" anchor="ctr" lIns="0" rIns="0" tIns="0" bIns="0"/>
          <a:lstStyle/>
          <a:p>
            <a:pPr algn="ctr"/>
          </a:p>
        </p:txBody>
      </p:sp>
      <p:sp>
        <p:nvSpPr>
          <p:cNvPr id="13" name="TextBox 12"/>
          <p:cNvSpPr txBox="1"/>
          <p:nvPr/>
        </p:nvSpPr>
        <p:spPr>
          <a:xfrm>
            <a:off x="533400" y="2819400"/>
            <a:ext cx="1460500" cy="2794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② 决策层</a:t>
            </a:r>
          </a:p>
        </p:txBody>
      </p:sp>
      <p:sp>
        <p:nvSpPr>
          <p:cNvPr id="14" name="Rectangle 13"/>
          <p:cNvSpPr/>
          <p:nvPr/>
        </p:nvSpPr>
        <p:spPr>
          <a:xfrm>
            <a:off x="406400" y="3149600"/>
            <a:ext cx="1651000" cy="279400"/>
          </a:xfrm>
          <a:prstGeom prst="rect">
            <a:avLst/>
          </a:prstGeom>
          <a:solidFill>
            <a:srgbClr val="FFFFFF"/>
          </a:solidFill>
          <a:ln w="6350">
            <a:solidFill>
              <a:srgbClr val="E9E9E9"/>
            </a:solidFill>
            <a:round/>
          </a:ln>
        </p:spPr>
        <p:txBody>
          <a:bodyPr rtlCol="0" anchor="ctr" lIns="0" rIns="0" tIns="0" bIns="0"/>
          <a:lstStyle/>
          <a:p>
            <a:pPr algn="ctr"/>
          </a:p>
        </p:txBody>
      </p:sp>
      <p:sp>
        <p:nvSpPr>
          <p:cNvPr id="15" name="Rectangle 14"/>
          <p:cNvSpPr/>
          <p:nvPr/>
        </p:nvSpPr>
        <p:spPr>
          <a:xfrm>
            <a:off x="406400" y="3149600"/>
            <a:ext cx="19050" cy="279400"/>
          </a:xfrm>
          <a:prstGeom prst="rect">
            <a:avLst/>
          </a:prstGeom>
          <a:solidFill>
            <a:srgbClr val="D46A6A"/>
          </a:solidFill>
          <a:ln>
            <a:noFill/>
          </a:ln>
        </p:spPr>
        <p:txBody>
          <a:bodyPr rtlCol="0" anchor="ctr" lIns="0" rIns="0" tIns="0" bIns="0"/>
          <a:lstStyle/>
          <a:p>
            <a:pPr algn="ctr"/>
          </a:p>
        </p:txBody>
      </p:sp>
      <p:sp>
        <p:nvSpPr>
          <p:cNvPr id="16" name="TextBox 15"/>
          <p:cNvSpPr txBox="1"/>
          <p:nvPr/>
        </p:nvSpPr>
        <p:spPr>
          <a:xfrm>
            <a:off x="533400" y="3149600"/>
            <a:ext cx="1460500" cy="2794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① 基础层</a:t>
            </a:r>
          </a:p>
        </p:txBody>
      </p:sp>
      <p:sp>
        <p:nvSpPr>
          <p:cNvPr id="17" name="TextBox 16"/>
          <p:cNvSpPr txBox="1"/>
          <p:nvPr/>
        </p:nvSpPr>
        <p:spPr>
          <a:xfrm>
            <a:off x="406400" y="5245100"/>
            <a:ext cx="1651000" cy="215900"/>
          </a:xfrm>
          <a:prstGeom prst="rect">
            <a:avLst/>
          </a:prstGeom>
          <a:noFill/>
        </p:spPr>
        <p:txBody>
          <a:bodyPr wrap="none" anchor="t" lIns="0" tIns="0" rIns="0" bIns="0">
            <a:noAutofit/>
          </a:bodyPr>
          <a:lstStyle/>
          <a:p>
            <a:pPr algn="l" marL="0" indent="0">
              <a:lnSpc>
                <a:spcPts val="1600"/>
              </a:lnSpc>
              <a:buNone/>
            </a:pPr>
            <a:r>
              <a:rPr lang="zh-CN" altLang="en-US" sz="1100" b="1">
                <a:solidFill>
                  <a:srgbClr val="1A1A1A"/>
                </a:solidFill>
                <a:latin typeface="微软雅黑"/>
                <a:ea typeface="微软雅黑"/>
                <a:cs typeface="微软雅黑"/>
              </a:rPr>
              <a:t>产出</a:t>
            </a:r>
          </a:p>
        </p:txBody>
      </p:sp>
      <p:sp>
        <p:nvSpPr>
          <p:cNvPr id="18" name="Rectangle 17"/>
          <p:cNvSpPr/>
          <p:nvPr/>
        </p:nvSpPr>
        <p:spPr>
          <a:xfrm>
            <a:off x="406400" y="5524500"/>
            <a:ext cx="1651000" cy="304800"/>
          </a:xfrm>
          <a:prstGeom prst="rect">
            <a:avLst/>
          </a:prstGeom>
          <a:solidFill>
            <a:srgbClr val="FAF1F1"/>
          </a:solidFill>
          <a:ln>
            <a:noFill/>
          </a:ln>
        </p:spPr>
        <p:txBody>
          <a:bodyPr rtlCol="0" anchor="ctr" lIns="0" rIns="0" tIns="0" bIns="0"/>
          <a:lstStyle/>
          <a:p>
            <a:pPr algn="ctr"/>
          </a:p>
        </p:txBody>
      </p:sp>
      <p:sp>
        <p:nvSpPr>
          <p:cNvPr id="19" name="Rectangle 18"/>
          <p:cNvSpPr/>
          <p:nvPr/>
        </p:nvSpPr>
        <p:spPr>
          <a:xfrm>
            <a:off x="406400" y="5524500"/>
            <a:ext cx="19050" cy="304800"/>
          </a:xfrm>
          <a:prstGeom prst="rect">
            <a:avLst/>
          </a:prstGeom>
          <a:solidFill>
            <a:srgbClr val="8E0000"/>
          </a:solidFill>
          <a:ln>
            <a:noFill/>
          </a:ln>
        </p:spPr>
        <p:txBody>
          <a:bodyPr rtlCol="0" anchor="ctr" lIns="0" rIns="0" tIns="0" bIns="0"/>
          <a:lstStyle/>
          <a:p>
            <a:pPr algn="ctr"/>
          </a:p>
        </p:txBody>
      </p:sp>
      <p:sp>
        <p:nvSpPr>
          <p:cNvPr id="20" name="TextBox 19"/>
          <p:cNvSpPr txBox="1"/>
          <p:nvPr/>
        </p:nvSpPr>
        <p:spPr>
          <a:xfrm>
            <a:off x="501650" y="5524500"/>
            <a:ext cx="1479550" cy="304800"/>
          </a:xfrm>
          <a:prstGeom prst="rect">
            <a:avLst/>
          </a:prstGeom>
          <a:noFill/>
        </p:spPr>
        <p:txBody>
          <a:bodyPr wrap="square" anchor="ctr" lIns="0" tIns="0" rIns="0" bIns="0">
            <a:noAutofit/>
          </a:bodyPr>
          <a:lstStyle/>
          <a:p>
            <a:pPr algn="l" marL="0" indent="0">
              <a:lnSpc>
                <a:spcPts val="1300"/>
              </a:lnSpc>
              <a:buNone/>
            </a:pPr>
            <a:r>
              <a:rPr lang="zh-CN" altLang="en-US" sz="900" b="1">
                <a:solidFill>
                  <a:srgbClr val="8E0000"/>
                </a:solidFill>
                <a:latin typeface="微软雅黑"/>
                <a:ea typeface="微软雅黑"/>
                <a:cs typeface="微软雅黑"/>
              </a:rPr>
              <a:t>✓ 列车级数字样机</a:t>
            </a:r>
          </a:p>
        </p:txBody>
      </p:sp>
      <p:sp>
        <p:nvSpPr>
          <p:cNvPr id="21" name="Rectangle 20"/>
          <p:cNvSpPr/>
          <p:nvPr/>
        </p:nvSpPr>
        <p:spPr>
          <a:xfrm>
            <a:off x="406400" y="5880100"/>
            <a:ext cx="1651000" cy="469900"/>
          </a:xfrm>
          <a:prstGeom prst="rect">
            <a:avLst/>
          </a:prstGeom>
          <a:solidFill>
            <a:srgbClr val="FAF1F1"/>
          </a:solidFill>
          <a:ln>
            <a:noFill/>
          </a:ln>
        </p:spPr>
        <p:txBody>
          <a:bodyPr rtlCol="0" anchor="ctr" lIns="0" rIns="0" tIns="0" bIns="0"/>
          <a:lstStyle/>
          <a:p>
            <a:pPr algn="ctr"/>
          </a:p>
        </p:txBody>
      </p:sp>
      <p:sp>
        <p:nvSpPr>
          <p:cNvPr id="22" name="Rectangle 21"/>
          <p:cNvSpPr/>
          <p:nvPr/>
        </p:nvSpPr>
        <p:spPr>
          <a:xfrm>
            <a:off x="406400" y="5880100"/>
            <a:ext cx="19050" cy="469900"/>
          </a:xfrm>
          <a:prstGeom prst="rect">
            <a:avLst/>
          </a:prstGeom>
          <a:solidFill>
            <a:srgbClr val="8E0000"/>
          </a:solidFill>
          <a:ln>
            <a:noFill/>
          </a:ln>
        </p:spPr>
        <p:txBody>
          <a:bodyPr rtlCol="0" anchor="ctr" lIns="0" rIns="0" tIns="0" bIns="0"/>
          <a:lstStyle/>
          <a:p>
            <a:pPr algn="ctr"/>
          </a:p>
        </p:txBody>
      </p:sp>
      <p:sp>
        <p:nvSpPr>
          <p:cNvPr id="23" name="TextBox 22"/>
          <p:cNvSpPr txBox="1"/>
          <p:nvPr/>
        </p:nvSpPr>
        <p:spPr>
          <a:xfrm>
            <a:off x="501650" y="5880100"/>
            <a:ext cx="1479550" cy="469900"/>
          </a:xfrm>
          <a:prstGeom prst="rect">
            <a:avLst/>
          </a:prstGeom>
          <a:noFill/>
        </p:spPr>
        <p:txBody>
          <a:bodyPr wrap="square" anchor="ctr" lIns="0" tIns="0" rIns="0" bIns="0">
            <a:noAutofit/>
          </a:bodyPr>
          <a:lstStyle/>
          <a:p>
            <a:pPr algn="l" marL="0" indent="0">
              <a:lnSpc>
                <a:spcPts val="1300"/>
              </a:lnSpc>
              <a:buNone/>
            </a:pPr>
            <a:r>
              <a:rPr lang="zh-CN" altLang="en-US" sz="900" b="1">
                <a:solidFill>
                  <a:srgbClr val="8E0000"/>
                </a:solidFill>
                <a:latin typeface="微软雅黑"/>
                <a:ea typeface="微软雅黑"/>
                <a:cs typeface="微软雅黑"/>
              </a:rPr>
              <a:t>✓ 列车级数字样机构建方法体系与集成技术规范</a:t>
            </a:r>
          </a:p>
        </p:txBody>
      </p:sp>
      <p:sp>
        <p:nvSpPr>
          <p:cNvPr id="24" name="Rectangle 23"/>
          <p:cNvSpPr/>
          <p:nvPr/>
        </p:nvSpPr>
        <p:spPr>
          <a:xfrm>
            <a:off x="2260600" y="2082800"/>
            <a:ext cx="9525000" cy="660400"/>
          </a:xfrm>
          <a:prstGeom prst="rect">
            <a:avLst/>
          </a:prstGeom>
          <a:solidFill>
            <a:srgbClr val="FFFFFF"/>
          </a:solidFill>
          <a:ln w="6350">
            <a:solidFill>
              <a:srgbClr val="E9E9E9"/>
            </a:solidFill>
            <a:round/>
          </a:ln>
        </p:spPr>
        <p:txBody>
          <a:bodyPr rtlCol="0" anchor="ctr" lIns="0" rIns="0" tIns="0" bIns="0"/>
          <a:lstStyle/>
          <a:p>
            <a:pPr algn="ctr"/>
          </a:p>
        </p:txBody>
      </p:sp>
      <p:sp>
        <p:nvSpPr>
          <p:cNvPr id="25" name="Rectangle 24"/>
          <p:cNvSpPr/>
          <p:nvPr/>
        </p:nvSpPr>
        <p:spPr>
          <a:xfrm>
            <a:off x="2260600" y="2082800"/>
            <a:ext cx="19050" cy="660400"/>
          </a:xfrm>
          <a:prstGeom prst="rect">
            <a:avLst/>
          </a:prstGeom>
          <a:solidFill>
            <a:srgbClr val="C00000"/>
          </a:solidFill>
          <a:ln>
            <a:noFill/>
          </a:ln>
        </p:spPr>
        <p:txBody>
          <a:bodyPr rtlCol="0" anchor="ctr" lIns="0" rIns="0" tIns="0" bIns="0"/>
          <a:lstStyle/>
          <a:p>
            <a:pPr algn="ctr"/>
          </a:p>
        </p:txBody>
      </p:sp>
      <p:sp>
        <p:nvSpPr>
          <p:cNvPr id="26" name="Rectangle 25"/>
          <p:cNvSpPr/>
          <p:nvPr/>
        </p:nvSpPr>
        <p:spPr>
          <a:xfrm>
            <a:off x="2413000" y="2159000"/>
            <a:ext cx="635000" cy="177800"/>
          </a:xfrm>
          <a:prstGeom prst="rect">
            <a:avLst/>
          </a:prstGeom>
          <a:solidFill>
            <a:srgbClr val="FFFFFF"/>
          </a:solidFill>
          <a:ln w="6350">
            <a:solidFill>
              <a:srgbClr val="C00000"/>
            </a:solidFill>
            <a:round/>
          </a:ln>
        </p:spPr>
        <p:txBody>
          <a:bodyPr rtlCol="0" anchor="ctr" lIns="0" rIns="0" tIns="0" bIns="0" wrap="none">
            <a:noAutofit/>
          </a:bodyPr>
          <a:lstStyle/>
          <a:p>
            <a:pPr algn="ctr" marL="0" indent="0">
              <a:lnSpc>
                <a:spcPts val="1050"/>
              </a:lnSpc>
              <a:buNone/>
            </a:pPr>
            <a:r>
              <a:rPr lang="zh-CN" altLang="en-US" sz="800" b="1">
                <a:solidFill>
                  <a:srgbClr val="C00000"/>
                </a:solidFill>
                <a:latin typeface="微软雅黑"/>
                <a:ea typeface="微软雅黑"/>
                <a:cs typeface="微软雅黑"/>
              </a:rPr>
              <a:t>现状与问题</a:t>
            </a:r>
          </a:p>
        </p:txBody>
      </p:sp>
      <p:sp>
        <p:nvSpPr>
          <p:cNvPr id="27" name="TextBox 26"/>
          <p:cNvSpPr txBox="1"/>
          <p:nvPr/>
        </p:nvSpPr>
        <p:spPr>
          <a:xfrm>
            <a:off x="2413000" y="2374900"/>
            <a:ext cx="5384800" cy="342900"/>
          </a:xfrm>
          <a:prstGeom prst="rect">
            <a:avLst/>
          </a:prstGeom>
          <a:noFill/>
        </p:spPr>
        <p:txBody>
          <a:bodyPr wrap="square" anchor="t" lIns="0" tIns="0" rIns="0" bIns="0">
            <a:noAutofit/>
          </a:bodyPr>
          <a:lstStyle/>
          <a:p>
            <a:pPr algn="l" marL="0" indent="0">
              <a:lnSpc>
                <a:spcPts val="1350"/>
              </a:lnSpc>
              <a:buNone/>
            </a:pPr>
            <a:r>
              <a:rPr lang="zh-CN" altLang="en-US" sz="900" b="0">
                <a:solidFill>
                  <a:srgbClr val="1A1A1A"/>
                </a:solidFill>
                <a:latin typeface="微软雅黑"/>
                <a:ea typeface="微软雅黑"/>
                <a:cs typeface="微软雅黑"/>
              </a:rPr>
              <a:t>台架以控制器为核心，其他系统靠经验数据近似，多系统难以同台协同，复杂场景无法模拟。</a:t>
            </a:r>
          </a:p>
        </p:txBody>
      </p:sp>
      <p:cxnSp>
        <p:nvCxnSpPr>
          <p:cNvPr id="28" name="Connector 27"/>
          <p:cNvCxnSpPr/>
          <p:nvPr/>
        </p:nvCxnSpPr>
        <p:spPr>
          <a:xfrm>
            <a:off x="7975600" y="2184400"/>
            <a:ext cx="0" cy="457200"/>
          </a:xfrm>
          <a:prstGeom prst="line">
            <a:avLst/>
          </a:prstGeom>
          <a:ln w="6350">
            <a:solidFill>
              <a:srgbClr val="DEDEDE"/>
            </a:solidFill>
            <a:round/>
          </a:ln>
        </p:spPr>
      </p:cxnSp>
      <p:sp>
        <p:nvSpPr>
          <p:cNvPr id="29" name="TextBox 28"/>
          <p:cNvSpPr txBox="1"/>
          <p:nvPr/>
        </p:nvSpPr>
        <p:spPr>
          <a:xfrm>
            <a:off x="8153400" y="2159000"/>
            <a:ext cx="1524000" cy="177800"/>
          </a:xfrm>
          <a:prstGeom prst="rect">
            <a:avLst/>
          </a:prstGeom>
          <a:noFill/>
        </p:spPr>
        <p:txBody>
          <a:bodyPr wrap="none" anchor="ctr" lIns="0" tIns="0" rIns="0" bIns="0">
            <a:noAutofit/>
          </a:bodyPr>
          <a:lstStyle/>
          <a:p>
            <a:pPr algn="l" marL="0" indent="0">
              <a:lnSpc>
                <a:spcPts val="1100"/>
              </a:lnSpc>
              <a:buNone/>
            </a:pPr>
            <a:r>
              <a:rPr lang="zh-CN" altLang="en-US" sz="800" b="1">
                <a:solidFill>
                  <a:srgbClr val="8C8C8C"/>
                </a:solidFill>
                <a:latin typeface="微软雅黑"/>
                <a:ea typeface="微软雅黑"/>
                <a:cs typeface="微软雅黑"/>
              </a:rPr>
              <a:t>研究方法</a:t>
            </a:r>
          </a:p>
        </p:txBody>
      </p:sp>
      <p:sp>
        <p:nvSpPr>
          <p:cNvPr id="30" name="TextBox 29"/>
          <p:cNvSpPr txBox="1"/>
          <p:nvPr/>
        </p:nvSpPr>
        <p:spPr>
          <a:xfrm>
            <a:off x="8153400" y="2374900"/>
            <a:ext cx="3454400" cy="342900"/>
          </a:xfrm>
          <a:prstGeom prst="rect">
            <a:avLst/>
          </a:prstGeom>
          <a:noFill/>
        </p:spPr>
        <p:txBody>
          <a:bodyPr wrap="square" anchor="t" lIns="0" tIns="0" rIns="0" bIns="0">
            <a:noAutofit/>
          </a:bodyPr>
          <a:lstStyle/>
          <a:p>
            <a:pPr algn="l" marL="0" indent="0">
              <a:lnSpc>
                <a:spcPts val="1350"/>
              </a:lnSpc>
              <a:buNone/>
            </a:pPr>
            <a:r>
              <a:rPr lang="zh-CN" altLang="en-US" sz="900" b="1">
                <a:solidFill>
                  <a:srgbClr val="1A1A1A"/>
                </a:solidFill>
                <a:latin typeface="微软雅黑"/>
                <a:ea typeface="微软雅黑"/>
                <a:cs typeface="微软雅黑"/>
              </a:rPr>
              <a:t>系统集成</a:t>
            </a:r>
            <a:r>
              <a:rPr lang="zh-CN" altLang="en-US" sz="900" b="0">
                <a:solidFill>
                  <a:srgbClr val="3D3D3D"/>
                </a:solidFill>
                <a:latin typeface="微软雅黑"/>
                <a:ea typeface="微软雅黑"/>
                <a:cs typeface="微软雅黑"/>
              </a:rPr>
              <a:t>：标准化接口、服务化封装、沙箱化运行与全程留痕。难点：异构模型实时协同的稳定与可复现。</a:t>
            </a:r>
          </a:p>
        </p:txBody>
      </p:sp>
      <p:sp>
        <p:nvSpPr>
          <p:cNvPr id="31" name="Rectangle 30"/>
          <p:cNvSpPr/>
          <p:nvPr/>
        </p:nvSpPr>
        <p:spPr>
          <a:xfrm>
            <a:off x="2260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32" name="Rectangle 31"/>
          <p:cNvSpPr/>
          <p:nvPr/>
        </p:nvSpPr>
        <p:spPr>
          <a:xfrm>
            <a:off x="2260600" y="2819400"/>
            <a:ext cx="2286000" cy="19050"/>
          </a:xfrm>
          <a:prstGeom prst="rect">
            <a:avLst/>
          </a:prstGeom>
          <a:solidFill>
            <a:srgbClr val="8E0000"/>
          </a:solidFill>
          <a:ln>
            <a:noFill/>
          </a:ln>
        </p:spPr>
        <p:txBody>
          <a:bodyPr rtlCol="0" anchor="ctr" lIns="0" rIns="0" tIns="0" bIns="0"/>
          <a:lstStyle/>
          <a:p>
            <a:pPr algn="ctr"/>
          </a:p>
        </p:txBody>
      </p:sp>
      <p:sp>
        <p:nvSpPr>
          <p:cNvPr id="33" name="TextBox 32"/>
          <p:cNvSpPr txBox="1"/>
          <p:nvPr/>
        </p:nvSpPr>
        <p:spPr>
          <a:xfrm>
            <a:off x="2400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8E0000"/>
                </a:solidFill>
                <a:latin typeface="Consolas"/>
                <a:ea typeface="微软雅黑"/>
                <a:cs typeface="Consolas"/>
              </a:rPr>
              <a:t>01</a:t>
            </a:r>
            <a:r>
              <a:rPr lang="zh-CN" altLang="en-US" sz="1000" b="1">
                <a:solidFill>
                  <a:srgbClr val="1A1A1A"/>
                </a:solidFill>
                <a:latin typeface="微软雅黑"/>
                <a:ea typeface="微软雅黑"/>
                <a:cs typeface="微软雅黑"/>
              </a:rPr>
              <a:t>  总体架构与接口规范</a:t>
            </a:r>
          </a:p>
        </p:txBody>
      </p:sp>
      <p:sp>
        <p:nvSpPr>
          <p:cNvPr id="34" name="TextBox 33"/>
          <p:cNvSpPr txBox="1"/>
          <p:nvPr/>
        </p:nvSpPr>
        <p:spPr>
          <a:xfrm>
            <a:off x="2400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四层接口规范；模型、台架标准接入</a:t>
            </a:r>
          </a:p>
        </p:txBody>
      </p:sp>
      <p:sp>
        <p:nvSpPr>
          <p:cNvPr id="35" name="Rectangle 34"/>
          <p:cNvSpPr/>
          <p:nvPr/>
        </p:nvSpPr>
        <p:spPr>
          <a:xfrm>
            <a:off x="4673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36" name="Rectangle 35"/>
          <p:cNvSpPr/>
          <p:nvPr/>
        </p:nvSpPr>
        <p:spPr>
          <a:xfrm>
            <a:off x="4673600" y="2819400"/>
            <a:ext cx="2286000" cy="19050"/>
          </a:xfrm>
          <a:prstGeom prst="rect">
            <a:avLst/>
          </a:prstGeom>
          <a:solidFill>
            <a:srgbClr val="8E0000"/>
          </a:solidFill>
          <a:ln>
            <a:noFill/>
          </a:ln>
        </p:spPr>
        <p:txBody>
          <a:bodyPr rtlCol="0" anchor="ctr" lIns="0" rIns="0" tIns="0" bIns="0"/>
          <a:lstStyle/>
          <a:p>
            <a:pPr algn="ctr"/>
          </a:p>
        </p:txBody>
      </p:sp>
      <p:sp>
        <p:nvSpPr>
          <p:cNvPr id="37" name="TextBox 36"/>
          <p:cNvSpPr txBox="1"/>
          <p:nvPr/>
        </p:nvSpPr>
        <p:spPr>
          <a:xfrm>
            <a:off x="4813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8E0000"/>
                </a:solidFill>
                <a:latin typeface="Consolas"/>
                <a:ea typeface="微软雅黑"/>
                <a:cs typeface="Consolas"/>
              </a:rPr>
              <a:t>02</a:t>
            </a:r>
            <a:r>
              <a:rPr lang="zh-CN" altLang="en-US" sz="1000" b="1">
                <a:solidFill>
                  <a:srgbClr val="1A1A1A"/>
                </a:solidFill>
                <a:latin typeface="微软雅黑"/>
                <a:ea typeface="微软雅黑"/>
                <a:cs typeface="微软雅黑"/>
              </a:rPr>
              <a:t>  多智能体协同运行</a:t>
            </a:r>
          </a:p>
        </p:txBody>
      </p:sp>
      <p:sp>
        <p:nvSpPr>
          <p:cNvPr id="38" name="TextBox 37"/>
          <p:cNvSpPr txBox="1"/>
          <p:nvPr/>
        </p:nvSpPr>
        <p:spPr>
          <a:xfrm>
            <a:off x="4813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实时协同求解，时序与状态同步</a:t>
            </a:r>
          </a:p>
        </p:txBody>
      </p:sp>
      <p:sp>
        <p:nvSpPr>
          <p:cNvPr id="39" name="Rectangle 38"/>
          <p:cNvSpPr/>
          <p:nvPr/>
        </p:nvSpPr>
        <p:spPr>
          <a:xfrm>
            <a:off x="7086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40" name="Rectangle 39"/>
          <p:cNvSpPr/>
          <p:nvPr/>
        </p:nvSpPr>
        <p:spPr>
          <a:xfrm>
            <a:off x="7086600" y="2819400"/>
            <a:ext cx="2286000" cy="19050"/>
          </a:xfrm>
          <a:prstGeom prst="rect">
            <a:avLst/>
          </a:prstGeom>
          <a:solidFill>
            <a:srgbClr val="8E0000"/>
          </a:solidFill>
          <a:ln>
            <a:noFill/>
          </a:ln>
        </p:spPr>
        <p:txBody>
          <a:bodyPr rtlCol="0" anchor="ctr" lIns="0" rIns="0" tIns="0" bIns="0"/>
          <a:lstStyle/>
          <a:p>
            <a:pPr algn="ctr"/>
          </a:p>
        </p:txBody>
      </p:sp>
      <p:sp>
        <p:nvSpPr>
          <p:cNvPr id="41" name="TextBox 40"/>
          <p:cNvSpPr txBox="1"/>
          <p:nvPr/>
        </p:nvSpPr>
        <p:spPr>
          <a:xfrm>
            <a:off x="7226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8E0000"/>
                </a:solidFill>
                <a:latin typeface="Consolas"/>
                <a:ea typeface="微软雅黑"/>
                <a:cs typeface="Consolas"/>
              </a:rPr>
              <a:t>03</a:t>
            </a:r>
            <a:r>
              <a:rPr lang="zh-CN" altLang="en-US" sz="1000" b="1">
                <a:solidFill>
                  <a:srgbClr val="1A1A1A"/>
                </a:solidFill>
                <a:latin typeface="微软雅黑"/>
                <a:ea typeface="微软雅黑"/>
                <a:cs typeface="微软雅黑"/>
              </a:rPr>
              <a:t>  可复现沙箱</a:t>
            </a:r>
          </a:p>
        </p:txBody>
      </p:sp>
      <p:sp>
        <p:nvSpPr>
          <p:cNvPr id="42" name="TextBox 41"/>
          <p:cNvSpPr txBox="1"/>
          <p:nvPr/>
        </p:nvSpPr>
        <p:spPr>
          <a:xfrm>
            <a:off x="7226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隔离、记录、回放，每次可复现</a:t>
            </a:r>
          </a:p>
        </p:txBody>
      </p:sp>
      <p:sp>
        <p:nvSpPr>
          <p:cNvPr id="43" name="Rectangle 42"/>
          <p:cNvSpPr/>
          <p:nvPr/>
        </p:nvSpPr>
        <p:spPr>
          <a:xfrm>
            <a:off x="9499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44" name="Rectangle 43"/>
          <p:cNvSpPr/>
          <p:nvPr/>
        </p:nvSpPr>
        <p:spPr>
          <a:xfrm>
            <a:off x="9499600" y="2819400"/>
            <a:ext cx="2286000" cy="19050"/>
          </a:xfrm>
          <a:prstGeom prst="rect">
            <a:avLst/>
          </a:prstGeom>
          <a:solidFill>
            <a:srgbClr val="8E0000"/>
          </a:solidFill>
          <a:ln>
            <a:noFill/>
          </a:ln>
        </p:spPr>
        <p:txBody>
          <a:bodyPr rtlCol="0" anchor="ctr" lIns="0" rIns="0" tIns="0" bIns="0"/>
          <a:lstStyle/>
          <a:p>
            <a:pPr algn="ctr"/>
          </a:p>
        </p:txBody>
      </p:sp>
      <p:sp>
        <p:nvSpPr>
          <p:cNvPr id="45" name="TextBox 44"/>
          <p:cNvSpPr txBox="1"/>
          <p:nvPr/>
        </p:nvSpPr>
        <p:spPr>
          <a:xfrm>
            <a:off x="9639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8E0000"/>
                </a:solidFill>
                <a:latin typeface="Consolas"/>
                <a:ea typeface="微软雅黑"/>
                <a:cs typeface="Consolas"/>
              </a:rPr>
              <a:t>04</a:t>
            </a:r>
            <a:r>
              <a:rPr lang="zh-CN" altLang="en-US" sz="1000" b="1">
                <a:solidFill>
                  <a:srgbClr val="1A1A1A"/>
                </a:solidFill>
                <a:latin typeface="微软雅黑"/>
                <a:ea typeface="微软雅黑"/>
                <a:cs typeface="微软雅黑"/>
              </a:rPr>
              <a:t>  列车级数字样机</a:t>
            </a:r>
          </a:p>
        </p:txBody>
      </p:sp>
      <p:sp>
        <p:nvSpPr>
          <p:cNvPr id="46" name="TextBox 45"/>
          <p:cNvSpPr txBox="1"/>
          <p:nvPr/>
        </p:nvSpPr>
        <p:spPr>
          <a:xfrm>
            <a:off x="9639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以 </a:t>
            </a:r>
            <a:r>
              <a:rPr lang="zh-CN" altLang="en-US" sz="950" b="1">
                <a:solidFill>
                  <a:srgbClr val="1A1A1A"/>
                </a:solidFill>
                <a:latin typeface="微软雅黑"/>
                <a:ea typeface="微软雅黑"/>
                <a:cs typeface="微软雅黑"/>
              </a:rPr>
              <a:t>FXN5C</a:t>
            </a:r>
            <a:r>
              <a:rPr lang="zh-CN" altLang="en-US" sz="950" b="0">
                <a:solidFill>
                  <a:srgbClr val="3D3D3D"/>
                </a:solidFill>
                <a:latin typeface="微软雅黑"/>
                <a:ea typeface="微软雅黑"/>
                <a:cs typeface="微软雅黑"/>
              </a:rPr>
              <a:t> 为对象集成关键系统</a:t>
            </a:r>
          </a:p>
        </p:txBody>
      </p:sp>
      <p:sp>
        <p:nvSpPr>
          <p:cNvPr id="47" name="TextBox 46"/>
          <p:cNvSpPr txBox="1"/>
          <p:nvPr/>
        </p:nvSpPr>
        <p:spPr>
          <a:xfrm>
            <a:off x="2260600" y="3530600"/>
            <a:ext cx="9525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典型应用：FXN5C 临哈线控速＋能耗验证</a:t>
            </a:r>
          </a:p>
        </p:txBody>
      </p:sp>
      <p:sp>
        <p:nvSpPr>
          <p:cNvPr id="48" name="TextBox 47"/>
          <p:cNvSpPr txBox="1"/>
          <p:nvPr/>
        </p:nvSpPr>
        <p:spPr>
          <a:xfrm>
            <a:off x="5192236" y="3530600"/>
            <a:ext cx="6593364" cy="228600"/>
          </a:xfrm>
          <a:prstGeom prst="rect">
            <a:avLst/>
          </a:prstGeom>
          <a:noFill/>
        </p:spPr>
        <p:txBody>
          <a:bodyPr wrap="none" anchor="ctr" lIns="0" tIns="0" rIns="0" bIns="0">
            <a:noAutofit/>
          </a:bodyPr>
          <a:lstStyle/>
          <a:p>
            <a:pPr algn="l" marL="0" indent="0">
              <a:lnSpc>
                <a:spcPts val="1300"/>
              </a:lnSpc>
              <a:buNone/>
            </a:pPr>
            <a:r>
              <a:rPr lang="zh-CN" altLang="en-US" sz="950" b="1">
                <a:solidFill>
                  <a:srgbClr val="8C8C8C"/>
                </a:solidFill>
                <a:latin typeface="微软雅黑"/>
                <a:ea typeface="微软雅黑"/>
                <a:cs typeface="微软雅黑"/>
              </a:rPr>
              <a:t>全流程交给智能体</a:t>
            </a:r>
          </a:p>
        </p:txBody>
      </p:sp>
      <p:sp>
        <p:nvSpPr>
          <p:cNvPr id="49" name="Rectangle 48"/>
          <p:cNvSpPr/>
          <p:nvPr/>
        </p:nvSpPr>
        <p:spPr>
          <a:xfrm>
            <a:off x="2260600" y="3822700"/>
            <a:ext cx="9525000" cy="304800"/>
          </a:xfrm>
          <a:prstGeom prst="rect">
            <a:avLst/>
          </a:prstGeom>
          <a:solidFill>
            <a:srgbClr val="F9F9F9"/>
          </a:solidFill>
          <a:ln>
            <a:noFill/>
          </a:ln>
        </p:spPr>
        <p:txBody>
          <a:bodyPr rtlCol="0" anchor="ctr" lIns="0" rIns="0" tIns="0" bIns="0"/>
          <a:lstStyle/>
          <a:p>
            <a:pPr algn="ctr"/>
          </a:p>
        </p:txBody>
      </p:sp>
      <p:sp>
        <p:nvSpPr>
          <p:cNvPr id="50" name="TextBox 49"/>
          <p:cNvSpPr txBox="1"/>
          <p:nvPr/>
        </p:nvSpPr>
        <p:spPr>
          <a:xfrm>
            <a:off x="2413000" y="3822700"/>
            <a:ext cx="825500" cy="304800"/>
          </a:xfrm>
          <a:prstGeom prst="rect">
            <a:avLst/>
          </a:prstGeom>
          <a:noFill/>
        </p:spPr>
        <p:txBody>
          <a:bodyPr wrap="none" anchor="ctr" lIns="0" tIns="0" rIns="0" bIns="0">
            <a:noAutofit/>
          </a:bodyPr>
          <a:lstStyle/>
          <a:p>
            <a:pPr algn="l" marL="0" indent="0">
              <a:lnSpc>
                <a:spcPts val="1200"/>
              </a:lnSpc>
              <a:buNone/>
            </a:pPr>
            <a:r>
              <a:rPr lang="zh-CN" altLang="en-US" sz="900" b="1">
                <a:solidFill>
                  <a:srgbClr val="666666"/>
                </a:solidFill>
                <a:latin typeface="微软雅黑"/>
                <a:ea typeface="微软雅黑"/>
                <a:cs typeface="微软雅黑"/>
              </a:rPr>
              <a:t>一句话需求</a:t>
            </a:r>
          </a:p>
        </p:txBody>
      </p:sp>
      <p:cxnSp>
        <p:nvCxnSpPr>
          <p:cNvPr id="51" name="Connector 50"/>
          <p:cNvCxnSpPr/>
          <p:nvPr/>
        </p:nvCxnSpPr>
        <p:spPr>
          <a:xfrm>
            <a:off x="3263900" y="3898900"/>
            <a:ext cx="0" cy="152400"/>
          </a:xfrm>
          <a:prstGeom prst="line">
            <a:avLst/>
          </a:prstGeom>
          <a:ln w="6350">
            <a:solidFill>
              <a:srgbClr val="DEDEDE"/>
            </a:solidFill>
            <a:round/>
          </a:ln>
        </p:spPr>
      </p:cxnSp>
      <p:pic>
        <p:nvPicPr>
          <p:cNvPr id="52" name="Picture 51" descr="quote-8C8C8C-1_6.png"/>
          <p:cNvPicPr>
            <a:picLocks noChangeAspect="1"/>
          </p:cNvPicPr>
          <p:nvPr/>
        </p:nvPicPr>
        <p:blipFill>
          <a:blip r:embed="rId2"/>
          <a:stretch>
            <a:fillRect/>
          </a:stretch>
        </p:blipFill>
        <p:spPr>
          <a:xfrm>
            <a:off x="3390900" y="3892550"/>
            <a:ext cx="165100" cy="165100"/>
          </a:xfrm>
          <a:prstGeom prst="rect">
            <a:avLst/>
          </a:prstGeom>
        </p:spPr>
      </p:pic>
      <p:sp>
        <p:nvSpPr>
          <p:cNvPr id="53" name="TextBox 52"/>
          <p:cNvSpPr txBox="1"/>
          <p:nvPr/>
        </p:nvSpPr>
        <p:spPr>
          <a:xfrm>
            <a:off x="3644900" y="3822700"/>
            <a:ext cx="7988300" cy="304800"/>
          </a:xfrm>
          <a:prstGeom prst="rect">
            <a:avLst/>
          </a:prstGeom>
          <a:noFill/>
        </p:spPr>
        <p:txBody>
          <a:bodyPr wrap="none" anchor="ctr"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验证 FXN5C 在临哈线上按给定运行图运行时的速度跟踪与牵引能耗是否满足要求。</a:t>
            </a:r>
          </a:p>
        </p:txBody>
      </p:sp>
      <p:sp>
        <p:nvSpPr>
          <p:cNvPr id="54" name="Rectangle 53"/>
          <p:cNvSpPr/>
          <p:nvPr/>
        </p:nvSpPr>
        <p:spPr>
          <a:xfrm>
            <a:off x="2260600" y="4216400"/>
            <a:ext cx="1803400" cy="787400"/>
          </a:xfrm>
          <a:prstGeom prst="rect">
            <a:avLst/>
          </a:prstGeom>
          <a:solidFill>
            <a:srgbClr val="FFFFFF"/>
          </a:solidFill>
          <a:ln w="6350">
            <a:solidFill>
              <a:srgbClr val="E9E9E9"/>
            </a:solidFill>
            <a:round/>
          </a:ln>
        </p:spPr>
        <p:txBody>
          <a:bodyPr rtlCol="0" anchor="ctr" lIns="0" rIns="0" tIns="0" bIns="0"/>
          <a:lstStyle/>
          <a:p>
            <a:pPr algn="ctr"/>
          </a:p>
        </p:txBody>
      </p:sp>
      <p:sp>
        <p:nvSpPr>
          <p:cNvPr id="55" name="Rectangle 54"/>
          <p:cNvSpPr/>
          <p:nvPr/>
        </p:nvSpPr>
        <p:spPr>
          <a:xfrm>
            <a:off x="2260600" y="4216400"/>
            <a:ext cx="1803400" cy="19050"/>
          </a:xfrm>
          <a:prstGeom prst="rect">
            <a:avLst/>
          </a:prstGeom>
          <a:solidFill>
            <a:srgbClr val="8E0000"/>
          </a:solidFill>
          <a:ln>
            <a:noFill/>
          </a:ln>
        </p:spPr>
        <p:txBody>
          <a:bodyPr rtlCol="0" anchor="ctr" lIns="0" rIns="0" tIns="0" bIns="0"/>
          <a:lstStyle/>
          <a:p>
            <a:pPr algn="ctr"/>
          </a:p>
        </p:txBody>
      </p:sp>
      <p:sp>
        <p:nvSpPr>
          <p:cNvPr id="56" name="TextBox 55"/>
          <p:cNvSpPr txBox="1"/>
          <p:nvPr/>
        </p:nvSpPr>
        <p:spPr>
          <a:xfrm>
            <a:off x="2400300" y="4318000"/>
            <a:ext cx="15240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8E0000"/>
                </a:solidFill>
                <a:latin typeface="Consolas"/>
                <a:ea typeface="微软雅黑"/>
                <a:cs typeface="Consolas"/>
              </a:rPr>
              <a:t>01</a:t>
            </a:r>
            <a:r>
              <a:rPr lang="zh-CN" altLang="en-US" sz="1000" b="1">
                <a:solidFill>
                  <a:srgbClr val="1A1A1A"/>
                </a:solidFill>
                <a:latin typeface="微软雅黑"/>
                <a:ea typeface="微软雅黑"/>
                <a:cs typeface="微软雅黑"/>
              </a:rPr>
              <a:t>  任务理解</a:t>
            </a:r>
          </a:p>
        </p:txBody>
      </p:sp>
      <p:sp>
        <p:nvSpPr>
          <p:cNvPr id="57" name="TextBox 56"/>
          <p:cNvSpPr txBox="1"/>
          <p:nvPr/>
        </p:nvSpPr>
        <p:spPr>
          <a:xfrm>
            <a:off x="2400300" y="4584700"/>
            <a:ext cx="1524000" cy="368300"/>
          </a:xfrm>
          <a:prstGeom prst="rect">
            <a:avLst/>
          </a:prstGeom>
          <a:noFill/>
        </p:spPr>
        <p:txBody>
          <a:bodyPr wrap="square" anchor="t" lIns="0" tIns="0" rIns="0" bIns="0">
            <a:noAutofit/>
          </a:bodyPr>
          <a:lstStyle/>
          <a:p>
            <a:pPr algn="l" marL="0" indent="0">
              <a:lnSpc>
                <a:spcPts val="1300"/>
              </a:lnSpc>
              <a:buNone/>
            </a:pPr>
            <a:r>
              <a:rPr lang="zh-CN" altLang="en-US" sz="850" b="0">
                <a:solidFill>
                  <a:srgbClr val="3D3D3D"/>
                </a:solidFill>
                <a:latin typeface="微软雅黑"/>
                <a:ea typeface="微软雅黑"/>
                <a:cs typeface="微软雅黑"/>
              </a:rPr>
              <a:t>对象：牵引控制系统</a:t>
            </a:r>
            <a:br>
              <a:rPr lang="zh-CN" altLang="en-US" sz="850"/>
            </a:br>
            <a:r>
              <a:rPr lang="zh-CN" altLang="en-US" sz="850" b="0">
                <a:solidFill>
                  <a:srgbClr val="3D3D3D"/>
                </a:solidFill>
                <a:latin typeface="微软雅黑"/>
                <a:ea typeface="微软雅黑"/>
                <a:cs typeface="微软雅黑"/>
              </a:rPr>
              <a:t>性能：速度跟踪、牵引能耗</a:t>
            </a:r>
          </a:p>
        </p:txBody>
      </p:sp>
      <p:sp>
        <p:nvSpPr>
          <p:cNvPr id="58" name="Isosceles Triangle 57"/>
          <p:cNvSpPr/>
          <p:nvPr/>
        </p:nvSpPr>
        <p:spPr>
          <a:xfrm rot="5400000">
            <a:off x="4070350" y="4572000"/>
            <a:ext cx="114300" cy="76200"/>
          </a:xfrm>
          <a:prstGeom prst="triangle">
            <a:avLst/>
          </a:prstGeom>
          <a:solidFill>
            <a:srgbClr val="D2D2D2"/>
          </a:solidFill>
          <a:ln>
            <a:noFill/>
          </a:ln>
        </p:spPr>
        <p:txBody>
          <a:bodyPr rtlCol="0" anchor="ctr" lIns="0" rIns="0" tIns="0" bIns="0"/>
          <a:lstStyle/>
          <a:p>
            <a:pPr algn="ctr"/>
          </a:p>
        </p:txBody>
      </p:sp>
      <p:sp>
        <p:nvSpPr>
          <p:cNvPr id="59" name="Rectangle 58"/>
          <p:cNvSpPr/>
          <p:nvPr/>
        </p:nvSpPr>
        <p:spPr>
          <a:xfrm>
            <a:off x="4191000" y="4216400"/>
            <a:ext cx="1803400" cy="787400"/>
          </a:xfrm>
          <a:prstGeom prst="rect">
            <a:avLst/>
          </a:prstGeom>
          <a:solidFill>
            <a:srgbClr val="FFFFFF"/>
          </a:solidFill>
          <a:ln w="6350">
            <a:solidFill>
              <a:srgbClr val="E9E9E9"/>
            </a:solidFill>
            <a:round/>
          </a:ln>
        </p:spPr>
        <p:txBody>
          <a:bodyPr rtlCol="0" anchor="ctr" lIns="0" rIns="0" tIns="0" bIns="0"/>
          <a:lstStyle/>
          <a:p>
            <a:pPr algn="ctr"/>
          </a:p>
        </p:txBody>
      </p:sp>
      <p:sp>
        <p:nvSpPr>
          <p:cNvPr id="60" name="Rectangle 59"/>
          <p:cNvSpPr/>
          <p:nvPr/>
        </p:nvSpPr>
        <p:spPr>
          <a:xfrm>
            <a:off x="4191000" y="4216400"/>
            <a:ext cx="1803400" cy="19050"/>
          </a:xfrm>
          <a:prstGeom prst="rect">
            <a:avLst/>
          </a:prstGeom>
          <a:solidFill>
            <a:srgbClr val="8E0000"/>
          </a:solidFill>
          <a:ln>
            <a:noFill/>
          </a:ln>
        </p:spPr>
        <p:txBody>
          <a:bodyPr rtlCol="0" anchor="ctr" lIns="0" rIns="0" tIns="0" bIns="0"/>
          <a:lstStyle/>
          <a:p>
            <a:pPr algn="ctr"/>
          </a:p>
        </p:txBody>
      </p:sp>
      <p:sp>
        <p:nvSpPr>
          <p:cNvPr id="61" name="TextBox 60"/>
          <p:cNvSpPr txBox="1"/>
          <p:nvPr/>
        </p:nvSpPr>
        <p:spPr>
          <a:xfrm>
            <a:off x="4330700" y="4318000"/>
            <a:ext cx="15240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8E0000"/>
                </a:solidFill>
                <a:latin typeface="Consolas"/>
                <a:ea typeface="微软雅黑"/>
                <a:cs typeface="Consolas"/>
              </a:rPr>
              <a:t>02</a:t>
            </a:r>
            <a:r>
              <a:rPr lang="zh-CN" altLang="en-US" sz="1000" b="1">
                <a:solidFill>
                  <a:srgbClr val="1A1A1A"/>
                </a:solidFill>
                <a:latin typeface="微软雅黑"/>
                <a:ea typeface="微软雅黑"/>
                <a:cs typeface="微软雅黑"/>
              </a:rPr>
              <a:t>  工况生成</a:t>
            </a:r>
          </a:p>
        </p:txBody>
      </p:sp>
      <p:sp>
        <p:nvSpPr>
          <p:cNvPr id="62" name="TextBox 61"/>
          <p:cNvSpPr txBox="1"/>
          <p:nvPr/>
        </p:nvSpPr>
        <p:spPr>
          <a:xfrm>
            <a:off x="4330700" y="4584700"/>
            <a:ext cx="1524000" cy="368300"/>
          </a:xfrm>
          <a:prstGeom prst="rect">
            <a:avLst/>
          </a:prstGeom>
          <a:noFill/>
        </p:spPr>
        <p:txBody>
          <a:bodyPr wrap="square" anchor="t" lIns="0" tIns="0" rIns="0" bIns="0">
            <a:noAutofit/>
          </a:bodyPr>
          <a:lstStyle/>
          <a:p>
            <a:pPr algn="l" marL="0" indent="0">
              <a:lnSpc>
                <a:spcPts val="1300"/>
              </a:lnSpc>
              <a:buNone/>
            </a:pPr>
            <a:r>
              <a:rPr lang="zh-CN" altLang="en-US" sz="850" b="0">
                <a:solidFill>
                  <a:srgbClr val="3D3D3D"/>
                </a:solidFill>
                <a:latin typeface="微软雅黑"/>
                <a:ea typeface="微软雅黑"/>
                <a:cs typeface="微软雅黑"/>
              </a:rPr>
              <a:t>临哈线数据 × 轨面 × 载荷 × 坡道、曲线、隧道</a:t>
            </a:r>
          </a:p>
        </p:txBody>
      </p:sp>
      <p:sp>
        <p:nvSpPr>
          <p:cNvPr id="63" name="Isosceles Triangle 62"/>
          <p:cNvSpPr/>
          <p:nvPr/>
        </p:nvSpPr>
        <p:spPr>
          <a:xfrm rot="5400000">
            <a:off x="6000750" y="4572000"/>
            <a:ext cx="114300" cy="76200"/>
          </a:xfrm>
          <a:prstGeom prst="triangle">
            <a:avLst/>
          </a:prstGeom>
          <a:solidFill>
            <a:srgbClr val="D2D2D2"/>
          </a:solidFill>
          <a:ln>
            <a:noFill/>
          </a:ln>
        </p:spPr>
        <p:txBody>
          <a:bodyPr rtlCol="0" anchor="ctr" lIns="0" rIns="0" tIns="0" bIns="0"/>
          <a:lstStyle/>
          <a:p>
            <a:pPr algn="ctr"/>
          </a:p>
        </p:txBody>
      </p:sp>
      <p:sp>
        <p:nvSpPr>
          <p:cNvPr id="64" name="Rectangle 63"/>
          <p:cNvSpPr/>
          <p:nvPr/>
        </p:nvSpPr>
        <p:spPr>
          <a:xfrm>
            <a:off x="6121400" y="4216400"/>
            <a:ext cx="1803400" cy="787400"/>
          </a:xfrm>
          <a:prstGeom prst="rect">
            <a:avLst/>
          </a:prstGeom>
          <a:solidFill>
            <a:srgbClr val="FFFFFF"/>
          </a:solidFill>
          <a:ln w="6350">
            <a:solidFill>
              <a:srgbClr val="E9E9E9"/>
            </a:solidFill>
            <a:round/>
          </a:ln>
        </p:spPr>
        <p:txBody>
          <a:bodyPr rtlCol="0" anchor="ctr" lIns="0" rIns="0" tIns="0" bIns="0"/>
          <a:lstStyle/>
          <a:p>
            <a:pPr algn="ctr"/>
          </a:p>
        </p:txBody>
      </p:sp>
      <p:sp>
        <p:nvSpPr>
          <p:cNvPr id="65" name="Rectangle 64"/>
          <p:cNvSpPr/>
          <p:nvPr/>
        </p:nvSpPr>
        <p:spPr>
          <a:xfrm>
            <a:off x="6121400" y="4216400"/>
            <a:ext cx="1803400" cy="19050"/>
          </a:xfrm>
          <a:prstGeom prst="rect">
            <a:avLst/>
          </a:prstGeom>
          <a:solidFill>
            <a:srgbClr val="8E0000"/>
          </a:solidFill>
          <a:ln>
            <a:noFill/>
          </a:ln>
        </p:spPr>
        <p:txBody>
          <a:bodyPr rtlCol="0" anchor="ctr" lIns="0" rIns="0" tIns="0" bIns="0"/>
          <a:lstStyle/>
          <a:p>
            <a:pPr algn="ctr"/>
          </a:p>
        </p:txBody>
      </p:sp>
      <p:sp>
        <p:nvSpPr>
          <p:cNvPr id="66" name="TextBox 65"/>
          <p:cNvSpPr txBox="1"/>
          <p:nvPr/>
        </p:nvSpPr>
        <p:spPr>
          <a:xfrm>
            <a:off x="6261100" y="4318000"/>
            <a:ext cx="15240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8E0000"/>
                </a:solidFill>
                <a:latin typeface="Consolas"/>
                <a:ea typeface="微软雅黑"/>
                <a:cs typeface="Consolas"/>
              </a:rPr>
              <a:t>03</a:t>
            </a:r>
            <a:r>
              <a:rPr lang="zh-CN" altLang="en-US" sz="1000" b="1">
                <a:solidFill>
                  <a:srgbClr val="1A1A1A"/>
                </a:solidFill>
                <a:latin typeface="微软雅黑"/>
                <a:ea typeface="微软雅黑"/>
                <a:cs typeface="微软雅黑"/>
              </a:rPr>
              <a:t>  装配与调度</a:t>
            </a:r>
          </a:p>
        </p:txBody>
      </p:sp>
      <p:sp>
        <p:nvSpPr>
          <p:cNvPr id="67" name="TextBox 66"/>
          <p:cNvSpPr txBox="1"/>
          <p:nvPr/>
        </p:nvSpPr>
        <p:spPr>
          <a:xfrm>
            <a:off x="6261100" y="4584700"/>
            <a:ext cx="1524000" cy="368300"/>
          </a:xfrm>
          <a:prstGeom prst="rect">
            <a:avLst/>
          </a:prstGeom>
          <a:noFill/>
        </p:spPr>
        <p:txBody>
          <a:bodyPr wrap="square" anchor="t" lIns="0" tIns="0" rIns="0" bIns="0">
            <a:noAutofit/>
          </a:bodyPr>
          <a:lstStyle/>
          <a:p>
            <a:pPr algn="l" marL="0" indent="0">
              <a:lnSpc>
                <a:spcPts val="1300"/>
              </a:lnSpc>
              <a:buNone/>
            </a:pPr>
            <a:r>
              <a:rPr lang="zh-CN" altLang="en-US" sz="850" b="0">
                <a:solidFill>
                  <a:srgbClr val="3D3D3D"/>
                </a:solidFill>
                <a:latin typeface="微软雅黑"/>
                <a:ea typeface="微软雅黑"/>
                <a:cs typeface="微软雅黑"/>
              </a:rPr>
              <a:t>自动装配智能体，按工况分配精度与算力</a:t>
            </a:r>
          </a:p>
        </p:txBody>
      </p:sp>
      <p:sp>
        <p:nvSpPr>
          <p:cNvPr id="68" name="Isosceles Triangle 67"/>
          <p:cNvSpPr/>
          <p:nvPr/>
        </p:nvSpPr>
        <p:spPr>
          <a:xfrm rot="5400000">
            <a:off x="7931150" y="4572000"/>
            <a:ext cx="114300" cy="76200"/>
          </a:xfrm>
          <a:prstGeom prst="triangle">
            <a:avLst/>
          </a:prstGeom>
          <a:solidFill>
            <a:srgbClr val="D2D2D2"/>
          </a:solidFill>
          <a:ln>
            <a:noFill/>
          </a:ln>
        </p:spPr>
        <p:txBody>
          <a:bodyPr rtlCol="0" anchor="ctr" lIns="0" rIns="0" tIns="0" bIns="0"/>
          <a:lstStyle/>
          <a:p>
            <a:pPr algn="ctr"/>
          </a:p>
        </p:txBody>
      </p:sp>
      <p:sp>
        <p:nvSpPr>
          <p:cNvPr id="69" name="Rectangle 68"/>
          <p:cNvSpPr/>
          <p:nvPr/>
        </p:nvSpPr>
        <p:spPr>
          <a:xfrm>
            <a:off x="8051800" y="4216400"/>
            <a:ext cx="1803400" cy="787400"/>
          </a:xfrm>
          <a:prstGeom prst="rect">
            <a:avLst/>
          </a:prstGeom>
          <a:solidFill>
            <a:srgbClr val="FFFFFF"/>
          </a:solidFill>
          <a:ln w="6350">
            <a:solidFill>
              <a:srgbClr val="E9E9E9"/>
            </a:solidFill>
            <a:round/>
          </a:ln>
        </p:spPr>
        <p:txBody>
          <a:bodyPr rtlCol="0" anchor="ctr" lIns="0" rIns="0" tIns="0" bIns="0"/>
          <a:lstStyle/>
          <a:p>
            <a:pPr algn="ctr"/>
          </a:p>
        </p:txBody>
      </p:sp>
      <p:sp>
        <p:nvSpPr>
          <p:cNvPr id="70" name="Rectangle 69"/>
          <p:cNvSpPr/>
          <p:nvPr/>
        </p:nvSpPr>
        <p:spPr>
          <a:xfrm>
            <a:off x="8051800" y="4216400"/>
            <a:ext cx="1803400" cy="19050"/>
          </a:xfrm>
          <a:prstGeom prst="rect">
            <a:avLst/>
          </a:prstGeom>
          <a:solidFill>
            <a:srgbClr val="8E0000"/>
          </a:solidFill>
          <a:ln>
            <a:noFill/>
          </a:ln>
        </p:spPr>
        <p:txBody>
          <a:bodyPr rtlCol="0" anchor="ctr" lIns="0" rIns="0" tIns="0" bIns="0"/>
          <a:lstStyle/>
          <a:p>
            <a:pPr algn="ctr"/>
          </a:p>
        </p:txBody>
      </p:sp>
      <p:sp>
        <p:nvSpPr>
          <p:cNvPr id="71" name="TextBox 70"/>
          <p:cNvSpPr txBox="1"/>
          <p:nvPr/>
        </p:nvSpPr>
        <p:spPr>
          <a:xfrm>
            <a:off x="8191500" y="4318000"/>
            <a:ext cx="15240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8E0000"/>
                </a:solidFill>
                <a:latin typeface="Consolas"/>
                <a:ea typeface="微软雅黑"/>
                <a:cs typeface="Consolas"/>
              </a:rPr>
              <a:t>04</a:t>
            </a:r>
            <a:r>
              <a:rPr lang="zh-CN" altLang="en-US" sz="1000" b="1">
                <a:solidFill>
                  <a:srgbClr val="1A1A1A"/>
                </a:solidFill>
                <a:latin typeface="微软雅黑"/>
                <a:ea typeface="微软雅黑"/>
                <a:cs typeface="微软雅黑"/>
              </a:rPr>
              <a:t>  执行与判读</a:t>
            </a:r>
          </a:p>
        </p:txBody>
      </p:sp>
      <p:sp>
        <p:nvSpPr>
          <p:cNvPr id="72" name="TextBox 71"/>
          <p:cNvSpPr txBox="1"/>
          <p:nvPr/>
        </p:nvSpPr>
        <p:spPr>
          <a:xfrm>
            <a:off x="8191500" y="4584700"/>
            <a:ext cx="1524000" cy="368300"/>
          </a:xfrm>
          <a:prstGeom prst="rect">
            <a:avLst/>
          </a:prstGeom>
          <a:noFill/>
        </p:spPr>
        <p:txBody>
          <a:bodyPr wrap="square" anchor="t" lIns="0" tIns="0" rIns="0" bIns="0">
            <a:noAutofit/>
          </a:bodyPr>
          <a:lstStyle/>
          <a:p>
            <a:pPr algn="l" marL="0" indent="0">
              <a:lnSpc>
                <a:spcPts val="1300"/>
              </a:lnSpc>
              <a:buNone/>
            </a:pPr>
            <a:r>
              <a:rPr lang="zh-CN" altLang="en-US" sz="850" b="0">
                <a:solidFill>
                  <a:srgbClr val="3D3D3D"/>
                </a:solidFill>
                <a:latin typeface="微软雅黑"/>
                <a:ea typeface="微软雅黑"/>
                <a:cs typeface="微软雅黑"/>
              </a:rPr>
              <a:t>协同求解，定位异常（如某曲线段超速）</a:t>
            </a:r>
          </a:p>
        </p:txBody>
      </p:sp>
      <p:sp>
        <p:nvSpPr>
          <p:cNvPr id="73" name="Isosceles Triangle 72"/>
          <p:cNvSpPr/>
          <p:nvPr/>
        </p:nvSpPr>
        <p:spPr>
          <a:xfrm rot="5400000">
            <a:off x="9861550" y="4572000"/>
            <a:ext cx="114300" cy="76200"/>
          </a:xfrm>
          <a:prstGeom prst="triangle">
            <a:avLst/>
          </a:prstGeom>
          <a:solidFill>
            <a:srgbClr val="D2D2D2"/>
          </a:solidFill>
          <a:ln>
            <a:noFill/>
          </a:ln>
        </p:spPr>
        <p:txBody>
          <a:bodyPr rtlCol="0" anchor="ctr" lIns="0" rIns="0" tIns="0" bIns="0"/>
          <a:lstStyle/>
          <a:p>
            <a:pPr algn="ctr"/>
          </a:p>
        </p:txBody>
      </p:sp>
      <p:sp>
        <p:nvSpPr>
          <p:cNvPr id="74" name="Rectangle 73"/>
          <p:cNvSpPr/>
          <p:nvPr/>
        </p:nvSpPr>
        <p:spPr>
          <a:xfrm>
            <a:off x="9982200" y="4216400"/>
            <a:ext cx="1803400" cy="787400"/>
          </a:xfrm>
          <a:prstGeom prst="rect">
            <a:avLst/>
          </a:prstGeom>
          <a:solidFill>
            <a:srgbClr val="FFFFFF"/>
          </a:solidFill>
          <a:ln w="6350">
            <a:solidFill>
              <a:srgbClr val="E9E9E9"/>
            </a:solidFill>
            <a:round/>
          </a:ln>
        </p:spPr>
        <p:txBody>
          <a:bodyPr rtlCol="0" anchor="ctr" lIns="0" rIns="0" tIns="0" bIns="0"/>
          <a:lstStyle/>
          <a:p>
            <a:pPr algn="ctr"/>
          </a:p>
        </p:txBody>
      </p:sp>
      <p:sp>
        <p:nvSpPr>
          <p:cNvPr id="75" name="Rectangle 74"/>
          <p:cNvSpPr/>
          <p:nvPr/>
        </p:nvSpPr>
        <p:spPr>
          <a:xfrm>
            <a:off x="9982200" y="4216400"/>
            <a:ext cx="1803400" cy="19050"/>
          </a:xfrm>
          <a:prstGeom prst="rect">
            <a:avLst/>
          </a:prstGeom>
          <a:solidFill>
            <a:srgbClr val="8E0000"/>
          </a:solidFill>
          <a:ln>
            <a:noFill/>
          </a:ln>
        </p:spPr>
        <p:txBody>
          <a:bodyPr rtlCol="0" anchor="ctr" lIns="0" rIns="0" tIns="0" bIns="0"/>
          <a:lstStyle/>
          <a:p>
            <a:pPr algn="ctr"/>
          </a:p>
        </p:txBody>
      </p:sp>
      <p:sp>
        <p:nvSpPr>
          <p:cNvPr id="76" name="TextBox 75"/>
          <p:cNvSpPr txBox="1"/>
          <p:nvPr/>
        </p:nvSpPr>
        <p:spPr>
          <a:xfrm>
            <a:off x="10121900" y="4318000"/>
            <a:ext cx="15240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8E0000"/>
                </a:solidFill>
                <a:latin typeface="Consolas"/>
                <a:ea typeface="微软雅黑"/>
                <a:cs typeface="Consolas"/>
              </a:rPr>
              <a:t>05</a:t>
            </a:r>
            <a:r>
              <a:rPr lang="zh-CN" altLang="en-US" sz="1000" b="1">
                <a:solidFill>
                  <a:srgbClr val="1A1A1A"/>
                </a:solidFill>
                <a:latin typeface="微软雅黑"/>
                <a:ea typeface="微软雅黑"/>
                <a:cs typeface="微软雅黑"/>
              </a:rPr>
              <a:t>  输出</a:t>
            </a:r>
          </a:p>
        </p:txBody>
      </p:sp>
      <p:sp>
        <p:nvSpPr>
          <p:cNvPr id="77" name="TextBox 76"/>
          <p:cNvSpPr txBox="1"/>
          <p:nvPr/>
        </p:nvSpPr>
        <p:spPr>
          <a:xfrm>
            <a:off x="10121900" y="4584700"/>
            <a:ext cx="1524000" cy="368300"/>
          </a:xfrm>
          <a:prstGeom prst="rect">
            <a:avLst/>
          </a:prstGeom>
          <a:noFill/>
        </p:spPr>
        <p:txBody>
          <a:bodyPr wrap="square" anchor="t" lIns="0" tIns="0" rIns="0" bIns="0">
            <a:noAutofit/>
          </a:bodyPr>
          <a:lstStyle/>
          <a:p>
            <a:pPr algn="l" marL="0" indent="0">
              <a:lnSpc>
                <a:spcPts val="1300"/>
              </a:lnSpc>
              <a:buNone/>
            </a:pPr>
            <a:r>
              <a:rPr lang="zh-CN" altLang="en-US" sz="850" b="0">
                <a:solidFill>
                  <a:srgbClr val="3D3D3D"/>
                </a:solidFill>
                <a:latin typeface="微软雅黑"/>
                <a:ea typeface="微软雅黑"/>
                <a:cs typeface="微软雅黑"/>
              </a:rPr>
              <a:t>验证报告＋全程留痕，可回放、可回归</a:t>
            </a:r>
          </a:p>
        </p:txBody>
      </p:sp>
      <p:cxnSp>
        <p:nvCxnSpPr>
          <p:cNvPr id="78" name="Connector 77"/>
          <p:cNvCxnSpPr/>
          <p:nvPr/>
        </p:nvCxnSpPr>
        <p:spPr>
          <a:xfrm>
            <a:off x="2260600" y="5372100"/>
            <a:ext cx="9525000" cy="0"/>
          </a:xfrm>
          <a:prstGeom prst="line">
            <a:avLst/>
          </a:prstGeom>
          <a:ln w="7620">
            <a:solidFill>
              <a:srgbClr val="666666"/>
            </a:solidFill>
            <a:round/>
          </a:ln>
        </p:spPr>
      </p:cxnSp>
      <p:sp>
        <p:nvSpPr>
          <p:cNvPr id="79" name="TextBox 78"/>
          <p:cNvSpPr txBox="1"/>
          <p:nvPr/>
        </p:nvSpPr>
        <p:spPr>
          <a:xfrm>
            <a:off x="2362200" y="5092700"/>
            <a:ext cx="1447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环节</a:t>
            </a:r>
          </a:p>
        </p:txBody>
      </p:sp>
      <p:sp>
        <p:nvSpPr>
          <p:cNvPr id="80" name="TextBox 79"/>
          <p:cNvSpPr txBox="1"/>
          <p:nvPr/>
        </p:nvSpPr>
        <p:spPr>
          <a:xfrm>
            <a:off x="4013200" y="5092700"/>
            <a:ext cx="3098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现状</a:t>
            </a:r>
          </a:p>
        </p:txBody>
      </p:sp>
      <p:sp>
        <p:nvSpPr>
          <p:cNvPr id="81" name="TextBox 80"/>
          <p:cNvSpPr txBox="1"/>
          <p:nvPr/>
        </p:nvSpPr>
        <p:spPr>
          <a:xfrm>
            <a:off x="7315200" y="5092700"/>
            <a:ext cx="4368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应用引擎后</a:t>
            </a:r>
          </a:p>
        </p:txBody>
      </p:sp>
      <p:sp>
        <p:nvSpPr>
          <p:cNvPr id="82" name="TextBox 81"/>
          <p:cNvSpPr txBox="1"/>
          <p:nvPr/>
        </p:nvSpPr>
        <p:spPr>
          <a:xfrm>
            <a:off x="2362200" y="5372100"/>
            <a:ext cx="1447800" cy="325967"/>
          </a:xfrm>
          <a:prstGeom prst="rect">
            <a:avLst/>
          </a:prstGeom>
          <a:noFill/>
        </p:spPr>
        <p:txBody>
          <a:bodyPr wrap="square" anchor="ctr" lIns="0" tIns="0" rIns="0" bIns="0">
            <a:noAutofit/>
          </a:bodyPr>
          <a:lstStyle/>
          <a:p>
            <a:pPr algn="l" marL="0" indent="0">
              <a:lnSpc>
                <a:spcPts val="1400"/>
              </a:lnSpc>
              <a:buNone/>
            </a:pPr>
            <a:r>
              <a:rPr lang="zh-CN" altLang="en-US" sz="950" b="1">
                <a:solidFill>
                  <a:srgbClr val="1A1A1A"/>
                </a:solidFill>
                <a:latin typeface="微软雅黑"/>
                <a:ea typeface="微软雅黑"/>
                <a:cs typeface="微软雅黑"/>
              </a:rPr>
              <a:t>工况准备</a:t>
            </a:r>
          </a:p>
        </p:txBody>
      </p:sp>
      <p:sp>
        <p:nvSpPr>
          <p:cNvPr id="83" name="TextBox 82"/>
          <p:cNvSpPr txBox="1"/>
          <p:nvPr/>
        </p:nvSpPr>
        <p:spPr>
          <a:xfrm>
            <a:off x="4013200" y="5372100"/>
            <a:ext cx="3098800" cy="325967"/>
          </a:xfrm>
          <a:prstGeom prst="rect">
            <a:avLst/>
          </a:prstGeom>
          <a:noFill/>
        </p:spPr>
        <p:txBody>
          <a:bodyPr wrap="square" anchor="ctr" lIns="0" tIns="0" rIns="0" bIns="0">
            <a:noAutofit/>
          </a:bodyPr>
          <a:lstStyle/>
          <a:p>
            <a:pPr algn="l" marL="0" indent="0">
              <a:lnSpc>
                <a:spcPts val="1400"/>
              </a:lnSpc>
              <a:buNone/>
            </a:pPr>
            <a:r>
              <a:rPr lang="zh-CN" altLang="en-US" sz="950" b="0">
                <a:solidFill>
                  <a:srgbClr val="3D3D3D"/>
                </a:solidFill>
                <a:latin typeface="微软雅黑"/>
                <a:ea typeface="微软雅黑"/>
                <a:cs typeface="微软雅黑"/>
              </a:rPr>
              <a:t>人工编写</a:t>
            </a:r>
          </a:p>
        </p:txBody>
      </p:sp>
      <p:sp>
        <p:nvSpPr>
          <p:cNvPr id="84" name="TextBox 83"/>
          <p:cNvSpPr txBox="1"/>
          <p:nvPr/>
        </p:nvSpPr>
        <p:spPr>
          <a:xfrm>
            <a:off x="7315200" y="5372100"/>
            <a:ext cx="4368800" cy="325967"/>
          </a:xfrm>
          <a:prstGeom prst="rect">
            <a:avLst/>
          </a:prstGeom>
          <a:noFill/>
        </p:spPr>
        <p:txBody>
          <a:bodyPr wrap="square" anchor="ctr" lIns="0" tIns="0" rIns="0" bIns="0">
            <a:noAutofit/>
          </a:bodyPr>
          <a:lstStyle/>
          <a:p>
            <a:pPr algn="l" marL="0" indent="0">
              <a:lnSpc>
                <a:spcPts val="1400"/>
              </a:lnSpc>
              <a:buNone/>
            </a:pPr>
            <a:r>
              <a:rPr lang="zh-CN" altLang="en-US" sz="950" b="0">
                <a:solidFill>
                  <a:srgbClr val="1A1A1A"/>
                </a:solidFill>
                <a:latin typeface="微软雅黑"/>
                <a:ea typeface="微软雅黑"/>
                <a:cs typeface="微软雅黑"/>
              </a:rPr>
              <a:t>按线路资料与判据自动生成</a:t>
            </a:r>
          </a:p>
        </p:txBody>
      </p:sp>
      <p:cxnSp>
        <p:nvCxnSpPr>
          <p:cNvPr id="85" name="Connector 84"/>
          <p:cNvCxnSpPr/>
          <p:nvPr/>
        </p:nvCxnSpPr>
        <p:spPr>
          <a:xfrm>
            <a:off x="2260600" y="5698067"/>
            <a:ext cx="9525000" cy="0"/>
          </a:xfrm>
          <a:prstGeom prst="line">
            <a:avLst/>
          </a:prstGeom>
          <a:ln w="6350">
            <a:solidFill>
              <a:srgbClr val="E9E9E9"/>
            </a:solidFill>
            <a:round/>
          </a:ln>
        </p:spPr>
      </p:cxnSp>
      <p:sp>
        <p:nvSpPr>
          <p:cNvPr id="86" name="TextBox 85"/>
          <p:cNvSpPr txBox="1"/>
          <p:nvPr/>
        </p:nvSpPr>
        <p:spPr>
          <a:xfrm>
            <a:off x="2362200" y="5698067"/>
            <a:ext cx="1447800" cy="325967"/>
          </a:xfrm>
          <a:prstGeom prst="rect">
            <a:avLst/>
          </a:prstGeom>
          <a:noFill/>
        </p:spPr>
        <p:txBody>
          <a:bodyPr wrap="square" anchor="ctr" lIns="0" tIns="0" rIns="0" bIns="0">
            <a:noAutofit/>
          </a:bodyPr>
          <a:lstStyle/>
          <a:p>
            <a:pPr algn="l" marL="0" indent="0">
              <a:lnSpc>
                <a:spcPts val="1400"/>
              </a:lnSpc>
              <a:buNone/>
            </a:pPr>
            <a:r>
              <a:rPr lang="zh-CN" altLang="en-US" sz="950" b="1">
                <a:solidFill>
                  <a:srgbClr val="1A1A1A"/>
                </a:solidFill>
                <a:latin typeface="微软雅黑"/>
                <a:ea typeface="微软雅黑"/>
                <a:cs typeface="微软雅黑"/>
              </a:rPr>
              <a:t>环境搭建</a:t>
            </a:r>
          </a:p>
        </p:txBody>
      </p:sp>
      <p:sp>
        <p:nvSpPr>
          <p:cNvPr id="87" name="TextBox 86"/>
          <p:cNvSpPr txBox="1"/>
          <p:nvPr/>
        </p:nvSpPr>
        <p:spPr>
          <a:xfrm>
            <a:off x="4013200" y="5698067"/>
            <a:ext cx="3098800" cy="325967"/>
          </a:xfrm>
          <a:prstGeom prst="rect">
            <a:avLst/>
          </a:prstGeom>
          <a:noFill/>
        </p:spPr>
        <p:txBody>
          <a:bodyPr wrap="square" anchor="ctr" lIns="0" tIns="0" rIns="0" bIns="0">
            <a:noAutofit/>
          </a:bodyPr>
          <a:lstStyle/>
          <a:p>
            <a:pPr algn="l" marL="0" indent="0">
              <a:lnSpc>
                <a:spcPts val="1400"/>
              </a:lnSpc>
              <a:buNone/>
            </a:pPr>
            <a:r>
              <a:rPr lang="zh-CN" altLang="en-US" sz="950" b="0">
                <a:solidFill>
                  <a:srgbClr val="3D3D3D"/>
                </a:solidFill>
                <a:latin typeface="微软雅黑"/>
                <a:ea typeface="微软雅黑"/>
                <a:cs typeface="微软雅黑"/>
              </a:rPr>
              <a:t>台架＋人工联调</a:t>
            </a:r>
          </a:p>
        </p:txBody>
      </p:sp>
      <p:sp>
        <p:nvSpPr>
          <p:cNvPr id="88" name="TextBox 87"/>
          <p:cNvSpPr txBox="1"/>
          <p:nvPr/>
        </p:nvSpPr>
        <p:spPr>
          <a:xfrm>
            <a:off x="7315200" y="5698067"/>
            <a:ext cx="4368800" cy="325967"/>
          </a:xfrm>
          <a:prstGeom prst="rect">
            <a:avLst/>
          </a:prstGeom>
          <a:noFill/>
        </p:spPr>
        <p:txBody>
          <a:bodyPr wrap="square" anchor="ctr" lIns="0" tIns="0" rIns="0" bIns="0">
            <a:noAutofit/>
          </a:bodyPr>
          <a:lstStyle/>
          <a:p>
            <a:pPr algn="l" marL="0" indent="0">
              <a:lnSpc>
                <a:spcPts val="1400"/>
              </a:lnSpc>
              <a:buNone/>
            </a:pPr>
            <a:r>
              <a:rPr lang="zh-CN" altLang="en-US" sz="950" b="0">
                <a:solidFill>
                  <a:srgbClr val="1A1A1A"/>
                </a:solidFill>
                <a:latin typeface="微软雅黑"/>
                <a:ea typeface="微软雅黑"/>
                <a:cs typeface="微软雅黑"/>
              </a:rPr>
              <a:t>自动装配智能体与算力</a:t>
            </a:r>
          </a:p>
        </p:txBody>
      </p:sp>
      <p:cxnSp>
        <p:nvCxnSpPr>
          <p:cNvPr id="89" name="Connector 88"/>
          <p:cNvCxnSpPr/>
          <p:nvPr/>
        </p:nvCxnSpPr>
        <p:spPr>
          <a:xfrm>
            <a:off x="2260600" y="6024033"/>
            <a:ext cx="9525000" cy="0"/>
          </a:xfrm>
          <a:prstGeom prst="line">
            <a:avLst/>
          </a:prstGeom>
          <a:ln w="6350">
            <a:solidFill>
              <a:srgbClr val="E9E9E9"/>
            </a:solidFill>
            <a:round/>
          </a:ln>
        </p:spPr>
      </p:cxnSp>
      <p:sp>
        <p:nvSpPr>
          <p:cNvPr id="90" name="TextBox 89"/>
          <p:cNvSpPr txBox="1"/>
          <p:nvPr/>
        </p:nvSpPr>
        <p:spPr>
          <a:xfrm>
            <a:off x="2362200" y="6024033"/>
            <a:ext cx="1447800" cy="325967"/>
          </a:xfrm>
          <a:prstGeom prst="rect">
            <a:avLst/>
          </a:prstGeom>
          <a:noFill/>
        </p:spPr>
        <p:txBody>
          <a:bodyPr wrap="square" anchor="ctr" lIns="0" tIns="0" rIns="0" bIns="0">
            <a:noAutofit/>
          </a:bodyPr>
          <a:lstStyle/>
          <a:p>
            <a:pPr algn="l" marL="0" indent="0">
              <a:lnSpc>
                <a:spcPts val="1400"/>
              </a:lnSpc>
              <a:buNone/>
            </a:pPr>
            <a:r>
              <a:rPr lang="zh-CN" altLang="en-US" sz="950" b="1">
                <a:solidFill>
                  <a:srgbClr val="1A1A1A"/>
                </a:solidFill>
                <a:latin typeface="微软雅黑"/>
                <a:ea typeface="微软雅黑"/>
                <a:cs typeface="微软雅黑"/>
              </a:rPr>
              <a:t>结果判读</a:t>
            </a:r>
          </a:p>
        </p:txBody>
      </p:sp>
      <p:sp>
        <p:nvSpPr>
          <p:cNvPr id="91" name="TextBox 90"/>
          <p:cNvSpPr txBox="1"/>
          <p:nvPr/>
        </p:nvSpPr>
        <p:spPr>
          <a:xfrm>
            <a:off x="4013200" y="6024033"/>
            <a:ext cx="3098800" cy="325967"/>
          </a:xfrm>
          <a:prstGeom prst="rect">
            <a:avLst/>
          </a:prstGeom>
          <a:noFill/>
        </p:spPr>
        <p:txBody>
          <a:bodyPr wrap="square" anchor="ctr" lIns="0" tIns="0" rIns="0" bIns="0">
            <a:noAutofit/>
          </a:bodyPr>
          <a:lstStyle/>
          <a:p>
            <a:pPr algn="l" marL="0" indent="0">
              <a:lnSpc>
                <a:spcPts val="1400"/>
              </a:lnSpc>
              <a:buNone/>
            </a:pPr>
            <a:r>
              <a:rPr lang="zh-CN" altLang="en-US" sz="950" b="0">
                <a:solidFill>
                  <a:srgbClr val="3D3D3D"/>
                </a:solidFill>
                <a:latin typeface="微软雅黑"/>
                <a:ea typeface="微软雅黑"/>
                <a:cs typeface="微软雅黑"/>
              </a:rPr>
              <a:t>人工看曲线</a:t>
            </a:r>
          </a:p>
        </p:txBody>
      </p:sp>
      <p:sp>
        <p:nvSpPr>
          <p:cNvPr id="92" name="TextBox 91"/>
          <p:cNvSpPr txBox="1"/>
          <p:nvPr/>
        </p:nvSpPr>
        <p:spPr>
          <a:xfrm>
            <a:off x="7315200" y="6024033"/>
            <a:ext cx="4368800" cy="325967"/>
          </a:xfrm>
          <a:prstGeom prst="rect">
            <a:avLst/>
          </a:prstGeom>
          <a:noFill/>
        </p:spPr>
        <p:txBody>
          <a:bodyPr wrap="square" anchor="ctr" lIns="0" tIns="0" rIns="0" bIns="0">
            <a:noAutofit/>
          </a:bodyPr>
          <a:lstStyle/>
          <a:p>
            <a:pPr algn="l" marL="0" indent="0">
              <a:lnSpc>
                <a:spcPts val="1400"/>
              </a:lnSpc>
              <a:buNone/>
            </a:pPr>
            <a:r>
              <a:rPr lang="zh-CN" altLang="en-US" sz="950" b="0">
                <a:solidFill>
                  <a:srgbClr val="1A1A1A"/>
                </a:solidFill>
                <a:latin typeface="微软雅黑"/>
                <a:ea typeface="微软雅黑"/>
                <a:cs typeface="微软雅黑"/>
              </a:rPr>
              <a:t>自动比对判据、定位原因</a:t>
            </a:r>
          </a:p>
        </p:txBody>
      </p:sp>
      <p:cxnSp>
        <p:nvCxnSpPr>
          <p:cNvPr id="93" name="Connector 92"/>
          <p:cNvCxnSpPr/>
          <p:nvPr/>
        </p:nvCxnSpPr>
        <p:spPr>
          <a:xfrm>
            <a:off x="2260600" y="6350000"/>
            <a:ext cx="9525000" cy="0"/>
          </a:xfrm>
          <a:prstGeom prst="line">
            <a:avLst/>
          </a:prstGeom>
          <a:ln w="6350">
            <a:solidFill>
              <a:srgbClr val="E9E9E9"/>
            </a:solidFill>
            <a:round/>
          </a:ln>
        </p:spPr>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创新点与技术定位</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先进性不在单项技术，而在调度的维度与粒度</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12</a:t>
            </a:r>
          </a:p>
        </p:txBody>
      </p:sp>
      <p:sp>
        <p:nvSpPr>
          <p:cNvPr id="6" name="TextBox 5"/>
          <p:cNvSpPr txBox="1"/>
          <p:nvPr/>
        </p:nvSpPr>
        <p:spPr>
          <a:xfrm>
            <a:off x="406400" y="2082800"/>
            <a:ext cx="11379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三项突破</a:t>
            </a:r>
          </a:p>
        </p:txBody>
      </p:sp>
      <p:cxnSp>
        <p:nvCxnSpPr>
          <p:cNvPr id="7" name="Connector 6"/>
          <p:cNvCxnSpPr/>
          <p:nvPr/>
        </p:nvCxnSpPr>
        <p:spPr>
          <a:xfrm>
            <a:off x="406400" y="2641600"/>
            <a:ext cx="11379200" cy="0"/>
          </a:xfrm>
          <a:prstGeom prst="line">
            <a:avLst/>
          </a:prstGeom>
          <a:ln w="7620">
            <a:solidFill>
              <a:srgbClr val="666666"/>
            </a:solidFill>
            <a:round/>
          </a:ln>
        </p:spPr>
      </p:cxnSp>
      <p:sp>
        <p:nvSpPr>
          <p:cNvPr id="8" name="TextBox 7"/>
          <p:cNvSpPr txBox="1"/>
          <p:nvPr/>
        </p:nvSpPr>
        <p:spPr>
          <a:xfrm>
            <a:off x="508000" y="2362200"/>
            <a:ext cx="2590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突破</a:t>
            </a:r>
          </a:p>
        </p:txBody>
      </p:sp>
      <p:sp>
        <p:nvSpPr>
          <p:cNvPr id="9" name="TextBox 8"/>
          <p:cNvSpPr txBox="1"/>
          <p:nvPr/>
        </p:nvSpPr>
        <p:spPr>
          <a:xfrm>
            <a:off x="3302000" y="2362200"/>
            <a:ext cx="5257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技术机制</a:t>
            </a:r>
          </a:p>
        </p:txBody>
      </p:sp>
      <p:sp>
        <p:nvSpPr>
          <p:cNvPr id="10" name="TextBox 9"/>
          <p:cNvSpPr txBox="1"/>
          <p:nvPr/>
        </p:nvSpPr>
        <p:spPr>
          <a:xfrm>
            <a:off x="8763000" y="2362200"/>
            <a:ext cx="29210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带来的变化</a:t>
            </a:r>
          </a:p>
        </p:txBody>
      </p:sp>
      <p:sp>
        <p:nvSpPr>
          <p:cNvPr id="11" name="TextBox 10"/>
          <p:cNvSpPr txBox="1"/>
          <p:nvPr/>
        </p:nvSpPr>
        <p:spPr>
          <a:xfrm>
            <a:off x="508000" y="2641600"/>
            <a:ext cx="2590800" cy="368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① 调度对象升级为智能体</a:t>
            </a:r>
          </a:p>
        </p:txBody>
      </p:sp>
      <p:sp>
        <p:nvSpPr>
          <p:cNvPr id="12" name="TextBox 11"/>
          <p:cNvSpPr txBox="1"/>
          <p:nvPr/>
        </p:nvSpPr>
        <p:spPr>
          <a:xfrm>
            <a:off x="3302000" y="2641600"/>
            <a:ext cx="5257800" cy="368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智能体自主标定、自主判读，引擎调度的是智能体而非算例</a:t>
            </a:r>
          </a:p>
        </p:txBody>
      </p:sp>
      <p:sp>
        <p:nvSpPr>
          <p:cNvPr id="13" name="TextBox 12"/>
          <p:cNvSpPr txBox="1"/>
          <p:nvPr/>
        </p:nvSpPr>
        <p:spPr>
          <a:xfrm>
            <a:off x="8763000" y="2641600"/>
            <a:ext cx="2921000" cy="368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人退出执行回路</a:t>
            </a:r>
          </a:p>
        </p:txBody>
      </p:sp>
      <p:cxnSp>
        <p:nvCxnSpPr>
          <p:cNvPr id="14" name="Connector 13"/>
          <p:cNvCxnSpPr/>
          <p:nvPr/>
        </p:nvCxnSpPr>
        <p:spPr>
          <a:xfrm>
            <a:off x="406400" y="3009900"/>
            <a:ext cx="11379200" cy="0"/>
          </a:xfrm>
          <a:prstGeom prst="line">
            <a:avLst/>
          </a:prstGeom>
          <a:ln w="6350">
            <a:solidFill>
              <a:srgbClr val="E9E9E9"/>
            </a:solidFill>
            <a:round/>
          </a:ln>
        </p:spPr>
      </p:cxnSp>
      <p:sp>
        <p:nvSpPr>
          <p:cNvPr id="15" name="TextBox 14"/>
          <p:cNvSpPr txBox="1"/>
          <p:nvPr/>
        </p:nvSpPr>
        <p:spPr>
          <a:xfrm>
            <a:off x="508000" y="3009900"/>
            <a:ext cx="2590800" cy="368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② 调度多一个维度：保真度</a:t>
            </a:r>
          </a:p>
        </p:txBody>
      </p:sp>
      <p:sp>
        <p:nvSpPr>
          <p:cNvPr id="16" name="TextBox 15"/>
          <p:cNvSpPr txBox="1"/>
          <p:nvPr/>
        </p:nvSpPr>
        <p:spPr>
          <a:xfrm>
            <a:off x="3302000" y="3009900"/>
            <a:ext cx="5257800" cy="368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按工况切换降阶／全保真，GPU、NPU 算力随之调配</a:t>
            </a:r>
          </a:p>
        </p:txBody>
      </p:sp>
      <p:sp>
        <p:nvSpPr>
          <p:cNvPr id="17" name="TextBox 16"/>
          <p:cNvSpPr txBox="1"/>
          <p:nvPr/>
        </p:nvSpPr>
        <p:spPr>
          <a:xfrm>
            <a:off x="8763000" y="3009900"/>
            <a:ext cx="2921000" cy="368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批量提速与关键工况精度兼得</a:t>
            </a:r>
          </a:p>
        </p:txBody>
      </p:sp>
      <p:cxnSp>
        <p:nvCxnSpPr>
          <p:cNvPr id="18" name="Connector 17"/>
          <p:cNvCxnSpPr/>
          <p:nvPr/>
        </p:nvCxnSpPr>
        <p:spPr>
          <a:xfrm>
            <a:off x="406400" y="3378200"/>
            <a:ext cx="11379200" cy="0"/>
          </a:xfrm>
          <a:prstGeom prst="line">
            <a:avLst/>
          </a:prstGeom>
          <a:ln w="6350">
            <a:solidFill>
              <a:srgbClr val="E9E9E9"/>
            </a:solidFill>
            <a:round/>
          </a:ln>
        </p:spPr>
      </p:cxnSp>
      <p:sp>
        <p:nvSpPr>
          <p:cNvPr id="19" name="TextBox 18"/>
          <p:cNvSpPr txBox="1"/>
          <p:nvPr/>
        </p:nvSpPr>
        <p:spPr>
          <a:xfrm>
            <a:off x="508000" y="3378200"/>
            <a:ext cx="2590800" cy="368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③ 调度基础是可复现沙箱</a:t>
            </a:r>
          </a:p>
        </p:txBody>
      </p:sp>
      <p:sp>
        <p:nvSpPr>
          <p:cNvPr id="20" name="TextBox 19"/>
          <p:cNvSpPr txBox="1"/>
          <p:nvPr/>
        </p:nvSpPr>
        <p:spPr>
          <a:xfrm>
            <a:off x="3302000" y="3378200"/>
            <a:ext cx="5257800" cy="368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参数、模型版本、随机种子全程留痕与回放</a:t>
            </a:r>
          </a:p>
        </p:txBody>
      </p:sp>
      <p:sp>
        <p:nvSpPr>
          <p:cNvPr id="21" name="TextBox 20"/>
          <p:cNvSpPr txBox="1"/>
          <p:nvPr/>
        </p:nvSpPr>
        <p:spPr>
          <a:xfrm>
            <a:off x="8763000" y="3378200"/>
            <a:ext cx="2921000" cy="368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现场问题可复现，改进后可回归</a:t>
            </a:r>
          </a:p>
        </p:txBody>
      </p:sp>
      <p:cxnSp>
        <p:nvCxnSpPr>
          <p:cNvPr id="22" name="Connector 21"/>
          <p:cNvCxnSpPr/>
          <p:nvPr/>
        </p:nvCxnSpPr>
        <p:spPr>
          <a:xfrm>
            <a:off x="406400" y="3746500"/>
            <a:ext cx="11379200" cy="0"/>
          </a:xfrm>
          <a:prstGeom prst="line">
            <a:avLst/>
          </a:prstGeom>
          <a:ln w="6350">
            <a:solidFill>
              <a:srgbClr val="E9E9E9"/>
            </a:solidFill>
            <a:round/>
          </a:ln>
        </p:spPr>
      </p:cxnSp>
      <p:sp>
        <p:nvSpPr>
          <p:cNvPr id="23" name="TextBox 22"/>
          <p:cNvSpPr txBox="1"/>
          <p:nvPr/>
        </p:nvSpPr>
        <p:spPr>
          <a:xfrm>
            <a:off x="406400" y="3898900"/>
            <a:ext cx="11379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技术定位</a:t>
            </a:r>
          </a:p>
        </p:txBody>
      </p:sp>
      <p:sp>
        <p:nvSpPr>
          <p:cNvPr id="24" name="TextBox 23"/>
          <p:cNvSpPr txBox="1"/>
          <p:nvPr/>
        </p:nvSpPr>
        <p:spPr>
          <a:xfrm>
            <a:off x="1143000" y="3898900"/>
            <a:ext cx="10642600" cy="228600"/>
          </a:xfrm>
          <a:prstGeom prst="rect">
            <a:avLst/>
          </a:prstGeom>
          <a:noFill/>
        </p:spPr>
        <p:txBody>
          <a:bodyPr wrap="none" anchor="ctr" lIns="0" tIns="0" rIns="0" bIns="0">
            <a:noAutofit/>
          </a:bodyPr>
          <a:lstStyle/>
          <a:p>
            <a:pPr algn="l" marL="0" indent="0">
              <a:lnSpc>
                <a:spcPts val="1300"/>
              </a:lnSpc>
              <a:buNone/>
            </a:pPr>
            <a:r>
              <a:rPr lang="zh-CN" altLang="en-US" sz="950" b="1">
                <a:solidFill>
                  <a:srgbClr val="8C8C8C"/>
                </a:solidFill>
                <a:latin typeface="微软雅黑"/>
                <a:ea typeface="微软雅黑"/>
                <a:cs typeface="微软雅黑"/>
              </a:rPr>
              <a:t>不替代现有工具，把它们接起来、调度起来</a:t>
            </a:r>
          </a:p>
        </p:txBody>
      </p:sp>
      <p:cxnSp>
        <p:nvCxnSpPr>
          <p:cNvPr id="25" name="Connector 24"/>
          <p:cNvCxnSpPr/>
          <p:nvPr/>
        </p:nvCxnSpPr>
        <p:spPr>
          <a:xfrm>
            <a:off x="406400" y="4457700"/>
            <a:ext cx="11379200" cy="0"/>
          </a:xfrm>
          <a:prstGeom prst="line">
            <a:avLst/>
          </a:prstGeom>
          <a:ln w="7620">
            <a:solidFill>
              <a:srgbClr val="666666"/>
            </a:solidFill>
            <a:round/>
          </a:ln>
        </p:spPr>
      </p:cxnSp>
      <p:sp>
        <p:nvSpPr>
          <p:cNvPr id="26" name="TextBox 25"/>
          <p:cNvSpPr txBox="1"/>
          <p:nvPr/>
        </p:nvSpPr>
        <p:spPr>
          <a:xfrm>
            <a:off x="508000" y="4178300"/>
            <a:ext cx="2590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现有手段</a:t>
            </a:r>
          </a:p>
        </p:txBody>
      </p:sp>
      <p:sp>
        <p:nvSpPr>
          <p:cNvPr id="27" name="TextBox 26"/>
          <p:cNvSpPr txBox="1"/>
          <p:nvPr/>
        </p:nvSpPr>
        <p:spPr>
          <a:xfrm>
            <a:off x="3302000" y="4178300"/>
            <a:ext cx="3987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能做</a:t>
            </a:r>
          </a:p>
        </p:txBody>
      </p:sp>
      <p:sp>
        <p:nvSpPr>
          <p:cNvPr id="28" name="TextBox 27"/>
          <p:cNvSpPr txBox="1"/>
          <p:nvPr/>
        </p:nvSpPr>
        <p:spPr>
          <a:xfrm>
            <a:off x="7493000" y="4178300"/>
            <a:ext cx="41910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做不到</a:t>
            </a:r>
          </a:p>
        </p:txBody>
      </p:sp>
      <p:sp>
        <p:nvSpPr>
          <p:cNvPr id="29" name="TextBox 28"/>
          <p:cNvSpPr txBox="1"/>
          <p:nvPr/>
        </p:nvSpPr>
        <p:spPr>
          <a:xfrm>
            <a:off x="508000" y="4457700"/>
            <a:ext cx="25908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商用仿真软件</a:t>
            </a:r>
          </a:p>
        </p:txBody>
      </p:sp>
      <p:sp>
        <p:nvSpPr>
          <p:cNvPr id="30" name="TextBox 29"/>
          <p:cNvSpPr txBox="1"/>
          <p:nvPr/>
        </p:nvSpPr>
        <p:spPr>
          <a:xfrm>
            <a:off x="3302000" y="4457700"/>
            <a:ext cx="3987800" cy="3048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4A4A4A"/>
                </a:solidFill>
                <a:latin typeface="微软雅黑"/>
                <a:ea typeface="微软雅黑"/>
                <a:cs typeface="微软雅黑"/>
              </a:rPr>
              <a:t>✓</a:t>
            </a:r>
            <a:r>
              <a:rPr lang="zh-CN" altLang="en-US" sz="1000" b="0">
                <a:solidFill>
                  <a:srgbClr val="3A3A3A"/>
                </a:solidFill>
                <a:latin typeface="微软雅黑"/>
                <a:ea typeface="微软雅黑"/>
                <a:cs typeface="微软雅黑"/>
              </a:rPr>
              <a:t>  单专业高精度</a:t>
            </a:r>
          </a:p>
        </p:txBody>
      </p:sp>
      <p:sp>
        <p:nvSpPr>
          <p:cNvPr id="31" name="TextBox 30"/>
          <p:cNvSpPr txBox="1"/>
          <p:nvPr/>
        </p:nvSpPr>
        <p:spPr>
          <a:xfrm>
            <a:off x="7493000" y="4457700"/>
            <a:ext cx="41910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C00000"/>
                </a:solidFill>
                <a:latin typeface="微软雅黑"/>
                <a:ea typeface="微软雅黑"/>
                <a:cs typeface="微软雅黑"/>
              </a:rPr>
              <a:t>×</a:t>
            </a:r>
            <a:r>
              <a:rPr lang="zh-CN" altLang="en-US" sz="1000" b="0">
                <a:solidFill>
                  <a:srgbClr val="3D3D3D"/>
                </a:solidFill>
                <a:latin typeface="微软雅黑"/>
                <a:ea typeface="微软雅黑"/>
                <a:cs typeface="微软雅黑"/>
              </a:rPr>
              <a:t>  列车级协同</a:t>
            </a:r>
          </a:p>
        </p:txBody>
      </p:sp>
      <p:cxnSp>
        <p:nvCxnSpPr>
          <p:cNvPr id="32" name="Connector 31"/>
          <p:cNvCxnSpPr/>
          <p:nvPr/>
        </p:nvCxnSpPr>
        <p:spPr>
          <a:xfrm>
            <a:off x="406400" y="4762500"/>
            <a:ext cx="11379200" cy="0"/>
          </a:xfrm>
          <a:prstGeom prst="line">
            <a:avLst/>
          </a:prstGeom>
          <a:ln w="6350">
            <a:solidFill>
              <a:srgbClr val="E9E9E9"/>
            </a:solidFill>
            <a:round/>
          </a:ln>
        </p:spPr>
      </p:cxnSp>
      <p:sp>
        <p:nvSpPr>
          <p:cNvPr id="33" name="TextBox 32"/>
          <p:cNvSpPr txBox="1"/>
          <p:nvPr/>
        </p:nvSpPr>
        <p:spPr>
          <a:xfrm>
            <a:off x="508000" y="4762500"/>
            <a:ext cx="25908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协同仿真标准</a:t>
            </a:r>
          </a:p>
        </p:txBody>
      </p:sp>
      <p:sp>
        <p:nvSpPr>
          <p:cNvPr id="34" name="TextBox 33"/>
          <p:cNvSpPr txBox="1"/>
          <p:nvPr/>
        </p:nvSpPr>
        <p:spPr>
          <a:xfrm>
            <a:off x="3302000" y="4762500"/>
            <a:ext cx="3987800" cy="3048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4A4A4A"/>
                </a:solidFill>
                <a:latin typeface="微软雅黑"/>
                <a:ea typeface="微软雅黑"/>
                <a:cs typeface="微软雅黑"/>
              </a:rPr>
              <a:t>✓</a:t>
            </a:r>
            <a:r>
              <a:rPr lang="zh-CN" altLang="en-US" sz="1000" b="0">
                <a:solidFill>
                  <a:srgbClr val="3A3A3A"/>
                </a:solidFill>
                <a:latin typeface="微软雅黑"/>
                <a:ea typeface="微软雅黑"/>
                <a:cs typeface="微软雅黑"/>
              </a:rPr>
              <a:t>  模型封装与交换</a:t>
            </a:r>
          </a:p>
        </p:txBody>
      </p:sp>
      <p:sp>
        <p:nvSpPr>
          <p:cNvPr id="35" name="TextBox 34"/>
          <p:cNvSpPr txBox="1"/>
          <p:nvPr/>
        </p:nvSpPr>
        <p:spPr>
          <a:xfrm>
            <a:off x="7493000" y="4762500"/>
            <a:ext cx="41910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C00000"/>
                </a:solidFill>
                <a:latin typeface="微软雅黑"/>
                <a:ea typeface="微软雅黑"/>
                <a:cs typeface="微软雅黑"/>
              </a:rPr>
              <a:t>×</a:t>
            </a:r>
            <a:r>
              <a:rPr lang="zh-CN" altLang="en-US" sz="1000" b="0">
                <a:solidFill>
                  <a:srgbClr val="3D3D3D"/>
                </a:solidFill>
                <a:latin typeface="微软雅黑"/>
                <a:ea typeface="微软雅黑"/>
                <a:cs typeface="微软雅黑"/>
              </a:rPr>
              <a:t>  智能编排、实时性</a:t>
            </a:r>
          </a:p>
        </p:txBody>
      </p:sp>
      <p:cxnSp>
        <p:nvCxnSpPr>
          <p:cNvPr id="36" name="Connector 35"/>
          <p:cNvCxnSpPr/>
          <p:nvPr/>
        </p:nvCxnSpPr>
        <p:spPr>
          <a:xfrm>
            <a:off x="406400" y="5067300"/>
            <a:ext cx="11379200" cy="0"/>
          </a:xfrm>
          <a:prstGeom prst="line">
            <a:avLst/>
          </a:prstGeom>
          <a:ln w="6350">
            <a:solidFill>
              <a:srgbClr val="E9E9E9"/>
            </a:solidFill>
            <a:round/>
          </a:ln>
        </p:spPr>
      </p:cxnSp>
      <p:sp>
        <p:nvSpPr>
          <p:cNvPr id="37" name="TextBox 36"/>
          <p:cNvSpPr txBox="1"/>
          <p:nvPr/>
        </p:nvSpPr>
        <p:spPr>
          <a:xfrm>
            <a:off x="508000" y="5067300"/>
            <a:ext cx="25908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HIL 试验台</a:t>
            </a:r>
          </a:p>
        </p:txBody>
      </p:sp>
      <p:sp>
        <p:nvSpPr>
          <p:cNvPr id="38" name="TextBox 37"/>
          <p:cNvSpPr txBox="1"/>
          <p:nvPr/>
        </p:nvSpPr>
        <p:spPr>
          <a:xfrm>
            <a:off x="3302000" y="5067300"/>
            <a:ext cx="3987800" cy="3048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4A4A4A"/>
                </a:solidFill>
                <a:latin typeface="微软雅黑"/>
                <a:ea typeface="微软雅黑"/>
                <a:cs typeface="微软雅黑"/>
              </a:rPr>
              <a:t>✓</a:t>
            </a:r>
            <a:r>
              <a:rPr lang="zh-CN" altLang="en-US" sz="1000" b="0">
                <a:solidFill>
                  <a:srgbClr val="3A3A3A"/>
                </a:solidFill>
                <a:latin typeface="微软雅黑"/>
                <a:ea typeface="微软雅黑"/>
                <a:cs typeface="微软雅黑"/>
              </a:rPr>
              <a:t>  控制器实时验证</a:t>
            </a:r>
          </a:p>
        </p:txBody>
      </p:sp>
      <p:sp>
        <p:nvSpPr>
          <p:cNvPr id="39" name="TextBox 38"/>
          <p:cNvSpPr txBox="1"/>
          <p:nvPr/>
        </p:nvSpPr>
        <p:spPr>
          <a:xfrm>
            <a:off x="7493000" y="5067300"/>
            <a:ext cx="41910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C00000"/>
                </a:solidFill>
                <a:latin typeface="微软雅黑"/>
                <a:ea typeface="微软雅黑"/>
                <a:cs typeface="微软雅黑"/>
              </a:rPr>
              <a:t>×</a:t>
            </a:r>
            <a:r>
              <a:rPr lang="zh-CN" altLang="en-US" sz="1000" b="0">
                <a:solidFill>
                  <a:srgbClr val="3D3D3D"/>
                </a:solidFill>
                <a:latin typeface="微软雅黑"/>
                <a:ea typeface="微软雅黑"/>
                <a:cs typeface="微软雅黑"/>
              </a:rPr>
              <a:t>  工况受限、不可批量</a:t>
            </a:r>
          </a:p>
        </p:txBody>
      </p:sp>
      <p:cxnSp>
        <p:nvCxnSpPr>
          <p:cNvPr id="40" name="Connector 39"/>
          <p:cNvCxnSpPr/>
          <p:nvPr/>
        </p:nvCxnSpPr>
        <p:spPr>
          <a:xfrm>
            <a:off x="406400" y="5372100"/>
            <a:ext cx="11379200" cy="0"/>
          </a:xfrm>
          <a:prstGeom prst="line">
            <a:avLst/>
          </a:prstGeom>
          <a:ln w="6350">
            <a:solidFill>
              <a:srgbClr val="E9E9E9"/>
            </a:solidFill>
            <a:round/>
          </a:ln>
        </p:spPr>
      </p:cxnSp>
      <p:sp>
        <p:nvSpPr>
          <p:cNvPr id="41" name="TextBox 40"/>
          <p:cNvSpPr txBox="1"/>
          <p:nvPr/>
        </p:nvSpPr>
        <p:spPr>
          <a:xfrm>
            <a:off x="508000" y="5372100"/>
            <a:ext cx="25908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通用智能体框架</a:t>
            </a:r>
          </a:p>
        </p:txBody>
      </p:sp>
      <p:sp>
        <p:nvSpPr>
          <p:cNvPr id="42" name="TextBox 41"/>
          <p:cNvSpPr txBox="1"/>
          <p:nvPr/>
        </p:nvSpPr>
        <p:spPr>
          <a:xfrm>
            <a:off x="3302000" y="5372100"/>
            <a:ext cx="3987800" cy="3048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4A4A4A"/>
                </a:solidFill>
                <a:latin typeface="微软雅黑"/>
                <a:ea typeface="微软雅黑"/>
                <a:cs typeface="微软雅黑"/>
              </a:rPr>
              <a:t>✓</a:t>
            </a:r>
            <a:r>
              <a:rPr lang="zh-CN" altLang="en-US" sz="1000" b="0">
                <a:solidFill>
                  <a:srgbClr val="3A3A3A"/>
                </a:solidFill>
                <a:latin typeface="微软雅黑"/>
                <a:ea typeface="微软雅黑"/>
                <a:cs typeface="微软雅黑"/>
              </a:rPr>
              <a:t>  任务编排</a:t>
            </a:r>
          </a:p>
        </p:txBody>
      </p:sp>
      <p:sp>
        <p:nvSpPr>
          <p:cNvPr id="43" name="TextBox 42"/>
          <p:cNvSpPr txBox="1"/>
          <p:nvPr/>
        </p:nvSpPr>
        <p:spPr>
          <a:xfrm>
            <a:off x="7493000" y="5372100"/>
            <a:ext cx="41910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C00000"/>
                </a:solidFill>
                <a:latin typeface="微软雅黑"/>
                <a:ea typeface="微软雅黑"/>
                <a:cs typeface="微软雅黑"/>
              </a:rPr>
              <a:t>×</a:t>
            </a:r>
            <a:r>
              <a:rPr lang="zh-CN" altLang="en-US" sz="1000" b="0">
                <a:solidFill>
                  <a:srgbClr val="3D3D3D"/>
                </a:solidFill>
                <a:latin typeface="微软雅黑"/>
                <a:ea typeface="微软雅黑"/>
                <a:cs typeface="微软雅黑"/>
              </a:rPr>
              <a:t>  多物理域实时协同</a:t>
            </a:r>
          </a:p>
        </p:txBody>
      </p:sp>
      <p:cxnSp>
        <p:nvCxnSpPr>
          <p:cNvPr id="44" name="Connector 43"/>
          <p:cNvCxnSpPr/>
          <p:nvPr/>
        </p:nvCxnSpPr>
        <p:spPr>
          <a:xfrm>
            <a:off x="406400" y="5676900"/>
            <a:ext cx="11379200" cy="0"/>
          </a:xfrm>
          <a:prstGeom prst="line">
            <a:avLst/>
          </a:prstGeom>
          <a:ln w="6350">
            <a:solidFill>
              <a:srgbClr val="E9E9E9"/>
            </a:solidFill>
            <a:round/>
          </a:ln>
        </p:spPr>
      </p:cxnSp>
      <p:sp>
        <p:nvSpPr>
          <p:cNvPr id="45" name="Rectangle 44"/>
          <p:cNvSpPr/>
          <p:nvPr/>
        </p:nvSpPr>
        <p:spPr>
          <a:xfrm>
            <a:off x="406400" y="5816600"/>
            <a:ext cx="19050" cy="533400"/>
          </a:xfrm>
          <a:prstGeom prst="rect">
            <a:avLst/>
          </a:prstGeom>
          <a:solidFill>
            <a:srgbClr val="C00000"/>
          </a:solidFill>
          <a:ln>
            <a:noFill/>
          </a:ln>
        </p:spPr>
        <p:txBody>
          <a:bodyPr rtlCol="0" anchor="ctr" lIns="0" rIns="0" tIns="0" bIns="0"/>
          <a:lstStyle/>
          <a:p>
            <a:pPr algn="ctr"/>
          </a:p>
        </p:txBody>
      </p:sp>
      <p:sp>
        <p:nvSpPr>
          <p:cNvPr id="46" name="TextBox 45"/>
          <p:cNvSpPr txBox="1"/>
          <p:nvPr/>
        </p:nvSpPr>
        <p:spPr>
          <a:xfrm>
            <a:off x="584200" y="5816600"/>
            <a:ext cx="11201400" cy="533400"/>
          </a:xfrm>
          <a:prstGeom prst="rect">
            <a:avLst/>
          </a:prstGeom>
          <a:noFill/>
        </p:spPr>
        <p:txBody>
          <a:bodyPr wrap="square" anchor="ctr" lIns="0" tIns="0" rIns="0" bIns="0">
            <a:noAutofit/>
          </a:bodyPr>
          <a:lstStyle/>
          <a:p>
            <a:pPr algn="l" marL="0" indent="0">
              <a:lnSpc>
                <a:spcPts val="1700"/>
              </a:lnSpc>
              <a:buNone/>
            </a:pPr>
            <a:r>
              <a:rPr lang="zh-CN" altLang="en-US" sz="1200" b="1">
                <a:solidFill>
                  <a:srgbClr val="1A1A1A"/>
                </a:solidFill>
                <a:latin typeface="微软雅黑"/>
                <a:ea typeface="微软雅黑"/>
                <a:cs typeface="微软雅黑"/>
              </a:rPr>
              <a:t>在成熟技术之上，补上“</a:t>
            </a:r>
            <a:r>
              <a:rPr lang="zh-CN" altLang="en-US" sz="1200" b="1">
                <a:solidFill>
                  <a:srgbClr val="C00000"/>
                </a:solidFill>
                <a:latin typeface="微软雅黑"/>
                <a:ea typeface="微软雅黑"/>
                <a:cs typeface="微软雅黑"/>
              </a:rPr>
              <a:t>面向列车级性能验证的智能编排与实时协同</a:t>
            </a:r>
            <a:r>
              <a:rPr lang="zh-CN" altLang="en-US" sz="1200" b="1">
                <a:solidFill>
                  <a:srgbClr val="1A1A1A"/>
                </a:solidFill>
                <a:latin typeface="微软雅黑"/>
                <a:ea typeface="微软雅黑"/>
                <a:cs typeface="微软雅黑"/>
              </a:rPr>
              <a:t>”这一层</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阶段目标与进度</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四个阶段，每个里程碑一道考题</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13</a:t>
            </a:r>
          </a:p>
        </p:txBody>
      </p:sp>
      <p:sp>
        <p:nvSpPr>
          <p:cNvPr id="6" name="TextBox 5"/>
          <p:cNvSpPr txBox="1"/>
          <p:nvPr/>
        </p:nvSpPr>
        <p:spPr>
          <a:xfrm>
            <a:off x="406400" y="2082800"/>
            <a:ext cx="5689600" cy="190500"/>
          </a:xfrm>
          <a:prstGeom prst="rect">
            <a:avLst/>
          </a:prstGeom>
          <a:noFill/>
        </p:spPr>
        <p:txBody>
          <a:bodyPr wrap="none" anchor="t" lIns="0" tIns="0" rIns="0" bIns="0">
            <a:noAutofit/>
          </a:bodyPr>
          <a:lstStyle/>
          <a:p>
            <a:pPr algn="ctr" marL="0" indent="0">
              <a:lnSpc>
                <a:spcPts val="1400"/>
              </a:lnSpc>
              <a:buNone/>
            </a:pPr>
            <a:r>
              <a:rPr lang="zh-CN" altLang="en-US" sz="1000" b="1">
                <a:solidFill>
                  <a:srgbClr val="1A1A1A"/>
                </a:solidFill>
                <a:latin typeface="微软雅黑"/>
                <a:ea typeface="微软雅黑"/>
                <a:cs typeface="微软雅黑"/>
              </a:rPr>
              <a:t>2027 年</a:t>
            </a:r>
          </a:p>
        </p:txBody>
      </p:sp>
      <p:sp>
        <p:nvSpPr>
          <p:cNvPr id="7" name="TextBox 6"/>
          <p:cNvSpPr txBox="1"/>
          <p:nvPr/>
        </p:nvSpPr>
        <p:spPr>
          <a:xfrm>
            <a:off x="6096000" y="2082800"/>
            <a:ext cx="5689600" cy="190500"/>
          </a:xfrm>
          <a:prstGeom prst="rect">
            <a:avLst/>
          </a:prstGeom>
          <a:noFill/>
        </p:spPr>
        <p:txBody>
          <a:bodyPr wrap="none" anchor="t" lIns="0" tIns="0" rIns="0" bIns="0">
            <a:noAutofit/>
          </a:bodyPr>
          <a:lstStyle/>
          <a:p>
            <a:pPr algn="ctr" marL="0" indent="0">
              <a:lnSpc>
                <a:spcPts val="1400"/>
              </a:lnSpc>
              <a:buNone/>
            </a:pPr>
            <a:r>
              <a:rPr lang="zh-CN" altLang="en-US" sz="1000" b="1">
                <a:solidFill>
                  <a:srgbClr val="1A1A1A"/>
                </a:solidFill>
                <a:latin typeface="微软雅黑"/>
                <a:ea typeface="微软雅黑"/>
                <a:cs typeface="微软雅黑"/>
              </a:rPr>
              <a:t>2028 年</a:t>
            </a:r>
          </a:p>
        </p:txBody>
      </p:sp>
      <p:cxnSp>
        <p:nvCxnSpPr>
          <p:cNvPr id="8" name="Connector 7"/>
          <p:cNvCxnSpPr/>
          <p:nvPr/>
        </p:nvCxnSpPr>
        <p:spPr>
          <a:xfrm>
            <a:off x="6096000" y="2082800"/>
            <a:ext cx="0" cy="787400"/>
          </a:xfrm>
          <a:prstGeom prst="line">
            <a:avLst/>
          </a:prstGeom>
          <a:ln w="9525">
            <a:solidFill>
              <a:srgbClr val="DEDEDE"/>
            </a:solidFill>
            <a:prstDash val="dash"/>
            <a:round/>
          </a:ln>
        </p:spPr>
      </p:cxnSp>
      <p:sp>
        <p:nvSpPr>
          <p:cNvPr id="9" name="Rectangle 8"/>
          <p:cNvSpPr/>
          <p:nvPr/>
        </p:nvSpPr>
        <p:spPr>
          <a:xfrm>
            <a:off x="406400" y="2311400"/>
            <a:ext cx="2844800" cy="330200"/>
          </a:xfrm>
          <a:prstGeom prst="rect">
            <a:avLst/>
          </a:prstGeom>
          <a:solidFill>
            <a:srgbClr val="EBA8A8"/>
          </a:solidFill>
          <a:ln>
            <a:noFill/>
          </a:ln>
        </p:spPr>
        <p:txBody>
          <a:bodyPr rtlCol="0" anchor="ctr" lIns="0" rIns="0" tIns="0" bIns="0" wrap="none">
            <a:noAutofit/>
          </a:bodyPr>
          <a:lstStyle/>
          <a:p>
            <a:pPr algn="ctr" marL="0" indent="0">
              <a:lnSpc>
                <a:spcPts val="1400"/>
              </a:lnSpc>
              <a:buNone/>
            </a:pPr>
            <a:r>
              <a:rPr lang="zh-CN" altLang="en-US" sz="1000" b="1">
                <a:solidFill>
                  <a:srgbClr val="1A1A1A"/>
                </a:solidFill>
                <a:latin typeface="微软雅黑"/>
                <a:ea typeface="微软雅黑"/>
                <a:cs typeface="微软雅黑"/>
              </a:rPr>
              <a:t>阶段一 · 架构与规范</a:t>
            </a:r>
          </a:p>
        </p:txBody>
      </p:sp>
      <p:sp>
        <p:nvSpPr>
          <p:cNvPr id="10" name="Rectangle 9"/>
          <p:cNvSpPr/>
          <p:nvPr/>
        </p:nvSpPr>
        <p:spPr>
          <a:xfrm>
            <a:off x="3263900" y="2311400"/>
            <a:ext cx="4254500" cy="330200"/>
          </a:xfrm>
          <a:prstGeom prst="rect">
            <a:avLst/>
          </a:prstGeom>
          <a:solidFill>
            <a:srgbClr val="D86060"/>
          </a:solidFill>
          <a:ln>
            <a:noFill/>
          </a:ln>
        </p:spPr>
        <p:txBody>
          <a:bodyPr rtlCol="0" anchor="ctr" lIns="0" rIns="0" tIns="0" bIns="0" wrap="none">
            <a:noAutofit/>
          </a:bodyPr>
          <a:lstStyle/>
          <a:p>
            <a:pPr algn="ctr" marL="0" indent="0">
              <a:lnSpc>
                <a:spcPts val="1400"/>
              </a:lnSpc>
              <a:buNone/>
            </a:pPr>
            <a:r>
              <a:rPr lang="zh-CN" altLang="en-US" sz="1000" b="1">
                <a:solidFill>
                  <a:srgbClr val="1A1A1A"/>
                </a:solidFill>
                <a:latin typeface="微软雅黑"/>
                <a:ea typeface="微软雅黑"/>
                <a:cs typeface="微软雅黑"/>
              </a:rPr>
              <a:t>阶段二 · 智能体与引擎</a:t>
            </a:r>
          </a:p>
        </p:txBody>
      </p:sp>
      <p:sp>
        <p:nvSpPr>
          <p:cNvPr id="11" name="Rectangle 10"/>
          <p:cNvSpPr/>
          <p:nvPr/>
        </p:nvSpPr>
        <p:spPr>
          <a:xfrm>
            <a:off x="7531100" y="2311400"/>
            <a:ext cx="2832100" cy="330200"/>
          </a:xfrm>
          <a:prstGeom prst="rect">
            <a:avLst/>
          </a:prstGeom>
          <a:solidFill>
            <a:srgbClr val="C00000"/>
          </a:solidFill>
          <a:ln>
            <a:noFill/>
          </a:ln>
        </p:spPr>
        <p:txBody>
          <a:bodyPr rtlCol="0" anchor="ctr" lIns="0" rIns="0" tIns="0" bIns="0" wrap="none">
            <a:noAutofit/>
          </a:bodyPr>
          <a:lstStyle/>
          <a:p>
            <a:pPr algn="ctr" marL="0" indent="0">
              <a:lnSpc>
                <a:spcPts val="1400"/>
              </a:lnSpc>
              <a:buNone/>
            </a:pPr>
            <a:r>
              <a:rPr lang="zh-CN" altLang="en-US" sz="1000" b="1">
                <a:solidFill>
                  <a:srgbClr val="FFFFFF"/>
                </a:solidFill>
                <a:latin typeface="微软雅黑"/>
                <a:ea typeface="微软雅黑"/>
                <a:cs typeface="微软雅黑"/>
              </a:rPr>
              <a:t>阶段三 · 样机与验证</a:t>
            </a:r>
          </a:p>
        </p:txBody>
      </p:sp>
      <p:sp>
        <p:nvSpPr>
          <p:cNvPr id="12" name="Rectangle 11"/>
          <p:cNvSpPr/>
          <p:nvPr/>
        </p:nvSpPr>
        <p:spPr>
          <a:xfrm>
            <a:off x="10375900" y="2311400"/>
            <a:ext cx="1409700" cy="330200"/>
          </a:xfrm>
          <a:prstGeom prst="rect">
            <a:avLst/>
          </a:prstGeom>
          <a:solidFill>
            <a:srgbClr val="8E0000"/>
          </a:solidFill>
          <a:ln>
            <a:noFill/>
          </a:ln>
        </p:spPr>
        <p:txBody>
          <a:bodyPr rtlCol="0" anchor="ctr" lIns="0" rIns="0" tIns="0" bIns="0" wrap="none">
            <a:noAutofit/>
          </a:bodyPr>
          <a:lstStyle/>
          <a:p>
            <a:pPr algn="ctr" marL="0" indent="0">
              <a:lnSpc>
                <a:spcPts val="1400"/>
              </a:lnSpc>
              <a:buNone/>
            </a:pPr>
            <a:r>
              <a:rPr lang="zh-CN" altLang="en-US" sz="1000" b="1">
                <a:solidFill>
                  <a:srgbClr val="FFFFFF"/>
                </a:solidFill>
                <a:latin typeface="微软雅黑"/>
                <a:ea typeface="微软雅黑"/>
                <a:cs typeface="微软雅黑"/>
              </a:rPr>
              <a:t>阶段四 · 示范与验收</a:t>
            </a:r>
          </a:p>
        </p:txBody>
      </p:sp>
      <p:sp>
        <p:nvSpPr>
          <p:cNvPr id="13" name="Rectangle 12"/>
          <p:cNvSpPr/>
          <p:nvPr/>
        </p:nvSpPr>
        <p:spPr>
          <a:xfrm>
            <a:off x="406400" y="2692400"/>
            <a:ext cx="11379200" cy="19050"/>
          </a:xfrm>
          <a:prstGeom prst="rect">
            <a:avLst/>
          </a:prstGeom>
          <a:solidFill>
            <a:srgbClr val="C6C6C6"/>
          </a:solidFill>
          <a:ln>
            <a:noFill/>
          </a:ln>
        </p:spPr>
        <p:txBody>
          <a:bodyPr rtlCol="0" anchor="ctr" lIns="0" rIns="0" tIns="0" bIns="0"/>
          <a:lstStyle/>
          <a:p>
            <a:pPr algn="ctr"/>
          </a:p>
        </p:txBody>
      </p:sp>
      <p:sp>
        <p:nvSpPr>
          <p:cNvPr id="14" name="Rectangle 13"/>
          <p:cNvSpPr/>
          <p:nvPr/>
        </p:nvSpPr>
        <p:spPr>
          <a:xfrm>
            <a:off x="400050" y="2711450"/>
            <a:ext cx="12700" cy="76200"/>
          </a:xfrm>
          <a:prstGeom prst="rect">
            <a:avLst/>
          </a:prstGeom>
          <a:solidFill>
            <a:srgbClr val="C6C6C6"/>
          </a:solidFill>
          <a:ln>
            <a:noFill/>
          </a:ln>
        </p:spPr>
        <p:txBody>
          <a:bodyPr rtlCol="0" anchor="ctr" lIns="0" rIns="0" tIns="0" bIns="0"/>
          <a:lstStyle/>
          <a:p>
            <a:pPr algn="ctr"/>
          </a:p>
        </p:txBody>
      </p:sp>
      <p:sp>
        <p:nvSpPr>
          <p:cNvPr id="15" name="Rectangle 14"/>
          <p:cNvSpPr/>
          <p:nvPr/>
        </p:nvSpPr>
        <p:spPr>
          <a:xfrm>
            <a:off x="874183" y="2711450"/>
            <a:ext cx="12700" cy="31750"/>
          </a:xfrm>
          <a:prstGeom prst="rect">
            <a:avLst/>
          </a:prstGeom>
          <a:solidFill>
            <a:srgbClr val="C6C6C6"/>
          </a:solidFill>
          <a:ln>
            <a:noFill/>
          </a:ln>
        </p:spPr>
        <p:txBody>
          <a:bodyPr rtlCol="0" anchor="ctr" lIns="0" rIns="0" tIns="0" bIns="0"/>
          <a:lstStyle/>
          <a:p>
            <a:pPr algn="ctr"/>
          </a:p>
        </p:txBody>
      </p:sp>
      <p:sp>
        <p:nvSpPr>
          <p:cNvPr id="16" name="Rectangle 15"/>
          <p:cNvSpPr/>
          <p:nvPr/>
        </p:nvSpPr>
        <p:spPr>
          <a:xfrm>
            <a:off x="1348317" y="2711450"/>
            <a:ext cx="12700" cy="31750"/>
          </a:xfrm>
          <a:prstGeom prst="rect">
            <a:avLst/>
          </a:prstGeom>
          <a:solidFill>
            <a:srgbClr val="C6C6C6"/>
          </a:solidFill>
          <a:ln>
            <a:noFill/>
          </a:ln>
        </p:spPr>
        <p:txBody>
          <a:bodyPr rtlCol="0" anchor="ctr" lIns="0" rIns="0" tIns="0" bIns="0"/>
          <a:lstStyle/>
          <a:p>
            <a:pPr algn="ctr"/>
          </a:p>
        </p:txBody>
      </p:sp>
      <p:sp>
        <p:nvSpPr>
          <p:cNvPr id="17" name="Rectangle 16"/>
          <p:cNvSpPr/>
          <p:nvPr/>
        </p:nvSpPr>
        <p:spPr>
          <a:xfrm>
            <a:off x="1822450" y="2711450"/>
            <a:ext cx="12700" cy="50800"/>
          </a:xfrm>
          <a:prstGeom prst="rect">
            <a:avLst/>
          </a:prstGeom>
          <a:solidFill>
            <a:srgbClr val="C6C6C6"/>
          </a:solidFill>
          <a:ln>
            <a:noFill/>
          </a:ln>
        </p:spPr>
        <p:txBody>
          <a:bodyPr rtlCol="0" anchor="ctr" lIns="0" rIns="0" tIns="0" bIns="0"/>
          <a:lstStyle/>
          <a:p>
            <a:pPr algn="ctr"/>
          </a:p>
        </p:txBody>
      </p:sp>
      <p:sp>
        <p:nvSpPr>
          <p:cNvPr id="18" name="Rectangle 17"/>
          <p:cNvSpPr/>
          <p:nvPr/>
        </p:nvSpPr>
        <p:spPr>
          <a:xfrm>
            <a:off x="2296583" y="2711450"/>
            <a:ext cx="12700" cy="31750"/>
          </a:xfrm>
          <a:prstGeom prst="rect">
            <a:avLst/>
          </a:prstGeom>
          <a:solidFill>
            <a:srgbClr val="C6C6C6"/>
          </a:solidFill>
          <a:ln>
            <a:noFill/>
          </a:ln>
        </p:spPr>
        <p:txBody>
          <a:bodyPr rtlCol="0" anchor="ctr" lIns="0" rIns="0" tIns="0" bIns="0"/>
          <a:lstStyle/>
          <a:p>
            <a:pPr algn="ctr"/>
          </a:p>
        </p:txBody>
      </p:sp>
      <p:sp>
        <p:nvSpPr>
          <p:cNvPr id="19" name="Rectangle 18"/>
          <p:cNvSpPr/>
          <p:nvPr/>
        </p:nvSpPr>
        <p:spPr>
          <a:xfrm>
            <a:off x="2770717" y="2711450"/>
            <a:ext cx="12700" cy="31750"/>
          </a:xfrm>
          <a:prstGeom prst="rect">
            <a:avLst/>
          </a:prstGeom>
          <a:solidFill>
            <a:srgbClr val="C6C6C6"/>
          </a:solidFill>
          <a:ln>
            <a:noFill/>
          </a:ln>
        </p:spPr>
        <p:txBody>
          <a:bodyPr rtlCol="0" anchor="ctr" lIns="0" rIns="0" tIns="0" bIns="0"/>
          <a:lstStyle/>
          <a:p>
            <a:pPr algn="ctr"/>
          </a:p>
        </p:txBody>
      </p:sp>
      <p:sp>
        <p:nvSpPr>
          <p:cNvPr id="20" name="Rectangle 19"/>
          <p:cNvSpPr/>
          <p:nvPr/>
        </p:nvSpPr>
        <p:spPr>
          <a:xfrm>
            <a:off x="3244850" y="2711450"/>
            <a:ext cx="12700" cy="50800"/>
          </a:xfrm>
          <a:prstGeom prst="rect">
            <a:avLst/>
          </a:prstGeom>
          <a:solidFill>
            <a:srgbClr val="C6C6C6"/>
          </a:solidFill>
          <a:ln>
            <a:noFill/>
          </a:ln>
        </p:spPr>
        <p:txBody>
          <a:bodyPr rtlCol="0" anchor="ctr" lIns="0" rIns="0" tIns="0" bIns="0"/>
          <a:lstStyle/>
          <a:p>
            <a:pPr algn="ctr"/>
          </a:p>
        </p:txBody>
      </p:sp>
      <p:sp>
        <p:nvSpPr>
          <p:cNvPr id="21" name="Rectangle 20"/>
          <p:cNvSpPr/>
          <p:nvPr/>
        </p:nvSpPr>
        <p:spPr>
          <a:xfrm>
            <a:off x="3718983" y="2711450"/>
            <a:ext cx="12700" cy="31750"/>
          </a:xfrm>
          <a:prstGeom prst="rect">
            <a:avLst/>
          </a:prstGeom>
          <a:solidFill>
            <a:srgbClr val="C6C6C6"/>
          </a:solidFill>
          <a:ln>
            <a:noFill/>
          </a:ln>
        </p:spPr>
        <p:txBody>
          <a:bodyPr rtlCol="0" anchor="ctr" lIns="0" rIns="0" tIns="0" bIns="0"/>
          <a:lstStyle/>
          <a:p>
            <a:pPr algn="ctr"/>
          </a:p>
        </p:txBody>
      </p:sp>
      <p:sp>
        <p:nvSpPr>
          <p:cNvPr id="22" name="Rectangle 21"/>
          <p:cNvSpPr/>
          <p:nvPr/>
        </p:nvSpPr>
        <p:spPr>
          <a:xfrm>
            <a:off x="4193117" y="2711450"/>
            <a:ext cx="12700" cy="31750"/>
          </a:xfrm>
          <a:prstGeom prst="rect">
            <a:avLst/>
          </a:prstGeom>
          <a:solidFill>
            <a:srgbClr val="C6C6C6"/>
          </a:solidFill>
          <a:ln>
            <a:noFill/>
          </a:ln>
        </p:spPr>
        <p:txBody>
          <a:bodyPr rtlCol="0" anchor="ctr" lIns="0" rIns="0" tIns="0" bIns="0"/>
          <a:lstStyle/>
          <a:p>
            <a:pPr algn="ctr"/>
          </a:p>
        </p:txBody>
      </p:sp>
      <p:sp>
        <p:nvSpPr>
          <p:cNvPr id="23" name="Rectangle 22"/>
          <p:cNvSpPr/>
          <p:nvPr/>
        </p:nvSpPr>
        <p:spPr>
          <a:xfrm>
            <a:off x="4667250" y="2711450"/>
            <a:ext cx="12700" cy="50800"/>
          </a:xfrm>
          <a:prstGeom prst="rect">
            <a:avLst/>
          </a:prstGeom>
          <a:solidFill>
            <a:srgbClr val="C6C6C6"/>
          </a:solidFill>
          <a:ln>
            <a:noFill/>
          </a:ln>
        </p:spPr>
        <p:txBody>
          <a:bodyPr rtlCol="0" anchor="ctr" lIns="0" rIns="0" tIns="0" bIns="0"/>
          <a:lstStyle/>
          <a:p>
            <a:pPr algn="ctr"/>
          </a:p>
        </p:txBody>
      </p:sp>
      <p:sp>
        <p:nvSpPr>
          <p:cNvPr id="24" name="Rectangle 23"/>
          <p:cNvSpPr/>
          <p:nvPr/>
        </p:nvSpPr>
        <p:spPr>
          <a:xfrm>
            <a:off x="5141383" y="2711450"/>
            <a:ext cx="12700" cy="31750"/>
          </a:xfrm>
          <a:prstGeom prst="rect">
            <a:avLst/>
          </a:prstGeom>
          <a:solidFill>
            <a:srgbClr val="C6C6C6"/>
          </a:solidFill>
          <a:ln>
            <a:noFill/>
          </a:ln>
        </p:spPr>
        <p:txBody>
          <a:bodyPr rtlCol="0" anchor="ctr" lIns="0" rIns="0" tIns="0" bIns="0"/>
          <a:lstStyle/>
          <a:p>
            <a:pPr algn="ctr"/>
          </a:p>
        </p:txBody>
      </p:sp>
      <p:sp>
        <p:nvSpPr>
          <p:cNvPr id="25" name="Rectangle 24"/>
          <p:cNvSpPr/>
          <p:nvPr/>
        </p:nvSpPr>
        <p:spPr>
          <a:xfrm>
            <a:off x="5615517" y="2711450"/>
            <a:ext cx="12700" cy="31750"/>
          </a:xfrm>
          <a:prstGeom prst="rect">
            <a:avLst/>
          </a:prstGeom>
          <a:solidFill>
            <a:srgbClr val="C6C6C6"/>
          </a:solidFill>
          <a:ln>
            <a:noFill/>
          </a:ln>
        </p:spPr>
        <p:txBody>
          <a:bodyPr rtlCol="0" anchor="ctr" lIns="0" rIns="0" tIns="0" bIns="0"/>
          <a:lstStyle/>
          <a:p>
            <a:pPr algn="ctr"/>
          </a:p>
        </p:txBody>
      </p:sp>
      <p:sp>
        <p:nvSpPr>
          <p:cNvPr id="26" name="Rectangle 25"/>
          <p:cNvSpPr/>
          <p:nvPr/>
        </p:nvSpPr>
        <p:spPr>
          <a:xfrm>
            <a:off x="6089650" y="2711450"/>
            <a:ext cx="12700" cy="76200"/>
          </a:xfrm>
          <a:prstGeom prst="rect">
            <a:avLst/>
          </a:prstGeom>
          <a:solidFill>
            <a:srgbClr val="C6C6C6"/>
          </a:solidFill>
          <a:ln>
            <a:noFill/>
          </a:ln>
        </p:spPr>
        <p:txBody>
          <a:bodyPr rtlCol="0" anchor="ctr" lIns="0" rIns="0" tIns="0" bIns="0"/>
          <a:lstStyle/>
          <a:p>
            <a:pPr algn="ctr"/>
          </a:p>
        </p:txBody>
      </p:sp>
      <p:sp>
        <p:nvSpPr>
          <p:cNvPr id="27" name="Rectangle 26"/>
          <p:cNvSpPr/>
          <p:nvPr/>
        </p:nvSpPr>
        <p:spPr>
          <a:xfrm>
            <a:off x="6563783" y="2711450"/>
            <a:ext cx="12700" cy="31750"/>
          </a:xfrm>
          <a:prstGeom prst="rect">
            <a:avLst/>
          </a:prstGeom>
          <a:solidFill>
            <a:srgbClr val="C6C6C6"/>
          </a:solidFill>
          <a:ln>
            <a:noFill/>
          </a:ln>
        </p:spPr>
        <p:txBody>
          <a:bodyPr rtlCol="0" anchor="ctr" lIns="0" rIns="0" tIns="0" bIns="0"/>
          <a:lstStyle/>
          <a:p>
            <a:pPr algn="ctr"/>
          </a:p>
        </p:txBody>
      </p:sp>
      <p:sp>
        <p:nvSpPr>
          <p:cNvPr id="28" name="Rectangle 27"/>
          <p:cNvSpPr/>
          <p:nvPr/>
        </p:nvSpPr>
        <p:spPr>
          <a:xfrm>
            <a:off x="7037917" y="2711450"/>
            <a:ext cx="12700" cy="31750"/>
          </a:xfrm>
          <a:prstGeom prst="rect">
            <a:avLst/>
          </a:prstGeom>
          <a:solidFill>
            <a:srgbClr val="C6C6C6"/>
          </a:solidFill>
          <a:ln>
            <a:noFill/>
          </a:ln>
        </p:spPr>
        <p:txBody>
          <a:bodyPr rtlCol="0" anchor="ctr" lIns="0" rIns="0" tIns="0" bIns="0"/>
          <a:lstStyle/>
          <a:p>
            <a:pPr algn="ctr"/>
          </a:p>
        </p:txBody>
      </p:sp>
      <p:sp>
        <p:nvSpPr>
          <p:cNvPr id="29" name="Rectangle 28"/>
          <p:cNvSpPr/>
          <p:nvPr/>
        </p:nvSpPr>
        <p:spPr>
          <a:xfrm>
            <a:off x="7512050" y="2711450"/>
            <a:ext cx="12700" cy="50800"/>
          </a:xfrm>
          <a:prstGeom prst="rect">
            <a:avLst/>
          </a:prstGeom>
          <a:solidFill>
            <a:srgbClr val="C6C6C6"/>
          </a:solidFill>
          <a:ln>
            <a:noFill/>
          </a:ln>
        </p:spPr>
        <p:txBody>
          <a:bodyPr rtlCol="0" anchor="ctr" lIns="0" rIns="0" tIns="0" bIns="0"/>
          <a:lstStyle/>
          <a:p>
            <a:pPr algn="ctr"/>
          </a:p>
        </p:txBody>
      </p:sp>
      <p:sp>
        <p:nvSpPr>
          <p:cNvPr id="30" name="Rectangle 29"/>
          <p:cNvSpPr/>
          <p:nvPr/>
        </p:nvSpPr>
        <p:spPr>
          <a:xfrm>
            <a:off x="7986183" y="2711450"/>
            <a:ext cx="12700" cy="31750"/>
          </a:xfrm>
          <a:prstGeom prst="rect">
            <a:avLst/>
          </a:prstGeom>
          <a:solidFill>
            <a:srgbClr val="C6C6C6"/>
          </a:solidFill>
          <a:ln>
            <a:noFill/>
          </a:ln>
        </p:spPr>
        <p:txBody>
          <a:bodyPr rtlCol="0" anchor="ctr" lIns="0" rIns="0" tIns="0" bIns="0"/>
          <a:lstStyle/>
          <a:p>
            <a:pPr algn="ctr"/>
          </a:p>
        </p:txBody>
      </p:sp>
      <p:sp>
        <p:nvSpPr>
          <p:cNvPr id="31" name="Rectangle 30"/>
          <p:cNvSpPr/>
          <p:nvPr/>
        </p:nvSpPr>
        <p:spPr>
          <a:xfrm>
            <a:off x="8460317" y="2711450"/>
            <a:ext cx="12700" cy="31750"/>
          </a:xfrm>
          <a:prstGeom prst="rect">
            <a:avLst/>
          </a:prstGeom>
          <a:solidFill>
            <a:srgbClr val="C6C6C6"/>
          </a:solidFill>
          <a:ln>
            <a:noFill/>
          </a:ln>
        </p:spPr>
        <p:txBody>
          <a:bodyPr rtlCol="0" anchor="ctr" lIns="0" rIns="0" tIns="0" bIns="0"/>
          <a:lstStyle/>
          <a:p>
            <a:pPr algn="ctr"/>
          </a:p>
        </p:txBody>
      </p:sp>
      <p:sp>
        <p:nvSpPr>
          <p:cNvPr id="32" name="Rectangle 31"/>
          <p:cNvSpPr/>
          <p:nvPr/>
        </p:nvSpPr>
        <p:spPr>
          <a:xfrm>
            <a:off x="8934450" y="2711450"/>
            <a:ext cx="12700" cy="50800"/>
          </a:xfrm>
          <a:prstGeom prst="rect">
            <a:avLst/>
          </a:prstGeom>
          <a:solidFill>
            <a:srgbClr val="C6C6C6"/>
          </a:solidFill>
          <a:ln>
            <a:noFill/>
          </a:ln>
        </p:spPr>
        <p:txBody>
          <a:bodyPr rtlCol="0" anchor="ctr" lIns="0" rIns="0" tIns="0" bIns="0"/>
          <a:lstStyle/>
          <a:p>
            <a:pPr algn="ctr"/>
          </a:p>
        </p:txBody>
      </p:sp>
      <p:sp>
        <p:nvSpPr>
          <p:cNvPr id="33" name="Rectangle 32"/>
          <p:cNvSpPr/>
          <p:nvPr/>
        </p:nvSpPr>
        <p:spPr>
          <a:xfrm>
            <a:off x="9408583" y="2711450"/>
            <a:ext cx="12700" cy="31750"/>
          </a:xfrm>
          <a:prstGeom prst="rect">
            <a:avLst/>
          </a:prstGeom>
          <a:solidFill>
            <a:srgbClr val="C6C6C6"/>
          </a:solidFill>
          <a:ln>
            <a:noFill/>
          </a:ln>
        </p:spPr>
        <p:txBody>
          <a:bodyPr rtlCol="0" anchor="ctr" lIns="0" rIns="0" tIns="0" bIns="0"/>
          <a:lstStyle/>
          <a:p>
            <a:pPr algn="ctr"/>
          </a:p>
        </p:txBody>
      </p:sp>
      <p:sp>
        <p:nvSpPr>
          <p:cNvPr id="34" name="Rectangle 33"/>
          <p:cNvSpPr/>
          <p:nvPr/>
        </p:nvSpPr>
        <p:spPr>
          <a:xfrm>
            <a:off x="9882717" y="2711450"/>
            <a:ext cx="12700" cy="31750"/>
          </a:xfrm>
          <a:prstGeom prst="rect">
            <a:avLst/>
          </a:prstGeom>
          <a:solidFill>
            <a:srgbClr val="C6C6C6"/>
          </a:solidFill>
          <a:ln>
            <a:noFill/>
          </a:ln>
        </p:spPr>
        <p:txBody>
          <a:bodyPr rtlCol="0" anchor="ctr" lIns="0" rIns="0" tIns="0" bIns="0"/>
          <a:lstStyle/>
          <a:p>
            <a:pPr algn="ctr"/>
          </a:p>
        </p:txBody>
      </p:sp>
      <p:sp>
        <p:nvSpPr>
          <p:cNvPr id="35" name="Rectangle 34"/>
          <p:cNvSpPr/>
          <p:nvPr/>
        </p:nvSpPr>
        <p:spPr>
          <a:xfrm>
            <a:off x="10356850" y="2711450"/>
            <a:ext cx="12700" cy="50800"/>
          </a:xfrm>
          <a:prstGeom prst="rect">
            <a:avLst/>
          </a:prstGeom>
          <a:solidFill>
            <a:srgbClr val="C6C6C6"/>
          </a:solidFill>
          <a:ln>
            <a:noFill/>
          </a:ln>
        </p:spPr>
        <p:txBody>
          <a:bodyPr rtlCol="0" anchor="ctr" lIns="0" rIns="0" tIns="0" bIns="0"/>
          <a:lstStyle/>
          <a:p>
            <a:pPr algn="ctr"/>
          </a:p>
        </p:txBody>
      </p:sp>
      <p:sp>
        <p:nvSpPr>
          <p:cNvPr id="36" name="Rectangle 35"/>
          <p:cNvSpPr/>
          <p:nvPr/>
        </p:nvSpPr>
        <p:spPr>
          <a:xfrm>
            <a:off x="10830983" y="2711450"/>
            <a:ext cx="12700" cy="31750"/>
          </a:xfrm>
          <a:prstGeom prst="rect">
            <a:avLst/>
          </a:prstGeom>
          <a:solidFill>
            <a:srgbClr val="C6C6C6"/>
          </a:solidFill>
          <a:ln>
            <a:noFill/>
          </a:ln>
        </p:spPr>
        <p:txBody>
          <a:bodyPr rtlCol="0" anchor="ctr" lIns="0" rIns="0" tIns="0" bIns="0"/>
          <a:lstStyle/>
          <a:p>
            <a:pPr algn="ctr"/>
          </a:p>
        </p:txBody>
      </p:sp>
      <p:sp>
        <p:nvSpPr>
          <p:cNvPr id="37" name="Rectangle 36"/>
          <p:cNvSpPr/>
          <p:nvPr/>
        </p:nvSpPr>
        <p:spPr>
          <a:xfrm>
            <a:off x="11305117" y="2711450"/>
            <a:ext cx="12700" cy="31750"/>
          </a:xfrm>
          <a:prstGeom prst="rect">
            <a:avLst/>
          </a:prstGeom>
          <a:solidFill>
            <a:srgbClr val="C6C6C6"/>
          </a:solidFill>
          <a:ln>
            <a:noFill/>
          </a:ln>
        </p:spPr>
        <p:txBody>
          <a:bodyPr rtlCol="0" anchor="ctr" lIns="0" rIns="0" tIns="0" bIns="0"/>
          <a:lstStyle/>
          <a:p>
            <a:pPr algn="ctr"/>
          </a:p>
        </p:txBody>
      </p:sp>
      <p:sp>
        <p:nvSpPr>
          <p:cNvPr id="38" name="Rectangle 37"/>
          <p:cNvSpPr/>
          <p:nvPr/>
        </p:nvSpPr>
        <p:spPr>
          <a:xfrm>
            <a:off x="11779250" y="2711450"/>
            <a:ext cx="12700" cy="76200"/>
          </a:xfrm>
          <a:prstGeom prst="rect">
            <a:avLst/>
          </a:prstGeom>
          <a:solidFill>
            <a:srgbClr val="C6C6C6"/>
          </a:solidFill>
          <a:ln>
            <a:noFill/>
          </a:ln>
        </p:spPr>
        <p:txBody>
          <a:bodyPr rtlCol="0" anchor="ctr" lIns="0" rIns="0" tIns="0" bIns="0"/>
          <a:lstStyle/>
          <a:p>
            <a:pPr algn="ctr"/>
          </a:p>
        </p:txBody>
      </p:sp>
      <p:sp>
        <p:nvSpPr>
          <p:cNvPr id="39" name="TextBox 38"/>
          <p:cNvSpPr txBox="1"/>
          <p:nvPr/>
        </p:nvSpPr>
        <p:spPr>
          <a:xfrm>
            <a:off x="1439333" y="2781300"/>
            <a:ext cx="304800" cy="152400"/>
          </a:xfrm>
          <a:prstGeom prst="rect">
            <a:avLst/>
          </a:prstGeom>
          <a:noFill/>
        </p:spPr>
        <p:txBody>
          <a:bodyPr wrap="none" anchor="t" lIns="0" tIns="0" rIns="0" bIns="0">
            <a:noAutofit/>
          </a:bodyPr>
          <a:lstStyle/>
          <a:p>
            <a:pPr algn="ctr" marL="0" indent="0">
              <a:lnSpc>
                <a:spcPts val="1000"/>
              </a:lnSpc>
              <a:buNone/>
            </a:pPr>
            <a:r>
              <a:rPr lang="zh-CN" altLang="en-US" sz="750" b="0">
                <a:solidFill>
                  <a:srgbClr val="8C8C8C"/>
                </a:solidFill>
                <a:latin typeface="Consolas"/>
                <a:ea typeface="微软雅黑"/>
                <a:cs typeface="Consolas"/>
              </a:rPr>
              <a:t>03</a:t>
            </a:r>
          </a:p>
        </p:txBody>
      </p:sp>
      <p:sp>
        <p:nvSpPr>
          <p:cNvPr id="40" name="TextBox 39"/>
          <p:cNvSpPr txBox="1"/>
          <p:nvPr/>
        </p:nvSpPr>
        <p:spPr>
          <a:xfrm>
            <a:off x="2861733" y="2781300"/>
            <a:ext cx="304800" cy="152400"/>
          </a:xfrm>
          <a:prstGeom prst="rect">
            <a:avLst/>
          </a:prstGeom>
          <a:noFill/>
        </p:spPr>
        <p:txBody>
          <a:bodyPr wrap="none" anchor="t" lIns="0" tIns="0" rIns="0" bIns="0">
            <a:noAutofit/>
          </a:bodyPr>
          <a:lstStyle/>
          <a:p>
            <a:pPr algn="ctr" marL="0" indent="0">
              <a:lnSpc>
                <a:spcPts val="1000"/>
              </a:lnSpc>
              <a:buNone/>
            </a:pPr>
            <a:r>
              <a:rPr lang="zh-CN" altLang="en-US" sz="750" b="0">
                <a:solidFill>
                  <a:srgbClr val="8C8C8C"/>
                </a:solidFill>
                <a:latin typeface="Consolas"/>
                <a:ea typeface="微软雅黑"/>
                <a:cs typeface="Consolas"/>
              </a:rPr>
              <a:t>06</a:t>
            </a:r>
          </a:p>
        </p:txBody>
      </p:sp>
      <p:sp>
        <p:nvSpPr>
          <p:cNvPr id="41" name="TextBox 40"/>
          <p:cNvSpPr txBox="1"/>
          <p:nvPr/>
        </p:nvSpPr>
        <p:spPr>
          <a:xfrm>
            <a:off x="4284133" y="2781300"/>
            <a:ext cx="304800" cy="152400"/>
          </a:xfrm>
          <a:prstGeom prst="rect">
            <a:avLst/>
          </a:prstGeom>
          <a:noFill/>
        </p:spPr>
        <p:txBody>
          <a:bodyPr wrap="none" anchor="t" lIns="0" tIns="0" rIns="0" bIns="0">
            <a:noAutofit/>
          </a:bodyPr>
          <a:lstStyle/>
          <a:p>
            <a:pPr algn="ctr" marL="0" indent="0">
              <a:lnSpc>
                <a:spcPts val="1000"/>
              </a:lnSpc>
              <a:buNone/>
            </a:pPr>
            <a:r>
              <a:rPr lang="zh-CN" altLang="en-US" sz="750" b="0">
                <a:solidFill>
                  <a:srgbClr val="8C8C8C"/>
                </a:solidFill>
                <a:latin typeface="Consolas"/>
                <a:ea typeface="微软雅黑"/>
                <a:cs typeface="Consolas"/>
              </a:rPr>
              <a:t>09</a:t>
            </a:r>
          </a:p>
        </p:txBody>
      </p:sp>
      <p:sp>
        <p:nvSpPr>
          <p:cNvPr id="42" name="TextBox 41"/>
          <p:cNvSpPr txBox="1"/>
          <p:nvPr/>
        </p:nvSpPr>
        <p:spPr>
          <a:xfrm>
            <a:off x="5706533" y="2781300"/>
            <a:ext cx="304800" cy="152400"/>
          </a:xfrm>
          <a:prstGeom prst="rect">
            <a:avLst/>
          </a:prstGeom>
          <a:noFill/>
        </p:spPr>
        <p:txBody>
          <a:bodyPr wrap="none" anchor="t" lIns="0" tIns="0" rIns="0" bIns="0">
            <a:noAutofit/>
          </a:bodyPr>
          <a:lstStyle/>
          <a:p>
            <a:pPr algn="ctr" marL="0" indent="0">
              <a:lnSpc>
                <a:spcPts val="1000"/>
              </a:lnSpc>
              <a:buNone/>
            </a:pPr>
            <a:r>
              <a:rPr lang="zh-CN" altLang="en-US" sz="750" b="0">
                <a:solidFill>
                  <a:srgbClr val="8C8C8C"/>
                </a:solidFill>
                <a:latin typeface="Consolas"/>
                <a:ea typeface="微软雅黑"/>
                <a:cs typeface="Consolas"/>
              </a:rPr>
              <a:t>12</a:t>
            </a:r>
          </a:p>
        </p:txBody>
      </p:sp>
      <p:sp>
        <p:nvSpPr>
          <p:cNvPr id="43" name="TextBox 42"/>
          <p:cNvSpPr txBox="1"/>
          <p:nvPr/>
        </p:nvSpPr>
        <p:spPr>
          <a:xfrm>
            <a:off x="7128933" y="2781300"/>
            <a:ext cx="304800" cy="152400"/>
          </a:xfrm>
          <a:prstGeom prst="rect">
            <a:avLst/>
          </a:prstGeom>
          <a:noFill/>
        </p:spPr>
        <p:txBody>
          <a:bodyPr wrap="none" anchor="t" lIns="0" tIns="0" rIns="0" bIns="0">
            <a:noAutofit/>
          </a:bodyPr>
          <a:lstStyle/>
          <a:p>
            <a:pPr algn="ctr" marL="0" indent="0">
              <a:lnSpc>
                <a:spcPts val="1000"/>
              </a:lnSpc>
              <a:buNone/>
            </a:pPr>
            <a:r>
              <a:rPr lang="zh-CN" altLang="en-US" sz="750" b="0">
                <a:solidFill>
                  <a:srgbClr val="8C8C8C"/>
                </a:solidFill>
                <a:latin typeface="Consolas"/>
                <a:ea typeface="微软雅黑"/>
                <a:cs typeface="Consolas"/>
              </a:rPr>
              <a:t>03</a:t>
            </a:r>
          </a:p>
        </p:txBody>
      </p:sp>
      <p:sp>
        <p:nvSpPr>
          <p:cNvPr id="44" name="TextBox 43"/>
          <p:cNvSpPr txBox="1"/>
          <p:nvPr/>
        </p:nvSpPr>
        <p:spPr>
          <a:xfrm>
            <a:off x="8551333" y="2781300"/>
            <a:ext cx="304800" cy="152400"/>
          </a:xfrm>
          <a:prstGeom prst="rect">
            <a:avLst/>
          </a:prstGeom>
          <a:noFill/>
        </p:spPr>
        <p:txBody>
          <a:bodyPr wrap="none" anchor="t" lIns="0" tIns="0" rIns="0" bIns="0">
            <a:noAutofit/>
          </a:bodyPr>
          <a:lstStyle/>
          <a:p>
            <a:pPr algn="ctr" marL="0" indent="0">
              <a:lnSpc>
                <a:spcPts val="1000"/>
              </a:lnSpc>
              <a:buNone/>
            </a:pPr>
            <a:r>
              <a:rPr lang="zh-CN" altLang="en-US" sz="750" b="0">
                <a:solidFill>
                  <a:srgbClr val="8C8C8C"/>
                </a:solidFill>
                <a:latin typeface="Consolas"/>
                <a:ea typeface="微软雅黑"/>
                <a:cs typeface="Consolas"/>
              </a:rPr>
              <a:t>06</a:t>
            </a:r>
          </a:p>
        </p:txBody>
      </p:sp>
      <p:sp>
        <p:nvSpPr>
          <p:cNvPr id="45" name="TextBox 44"/>
          <p:cNvSpPr txBox="1"/>
          <p:nvPr/>
        </p:nvSpPr>
        <p:spPr>
          <a:xfrm>
            <a:off x="9973733" y="2781300"/>
            <a:ext cx="304800" cy="152400"/>
          </a:xfrm>
          <a:prstGeom prst="rect">
            <a:avLst/>
          </a:prstGeom>
          <a:noFill/>
        </p:spPr>
        <p:txBody>
          <a:bodyPr wrap="none" anchor="t" lIns="0" tIns="0" rIns="0" bIns="0">
            <a:noAutofit/>
          </a:bodyPr>
          <a:lstStyle/>
          <a:p>
            <a:pPr algn="ctr" marL="0" indent="0">
              <a:lnSpc>
                <a:spcPts val="1000"/>
              </a:lnSpc>
              <a:buNone/>
            </a:pPr>
            <a:r>
              <a:rPr lang="zh-CN" altLang="en-US" sz="750" b="0">
                <a:solidFill>
                  <a:srgbClr val="8C8C8C"/>
                </a:solidFill>
                <a:latin typeface="Consolas"/>
                <a:ea typeface="微软雅黑"/>
                <a:cs typeface="Consolas"/>
              </a:rPr>
              <a:t>09</a:t>
            </a:r>
          </a:p>
        </p:txBody>
      </p:sp>
      <p:sp>
        <p:nvSpPr>
          <p:cNvPr id="46" name="TextBox 45"/>
          <p:cNvSpPr txBox="1"/>
          <p:nvPr/>
        </p:nvSpPr>
        <p:spPr>
          <a:xfrm>
            <a:off x="11396133" y="2781300"/>
            <a:ext cx="304800" cy="152400"/>
          </a:xfrm>
          <a:prstGeom prst="rect">
            <a:avLst/>
          </a:prstGeom>
          <a:noFill/>
        </p:spPr>
        <p:txBody>
          <a:bodyPr wrap="none" anchor="t" lIns="0" tIns="0" rIns="0" bIns="0">
            <a:noAutofit/>
          </a:bodyPr>
          <a:lstStyle/>
          <a:p>
            <a:pPr algn="ctr" marL="0" indent="0">
              <a:lnSpc>
                <a:spcPts val="1000"/>
              </a:lnSpc>
              <a:buNone/>
            </a:pPr>
            <a:r>
              <a:rPr lang="zh-CN" altLang="en-US" sz="750" b="0">
                <a:solidFill>
                  <a:srgbClr val="8C8C8C"/>
                </a:solidFill>
                <a:latin typeface="Consolas"/>
                <a:ea typeface="微软雅黑"/>
                <a:cs typeface="Consolas"/>
              </a:rPr>
              <a:t>12</a:t>
            </a:r>
          </a:p>
        </p:txBody>
      </p:sp>
      <p:sp>
        <p:nvSpPr>
          <p:cNvPr id="47" name="Diamond 46"/>
          <p:cNvSpPr/>
          <p:nvPr/>
        </p:nvSpPr>
        <p:spPr>
          <a:xfrm>
            <a:off x="3181350" y="2971800"/>
            <a:ext cx="139700" cy="139700"/>
          </a:xfrm>
          <a:prstGeom prst="diamond">
            <a:avLst/>
          </a:prstGeom>
          <a:solidFill>
            <a:srgbClr val="C00000"/>
          </a:solidFill>
          <a:ln>
            <a:noFill/>
          </a:ln>
        </p:spPr>
        <p:txBody>
          <a:bodyPr rtlCol="0" anchor="ctr" lIns="0" rIns="0" tIns="0" bIns="0"/>
          <a:lstStyle/>
          <a:p>
            <a:pPr algn="ctr"/>
          </a:p>
        </p:txBody>
      </p:sp>
      <p:sp>
        <p:nvSpPr>
          <p:cNvPr id="48" name="TextBox 47"/>
          <p:cNvSpPr txBox="1"/>
          <p:nvPr/>
        </p:nvSpPr>
        <p:spPr>
          <a:xfrm>
            <a:off x="2520950" y="3136900"/>
            <a:ext cx="1460500" cy="177800"/>
          </a:xfrm>
          <a:prstGeom prst="rect">
            <a:avLst/>
          </a:prstGeom>
          <a:noFill/>
        </p:spPr>
        <p:txBody>
          <a:bodyPr wrap="none" anchor="t" lIns="0" tIns="0" rIns="0" bIns="0">
            <a:noAutofit/>
          </a:bodyPr>
          <a:lstStyle/>
          <a:p>
            <a:pPr algn="ctr" marL="0" indent="0">
              <a:lnSpc>
                <a:spcPts val="1300"/>
              </a:lnSpc>
              <a:buNone/>
            </a:pPr>
            <a:r>
              <a:rPr lang="zh-CN" altLang="en-US" sz="950" b="1">
                <a:solidFill>
                  <a:srgbClr val="C00000"/>
                </a:solidFill>
                <a:latin typeface="微软雅黑"/>
                <a:ea typeface="微软雅黑"/>
                <a:cs typeface="微软雅黑"/>
              </a:rPr>
              <a:t>M1 · 2027.06</a:t>
            </a:r>
          </a:p>
        </p:txBody>
      </p:sp>
      <p:sp>
        <p:nvSpPr>
          <p:cNvPr id="49" name="Diamond 48"/>
          <p:cNvSpPr/>
          <p:nvPr/>
        </p:nvSpPr>
        <p:spPr>
          <a:xfrm>
            <a:off x="7448550" y="2971800"/>
            <a:ext cx="139700" cy="139700"/>
          </a:xfrm>
          <a:prstGeom prst="diamond">
            <a:avLst/>
          </a:prstGeom>
          <a:solidFill>
            <a:srgbClr val="C00000"/>
          </a:solidFill>
          <a:ln>
            <a:noFill/>
          </a:ln>
        </p:spPr>
        <p:txBody>
          <a:bodyPr rtlCol="0" anchor="ctr" lIns="0" rIns="0" tIns="0" bIns="0"/>
          <a:lstStyle/>
          <a:p>
            <a:pPr algn="ctr"/>
          </a:p>
        </p:txBody>
      </p:sp>
      <p:sp>
        <p:nvSpPr>
          <p:cNvPr id="50" name="TextBox 49"/>
          <p:cNvSpPr txBox="1"/>
          <p:nvPr/>
        </p:nvSpPr>
        <p:spPr>
          <a:xfrm>
            <a:off x="6788150" y="3136900"/>
            <a:ext cx="1460500" cy="177800"/>
          </a:xfrm>
          <a:prstGeom prst="rect">
            <a:avLst/>
          </a:prstGeom>
          <a:noFill/>
        </p:spPr>
        <p:txBody>
          <a:bodyPr wrap="none" anchor="t" lIns="0" tIns="0" rIns="0" bIns="0">
            <a:noAutofit/>
          </a:bodyPr>
          <a:lstStyle/>
          <a:p>
            <a:pPr algn="ctr" marL="0" indent="0">
              <a:lnSpc>
                <a:spcPts val="1300"/>
              </a:lnSpc>
              <a:buNone/>
            </a:pPr>
            <a:r>
              <a:rPr lang="zh-CN" altLang="en-US" sz="950" b="1">
                <a:solidFill>
                  <a:srgbClr val="C00000"/>
                </a:solidFill>
                <a:latin typeface="微软雅黑"/>
                <a:ea typeface="微软雅黑"/>
                <a:cs typeface="微软雅黑"/>
              </a:rPr>
              <a:t>M2 · 2028.03</a:t>
            </a:r>
          </a:p>
        </p:txBody>
      </p:sp>
      <p:sp>
        <p:nvSpPr>
          <p:cNvPr id="51" name="Diamond 50"/>
          <p:cNvSpPr/>
          <p:nvPr/>
        </p:nvSpPr>
        <p:spPr>
          <a:xfrm>
            <a:off x="10293350" y="2971800"/>
            <a:ext cx="139700" cy="139700"/>
          </a:xfrm>
          <a:prstGeom prst="diamond">
            <a:avLst/>
          </a:prstGeom>
          <a:solidFill>
            <a:srgbClr val="C00000"/>
          </a:solidFill>
          <a:ln>
            <a:noFill/>
          </a:ln>
        </p:spPr>
        <p:txBody>
          <a:bodyPr rtlCol="0" anchor="ctr" lIns="0" rIns="0" tIns="0" bIns="0"/>
          <a:lstStyle/>
          <a:p>
            <a:pPr algn="ctr"/>
          </a:p>
        </p:txBody>
      </p:sp>
      <p:sp>
        <p:nvSpPr>
          <p:cNvPr id="52" name="TextBox 51"/>
          <p:cNvSpPr txBox="1"/>
          <p:nvPr/>
        </p:nvSpPr>
        <p:spPr>
          <a:xfrm>
            <a:off x="9632950" y="3136900"/>
            <a:ext cx="1460500" cy="177800"/>
          </a:xfrm>
          <a:prstGeom prst="rect">
            <a:avLst/>
          </a:prstGeom>
          <a:noFill/>
        </p:spPr>
        <p:txBody>
          <a:bodyPr wrap="none" anchor="t" lIns="0" tIns="0" rIns="0" bIns="0">
            <a:noAutofit/>
          </a:bodyPr>
          <a:lstStyle/>
          <a:p>
            <a:pPr algn="ctr" marL="0" indent="0">
              <a:lnSpc>
                <a:spcPts val="1300"/>
              </a:lnSpc>
              <a:buNone/>
            </a:pPr>
            <a:r>
              <a:rPr lang="zh-CN" altLang="en-US" sz="950" b="1">
                <a:solidFill>
                  <a:srgbClr val="C00000"/>
                </a:solidFill>
                <a:latin typeface="微软雅黑"/>
                <a:ea typeface="微软雅黑"/>
                <a:cs typeface="微软雅黑"/>
              </a:rPr>
              <a:t>M3 · 2028.09</a:t>
            </a:r>
          </a:p>
        </p:txBody>
      </p:sp>
      <p:sp>
        <p:nvSpPr>
          <p:cNvPr id="53" name="Diamond 52"/>
          <p:cNvSpPr/>
          <p:nvPr/>
        </p:nvSpPr>
        <p:spPr>
          <a:xfrm>
            <a:off x="11715750" y="2971800"/>
            <a:ext cx="139700" cy="139700"/>
          </a:xfrm>
          <a:prstGeom prst="diamond">
            <a:avLst/>
          </a:prstGeom>
          <a:solidFill>
            <a:srgbClr val="C00000"/>
          </a:solidFill>
          <a:ln>
            <a:noFill/>
          </a:ln>
        </p:spPr>
        <p:txBody>
          <a:bodyPr rtlCol="0" anchor="ctr" lIns="0" rIns="0" tIns="0" bIns="0"/>
          <a:lstStyle/>
          <a:p>
            <a:pPr algn="ctr"/>
          </a:p>
        </p:txBody>
      </p:sp>
      <p:sp>
        <p:nvSpPr>
          <p:cNvPr id="54" name="TextBox 53"/>
          <p:cNvSpPr txBox="1"/>
          <p:nvPr/>
        </p:nvSpPr>
        <p:spPr>
          <a:xfrm>
            <a:off x="10325100" y="3136900"/>
            <a:ext cx="1460500" cy="177800"/>
          </a:xfrm>
          <a:prstGeom prst="rect">
            <a:avLst/>
          </a:prstGeom>
          <a:noFill/>
        </p:spPr>
        <p:txBody>
          <a:bodyPr wrap="none" anchor="t" lIns="0" tIns="0" rIns="0" bIns="0">
            <a:noAutofit/>
          </a:bodyPr>
          <a:lstStyle/>
          <a:p>
            <a:pPr algn="r" marL="0" indent="0">
              <a:lnSpc>
                <a:spcPts val="1300"/>
              </a:lnSpc>
              <a:buNone/>
            </a:pPr>
            <a:r>
              <a:rPr lang="zh-CN" altLang="en-US" sz="950" b="1">
                <a:solidFill>
                  <a:srgbClr val="C00000"/>
                </a:solidFill>
                <a:latin typeface="微软雅黑"/>
                <a:ea typeface="微软雅黑"/>
                <a:cs typeface="微软雅黑"/>
              </a:rPr>
              <a:t>M4 · 2028.12</a:t>
            </a:r>
          </a:p>
        </p:txBody>
      </p:sp>
      <p:cxnSp>
        <p:nvCxnSpPr>
          <p:cNvPr id="55" name="Connector 54"/>
          <p:cNvCxnSpPr/>
          <p:nvPr/>
        </p:nvCxnSpPr>
        <p:spPr>
          <a:xfrm>
            <a:off x="406400" y="3733800"/>
            <a:ext cx="11379200" cy="0"/>
          </a:xfrm>
          <a:prstGeom prst="line">
            <a:avLst/>
          </a:prstGeom>
          <a:ln w="7620">
            <a:solidFill>
              <a:srgbClr val="666666"/>
            </a:solidFill>
            <a:round/>
          </a:ln>
        </p:spPr>
      </p:cxnSp>
      <p:sp>
        <p:nvSpPr>
          <p:cNvPr id="56" name="TextBox 55"/>
          <p:cNvSpPr txBox="1"/>
          <p:nvPr/>
        </p:nvSpPr>
        <p:spPr>
          <a:xfrm>
            <a:off x="508000" y="3454400"/>
            <a:ext cx="1193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阶段</a:t>
            </a:r>
          </a:p>
        </p:txBody>
      </p:sp>
      <p:sp>
        <p:nvSpPr>
          <p:cNvPr id="57" name="TextBox 56"/>
          <p:cNvSpPr txBox="1"/>
          <p:nvPr/>
        </p:nvSpPr>
        <p:spPr>
          <a:xfrm>
            <a:off x="1905000" y="3454400"/>
            <a:ext cx="4622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目标</a:t>
            </a:r>
          </a:p>
        </p:txBody>
      </p:sp>
      <p:sp>
        <p:nvSpPr>
          <p:cNvPr id="58" name="TextBox 57"/>
          <p:cNvSpPr txBox="1"/>
          <p:nvPr/>
        </p:nvSpPr>
        <p:spPr>
          <a:xfrm>
            <a:off x="6731000" y="3454400"/>
            <a:ext cx="49530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检验（考题）</a:t>
            </a:r>
          </a:p>
        </p:txBody>
      </p:sp>
      <p:sp>
        <p:nvSpPr>
          <p:cNvPr id="59" name="TextBox 58"/>
          <p:cNvSpPr txBox="1"/>
          <p:nvPr/>
        </p:nvSpPr>
        <p:spPr>
          <a:xfrm>
            <a:off x="508000" y="3733800"/>
            <a:ext cx="1193800" cy="622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阶段一</a:t>
            </a:r>
          </a:p>
        </p:txBody>
      </p:sp>
      <p:sp>
        <p:nvSpPr>
          <p:cNvPr id="60" name="TextBox 59"/>
          <p:cNvSpPr txBox="1"/>
          <p:nvPr/>
        </p:nvSpPr>
        <p:spPr>
          <a:xfrm>
            <a:off x="1905000" y="3733800"/>
            <a:ext cx="4622800" cy="622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完成总体架构与接口规范设计</a:t>
            </a:r>
          </a:p>
        </p:txBody>
      </p:sp>
      <p:sp>
        <p:nvSpPr>
          <p:cNvPr id="61" name="TextBox 60"/>
          <p:cNvSpPr txBox="1"/>
          <p:nvPr/>
        </p:nvSpPr>
        <p:spPr>
          <a:xfrm>
            <a:off x="6731000" y="3733800"/>
            <a:ext cx="4953000" cy="622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1A1A1A"/>
                </a:solidFill>
                <a:latin typeface="微软雅黑"/>
                <a:ea typeface="微软雅黑"/>
                <a:cs typeface="微软雅黑"/>
              </a:rPr>
              <a:t>规范通过评审；判据首批覆盖三项关键性能</a:t>
            </a:r>
          </a:p>
        </p:txBody>
      </p:sp>
      <p:cxnSp>
        <p:nvCxnSpPr>
          <p:cNvPr id="62" name="Connector 61"/>
          <p:cNvCxnSpPr/>
          <p:nvPr/>
        </p:nvCxnSpPr>
        <p:spPr>
          <a:xfrm>
            <a:off x="406400" y="4356100"/>
            <a:ext cx="11379200" cy="0"/>
          </a:xfrm>
          <a:prstGeom prst="line">
            <a:avLst/>
          </a:prstGeom>
          <a:ln w="6350">
            <a:solidFill>
              <a:srgbClr val="E9E9E9"/>
            </a:solidFill>
            <a:round/>
          </a:ln>
        </p:spPr>
      </p:cxnSp>
      <p:sp>
        <p:nvSpPr>
          <p:cNvPr id="63" name="TextBox 62"/>
          <p:cNvSpPr txBox="1"/>
          <p:nvPr/>
        </p:nvSpPr>
        <p:spPr>
          <a:xfrm>
            <a:off x="508000" y="4356100"/>
            <a:ext cx="1193800" cy="622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阶段二</a:t>
            </a:r>
          </a:p>
        </p:txBody>
      </p:sp>
      <p:sp>
        <p:nvSpPr>
          <p:cNvPr id="64" name="TextBox 63"/>
          <p:cNvSpPr txBox="1"/>
          <p:nvPr/>
        </p:nvSpPr>
        <p:spPr>
          <a:xfrm>
            <a:off x="1905000" y="4356100"/>
            <a:ext cx="4622800" cy="622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突破实时协同与保真度调度技术，研制智能体与引擎原理样机</a:t>
            </a:r>
          </a:p>
        </p:txBody>
      </p:sp>
      <p:sp>
        <p:nvSpPr>
          <p:cNvPr id="65" name="TextBox 64"/>
          <p:cNvSpPr txBox="1"/>
          <p:nvPr/>
        </p:nvSpPr>
        <p:spPr>
          <a:xfrm>
            <a:off x="6731000" y="4356100"/>
            <a:ext cx="4953000" cy="622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1A1A1A"/>
                </a:solidFill>
                <a:latin typeface="微软雅黑"/>
                <a:ea typeface="微软雅黑"/>
                <a:cs typeface="微软雅黑"/>
              </a:rPr>
              <a:t>原理样机完成</a:t>
            </a:r>
            <a:r>
              <a:rPr lang="zh-CN" altLang="en-US" sz="1000" b="1">
                <a:solidFill>
                  <a:srgbClr val="875D1C"/>
                </a:solidFill>
                <a:latin typeface="微软雅黑"/>
                <a:ea typeface="微软雅黑"/>
                <a:cs typeface="微软雅黑"/>
              </a:rPr>
              <a:t>【待填】</a:t>
            </a:r>
            <a:r>
              <a:rPr lang="zh-CN" altLang="en-US" sz="1000" b="0">
                <a:solidFill>
                  <a:srgbClr val="1A1A1A"/>
                </a:solidFill>
                <a:latin typeface="微软雅黑"/>
                <a:ea typeface="微软雅黑"/>
                <a:cs typeface="微软雅黑"/>
              </a:rPr>
              <a:t>个工况自动装配与调度；智能体与实测比对达标</a:t>
            </a:r>
          </a:p>
        </p:txBody>
      </p:sp>
      <p:cxnSp>
        <p:nvCxnSpPr>
          <p:cNvPr id="66" name="Connector 65"/>
          <p:cNvCxnSpPr/>
          <p:nvPr/>
        </p:nvCxnSpPr>
        <p:spPr>
          <a:xfrm>
            <a:off x="406400" y="4978400"/>
            <a:ext cx="11379200" cy="0"/>
          </a:xfrm>
          <a:prstGeom prst="line">
            <a:avLst/>
          </a:prstGeom>
          <a:ln w="6350">
            <a:solidFill>
              <a:srgbClr val="E9E9E9"/>
            </a:solidFill>
            <a:round/>
          </a:ln>
        </p:spPr>
      </p:cxnSp>
      <p:sp>
        <p:nvSpPr>
          <p:cNvPr id="67" name="TextBox 66"/>
          <p:cNvSpPr txBox="1"/>
          <p:nvPr/>
        </p:nvSpPr>
        <p:spPr>
          <a:xfrm>
            <a:off x="508000" y="4978400"/>
            <a:ext cx="1193800" cy="622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阶段三</a:t>
            </a:r>
          </a:p>
        </p:txBody>
      </p:sp>
      <p:sp>
        <p:nvSpPr>
          <p:cNvPr id="68" name="TextBox 67"/>
          <p:cNvSpPr txBox="1"/>
          <p:nvPr/>
        </p:nvSpPr>
        <p:spPr>
          <a:xfrm>
            <a:off x="1905000" y="4978400"/>
            <a:ext cx="4622800" cy="622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建成 FXN5C 列车级数字样机</a:t>
            </a:r>
          </a:p>
        </p:txBody>
      </p:sp>
      <p:sp>
        <p:nvSpPr>
          <p:cNvPr id="69" name="TextBox 68"/>
          <p:cNvSpPr txBox="1"/>
          <p:nvPr/>
        </p:nvSpPr>
        <p:spPr>
          <a:xfrm>
            <a:off x="6731000" y="4978400"/>
            <a:ext cx="4953000" cy="622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复现临哈线散热器冻结工况并定位原因</a:t>
            </a:r>
          </a:p>
        </p:txBody>
      </p:sp>
      <p:cxnSp>
        <p:nvCxnSpPr>
          <p:cNvPr id="70" name="Connector 69"/>
          <p:cNvCxnSpPr/>
          <p:nvPr/>
        </p:nvCxnSpPr>
        <p:spPr>
          <a:xfrm>
            <a:off x="406400" y="5600700"/>
            <a:ext cx="11379200" cy="0"/>
          </a:xfrm>
          <a:prstGeom prst="line">
            <a:avLst/>
          </a:prstGeom>
          <a:ln w="6350">
            <a:solidFill>
              <a:srgbClr val="E9E9E9"/>
            </a:solidFill>
            <a:round/>
          </a:ln>
        </p:spPr>
      </p:cxnSp>
      <p:sp>
        <p:nvSpPr>
          <p:cNvPr id="71" name="TextBox 70"/>
          <p:cNvSpPr txBox="1"/>
          <p:nvPr/>
        </p:nvSpPr>
        <p:spPr>
          <a:xfrm>
            <a:off x="508000" y="5600700"/>
            <a:ext cx="1193800" cy="622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阶段四</a:t>
            </a:r>
          </a:p>
        </p:txBody>
      </p:sp>
      <p:sp>
        <p:nvSpPr>
          <p:cNvPr id="72" name="TextBox 71"/>
          <p:cNvSpPr txBox="1"/>
          <p:nvPr/>
        </p:nvSpPr>
        <p:spPr>
          <a:xfrm>
            <a:off x="1905000" y="5600700"/>
            <a:ext cx="4622800" cy="622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在临哈线典型区段完成示范应用</a:t>
            </a:r>
          </a:p>
        </p:txBody>
      </p:sp>
      <p:sp>
        <p:nvSpPr>
          <p:cNvPr id="73" name="TextBox 72"/>
          <p:cNvSpPr txBox="1"/>
          <p:nvPr/>
        </p:nvSpPr>
        <p:spPr>
          <a:xfrm>
            <a:off x="6731000" y="5600700"/>
            <a:ext cx="4953000" cy="622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1A1A1A"/>
                </a:solidFill>
                <a:latin typeface="微软雅黑"/>
                <a:ea typeface="微软雅黑"/>
                <a:cs typeface="微软雅黑"/>
              </a:rPr>
              <a:t>一次软件迭代完成全工况回归，验证周期由约 2 个月缩短至</a:t>
            </a:r>
            <a:r>
              <a:rPr lang="zh-CN" altLang="en-US" sz="1000" b="1">
                <a:solidFill>
                  <a:srgbClr val="875D1C"/>
                </a:solidFill>
                <a:latin typeface="微软雅黑"/>
                <a:ea typeface="微软雅黑"/>
                <a:cs typeface="微软雅黑"/>
              </a:rPr>
              <a:t>【待填】</a:t>
            </a:r>
            <a:r>
              <a:rPr lang="zh-CN" altLang="en-US" sz="1000" b="0">
                <a:solidFill>
                  <a:srgbClr val="1A1A1A"/>
                </a:solidFill>
                <a:latin typeface="微软雅黑"/>
                <a:ea typeface="微软雅黑"/>
                <a:cs typeface="微软雅黑"/>
              </a:rPr>
              <a:t>；第三方验证</a:t>
            </a:r>
          </a:p>
        </p:txBody>
      </p:sp>
      <p:cxnSp>
        <p:nvCxnSpPr>
          <p:cNvPr id="74" name="Connector 73"/>
          <p:cNvCxnSpPr/>
          <p:nvPr/>
        </p:nvCxnSpPr>
        <p:spPr>
          <a:xfrm>
            <a:off x="406400" y="6223000"/>
            <a:ext cx="11379200" cy="0"/>
          </a:xfrm>
          <a:prstGeom prst="line">
            <a:avLst/>
          </a:prstGeom>
          <a:ln w="6350">
            <a:solidFill>
              <a:srgbClr val="E9E9E9"/>
            </a:solidFill>
            <a:round/>
          </a:ln>
        </p:spPr>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预期成果与考核方式</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四项目标，每项有成果物和考核方式</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14</a:t>
            </a:r>
          </a:p>
        </p:txBody>
      </p:sp>
      <p:cxnSp>
        <p:nvCxnSpPr>
          <p:cNvPr id="6" name="Connector 5"/>
          <p:cNvCxnSpPr/>
          <p:nvPr/>
        </p:nvCxnSpPr>
        <p:spPr>
          <a:xfrm>
            <a:off x="406400" y="2362200"/>
            <a:ext cx="11379200" cy="0"/>
          </a:xfrm>
          <a:prstGeom prst="line">
            <a:avLst/>
          </a:prstGeom>
          <a:ln w="7620">
            <a:solidFill>
              <a:srgbClr val="666666"/>
            </a:solidFill>
            <a:round/>
          </a:ln>
        </p:spPr>
      </p:cxnSp>
      <p:sp>
        <p:nvSpPr>
          <p:cNvPr id="7" name="TextBox 6"/>
          <p:cNvSpPr txBox="1"/>
          <p:nvPr/>
        </p:nvSpPr>
        <p:spPr>
          <a:xfrm>
            <a:off x="508000" y="2082800"/>
            <a:ext cx="5003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预期目标</a:t>
            </a:r>
          </a:p>
        </p:txBody>
      </p:sp>
      <p:sp>
        <p:nvSpPr>
          <p:cNvPr id="8" name="TextBox 7"/>
          <p:cNvSpPr txBox="1"/>
          <p:nvPr/>
        </p:nvSpPr>
        <p:spPr>
          <a:xfrm>
            <a:off x="5715000" y="2082800"/>
            <a:ext cx="2971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成果物</a:t>
            </a:r>
          </a:p>
        </p:txBody>
      </p:sp>
      <p:sp>
        <p:nvSpPr>
          <p:cNvPr id="9" name="TextBox 8"/>
          <p:cNvSpPr txBox="1"/>
          <p:nvPr/>
        </p:nvSpPr>
        <p:spPr>
          <a:xfrm>
            <a:off x="8890000" y="2082800"/>
            <a:ext cx="27940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考核方式</a:t>
            </a:r>
          </a:p>
        </p:txBody>
      </p:sp>
      <p:sp>
        <p:nvSpPr>
          <p:cNvPr id="10" name="TextBox 9"/>
          <p:cNvSpPr txBox="1"/>
          <p:nvPr/>
        </p:nvSpPr>
        <p:spPr>
          <a:xfrm>
            <a:off x="508000" y="2362200"/>
            <a:ext cx="5003800" cy="5842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1 调度引擎</a:t>
            </a:r>
            <a:r>
              <a:rPr lang="zh-CN" altLang="en-US" sz="1000" b="0">
                <a:solidFill>
                  <a:srgbClr val="3D3D3D"/>
                </a:solidFill>
                <a:latin typeface="微软雅黑"/>
                <a:ea typeface="微软雅黑"/>
                <a:cs typeface="微软雅黑"/>
              </a:rPr>
              <a:t>：异构智能体实时协同运行与算力动态调度</a:t>
            </a:r>
          </a:p>
        </p:txBody>
      </p:sp>
      <p:sp>
        <p:nvSpPr>
          <p:cNvPr id="11" name="TextBox 10"/>
          <p:cNvSpPr txBox="1"/>
          <p:nvPr/>
        </p:nvSpPr>
        <p:spPr>
          <a:xfrm>
            <a:off x="5715000" y="2362200"/>
            <a:ext cx="2971800" cy="5842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1A1A1A"/>
                </a:solidFill>
                <a:latin typeface="微软雅黑"/>
                <a:ea typeface="微软雅黑"/>
                <a:cs typeface="微软雅黑"/>
              </a:rPr>
              <a:t>引擎软件 1 套</a:t>
            </a:r>
          </a:p>
        </p:txBody>
      </p:sp>
      <p:sp>
        <p:nvSpPr>
          <p:cNvPr id="12" name="TextBox 11"/>
          <p:cNvSpPr txBox="1"/>
          <p:nvPr/>
        </p:nvSpPr>
        <p:spPr>
          <a:xfrm>
            <a:off x="8890000" y="2362200"/>
            <a:ext cx="2794000" cy="5842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软件演示、功能核验</a:t>
            </a:r>
          </a:p>
        </p:txBody>
      </p:sp>
      <p:cxnSp>
        <p:nvCxnSpPr>
          <p:cNvPr id="13" name="Connector 12"/>
          <p:cNvCxnSpPr/>
          <p:nvPr/>
        </p:nvCxnSpPr>
        <p:spPr>
          <a:xfrm>
            <a:off x="406400" y="2946400"/>
            <a:ext cx="11379200" cy="0"/>
          </a:xfrm>
          <a:prstGeom prst="line">
            <a:avLst/>
          </a:prstGeom>
          <a:ln w="6350">
            <a:solidFill>
              <a:srgbClr val="E9E9E9"/>
            </a:solidFill>
            <a:round/>
          </a:ln>
        </p:spPr>
      </p:cxnSp>
      <p:sp>
        <p:nvSpPr>
          <p:cNvPr id="14" name="TextBox 13"/>
          <p:cNvSpPr txBox="1"/>
          <p:nvPr/>
        </p:nvSpPr>
        <p:spPr>
          <a:xfrm>
            <a:off x="508000" y="2946400"/>
            <a:ext cx="5003800" cy="7747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2 数字样机与性能验证</a:t>
            </a:r>
            <a:r>
              <a:rPr lang="zh-CN" altLang="en-US" sz="1000" b="0">
                <a:solidFill>
                  <a:srgbClr val="3D3D3D"/>
                </a:solidFill>
                <a:latin typeface="微软雅黑"/>
                <a:ea typeface="微软雅黑"/>
                <a:cs typeface="微软雅黑"/>
              </a:rPr>
              <a:t>：建成 FXN5C 数字样机，关键性能多工况协同验证</a:t>
            </a:r>
          </a:p>
        </p:txBody>
      </p:sp>
      <p:sp>
        <p:nvSpPr>
          <p:cNvPr id="15" name="TextBox 14"/>
          <p:cNvSpPr txBox="1"/>
          <p:nvPr/>
        </p:nvSpPr>
        <p:spPr>
          <a:xfrm>
            <a:off x="5715000" y="2946400"/>
            <a:ext cx="2971800" cy="7747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1A1A1A"/>
                </a:solidFill>
                <a:latin typeface="微软雅黑"/>
                <a:ea typeface="微软雅黑"/>
                <a:cs typeface="微软雅黑"/>
              </a:rPr>
              <a:t>智能体／孪生模型 1 套</a:t>
            </a:r>
            <a:br>
              <a:rPr lang="zh-CN" altLang="en-US" sz="1000"/>
            </a:br>
            <a:r>
              <a:rPr lang="zh-CN" altLang="en-US" sz="1000" b="0">
                <a:solidFill>
                  <a:srgbClr val="1A1A1A"/>
                </a:solidFill>
                <a:latin typeface="微软雅黑"/>
                <a:ea typeface="微软雅黑"/>
                <a:cs typeface="微软雅黑"/>
              </a:rPr>
              <a:t>数字样机 1 套</a:t>
            </a:r>
          </a:p>
        </p:txBody>
      </p:sp>
      <p:sp>
        <p:nvSpPr>
          <p:cNvPr id="16" name="TextBox 15"/>
          <p:cNvSpPr txBox="1"/>
          <p:nvPr/>
        </p:nvSpPr>
        <p:spPr>
          <a:xfrm>
            <a:off x="8890000" y="2946400"/>
            <a:ext cx="2794000" cy="7747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智能体：与实测比对</a:t>
            </a:r>
            <a:br>
              <a:rPr lang="zh-CN" altLang="en-US" sz="1000"/>
            </a:br>
            <a:r>
              <a:rPr lang="zh-CN" altLang="en-US" sz="1000" b="0">
                <a:solidFill>
                  <a:srgbClr val="3D3D3D"/>
                </a:solidFill>
                <a:latin typeface="微软雅黑"/>
                <a:ea typeface="微软雅黑"/>
                <a:cs typeface="微软雅黑"/>
              </a:rPr>
              <a:t>数字样机：整车级协同验证</a:t>
            </a:r>
          </a:p>
        </p:txBody>
      </p:sp>
      <p:cxnSp>
        <p:nvCxnSpPr>
          <p:cNvPr id="17" name="Connector 16"/>
          <p:cNvCxnSpPr/>
          <p:nvPr/>
        </p:nvCxnSpPr>
        <p:spPr>
          <a:xfrm>
            <a:off x="406400" y="3721100"/>
            <a:ext cx="11379200" cy="0"/>
          </a:xfrm>
          <a:prstGeom prst="line">
            <a:avLst/>
          </a:prstGeom>
          <a:ln w="6350">
            <a:solidFill>
              <a:srgbClr val="E9E9E9"/>
            </a:solidFill>
            <a:round/>
          </a:ln>
        </p:spPr>
      </p:cxnSp>
      <p:sp>
        <p:nvSpPr>
          <p:cNvPr id="18" name="TextBox 17"/>
          <p:cNvSpPr txBox="1"/>
          <p:nvPr/>
        </p:nvSpPr>
        <p:spPr>
          <a:xfrm>
            <a:off x="508000" y="3721100"/>
            <a:ext cx="5003800" cy="7747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3 方法体系与扩展能力</a:t>
            </a:r>
            <a:r>
              <a:rPr lang="zh-CN" altLang="en-US" sz="1000" b="0">
                <a:solidFill>
                  <a:srgbClr val="3D3D3D"/>
                </a:solidFill>
                <a:latin typeface="微软雅黑"/>
                <a:ea typeface="微软雅黑"/>
                <a:cs typeface="微软雅黑"/>
              </a:rPr>
              <a:t>：构建方法与集成规范，可向制动、辅助系统扩展</a:t>
            </a:r>
          </a:p>
        </p:txBody>
      </p:sp>
      <p:sp>
        <p:nvSpPr>
          <p:cNvPr id="19" name="TextBox 18"/>
          <p:cNvSpPr txBox="1"/>
          <p:nvPr/>
        </p:nvSpPr>
        <p:spPr>
          <a:xfrm>
            <a:off x="5715000" y="3721100"/>
            <a:ext cx="2971800" cy="7747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1A1A1A"/>
                </a:solidFill>
                <a:latin typeface="微软雅黑"/>
                <a:ea typeface="微软雅黑"/>
                <a:cs typeface="微软雅黑"/>
              </a:rPr>
              <a:t>方法体系与技术规范 1 套</a:t>
            </a:r>
            <a:br>
              <a:rPr lang="zh-CN" altLang="en-US" sz="1000"/>
            </a:br>
            <a:r>
              <a:rPr lang="zh-CN" altLang="en-US" sz="1000" b="0">
                <a:solidFill>
                  <a:srgbClr val="1A1A1A"/>
                </a:solidFill>
                <a:latin typeface="微软雅黑"/>
                <a:ea typeface="微软雅黑"/>
                <a:cs typeface="微软雅黑"/>
              </a:rPr>
              <a:t>判据知识库</a:t>
            </a:r>
          </a:p>
        </p:txBody>
      </p:sp>
      <p:sp>
        <p:nvSpPr>
          <p:cNvPr id="20" name="TextBox 19"/>
          <p:cNvSpPr txBox="1"/>
          <p:nvPr/>
        </p:nvSpPr>
        <p:spPr>
          <a:xfrm>
            <a:off x="8890000" y="3721100"/>
            <a:ext cx="2794000" cy="7747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知识库核验、报告评审</a:t>
            </a:r>
          </a:p>
        </p:txBody>
      </p:sp>
      <p:cxnSp>
        <p:nvCxnSpPr>
          <p:cNvPr id="21" name="Connector 20"/>
          <p:cNvCxnSpPr/>
          <p:nvPr/>
        </p:nvCxnSpPr>
        <p:spPr>
          <a:xfrm>
            <a:off x="406400" y="4495800"/>
            <a:ext cx="11379200" cy="0"/>
          </a:xfrm>
          <a:prstGeom prst="line">
            <a:avLst/>
          </a:prstGeom>
          <a:ln w="6350">
            <a:solidFill>
              <a:srgbClr val="E9E9E9"/>
            </a:solidFill>
            <a:round/>
          </a:ln>
        </p:spPr>
      </p:cxnSp>
      <p:sp>
        <p:nvSpPr>
          <p:cNvPr id="22" name="TextBox 21"/>
          <p:cNvSpPr txBox="1"/>
          <p:nvPr/>
        </p:nvSpPr>
        <p:spPr>
          <a:xfrm>
            <a:off x="508000" y="4495800"/>
            <a:ext cx="5003800" cy="5842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4 示范应用</a:t>
            </a:r>
            <a:r>
              <a:rPr lang="zh-CN" altLang="en-US" sz="1000" b="0">
                <a:solidFill>
                  <a:srgbClr val="3D3D3D"/>
                </a:solidFill>
                <a:latin typeface="微软雅黑"/>
                <a:ea typeface="微软雅黑"/>
                <a:cs typeface="微软雅黑"/>
              </a:rPr>
              <a:t>：临哈线典型区段完成 FXN5C 示范，全工况自动回归</a:t>
            </a:r>
          </a:p>
        </p:txBody>
      </p:sp>
      <p:sp>
        <p:nvSpPr>
          <p:cNvPr id="23" name="TextBox 22"/>
          <p:cNvSpPr txBox="1"/>
          <p:nvPr/>
        </p:nvSpPr>
        <p:spPr>
          <a:xfrm>
            <a:off x="5715000" y="4495800"/>
            <a:ext cx="2971800" cy="5842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1A1A1A"/>
                </a:solidFill>
                <a:latin typeface="微软雅黑"/>
                <a:ea typeface="微软雅黑"/>
                <a:cs typeface="微软雅黑"/>
              </a:rPr>
              <a:t>示范应用与验证报告 1 份</a:t>
            </a:r>
          </a:p>
        </p:txBody>
      </p:sp>
      <p:sp>
        <p:nvSpPr>
          <p:cNvPr id="24" name="TextBox 23"/>
          <p:cNvSpPr txBox="1"/>
          <p:nvPr/>
        </p:nvSpPr>
        <p:spPr>
          <a:xfrm>
            <a:off x="8890000" y="4495800"/>
            <a:ext cx="2794000" cy="5842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示范验收、第三方验证</a:t>
            </a:r>
          </a:p>
        </p:txBody>
      </p:sp>
      <p:cxnSp>
        <p:nvCxnSpPr>
          <p:cNvPr id="25" name="Connector 24"/>
          <p:cNvCxnSpPr/>
          <p:nvPr/>
        </p:nvCxnSpPr>
        <p:spPr>
          <a:xfrm>
            <a:off x="406400" y="5080000"/>
            <a:ext cx="11379200" cy="0"/>
          </a:xfrm>
          <a:prstGeom prst="line">
            <a:avLst/>
          </a:prstGeom>
          <a:ln w="6350">
            <a:solidFill>
              <a:srgbClr val="E9E9E9"/>
            </a:solidFill>
            <a:round/>
          </a:ln>
        </p:spPr>
      </p:cxnSp>
      <p:sp>
        <p:nvSpPr>
          <p:cNvPr id="26" name="TextBox 25"/>
          <p:cNvSpPr txBox="1"/>
          <p:nvPr/>
        </p:nvSpPr>
        <p:spPr>
          <a:xfrm>
            <a:off x="406400" y="5283200"/>
            <a:ext cx="11379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知识产权与标准</a:t>
            </a:r>
          </a:p>
        </p:txBody>
      </p:sp>
      <p:sp>
        <p:nvSpPr>
          <p:cNvPr id="27" name="Rectangle 26"/>
          <p:cNvSpPr/>
          <p:nvPr/>
        </p:nvSpPr>
        <p:spPr>
          <a:xfrm>
            <a:off x="406400" y="5562600"/>
            <a:ext cx="9525" cy="787400"/>
          </a:xfrm>
          <a:prstGeom prst="rect">
            <a:avLst/>
          </a:prstGeom>
          <a:solidFill>
            <a:srgbClr val="E9E9E9"/>
          </a:solidFill>
          <a:ln>
            <a:noFill/>
          </a:ln>
        </p:spPr>
        <p:txBody>
          <a:bodyPr rtlCol="0" anchor="ctr" lIns="0" rIns="0" tIns="0" bIns="0"/>
          <a:lstStyle/>
          <a:p>
            <a:pPr algn="ctr"/>
          </a:p>
        </p:txBody>
      </p:sp>
      <p:sp>
        <p:nvSpPr>
          <p:cNvPr id="28" name="TextBox 27"/>
          <p:cNvSpPr txBox="1"/>
          <p:nvPr/>
        </p:nvSpPr>
        <p:spPr>
          <a:xfrm>
            <a:off x="546100" y="5664200"/>
            <a:ext cx="3412067" cy="349250"/>
          </a:xfrm>
          <a:prstGeom prst="rect">
            <a:avLst/>
          </a:prstGeom>
          <a:noFill/>
        </p:spPr>
        <p:txBody>
          <a:bodyPr wrap="none" anchor="t" lIns="0" tIns="0" rIns="0" bIns="0">
            <a:noAutofit/>
          </a:bodyPr>
          <a:lstStyle/>
          <a:p>
            <a:pPr algn="l" marL="0" indent="0">
              <a:lnSpc>
                <a:spcPts val="2750"/>
              </a:lnSpc>
              <a:buNone/>
            </a:pPr>
            <a:r>
              <a:rPr lang="zh-CN" altLang="en-US" sz="2200" b="1">
                <a:solidFill>
                  <a:srgbClr val="C00000"/>
                </a:solidFill>
                <a:latin typeface="微软雅黑"/>
                <a:ea typeface="微软雅黑"/>
                <a:cs typeface="微软雅黑"/>
              </a:rPr>
              <a:t>4</a:t>
            </a:r>
            <a:r>
              <a:rPr lang="zh-CN" altLang="en-US" sz="1000" b="0">
                <a:solidFill>
                  <a:srgbClr val="666666"/>
                </a:solidFill>
                <a:latin typeface="微软雅黑"/>
                <a:ea typeface="微软雅黑"/>
                <a:cs typeface="微软雅黑"/>
              </a:rPr>
              <a:t> 项</a:t>
            </a:r>
          </a:p>
        </p:txBody>
      </p:sp>
      <p:sp>
        <p:nvSpPr>
          <p:cNvPr id="29" name="TextBox 28"/>
          <p:cNvSpPr txBox="1"/>
          <p:nvPr/>
        </p:nvSpPr>
        <p:spPr>
          <a:xfrm>
            <a:off x="546100" y="6051550"/>
            <a:ext cx="3412067" cy="184150"/>
          </a:xfrm>
          <a:prstGeom prst="rect">
            <a:avLst/>
          </a:prstGeom>
          <a:noFill/>
        </p:spPr>
        <p:txBody>
          <a:bodyPr wrap="square" anchor="t" lIns="0" tIns="0" rIns="0" bIns="0">
            <a:noAutofit/>
          </a:bodyPr>
          <a:lstStyle/>
          <a:p>
            <a:pPr algn="l" marL="0" indent="0">
              <a:lnSpc>
                <a:spcPts val="1450"/>
              </a:lnSpc>
              <a:buNone/>
            </a:pPr>
            <a:r>
              <a:rPr lang="zh-CN" altLang="en-US" sz="1050" b="1">
                <a:solidFill>
                  <a:srgbClr val="1A1A1A"/>
                </a:solidFill>
                <a:latin typeface="微软雅黑"/>
                <a:ea typeface="微软雅黑"/>
                <a:cs typeface="微软雅黑"/>
              </a:rPr>
              <a:t>发明专利申请</a:t>
            </a:r>
          </a:p>
        </p:txBody>
      </p:sp>
      <p:sp>
        <p:nvSpPr>
          <p:cNvPr id="30" name="Rectangle 29"/>
          <p:cNvSpPr/>
          <p:nvPr/>
        </p:nvSpPr>
        <p:spPr>
          <a:xfrm>
            <a:off x="4250267" y="5562600"/>
            <a:ext cx="9525" cy="787400"/>
          </a:xfrm>
          <a:prstGeom prst="rect">
            <a:avLst/>
          </a:prstGeom>
          <a:solidFill>
            <a:srgbClr val="E9E9E9"/>
          </a:solidFill>
          <a:ln>
            <a:noFill/>
          </a:ln>
        </p:spPr>
        <p:txBody>
          <a:bodyPr rtlCol="0" anchor="ctr" lIns="0" rIns="0" tIns="0" bIns="0"/>
          <a:lstStyle/>
          <a:p>
            <a:pPr algn="ctr"/>
          </a:p>
        </p:txBody>
      </p:sp>
      <p:sp>
        <p:nvSpPr>
          <p:cNvPr id="31" name="TextBox 30"/>
          <p:cNvSpPr txBox="1"/>
          <p:nvPr/>
        </p:nvSpPr>
        <p:spPr>
          <a:xfrm>
            <a:off x="4389967" y="5664200"/>
            <a:ext cx="3412067" cy="349250"/>
          </a:xfrm>
          <a:prstGeom prst="rect">
            <a:avLst/>
          </a:prstGeom>
          <a:noFill/>
        </p:spPr>
        <p:txBody>
          <a:bodyPr wrap="none" anchor="t" lIns="0" tIns="0" rIns="0" bIns="0">
            <a:noAutofit/>
          </a:bodyPr>
          <a:lstStyle/>
          <a:p>
            <a:pPr algn="l" marL="0" indent="0">
              <a:lnSpc>
                <a:spcPts val="2750"/>
              </a:lnSpc>
              <a:buNone/>
            </a:pPr>
            <a:r>
              <a:rPr lang="zh-CN" altLang="en-US" sz="2200" b="1">
                <a:solidFill>
                  <a:srgbClr val="C00000"/>
                </a:solidFill>
                <a:latin typeface="微软雅黑"/>
                <a:ea typeface="微软雅黑"/>
                <a:cs typeface="微软雅黑"/>
              </a:rPr>
              <a:t>2</a:t>
            </a:r>
            <a:r>
              <a:rPr lang="zh-CN" altLang="en-US" sz="1000" b="0">
                <a:solidFill>
                  <a:srgbClr val="666666"/>
                </a:solidFill>
                <a:latin typeface="微软雅黑"/>
                <a:ea typeface="微软雅黑"/>
                <a:cs typeface="微软雅黑"/>
              </a:rPr>
              <a:t> 篇</a:t>
            </a:r>
          </a:p>
        </p:txBody>
      </p:sp>
      <p:sp>
        <p:nvSpPr>
          <p:cNvPr id="32" name="TextBox 31"/>
          <p:cNvSpPr txBox="1"/>
          <p:nvPr/>
        </p:nvSpPr>
        <p:spPr>
          <a:xfrm>
            <a:off x="4389967" y="6051550"/>
            <a:ext cx="3412067" cy="184150"/>
          </a:xfrm>
          <a:prstGeom prst="rect">
            <a:avLst/>
          </a:prstGeom>
          <a:noFill/>
        </p:spPr>
        <p:txBody>
          <a:bodyPr wrap="square" anchor="t" lIns="0" tIns="0" rIns="0" bIns="0">
            <a:noAutofit/>
          </a:bodyPr>
          <a:lstStyle/>
          <a:p>
            <a:pPr algn="l" marL="0" indent="0">
              <a:lnSpc>
                <a:spcPts val="1450"/>
              </a:lnSpc>
              <a:buNone/>
            </a:pPr>
            <a:r>
              <a:rPr lang="zh-CN" altLang="en-US" sz="1050" b="1">
                <a:solidFill>
                  <a:srgbClr val="1A1A1A"/>
                </a:solidFill>
                <a:latin typeface="微软雅黑"/>
                <a:ea typeface="微软雅黑"/>
                <a:cs typeface="微软雅黑"/>
              </a:rPr>
              <a:t>核心论文</a:t>
            </a:r>
          </a:p>
        </p:txBody>
      </p:sp>
      <p:sp>
        <p:nvSpPr>
          <p:cNvPr id="33" name="Rectangle 32"/>
          <p:cNvSpPr/>
          <p:nvPr/>
        </p:nvSpPr>
        <p:spPr>
          <a:xfrm>
            <a:off x="8094133" y="5562600"/>
            <a:ext cx="9525" cy="787400"/>
          </a:xfrm>
          <a:prstGeom prst="rect">
            <a:avLst/>
          </a:prstGeom>
          <a:solidFill>
            <a:srgbClr val="E9E9E9"/>
          </a:solidFill>
          <a:ln>
            <a:noFill/>
          </a:ln>
        </p:spPr>
        <p:txBody>
          <a:bodyPr rtlCol="0" anchor="ctr" lIns="0" rIns="0" tIns="0" bIns="0"/>
          <a:lstStyle/>
          <a:p>
            <a:pPr algn="ctr"/>
          </a:p>
        </p:txBody>
      </p:sp>
      <p:sp>
        <p:nvSpPr>
          <p:cNvPr id="34" name="TextBox 33"/>
          <p:cNvSpPr txBox="1"/>
          <p:nvPr/>
        </p:nvSpPr>
        <p:spPr>
          <a:xfrm>
            <a:off x="8233833" y="5664200"/>
            <a:ext cx="3412067" cy="349250"/>
          </a:xfrm>
          <a:prstGeom prst="rect">
            <a:avLst/>
          </a:prstGeom>
          <a:noFill/>
        </p:spPr>
        <p:txBody>
          <a:bodyPr wrap="none" anchor="t" lIns="0" tIns="0" rIns="0" bIns="0">
            <a:noAutofit/>
          </a:bodyPr>
          <a:lstStyle/>
          <a:p>
            <a:pPr algn="l" marL="0" indent="0">
              <a:lnSpc>
                <a:spcPts val="2750"/>
              </a:lnSpc>
              <a:buNone/>
            </a:pPr>
            <a:r>
              <a:rPr lang="zh-CN" altLang="en-US" sz="2200" b="1">
                <a:solidFill>
                  <a:srgbClr val="C00000"/>
                </a:solidFill>
                <a:latin typeface="微软雅黑"/>
                <a:ea typeface="微软雅黑"/>
                <a:cs typeface="微软雅黑"/>
              </a:rPr>
              <a:t>2</a:t>
            </a:r>
            <a:r>
              <a:rPr lang="zh-CN" altLang="en-US" sz="1000" b="0">
                <a:solidFill>
                  <a:srgbClr val="666666"/>
                </a:solidFill>
                <a:latin typeface="微软雅黑"/>
                <a:ea typeface="微软雅黑"/>
                <a:cs typeface="微软雅黑"/>
              </a:rPr>
              <a:t> 项</a:t>
            </a:r>
          </a:p>
        </p:txBody>
      </p:sp>
      <p:sp>
        <p:nvSpPr>
          <p:cNvPr id="35" name="TextBox 34"/>
          <p:cNvSpPr txBox="1"/>
          <p:nvPr/>
        </p:nvSpPr>
        <p:spPr>
          <a:xfrm>
            <a:off x="8233833" y="6051550"/>
            <a:ext cx="3412067" cy="184150"/>
          </a:xfrm>
          <a:prstGeom prst="rect">
            <a:avLst/>
          </a:prstGeom>
          <a:noFill/>
        </p:spPr>
        <p:txBody>
          <a:bodyPr wrap="square" anchor="t" lIns="0" tIns="0" rIns="0" bIns="0">
            <a:noAutofit/>
          </a:bodyPr>
          <a:lstStyle/>
          <a:p>
            <a:pPr algn="l" marL="0" indent="0">
              <a:lnSpc>
                <a:spcPts val="1450"/>
              </a:lnSpc>
              <a:buNone/>
            </a:pPr>
            <a:r>
              <a:rPr lang="zh-CN" altLang="en-US" sz="1050" b="1">
                <a:solidFill>
                  <a:srgbClr val="1A1A1A"/>
                </a:solidFill>
                <a:latin typeface="微软雅黑"/>
                <a:ea typeface="微软雅黑"/>
                <a:cs typeface="微软雅黑"/>
              </a:rPr>
              <a:t>企业标准草案</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量化指标与效益评估</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与现状对比</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15</a:t>
            </a:r>
          </a:p>
        </p:txBody>
      </p:sp>
      <p:sp>
        <p:nvSpPr>
          <p:cNvPr id="6" name="TextBox 5"/>
          <p:cNvSpPr txBox="1"/>
          <p:nvPr/>
        </p:nvSpPr>
        <p:spPr>
          <a:xfrm>
            <a:off x="406400" y="2082800"/>
            <a:ext cx="5537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指标：与现状对比</a:t>
            </a:r>
          </a:p>
        </p:txBody>
      </p:sp>
      <p:cxnSp>
        <p:nvCxnSpPr>
          <p:cNvPr id="7" name="Connector 6"/>
          <p:cNvCxnSpPr/>
          <p:nvPr/>
        </p:nvCxnSpPr>
        <p:spPr>
          <a:xfrm>
            <a:off x="406400" y="2641600"/>
            <a:ext cx="5537200" cy="0"/>
          </a:xfrm>
          <a:prstGeom prst="line">
            <a:avLst/>
          </a:prstGeom>
          <a:ln w="7620">
            <a:solidFill>
              <a:srgbClr val="666666"/>
            </a:solidFill>
            <a:round/>
          </a:ln>
        </p:spPr>
      </p:cxnSp>
      <p:sp>
        <p:nvSpPr>
          <p:cNvPr id="8" name="TextBox 7"/>
          <p:cNvSpPr txBox="1"/>
          <p:nvPr/>
        </p:nvSpPr>
        <p:spPr>
          <a:xfrm>
            <a:off x="508000" y="2362200"/>
            <a:ext cx="18923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指标</a:t>
            </a:r>
          </a:p>
        </p:txBody>
      </p:sp>
      <p:sp>
        <p:nvSpPr>
          <p:cNvPr id="9" name="TextBox 8"/>
          <p:cNvSpPr txBox="1"/>
          <p:nvPr/>
        </p:nvSpPr>
        <p:spPr>
          <a:xfrm>
            <a:off x="2603500" y="2362200"/>
            <a:ext cx="13843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现状</a:t>
            </a:r>
          </a:p>
        </p:txBody>
      </p:sp>
      <p:sp>
        <p:nvSpPr>
          <p:cNvPr id="10" name="TextBox 9"/>
          <p:cNvSpPr txBox="1"/>
          <p:nvPr/>
        </p:nvSpPr>
        <p:spPr>
          <a:xfrm>
            <a:off x="4191000" y="2362200"/>
            <a:ext cx="16510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目标</a:t>
            </a:r>
          </a:p>
        </p:txBody>
      </p:sp>
      <p:sp>
        <p:nvSpPr>
          <p:cNvPr id="11" name="TextBox 10"/>
          <p:cNvSpPr txBox="1"/>
          <p:nvPr/>
        </p:nvSpPr>
        <p:spPr>
          <a:xfrm>
            <a:off x="508000" y="2641600"/>
            <a:ext cx="1892300" cy="69088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一次软件迭代的验证周期</a:t>
            </a:r>
          </a:p>
        </p:txBody>
      </p:sp>
      <p:sp>
        <p:nvSpPr>
          <p:cNvPr id="12" name="TextBox 11"/>
          <p:cNvSpPr txBox="1"/>
          <p:nvPr/>
        </p:nvSpPr>
        <p:spPr>
          <a:xfrm>
            <a:off x="2603500" y="2641600"/>
            <a:ext cx="1384300" cy="69088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约 2 个月</a:t>
            </a:r>
          </a:p>
        </p:txBody>
      </p:sp>
      <p:sp>
        <p:nvSpPr>
          <p:cNvPr id="13" name="TextBox 12"/>
          <p:cNvSpPr txBox="1"/>
          <p:nvPr/>
        </p:nvSpPr>
        <p:spPr>
          <a:xfrm>
            <a:off x="4191000" y="2641600"/>
            <a:ext cx="1651000" cy="69088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缩短 ≥ </a:t>
            </a:r>
            <a:r>
              <a:rPr lang="zh-CN" altLang="en-US" sz="1000" b="1">
                <a:solidFill>
                  <a:srgbClr val="875D1C"/>
                </a:solidFill>
                <a:latin typeface="微软雅黑"/>
                <a:ea typeface="微软雅黑"/>
                <a:cs typeface="微软雅黑"/>
              </a:rPr>
              <a:t>【待填】</a:t>
            </a:r>
            <a:r>
              <a:rPr lang="zh-CN" altLang="en-US" sz="1000" b="1">
                <a:solidFill>
                  <a:srgbClr val="1A1A1A"/>
                </a:solidFill>
                <a:latin typeface="微软雅黑"/>
                <a:ea typeface="微软雅黑"/>
                <a:cs typeface="微软雅黑"/>
              </a:rPr>
              <a:t>%</a:t>
            </a:r>
          </a:p>
        </p:txBody>
      </p:sp>
      <p:cxnSp>
        <p:nvCxnSpPr>
          <p:cNvPr id="14" name="Connector 13"/>
          <p:cNvCxnSpPr/>
          <p:nvPr/>
        </p:nvCxnSpPr>
        <p:spPr>
          <a:xfrm>
            <a:off x="406400" y="3332480"/>
            <a:ext cx="5537200" cy="0"/>
          </a:xfrm>
          <a:prstGeom prst="line">
            <a:avLst/>
          </a:prstGeom>
          <a:ln w="6350">
            <a:solidFill>
              <a:srgbClr val="E9E9E9"/>
            </a:solidFill>
            <a:round/>
          </a:ln>
        </p:spPr>
      </p:cxnSp>
      <p:sp>
        <p:nvSpPr>
          <p:cNvPr id="15" name="TextBox 14"/>
          <p:cNvSpPr txBox="1"/>
          <p:nvPr/>
        </p:nvSpPr>
        <p:spPr>
          <a:xfrm>
            <a:off x="508000" y="3332480"/>
            <a:ext cx="1892300" cy="69088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现场验证人员投入</a:t>
            </a:r>
          </a:p>
        </p:txBody>
      </p:sp>
      <p:sp>
        <p:nvSpPr>
          <p:cNvPr id="16" name="TextBox 15"/>
          <p:cNvSpPr txBox="1"/>
          <p:nvPr/>
        </p:nvSpPr>
        <p:spPr>
          <a:xfrm>
            <a:off x="2603500" y="3332480"/>
            <a:ext cx="1384300" cy="69088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10 人</a:t>
            </a:r>
          </a:p>
        </p:txBody>
      </p:sp>
      <p:sp>
        <p:nvSpPr>
          <p:cNvPr id="17" name="TextBox 16"/>
          <p:cNvSpPr txBox="1"/>
          <p:nvPr/>
        </p:nvSpPr>
        <p:spPr>
          <a:xfrm>
            <a:off x="4191000" y="3332480"/>
            <a:ext cx="1651000" cy="69088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减少 ≥ </a:t>
            </a:r>
            <a:r>
              <a:rPr lang="zh-CN" altLang="en-US" sz="1000" b="1">
                <a:solidFill>
                  <a:srgbClr val="875D1C"/>
                </a:solidFill>
                <a:latin typeface="微软雅黑"/>
                <a:ea typeface="微软雅黑"/>
                <a:cs typeface="微软雅黑"/>
              </a:rPr>
              <a:t>【待填】</a:t>
            </a:r>
            <a:r>
              <a:rPr lang="zh-CN" altLang="en-US" sz="1000" b="1">
                <a:solidFill>
                  <a:srgbClr val="1A1A1A"/>
                </a:solidFill>
                <a:latin typeface="微软雅黑"/>
                <a:ea typeface="微软雅黑"/>
                <a:cs typeface="微软雅黑"/>
              </a:rPr>
              <a:t>%</a:t>
            </a:r>
          </a:p>
        </p:txBody>
      </p:sp>
      <p:cxnSp>
        <p:nvCxnSpPr>
          <p:cNvPr id="18" name="Connector 17"/>
          <p:cNvCxnSpPr/>
          <p:nvPr/>
        </p:nvCxnSpPr>
        <p:spPr>
          <a:xfrm>
            <a:off x="406400" y="4023360"/>
            <a:ext cx="5537200" cy="0"/>
          </a:xfrm>
          <a:prstGeom prst="line">
            <a:avLst/>
          </a:prstGeom>
          <a:ln w="6350">
            <a:solidFill>
              <a:srgbClr val="E9E9E9"/>
            </a:solidFill>
            <a:round/>
          </a:ln>
        </p:spPr>
      </p:cxnSp>
      <p:sp>
        <p:nvSpPr>
          <p:cNvPr id="19" name="TextBox 18"/>
          <p:cNvSpPr txBox="1"/>
          <p:nvPr/>
        </p:nvSpPr>
        <p:spPr>
          <a:xfrm>
            <a:off x="508000" y="4023360"/>
            <a:ext cx="1892300" cy="69088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工况覆盖度</a:t>
            </a:r>
          </a:p>
        </p:txBody>
      </p:sp>
      <p:sp>
        <p:nvSpPr>
          <p:cNvPr id="20" name="TextBox 19"/>
          <p:cNvSpPr txBox="1"/>
          <p:nvPr/>
        </p:nvSpPr>
        <p:spPr>
          <a:xfrm>
            <a:off x="2603500" y="4023360"/>
            <a:ext cx="1384300" cy="69088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受台架与现场条件限制</a:t>
            </a:r>
          </a:p>
        </p:txBody>
      </p:sp>
      <p:sp>
        <p:nvSpPr>
          <p:cNvPr id="21" name="TextBox 20"/>
          <p:cNvSpPr txBox="1"/>
          <p:nvPr/>
        </p:nvSpPr>
        <p:spPr>
          <a:xfrm>
            <a:off x="4191000" y="4023360"/>
            <a:ext cx="1651000" cy="69088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提升 ≥ </a:t>
            </a:r>
            <a:r>
              <a:rPr lang="zh-CN" altLang="en-US" sz="1000" b="1">
                <a:solidFill>
                  <a:srgbClr val="875D1C"/>
                </a:solidFill>
                <a:latin typeface="微软雅黑"/>
                <a:ea typeface="微软雅黑"/>
                <a:cs typeface="微软雅黑"/>
              </a:rPr>
              <a:t>【待填】</a:t>
            </a:r>
            <a:r>
              <a:rPr lang="zh-CN" altLang="en-US" sz="1000" b="1">
                <a:solidFill>
                  <a:srgbClr val="1A1A1A"/>
                </a:solidFill>
                <a:latin typeface="微软雅黑"/>
                <a:ea typeface="微软雅黑"/>
                <a:cs typeface="微软雅黑"/>
              </a:rPr>
              <a:t>%</a:t>
            </a:r>
          </a:p>
        </p:txBody>
      </p:sp>
      <p:cxnSp>
        <p:nvCxnSpPr>
          <p:cNvPr id="22" name="Connector 21"/>
          <p:cNvCxnSpPr/>
          <p:nvPr/>
        </p:nvCxnSpPr>
        <p:spPr>
          <a:xfrm>
            <a:off x="406400" y="4714240"/>
            <a:ext cx="5537200" cy="0"/>
          </a:xfrm>
          <a:prstGeom prst="line">
            <a:avLst/>
          </a:prstGeom>
          <a:ln w="6350">
            <a:solidFill>
              <a:srgbClr val="E9E9E9"/>
            </a:solidFill>
            <a:round/>
          </a:ln>
        </p:spPr>
      </p:cxnSp>
      <p:sp>
        <p:nvSpPr>
          <p:cNvPr id="23" name="TextBox 22"/>
          <p:cNvSpPr txBox="1"/>
          <p:nvPr/>
        </p:nvSpPr>
        <p:spPr>
          <a:xfrm>
            <a:off x="508000" y="4714240"/>
            <a:ext cx="1892300" cy="69088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接入异构仿真智能体</a:t>
            </a:r>
          </a:p>
        </p:txBody>
      </p:sp>
      <p:sp>
        <p:nvSpPr>
          <p:cNvPr id="24" name="TextBox 23"/>
          <p:cNvSpPr txBox="1"/>
          <p:nvPr/>
        </p:nvSpPr>
        <p:spPr>
          <a:xfrm>
            <a:off x="2603500" y="4714240"/>
            <a:ext cx="1384300" cy="69088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a:t>
            </a:r>
          </a:p>
        </p:txBody>
      </p:sp>
      <p:sp>
        <p:nvSpPr>
          <p:cNvPr id="25" name="TextBox 24"/>
          <p:cNvSpPr txBox="1"/>
          <p:nvPr/>
        </p:nvSpPr>
        <p:spPr>
          <a:xfrm>
            <a:off x="4191000" y="4714240"/>
            <a:ext cx="1651000" cy="69088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 </a:t>
            </a:r>
            <a:r>
              <a:rPr lang="zh-CN" altLang="en-US" sz="1000" b="1">
                <a:solidFill>
                  <a:srgbClr val="875D1C"/>
                </a:solidFill>
                <a:latin typeface="微软雅黑"/>
                <a:ea typeface="微软雅黑"/>
                <a:cs typeface="微软雅黑"/>
              </a:rPr>
              <a:t>【待填】</a:t>
            </a:r>
            <a:r>
              <a:rPr lang="zh-CN" altLang="en-US" sz="1000" b="1">
                <a:solidFill>
                  <a:srgbClr val="1A1A1A"/>
                </a:solidFill>
                <a:latin typeface="微软雅黑"/>
                <a:ea typeface="微软雅黑"/>
                <a:cs typeface="微软雅黑"/>
              </a:rPr>
              <a:t> 类</a:t>
            </a:r>
          </a:p>
        </p:txBody>
      </p:sp>
      <p:cxnSp>
        <p:nvCxnSpPr>
          <p:cNvPr id="26" name="Connector 25"/>
          <p:cNvCxnSpPr/>
          <p:nvPr/>
        </p:nvCxnSpPr>
        <p:spPr>
          <a:xfrm>
            <a:off x="406400" y="5405120"/>
            <a:ext cx="5537200" cy="0"/>
          </a:xfrm>
          <a:prstGeom prst="line">
            <a:avLst/>
          </a:prstGeom>
          <a:ln w="6350">
            <a:solidFill>
              <a:srgbClr val="E9E9E9"/>
            </a:solidFill>
            <a:round/>
          </a:ln>
        </p:spPr>
      </p:cxnSp>
      <p:sp>
        <p:nvSpPr>
          <p:cNvPr id="27" name="TextBox 26"/>
          <p:cNvSpPr txBox="1"/>
          <p:nvPr/>
        </p:nvSpPr>
        <p:spPr>
          <a:xfrm>
            <a:off x="508000" y="5405120"/>
            <a:ext cx="1892300" cy="69088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协同验证典型工况</a:t>
            </a:r>
          </a:p>
        </p:txBody>
      </p:sp>
      <p:sp>
        <p:nvSpPr>
          <p:cNvPr id="28" name="TextBox 27"/>
          <p:cNvSpPr txBox="1"/>
          <p:nvPr/>
        </p:nvSpPr>
        <p:spPr>
          <a:xfrm>
            <a:off x="2603500" y="5405120"/>
            <a:ext cx="1384300" cy="69088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a:t>
            </a:r>
          </a:p>
        </p:txBody>
      </p:sp>
      <p:sp>
        <p:nvSpPr>
          <p:cNvPr id="29" name="TextBox 28"/>
          <p:cNvSpPr txBox="1"/>
          <p:nvPr/>
        </p:nvSpPr>
        <p:spPr>
          <a:xfrm>
            <a:off x="4191000" y="5405120"/>
            <a:ext cx="1651000" cy="69088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 </a:t>
            </a:r>
            <a:r>
              <a:rPr lang="zh-CN" altLang="en-US" sz="1000" b="1">
                <a:solidFill>
                  <a:srgbClr val="875D1C"/>
                </a:solidFill>
                <a:latin typeface="微软雅黑"/>
                <a:ea typeface="微软雅黑"/>
                <a:cs typeface="微软雅黑"/>
              </a:rPr>
              <a:t>【待填】</a:t>
            </a:r>
            <a:r>
              <a:rPr lang="zh-CN" altLang="en-US" sz="1000" b="1">
                <a:solidFill>
                  <a:srgbClr val="1A1A1A"/>
                </a:solidFill>
                <a:latin typeface="微软雅黑"/>
                <a:ea typeface="微软雅黑"/>
                <a:cs typeface="微软雅黑"/>
              </a:rPr>
              <a:t> 个</a:t>
            </a:r>
          </a:p>
        </p:txBody>
      </p:sp>
      <p:cxnSp>
        <p:nvCxnSpPr>
          <p:cNvPr id="30" name="Connector 29"/>
          <p:cNvCxnSpPr/>
          <p:nvPr/>
        </p:nvCxnSpPr>
        <p:spPr>
          <a:xfrm>
            <a:off x="406400" y="6096000"/>
            <a:ext cx="5537200" cy="0"/>
          </a:xfrm>
          <a:prstGeom prst="line">
            <a:avLst/>
          </a:prstGeom>
          <a:ln w="6350">
            <a:solidFill>
              <a:srgbClr val="E9E9E9"/>
            </a:solidFill>
            <a:round/>
          </a:ln>
        </p:spPr>
      </p:cxnSp>
      <p:sp>
        <p:nvSpPr>
          <p:cNvPr id="31" name="TextBox 30"/>
          <p:cNvSpPr txBox="1"/>
          <p:nvPr/>
        </p:nvSpPr>
        <p:spPr>
          <a:xfrm>
            <a:off x="6197600" y="2082800"/>
            <a:ext cx="5588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效益评估</a:t>
            </a:r>
          </a:p>
        </p:txBody>
      </p:sp>
      <p:sp>
        <p:nvSpPr>
          <p:cNvPr id="32" name="Rectangle 31"/>
          <p:cNvSpPr/>
          <p:nvPr/>
        </p:nvSpPr>
        <p:spPr>
          <a:xfrm>
            <a:off x="6197600" y="2362200"/>
            <a:ext cx="5588000" cy="1045882"/>
          </a:xfrm>
          <a:prstGeom prst="rect">
            <a:avLst/>
          </a:prstGeom>
          <a:solidFill>
            <a:srgbClr val="FFFFFF"/>
          </a:solidFill>
          <a:ln w="6350">
            <a:solidFill>
              <a:srgbClr val="E9E9E9"/>
            </a:solidFill>
            <a:round/>
          </a:ln>
        </p:spPr>
        <p:txBody>
          <a:bodyPr rtlCol="0" anchor="ctr" lIns="0" rIns="0" tIns="0" bIns="0"/>
          <a:lstStyle/>
          <a:p>
            <a:pPr algn="ctr"/>
          </a:p>
        </p:txBody>
      </p:sp>
      <p:sp>
        <p:nvSpPr>
          <p:cNvPr id="33" name="Rectangle 32"/>
          <p:cNvSpPr/>
          <p:nvPr/>
        </p:nvSpPr>
        <p:spPr>
          <a:xfrm>
            <a:off x="6197600" y="2362200"/>
            <a:ext cx="19050" cy="1045882"/>
          </a:xfrm>
          <a:prstGeom prst="rect">
            <a:avLst/>
          </a:prstGeom>
          <a:solidFill>
            <a:srgbClr val="C00000"/>
          </a:solidFill>
          <a:ln>
            <a:noFill/>
          </a:ln>
        </p:spPr>
        <p:txBody>
          <a:bodyPr rtlCol="0" anchor="ctr" lIns="0" rIns="0" tIns="0" bIns="0"/>
          <a:lstStyle/>
          <a:p>
            <a:pPr algn="ctr"/>
          </a:p>
        </p:txBody>
      </p:sp>
      <p:sp>
        <p:nvSpPr>
          <p:cNvPr id="34" name="TextBox 33"/>
          <p:cNvSpPr txBox="1"/>
          <p:nvPr/>
        </p:nvSpPr>
        <p:spPr>
          <a:xfrm>
            <a:off x="6375400" y="2650191"/>
            <a:ext cx="2540000" cy="215900"/>
          </a:xfrm>
          <a:prstGeom prst="rect">
            <a:avLst/>
          </a:prstGeom>
          <a:noFill/>
        </p:spPr>
        <p:txBody>
          <a:bodyPr wrap="none" anchor="ctr" lIns="0" tIns="0" rIns="0" bIns="0">
            <a:noAutofit/>
          </a:bodyPr>
          <a:lstStyle/>
          <a:p>
            <a:pPr algn="l" marL="0" indent="0">
              <a:lnSpc>
                <a:spcPts val="1500"/>
              </a:lnSpc>
              <a:buNone/>
            </a:pPr>
            <a:r>
              <a:rPr lang="zh-CN" altLang="en-US" sz="1100" b="1">
                <a:solidFill>
                  <a:srgbClr val="1A1A1A"/>
                </a:solidFill>
                <a:latin typeface="微软雅黑"/>
                <a:ea typeface="微软雅黑"/>
                <a:cs typeface="微软雅黑"/>
              </a:rPr>
              <a:t>技术效益</a:t>
            </a:r>
          </a:p>
        </p:txBody>
      </p:sp>
      <p:sp>
        <p:nvSpPr>
          <p:cNvPr id="35" name="TextBox 34"/>
          <p:cNvSpPr txBox="1"/>
          <p:nvPr/>
        </p:nvSpPr>
        <p:spPr>
          <a:xfrm>
            <a:off x="6375400" y="2929591"/>
            <a:ext cx="5232400" cy="203200"/>
          </a:xfrm>
          <a:prstGeom prst="rect">
            <a:avLst/>
          </a:prstGeom>
          <a:noFill/>
        </p:spPr>
        <p:txBody>
          <a:bodyPr wrap="square" anchor="t"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复杂工况可复现、可回归，形成列车级性能验证能力</a:t>
            </a:r>
          </a:p>
        </p:txBody>
      </p:sp>
      <p:sp>
        <p:nvSpPr>
          <p:cNvPr id="36" name="Rectangle 35"/>
          <p:cNvSpPr/>
          <p:nvPr/>
        </p:nvSpPr>
        <p:spPr>
          <a:xfrm>
            <a:off x="6197600" y="3496982"/>
            <a:ext cx="5588000" cy="1464235"/>
          </a:xfrm>
          <a:prstGeom prst="rect">
            <a:avLst/>
          </a:prstGeom>
          <a:solidFill>
            <a:srgbClr val="FFFFFF"/>
          </a:solidFill>
          <a:ln w="6350">
            <a:solidFill>
              <a:srgbClr val="E9E9E9"/>
            </a:solidFill>
            <a:round/>
          </a:ln>
        </p:spPr>
        <p:txBody>
          <a:bodyPr rtlCol="0" anchor="ctr" lIns="0" rIns="0" tIns="0" bIns="0"/>
          <a:lstStyle/>
          <a:p>
            <a:pPr algn="ctr"/>
          </a:p>
        </p:txBody>
      </p:sp>
      <p:sp>
        <p:nvSpPr>
          <p:cNvPr id="37" name="Rectangle 36"/>
          <p:cNvSpPr/>
          <p:nvPr/>
        </p:nvSpPr>
        <p:spPr>
          <a:xfrm>
            <a:off x="6197600" y="3496982"/>
            <a:ext cx="19050" cy="1464235"/>
          </a:xfrm>
          <a:prstGeom prst="rect">
            <a:avLst/>
          </a:prstGeom>
          <a:solidFill>
            <a:srgbClr val="C00000"/>
          </a:solidFill>
          <a:ln>
            <a:noFill/>
          </a:ln>
        </p:spPr>
        <p:txBody>
          <a:bodyPr rtlCol="0" anchor="ctr" lIns="0" rIns="0" tIns="0" bIns="0"/>
          <a:lstStyle/>
          <a:p>
            <a:pPr algn="ctr"/>
          </a:p>
        </p:txBody>
      </p:sp>
      <p:sp>
        <p:nvSpPr>
          <p:cNvPr id="38" name="TextBox 37"/>
          <p:cNvSpPr txBox="1"/>
          <p:nvPr/>
        </p:nvSpPr>
        <p:spPr>
          <a:xfrm>
            <a:off x="6375400" y="3822700"/>
            <a:ext cx="2540000" cy="215900"/>
          </a:xfrm>
          <a:prstGeom prst="rect">
            <a:avLst/>
          </a:prstGeom>
          <a:noFill/>
        </p:spPr>
        <p:txBody>
          <a:bodyPr wrap="none" anchor="ctr" lIns="0" tIns="0" rIns="0" bIns="0">
            <a:noAutofit/>
          </a:bodyPr>
          <a:lstStyle/>
          <a:p>
            <a:pPr algn="l" marL="0" indent="0">
              <a:lnSpc>
                <a:spcPts val="1500"/>
              </a:lnSpc>
              <a:buNone/>
            </a:pPr>
            <a:r>
              <a:rPr lang="zh-CN" altLang="en-US" sz="1100" b="1">
                <a:solidFill>
                  <a:srgbClr val="1A1A1A"/>
                </a:solidFill>
                <a:latin typeface="微软雅黑"/>
                <a:ea typeface="微软雅黑"/>
                <a:cs typeface="微软雅黑"/>
              </a:rPr>
              <a:t>经济效益</a:t>
            </a:r>
          </a:p>
        </p:txBody>
      </p:sp>
      <p:sp>
        <p:nvSpPr>
          <p:cNvPr id="39" name="TextBox 38"/>
          <p:cNvSpPr txBox="1"/>
          <p:nvPr/>
        </p:nvSpPr>
        <p:spPr>
          <a:xfrm>
            <a:off x="6375400" y="4102100"/>
            <a:ext cx="5232400" cy="203200"/>
          </a:xfrm>
          <a:prstGeom prst="rect">
            <a:avLst/>
          </a:prstGeom>
          <a:noFill/>
        </p:spPr>
        <p:txBody>
          <a:bodyPr wrap="square" anchor="t"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减少实物试验与样车试制投入，缩短研制迭代周期</a:t>
            </a:r>
          </a:p>
        </p:txBody>
      </p:sp>
      <p:sp>
        <p:nvSpPr>
          <p:cNvPr id="40" name="Rectangle 39"/>
          <p:cNvSpPr/>
          <p:nvPr/>
        </p:nvSpPr>
        <p:spPr>
          <a:xfrm>
            <a:off x="6375400" y="4394200"/>
            <a:ext cx="1705480" cy="215900"/>
          </a:xfrm>
          <a:prstGeom prst="rect">
            <a:avLst/>
          </a:prstGeom>
          <a:solidFill>
            <a:srgbClr val="FBF6EC"/>
          </a:solidFill>
          <a:ln w="7620">
            <a:solidFill>
              <a:srgbClr val="9E6F28"/>
            </a:solidFill>
            <a:prstDash val="dash"/>
            <a:round/>
          </a:ln>
        </p:spPr>
        <p:txBody>
          <a:bodyPr rtlCol="0" anchor="ctr" lIns="0" rIns="0" tIns="0" bIns="0" wrap="none">
            <a:noAutofit/>
          </a:bodyPr>
          <a:lstStyle/>
          <a:p>
            <a:pPr algn="ctr" marL="0" indent="0">
              <a:lnSpc>
                <a:spcPts val="1100"/>
              </a:lnSpc>
              <a:buNone/>
            </a:pPr>
            <a:r>
              <a:rPr lang="zh-CN" altLang="en-US" sz="850" b="0">
                <a:solidFill>
                  <a:srgbClr val="3D3D3D"/>
                </a:solidFill>
                <a:latin typeface="微软雅黑"/>
                <a:ea typeface="微软雅黑"/>
                <a:cs typeface="微软雅黑"/>
              </a:rPr>
              <a:t>减少实物试验　</a:t>
            </a:r>
            <a:r>
              <a:rPr lang="zh-CN" altLang="en-US" sz="850" b="1">
                <a:solidFill>
                  <a:srgbClr val="875D1C"/>
                </a:solidFill>
                <a:latin typeface="微软雅黑"/>
                <a:ea typeface="微软雅黑"/>
                <a:cs typeface="微软雅黑"/>
              </a:rPr>
              <a:t>≥【待填】次/年</a:t>
            </a:r>
          </a:p>
        </p:txBody>
      </p:sp>
      <p:sp>
        <p:nvSpPr>
          <p:cNvPr id="41" name="Rectangle 40"/>
          <p:cNvSpPr/>
          <p:nvPr/>
        </p:nvSpPr>
        <p:spPr>
          <a:xfrm>
            <a:off x="8144380" y="4394200"/>
            <a:ext cx="1597530" cy="215900"/>
          </a:xfrm>
          <a:prstGeom prst="rect">
            <a:avLst/>
          </a:prstGeom>
          <a:solidFill>
            <a:srgbClr val="FBF6EC"/>
          </a:solidFill>
          <a:ln w="7620">
            <a:solidFill>
              <a:srgbClr val="9E6F28"/>
            </a:solidFill>
            <a:prstDash val="dash"/>
            <a:round/>
          </a:ln>
        </p:spPr>
        <p:txBody>
          <a:bodyPr rtlCol="0" anchor="ctr" lIns="0" rIns="0" tIns="0" bIns="0" wrap="none">
            <a:noAutofit/>
          </a:bodyPr>
          <a:lstStyle/>
          <a:p>
            <a:pPr algn="ctr" marL="0" indent="0">
              <a:lnSpc>
                <a:spcPts val="1100"/>
              </a:lnSpc>
              <a:buNone/>
            </a:pPr>
            <a:r>
              <a:rPr lang="zh-CN" altLang="en-US" sz="850" b="0">
                <a:solidFill>
                  <a:srgbClr val="3D3D3D"/>
                </a:solidFill>
                <a:latin typeface="微软雅黑"/>
                <a:ea typeface="微软雅黑"/>
                <a:cs typeface="微软雅黑"/>
              </a:rPr>
              <a:t>节约费用　</a:t>
            </a:r>
            <a:r>
              <a:rPr lang="zh-CN" altLang="en-US" sz="850" b="1">
                <a:solidFill>
                  <a:srgbClr val="875D1C"/>
                </a:solidFill>
                <a:latin typeface="微软雅黑"/>
                <a:ea typeface="微软雅黑"/>
                <a:cs typeface="微软雅黑"/>
              </a:rPr>
              <a:t>≥【待填】万元/年</a:t>
            </a:r>
          </a:p>
        </p:txBody>
      </p:sp>
      <p:sp>
        <p:nvSpPr>
          <p:cNvPr id="42" name="Rectangle 41"/>
          <p:cNvSpPr/>
          <p:nvPr/>
        </p:nvSpPr>
        <p:spPr>
          <a:xfrm>
            <a:off x="6197600" y="5050118"/>
            <a:ext cx="5588000" cy="1045882"/>
          </a:xfrm>
          <a:prstGeom prst="rect">
            <a:avLst/>
          </a:prstGeom>
          <a:solidFill>
            <a:srgbClr val="FFFFFF"/>
          </a:solidFill>
          <a:ln w="6350">
            <a:solidFill>
              <a:srgbClr val="E9E9E9"/>
            </a:solidFill>
            <a:round/>
          </a:ln>
        </p:spPr>
        <p:txBody>
          <a:bodyPr rtlCol="0" anchor="ctr" lIns="0" rIns="0" tIns="0" bIns="0"/>
          <a:lstStyle/>
          <a:p>
            <a:pPr algn="ctr"/>
          </a:p>
        </p:txBody>
      </p:sp>
      <p:sp>
        <p:nvSpPr>
          <p:cNvPr id="43" name="Rectangle 42"/>
          <p:cNvSpPr/>
          <p:nvPr/>
        </p:nvSpPr>
        <p:spPr>
          <a:xfrm>
            <a:off x="6197600" y="5050118"/>
            <a:ext cx="19050" cy="1045882"/>
          </a:xfrm>
          <a:prstGeom prst="rect">
            <a:avLst/>
          </a:prstGeom>
          <a:solidFill>
            <a:srgbClr val="C00000"/>
          </a:solidFill>
          <a:ln>
            <a:noFill/>
          </a:ln>
        </p:spPr>
        <p:txBody>
          <a:bodyPr rtlCol="0" anchor="ctr" lIns="0" rIns="0" tIns="0" bIns="0"/>
          <a:lstStyle/>
          <a:p>
            <a:pPr algn="ctr"/>
          </a:p>
        </p:txBody>
      </p:sp>
      <p:sp>
        <p:nvSpPr>
          <p:cNvPr id="44" name="TextBox 43"/>
          <p:cNvSpPr txBox="1"/>
          <p:nvPr/>
        </p:nvSpPr>
        <p:spPr>
          <a:xfrm>
            <a:off x="6375400" y="5338109"/>
            <a:ext cx="2540000" cy="215900"/>
          </a:xfrm>
          <a:prstGeom prst="rect">
            <a:avLst/>
          </a:prstGeom>
          <a:noFill/>
        </p:spPr>
        <p:txBody>
          <a:bodyPr wrap="none" anchor="ctr" lIns="0" tIns="0" rIns="0" bIns="0">
            <a:noAutofit/>
          </a:bodyPr>
          <a:lstStyle/>
          <a:p>
            <a:pPr algn="l" marL="0" indent="0">
              <a:lnSpc>
                <a:spcPts val="1500"/>
              </a:lnSpc>
              <a:buNone/>
            </a:pPr>
            <a:r>
              <a:rPr lang="zh-CN" altLang="en-US" sz="1100" b="1">
                <a:solidFill>
                  <a:srgbClr val="1A1A1A"/>
                </a:solidFill>
                <a:latin typeface="微软雅黑"/>
                <a:ea typeface="微软雅黑"/>
                <a:cs typeface="微软雅黑"/>
              </a:rPr>
              <a:t>管理与推广效益</a:t>
            </a:r>
          </a:p>
        </p:txBody>
      </p:sp>
      <p:sp>
        <p:nvSpPr>
          <p:cNvPr id="45" name="TextBox 44"/>
          <p:cNvSpPr txBox="1"/>
          <p:nvPr/>
        </p:nvSpPr>
        <p:spPr>
          <a:xfrm>
            <a:off x="6375400" y="5617509"/>
            <a:ext cx="5232400" cy="203200"/>
          </a:xfrm>
          <a:prstGeom prst="rect">
            <a:avLst/>
          </a:prstGeom>
          <a:noFill/>
        </p:spPr>
        <p:txBody>
          <a:bodyPr wrap="square" anchor="t"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验证流程标准化；可扩展到制动、辅助系统，在**内推广</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经费预算</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总预算 100 万元，算力是核心投入</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16</a:t>
            </a:r>
          </a:p>
        </p:txBody>
      </p:sp>
      <p:sp>
        <p:nvSpPr>
          <p:cNvPr id="6" name="TextBox 5"/>
          <p:cNvSpPr txBox="1"/>
          <p:nvPr/>
        </p:nvSpPr>
        <p:spPr>
          <a:xfrm>
            <a:off x="406400" y="2032000"/>
            <a:ext cx="1524000" cy="482600"/>
          </a:xfrm>
          <a:prstGeom prst="rect">
            <a:avLst/>
          </a:prstGeom>
          <a:noFill/>
        </p:spPr>
        <p:txBody>
          <a:bodyPr wrap="none" anchor="t" lIns="0" tIns="0" rIns="0" bIns="0">
            <a:noAutofit/>
          </a:bodyPr>
          <a:lstStyle/>
          <a:p>
            <a:pPr algn="l" marL="0" indent="0">
              <a:lnSpc>
                <a:spcPts val="3600"/>
              </a:lnSpc>
              <a:buNone/>
            </a:pPr>
            <a:r>
              <a:rPr lang="zh-CN" altLang="en-US" sz="2900" b="1">
                <a:solidFill>
                  <a:srgbClr val="1A1A1A"/>
                </a:solidFill>
                <a:latin typeface="Consolas"/>
                <a:ea typeface="微软雅黑"/>
                <a:cs typeface="Consolas"/>
              </a:rPr>
              <a:t>100</a:t>
            </a:r>
            <a:r>
              <a:rPr lang="zh-CN" altLang="en-US" sz="1200" b="0">
                <a:solidFill>
                  <a:srgbClr val="666666"/>
                </a:solidFill>
                <a:latin typeface="Consolas"/>
                <a:ea typeface="微软雅黑"/>
                <a:cs typeface="Consolas"/>
              </a:rPr>
              <a:t> 万元</a:t>
            </a:r>
          </a:p>
        </p:txBody>
      </p:sp>
      <p:sp>
        <p:nvSpPr>
          <p:cNvPr id="7" name="TextBox 6"/>
          <p:cNvSpPr txBox="1"/>
          <p:nvPr/>
        </p:nvSpPr>
        <p:spPr>
          <a:xfrm>
            <a:off x="406400" y="2476500"/>
            <a:ext cx="1524000" cy="152400"/>
          </a:xfrm>
          <a:prstGeom prst="rect">
            <a:avLst/>
          </a:prstGeom>
          <a:noFill/>
        </p:spPr>
        <p:txBody>
          <a:bodyPr wrap="none" anchor="t" lIns="0" tIns="0" rIns="0" bIns="0">
            <a:noAutofit/>
          </a:bodyPr>
          <a:lstStyle/>
          <a:p>
            <a:pPr algn="l" marL="0" indent="0">
              <a:lnSpc>
                <a:spcPts val="1100"/>
              </a:lnSpc>
              <a:buNone/>
            </a:pPr>
            <a:r>
              <a:rPr lang="zh-CN" altLang="en-US" sz="850" b="1">
                <a:solidFill>
                  <a:srgbClr val="8C8C8C"/>
                </a:solidFill>
                <a:latin typeface="微软雅黑"/>
                <a:ea typeface="微软雅黑"/>
                <a:cs typeface="微软雅黑"/>
              </a:rPr>
              <a:t>总预算</a:t>
            </a:r>
          </a:p>
        </p:txBody>
      </p:sp>
      <p:sp>
        <p:nvSpPr>
          <p:cNvPr id="8" name="Rectangle 7"/>
          <p:cNvSpPr/>
          <p:nvPr/>
        </p:nvSpPr>
        <p:spPr>
          <a:xfrm>
            <a:off x="1993900" y="2133600"/>
            <a:ext cx="2552700" cy="330200"/>
          </a:xfrm>
          <a:prstGeom prst="rect">
            <a:avLst/>
          </a:prstGeom>
          <a:solidFill>
            <a:srgbClr val="C00000"/>
          </a:solidFill>
          <a:ln>
            <a:noFill/>
          </a:ln>
        </p:spPr>
        <p:txBody>
          <a:bodyPr rtlCol="0" anchor="ctr" lIns="0" rIns="0" tIns="0" bIns="0" wrap="none">
            <a:noAutofit/>
          </a:bodyPr>
          <a:lstStyle/>
          <a:p>
            <a:pPr algn="ctr" marL="0" indent="0">
              <a:lnSpc>
                <a:spcPts val="1250"/>
              </a:lnSpc>
              <a:buNone/>
            </a:pPr>
            <a:r>
              <a:rPr lang="zh-CN" altLang="en-US" sz="950" b="1">
                <a:solidFill>
                  <a:srgbClr val="FFFFFF"/>
                </a:solidFill>
                <a:latin typeface="微软雅黑"/>
                <a:ea typeface="微软雅黑"/>
                <a:cs typeface="微软雅黑"/>
              </a:rPr>
              <a:t>直接投入 50</a:t>
            </a:r>
          </a:p>
        </p:txBody>
      </p:sp>
      <p:sp>
        <p:nvSpPr>
          <p:cNvPr id="9" name="Rectangle 8"/>
          <p:cNvSpPr/>
          <p:nvPr/>
        </p:nvSpPr>
        <p:spPr>
          <a:xfrm>
            <a:off x="4559300" y="2133600"/>
            <a:ext cx="1531620" cy="330200"/>
          </a:xfrm>
          <a:prstGeom prst="rect">
            <a:avLst/>
          </a:prstGeom>
          <a:solidFill>
            <a:srgbClr val="D86060"/>
          </a:solidFill>
          <a:ln>
            <a:noFill/>
          </a:ln>
        </p:spPr>
        <p:txBody>
          <a:bodyPr rtlCol="0" anchor="ctr" lIns="0" rIns="0" tIns="0" bIns="0" wrap="none">
            <a:noAutofit/>
          </a:bodyPr>
          <a:lstStyle/>
          <a:p>
            <a:pPr algn="ctr" marL="0" indent="0">
              <a:lnSpc>
                <a:spcPts val="1250"/>
              </a:lnSpc>
              <a:buNone/>
            </a:pPr>
            <a:r>
              <a:rPr lang="zh-CN" altLang="en-US" sz="950" b="1">
                <a:solidFill>
                  <a:srgbClr val="FFFFFF"/>
                </a:solidFill>
                <a:latin typeface="微软雅黑"/>
                <a:ea typeface="微软雅黑"/>
                <a:cs typeface="微软雅黑"/>
              </a:rPr>
              <a:t>人员 30</a:t>
            </a:r>
          </a:p>
        </p:txBody>
      </p:sp>
      <p:sp>
        <p:nvSpPr>
          <p:cNvPr id="10" name="Rectangle 9"/>
          <p:cNvSpPr/>
          <p:nvPr/>
        </p:nvSpPr>
        <p:spPr>
          <a:xfrm>
            <a:off x="6103620" y="2133600"/>
            <a:ext cx="255270" cy="330200"/>
          </a:xfrm>
          <a:prstGeom prst="rect">
            <a:avLst/>
          </a:prstGeom>
          <a:solidFill>
            <a:srgbClr val="B8B8B8"/>
          </a:solidFill>
          <a:ln>
            <a:noFill/>
          </a:ln>
        </p:spPr>
        <p:txBody>
          <a:bodyPr rtlCol="0" anchor="ctr" lIns="0" rIns="0" tIns="0" bIns="0"/>
          <a:lstStyle/>
          <a:p>
            <a:pPr algn="ctr"/>
          </a:p>
        </p:txBody>
      </p:sp>
      <p:sp>
        <p:nvSpPr>
          <p:cNvPr id="11" name="Rectangle 10"/>
          <p:cNvSpPr/>
          <p:nvPr/>
        </p:nvSpPr>
        <p:spPr>
          <a:xfrm>
            <a:off x="6371590" y="2133600"/>
            <a:ext cx="255270" cy="330200"/>
          </a:xfrm>
          <a:prstGeom prst="rect">
            <a:avLst/>
          </a:prstGeom>
          <a:solidFill>
            <a:srgbClr val="C8C8C8"/>
          </a:solidFill>
          <a:ln>
            <a:noFill/>
          </a:ln>
        </p:spPr>
        <p:txBody>
          <a:bodyPr rtlCol="0" anchor="ctr" lIns="0" rIns="0" tIns="0" bIns="0"/>
          <a:lstStyle/>
          <a:p>
            <a:pPr algn="ctr"/>
          </a:p>
        </p:txBody>
      </p:sp>
      <p:sp>
        <p:nvSpPr>
          <p:cNvPr id="12" name="Rectangle 11"/>
          <p:cNvSpPr/>
          <p:nvPr/>
        </p:nvSpPr>
        <p:spPr>
          <a:xfrm>
            <a:off x="6639560" y="2133600"/>
            <a:ext cx="255270" cy="330200"/>
          </a:xfrm>
          <a:prstGeom prst="rect">
            <a:avLst/>
          </a:prstGeom>
          <a:solidFill>
            <a:srgbClr val="D8D8D8"/>
          </a:solidFill>
          <a:ln>
            <a:noFill/>
          </a:ln>
        </p:spPr>
        <p:txBody>
          <a:bodyPr rtlCol="0" anchor="ctr" lIns="0" rIns="0" tIns="0" bIns="0"/>
          <a:lstStyle/>
          <a:p>
            <a:pPr algn="ctr"/>
          </a:p>
        </p:txBody>
      </p:sp>
      <p:sp>
        <p:nvSpPr>
          <p:cNvPr id="13" name="Rectangle 12"/>
          <p:cNvSpPr/>
          <p:nvPr/>
        </p:nvSpPr>
        <p:spPr>
          <a:xfrm>
            <a:off x="6907530" y="2133600"/>
            <a:ext cx="255270" cy="330200"/>
          </a:xfrm>
          <a:prstGeom prst="rect">
            <a:avLst/>
          </a:prstGeom>
          <a:solidFill>
            <a:srgbClr val="E6E6E6"/>
          </a:solidFill>
          <a:ln>
            <a:noFill/>
          </a:ln>
        </p:spPr>
        <p:txBody>
          <a:bodyPr rtlCol="0" anchor="ctr" lIns="0" rIns="0" tIns="0" bIns="0"/>
          <a:lstStyle/>
          <a:p>
            <a:pPr algn="ctr"/>
          </a:p>
        </p:txBody>
      </p:sp>
      <p:cxnSp>
        <p:nvCxnSpPr>
          <p:cNvPr id="14" name="Connector 13"/>
          <p:cNvCxnSpPr/>
          <p:nvPr/>
        </p:nvCxnSpPr>
        <p:spPr>
          <a:xfrm>
            <a:off x="406400" y="2997200"/>
            <a:ext cx="6756400" cy="0"/>
          </a:xfrm>
          <a:prstGeom prst="line">
            <a:avLst/>
          </a:prstGeom>
          <a:ln w="7620">
            <a:solidFill>
              <a:srgbClr val="666666"/>
            </a:solidFill>
            <a:round/>
          </a:ln>
        </p:spPr>
      </p:cxnSp>
      <p:sp>
        <p:nvSpPr>
          <p:cNvPr id="15" name="TextBox 14"/>
          <p:cNvSpPr txBox="1"/>
          <p:nvPr/>
        </p:nvSpPr>
        <p:spPr>
          <a:xfrm>
            <a:off x="495300" y="2717800"/>
            <a:ext cx="228600" cy="279400"/>
          </a:xfrm>
          <a:prstGeom prst="rect">
            <a:avLst/>
          </a:prstGeom>
          <a:noFill/>
        </p:spPr>
        <p:txBody>
          <a:bodyPr wrap="none" anchor="ctr" lIns="0" tIns="0" rIns="0" bIns="0">
            <a:noAutofit/>
          </a:bodyPr>
          <a:lstStyle/>
          <a:p>
            <a:pPr algn="ctr" marL="0" indent="0">
              <a:lnSpc>
                <a:spcPts val="1050"/>
              </a:lnSpc>
              <a:buNone/>
            </a:pPr>
            <a:r>
              <a:rPr lang="zh-CN" altLang="en-US" sz="800" b="1">
                <a:solidFill>
                  <a:srgbClr val="666666"/>
                </a:solidFill>
                <a:latin typeface="微软雅黑"/>
                <a:ea typeface="微软雅黑"/>
                <a:cs typeface="微软雅黑"/>
              </a:rPr>
              <a:t>序号</a:t>
            </a:r>
          </a:p>
        </p:txBody>
      </p:sp>
      <p:sp>
        <p:nvSpPr>
          <p:cNvPr id="16" name="TextBox 15"/>
          <p:cNvSpPr txBox="1"/>
          <p:nvPr/>
        </p:nvSpPr>
        <p:spPr>
          <a:xfrm>
            <a:off x="901700" y="2717800"/>
            <a:ext cx="1727200" cy="279400"/>
          </a:xfrm>
          <a:prstGeom prst="rect">
            <a:avLst/>
          </a:prstGeom>
          <a:noFill/>
        </p:spPr>
        <p:txBody>
          <a:bodyPr wrap="none" anchor="ctr" lIns="0" tIns="0" rIns="0" bIns="0">
            <a:noAutofit/>
          </a:bodyPr>
          <a:lstStyle/>
          <a:p>
            <a:pPr algn="l" marL="0" indent="0">
              <a:lnSpc>
                <a:spcPts val="1050"/>
              </a:lnSpc>
              <a:buNone/>
            </a:pPr>
            <a:r>
              <a:rPr lang="zh-CN" altLang="en-US" sz="800" b="1">
                <a:solidFill>
                  <a:srgbClr val="666666"/>
                </a:solidFill>
                <a:latin typeface="微软雅黑"/>
                <a:ea typeface="微软雅黑"/>
                <a:cs typeface="微软雅黑"/>
              </a:rPr>
              <a:t>科目</a:t>
            </a:r>
          </a:p>
        </p:txBody>
      </p:sp>
      <p:sp>
        <p:nvSpPr>
          <p:cNvPr id="17" name="TextBox 16"/>
          <p:cNvSpPr txBox="1"/>
          <p:nvPr/>
        </p:nvSpPr>
        <p:spPr>
          <a:xfrm>
            <a:off x="2806700" y="2717800"/>
            <a:ext cx="685800" cy="279400"/>
          </a:xfrm>
          <a:prstGeom prst="rect">
            <a:avLst/>
          </a:prstGeom>
          <a:noFill/>
        </p:spPr>
        <p:txBody>
          <a:bodyPr wrap="none" anchor="ctr" lIns="0" tIns="0" rIns="0" bIns="0">
            <a:noAutofit/>
          </a:bodyPr>
          <a:lstStyle/>
          <a:p>
            <a:pPr algn="ctr" marL="0" indent="0">
              <a:lnSpc>
                <a:spcPts val="1050"/>
              </a:lnSpc>
              <a:buNone/>
            </a:pPr>
            <a:r>
              <a:rPr lang="zh-CN" altLang="en-US" sz="800" b="1">
                <a:solidFill>
                  <a:srgbClr val="666666"/>
                </a:solidFill>
                <a:latin typeface="微软雅黑"/>
                <a:ea typeface="微软雅黑"/>
                <a:cs typeface="微软雅黑"/>
              </a:rPr>
              <a:t>金额（万元）</a:t>
            </a:r>
          </a:p>
        </p:txBody>
      </p:sp>
      <p:sp>
        <p:nvSpPr>
          <p:cNvPr id="18" name="TextBox 17"/>
          <p:cNvSpPr txBox="1"/>
          <p:nvPr/>
        </p:nvSpPr>
        <p:spPr>
          <a:xfrm>
            <a:off x="3670300" y="2717800"/>
            <a:ext cx="431800" cy="279400"/>
          </a:xfrm>
          <a:prstGeom prst="rect">
            <a:avLst/>
          </a:prstGeom>
          <a:noFill/>
        </p:spPr>
        <p:txBody>
          <a:bodyPr wrap="none" anchor="ctr" lIns="0" tIns="0" rIns="0" bIns="0">
            <a:noAutofit/>
          </a:bodyPr>
          <a:lstStyle/>
          <a:p>
            <a:pPr algn="r" marL="0" indent="0">
              <a:lnSpc>
                <a:spcPts val="1050"/>
              </a:lnSpc>
              <a:buNone/>
            </a:pPr>
            <a:r>
              <a:rPr lang="zh-CN" altLang="en-US" sz="800" b="1">
                <a:solidFill>
                  <a:srgbClr val="666666"/>
                </a:solidFill>
                <a:latin typeface="微软雅黑"/>
                <a:ea typeface="微软雅黑"/>
                <a:cs typeface="微软雅黑"/>
              </a:rPr>
              <a:t>占比</a:t>
            </a:r>
          </a:p>
        </p:txBody>
      </p:sp>
      <p:sp>
        <p:nvSpPr>
          <p:cNvPr id="19" name="TextBox 18"/>
          <p:cNvSpPr txBox="1"/>
          <p:nvPr/>
        </p:nvSpPr>
        <p:spPr>
          <a:xfrm>
            <a:off x="4279900" y="2717800"/>
            <a:ext cx="2794000" cy="279400"/>
          </a:xfrm>
          <a:prstGeom prst="rect">
            <a:avLst/>
          </a:prstGeom>
          <a:noFill/>
        </p:spPr>
        <p:txBody>
          <a:bodyPr wrap="none" anchor="ctr" lIns="0" tIns="0" rIns="0" bIns="0">
            <a:noAutofit/>
          </a:bodyPr>
          <a:lstStyle/>
          <a:p>
            <a:pPr algn="l" marL="0" indent="0">
              <a:lnSpc>
                <a:spcPts val="1050"/>
              </a:lnSpc>
              <a:buNone/>
            </a:pPr>
            <a:r>
              <a:rPr lang="zh-CN" altLang="en-US" sz="800" b="1">
                <a:solidFill>
                  <a:srgbClr val="666666"/>
                </a:solidFill>
                <a:latin typeface="微软雅黑"/>
                <a:ea typeface="微软雅黑"/>
                <a:cs typeface="微软雅黑"/>
              </a:rPr>
              <a:t>测算依据</a:t>
            </a:r>
          </a:p>
        </p:txBody>
      </p:sp>
      <p:sp>
        <p:nvSpPr>
          <p:cNvPr id="20" name="TextBox 19"/>
          <p:cNvSpPr txBox="1"/>
          <p:nvPr/>
        </p:nvSpPr>
        <p:spPr>
          <a:xfrm>
            <a:off x="495300" y="2997200"/>
            <a:ext cx="228600" cy="56787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666666"/>
                </a:solidFill>
                <a:latin typeface="Consolas"/>
                <a:ea typeface="微软雅黑"/>
                <a:cs typeface="Consolas"/>
              </a:rPr>
              <a:t>1</a:t>
            </a:r>
          </a:p>
        </p:txBody>
      </p:sp>
      <p:sp>
        <p:nvSpPr>
          <p:cNvPr id="21" name="TextBox 20"/>
          <p:cNvSpPr txBox="1"/>
          <p:nvPr/>
        </p:nvSpPr>
        <p:spPr>
          <a:xfrm>
            <a:off x="901700" y="2997200"/>
            <a:ext cx="1727200" cy="567871"/>
          </a:xfrm>
          <a:prstGeom prst="rect">
            <a:avLst/>
          </a:prstGeom>
          <a:noFill/>
        </p:spPr>
        <p:txBody>
          <a:bodyPr wrap="square" anchor="ctr" lIns="0" tIns="0" rIns="0" bIns="0">
            <a:noAutofit/>
          </a:bodyPr>
          <a:lstStyle/>
          <a:p>
            <a:pPr algn="l" marL="0" indent="0">
              <a:lnSpc>
                <a:spcPts val="1350"/>
              </a:lnSpc>
              <a:buNone/>
            </a:pPr>
            <a:r>
              <a:rPr lang="zh-CN" altLang="en-US" sz="950" b="1">
                <a:solidFill>
                  <a:srgbClr val="1A1A1A"/>
                </a:solidFill>
                <a:latin typeface="微软雅黑"/>
                <a:ea typeface="微软雅黑"/>
                <a:cs typeface="微软雅黑"/>
              </a:rPr>
              <a:t>直接投入费用</a:t>
            </a:r>
          </a:p>
        </p:txBody>
      </p:sp>
      <p:sp>
        <p:nvSpPr>
          <p:cNvPr id="22" name="TextBox 21"/>
          <p:cNvSpPr txBox="1"/>
          <p:nvPr/>
        </p:nvSpPr>
        <p:spPr>
          <a:xfrm>
            <a:off x="2806700" y="2997200"/>
            <a:ext cx="685800" cy="56787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1A1A1A"/>
                </a:solidFill>
                <a:latin typeface="Consolas"/>
                <a:ea typeface="微软雅黑"/>
                <a:cs typeface="Consolas"/>
              </a:rPr>
              <a:t>50</a:t>
            </a:r>
          </a:p>
        </p:txBody>
      </p:sp>
      <p:sp>
        <p:nvSpPr>
          <p:cNvPr id="23" name="TextBox 22"/>
          <p:cNvSpPr txBox="1"/>
          <p:nvPr/>
        </p:nvSpPr>
        <p:spPr>
          <a:xfrm>
            <a:off x="3670300" y="2997200"/>
            <a:ext cx="431800" cy="567871"/>
          </a:xfrm>
          <a:prstGeom prst="rect">
            <a:avLst/>
          </a:prstGeom>
          <a:noFill/>
        </p:spPr>
        <p:txBody>
          <a:bodyPr wrap="square" anchor="ctr" lIns="0" tIns="0" rIns="0" bIns="0">
            <a:noAutofit/>
          </a:bodyPr>
          <a:lstStyle/>
          <a:p>
            <a:pPr algn="r" marL="0" indent="0">
              <a:lnSpc>
                <a:spcPts val="1350"/>
              </a:lnSpc>
              <a:buNone/>
            </a:pPr>
            <a:r>
              <a:rPr lang="zh-CN" altLang="en-US" sz="950" b="0">
                <a:solidFill>
                  <a:srgbClr val="666666"/>
                </a:solidFill>
                <a:latin typeface="Consolas"/>
                <a:ea typeface="微软雅黑"/>
                <a:cs typeface="Consolas"/>
              </a:rPr>
              <a:t>50%</a:t>
            </a:r>
          </a:p>
        </p:txBody>
      </p:sp>
      <p:sp>
        <p:nvSpPr>
          <p:cNvPr id="24" name="TextBox 23"/>
          <p:cNvSpPr txBox="1"/>
          <p:nvPr/>
        </p:nvSpPr>
        <p:spPr>
          <a:xfrm>
            <a:off x="4279900" y="2997200"/>
            <a:ext cx="2794000" cy="567871"/>
          </a:xfrm>
          <a:prstGeom prst="rect">
            <a:avLst/>
          </a:prstGeom>
          <a:noFill/>
        </p:spPr>
        <p:txBody>
          <a:bodyPr wrap="square" anchor="ctr" lIns="0" tIns="0" rIns="0" bIns="0">
            <a:noAutofit/>
          </a:bodyPr>
          <a:lstStyle/>
          <a:p>
            <a:pPr algn="l" marL="0" indent="0">
              <a:lnSpc>
                <a:spcPts val="1300"/>
              </a:lnSpc>
              <a:buNone/>
            </a:pPr>
            <a:r>
              <a:rPr lang="zh-CN" altLang="en-US" sz="900" b="0">
                <a:solidFill>
                  <a:srgbClr val="3D3D3D"/>
                </a:solidFill>
                <a:latin typeface="微软雅黑"/>
                <a:ea typeface="微软雅黑"/>
                <a:cs typeface="微软雅黑"/>
              </a:rPr>
              <a:t>AI算力服务器（GPU+NPU异构）1台 40万；仿真与调度一体化工作站 2台 10万</a:t>
            </a:r>
          </a:p>
        </p:txBody>
      </p:sp>
      <p:cxnSp>
        <p:nvCxnSpPr>
          <p:cNvPr id="25" name="Connector 24"/>
          <p:cNvCxnSpPr/>
          <p:nvPr/>
        </p:nvCxnSpPr>
        <p:spPr>
          <a:xfrm>
            <a:off x="406400" y="3565071"/>
            <a:ext cx="6756400" cy="0"/>
          </a:xfrm>
          <a:prstGeom prst="line">
            <a:avLst/>
          </a:prstGeom>
          <a:ln w="6350">
            <a:solidFill>
              <a:srgbClr val="E9E9E9"/>
            </a:solidFill>
            <a:round/>
          </a:ln>
        </p:spPr>
      </p:cxnSp>
      <p:sp>
        <p:nvSpPr>
          <p:cNvPr id="26" name="TextBox 25"/>
          <p:cNvSpPr txBox="1"/>
          <p:nvPr/>
        </p:nvSpPr>
        <p:spPr>
          <a:xfrm>
            <a:off x="495300" y="3565071"/>
            <a:ext cx="228600" cy="56787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666666"/>
                </a:solidFill>
                <a:latin typeface="Consolas"/>
                <a:ea typeface="微软雅黑"/>
                <a:cs typeface="Consolas"/>
              </a:rPr>
              <a:t>2</a:t>
            </a:r>
          </a:p>
        </p:txBody>
      </p:sp>
      <p:sp>
        <p:nvSpPr>
          <p:cNvPr id="27" name="TextBox 26"/>
          <p:cNvSpPr txBox="1"/>
          <p:nvPr/>
        </p:nvSpPr>
        <p:spPr>
          <a:xfrm>
            <a:off x="901700" y="3565071"/>
            <a:ext cx="1727200" cy="567871"/>
          </a:xfrm>
          <a:prstGeom prst="rect">
            <a:avLst/>
          </a:prstGeom>
          <a:noFill/>
        </p:spPr>
        <p:txBody>
          <a:bodyPr wrap="square" anchor="ctr" lIns="0" tIns="0" rIns="0" bIns="0">
            <a:noAutofit/>
          </a:bodyPr>
          <a:lstStyle/>
          <a:p>
            <a:pPr algn="l" marL="0" indent="0">
              <a:lnSpc>
                <a:spcPts val="1350"/>
              </a:lnSpc>
              <a:buNone/>
            </a:pPr>
            <a:r>
              <a:rPr lang="zh-CN" altLang="en-US" sz="950" b="1">
                <a:solidFill>
                  <a:srgbClr val="1A1A1A"/>
                </a:solidFill>
                <a:latin typeface="微软雅黑"/>
                <a:ea typeface="微软雅黑"/>
                <a:cs typeface="微软雅黑"/>
              </a:rPr>
              <a:t>人员人工费用</a:t>
            </a:r>
          </a:p>
        </p:txBody>
      </p:sp>
      <p:sp>
        <p:nvSpPr>
          <p:cNvPr id="28" name="TextBox 27"/>
          <p:cNvSpPr txBox="1"/>
          <p:nvPr/>
        </p:nvSpPr>
        <p:spPr>
          <a:xfrm>
            <a:off x="2806700" y="3565071"/>
            <a:ext cx="685800" cy="56787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1A1A1A"/>
                </a:solidFill>
                <a:latin typeface="Consolas"/>
                <a:ea typeface="微软雅黑"/>
                <a:cs typeface="Consolas"/>
              </a:rPr>
              <a:t>30</a:t>
            </a:r>
          </a:p>
        </p:txBody>
      </p:sp>
      <p:sp>
        <p:nvSpPr>
          <p:cNvPr id="29" name="TextBox 28"/>
          <p:cNvSpPr txBox="1"/>
          <p:nvPr/>
        </p:nvSpPr>
        <p:spPr>
          <a:xfrm>
            <a:off x="3670300" y="3565071"/>
            <a:ext cx="431800" cy="567871"/>
          </a:xfrm>
          <a:prstGeom prst="rect">
            <a:avLst/>
          </a:prstGeom>
          <a:noFill/>
        </p:spPr>
        <p:txBody>
          <a:bodyPr wrap="square" anchor="ctr" lIns="0" tIns="0" rIns="0" bIns="0">
            <a:noAutofit/>
          </a:bodyPr>
          <a:lstStyle/>
          <a:p>
            <a:pPr algn="r" marL="0" indent="0">
              <a:lnSpc>
                <a:spcPts val="1350"/>
              </a:lnSpc>
              <a:buNone/>
            </a:pPr>
            <a:r>
              <a:rPr lang="zh-CN" altLang="en-US" sz="950" b="0">
                <a:solidFill>
                  <a:srgbClr val="666666"/>
                </a:solidFill>
                <a:latin typeface="Consolas"/>
                <a:ea typeface="微软雅黑"/>
                <a:cs typeface="Consolas"/>
              </a:rPr>
              <a:t>30%</a:t>
            </a:r>
          </a:p>
        </p:txBody>
      </p:sp>
      <p:sp>
        <p:nvSpPr>
          <p:cNvPr id="30" name="TextBox 29"/>
          <p:cNvSpPr txBox="1"/>
          <p:nvPr/>
        </p:nvSpPr>
        <p:spPr>
          <a:xfrm>
            <a:off x="4279900" y="3565071"/>
            <a:ext cx="2794000" cy="567871"/>
          </a:xfrm>
          <a:prstGeom prst="rect">
            <a:avLst/>
          </a:prstGeom>
          <a:noFill/>
        </p:spPr>
        <p:txBody>
          <a:bodyPr wrap="square" anchor="ctr" lIns="0" tIns="0" rIns="0" bIns="0">
            <a:noAutofit/>
          </a:bodyPr>
          <a:lstStyle/>
          <a:p>
            <a:pPr algn="l" marL="0" indent="0">
              <a:lnSpc>
                <a:spcPts val="1300"/>
              </a:lnSpc>
              <a:buNone/>
            </a:pPr>
            <a:r>
              <a:rPr lang="zh-CN" altLang="en-US" sz="900" b="0">
                <a:solidFill>
                  <a:srgbClr val="3D3D3D"/>
                </a:solidFill>
                <a:latin typeface="微软雅黑"/>
                <a:ea typeface="微软雅黑"/>
                <a:cs typeface="微软雅黑"/>
              </a:rPr>
              <a:t>按投入人月测算：</a:t>
            </a:r>
            <a:br>
              <a:rPr lang="zh-CN" altLang="en-US" sz="900"/>
            </a:br>
            <a:r>
              <a:rPr lang="zh-CN" altLang="en-US" sz="900" b="1">
                <a:solidFill>
                  <a:srgbClr val="875D1C"/>
                </a:solidFill>
                <a:latin typeface="微软雅黑"/>
                <a:ea typeface="微软雅黑"/>
                <a:cs typeface="微软雅黑"/>
              </a:rPr>
              <a:t>【待填】人·月 × 【待填】万元/人·月</a:t>
            </a:r>
          </a:p>
        </p:txBody>
      </p:sp>
      <p:cxnSp>
        <p:nvCxnSpPr>
          <p:cNvPr id="31" name="Connector 30"/>
          <p:cNvCxnSpPr/>
          <p:nvPr/>
        </p:nvCxnSpPr>
        <p:spPr>
          <a:xfrm>
            <a:off x="406400" y="4132943"/>
            <a:ext cx="6756400" cy="0"/>
          </a:xfrm>
          <a:prstGeom prst="line">
            <a:avLst/>
          </a:prstGeom>
          <a:ln w="6350">
            <a:solidFill>
              <a:srgbClr val="E9E9E9"/>
            </a:solidFill>
            <a:round/>
          </a:ln>
        </p:spPr>
      </p:cxnSp>
      <p:sp>
        <p:nvSpPr>
          <p:cNvPr id="32" name="TextBox 31"/>
          <p:cNvSpPr txBox="1"/>
          <p:nvPr/>
        </p:nvSpPr>
        <p:spPr>
          <a:xfrm>
            <a:off x="495300" y="4132943"/>
            <a:ext cx="228600" cy="40912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666666"/>
                </a:solidFill>
                <a:latin typeface="Consolas"/>
                <a:ea typeface="微软雅黑"/>
                <a:cs typeface="Consolas"/>
              </a:rPr>
              <a:t>3</a:t>
            </a:r>
          </a:p>
        </p:txBody>
      </p:sp>
      <p:sp>
        <p:nvSpPr>
          <p:cNvPr id="33" name="TextBox 32"/>
          <p:cNvSpPr txBox="1"/>
          <p:nvPr/>
        </p:nvSpPr>
        <p:spPr>
          <a:xfrm>
            <a:off x="901700" y="4132943"/>
            <a:ext cx="1727200" cy="409121"/>
          </a:xfrm>
          <a:prstGeom prst="rect">
            <a:avLst/>
          </a:prstGeom>
          <a:noFill/>
        </p:spPr>
        <p:txBody>
          <a:bodyPr wrap="square" anchor="ctr" lIns="0" tIns="0" rIns="0" bIns="0">
            <a:noAutofit/>
          </a:bodyPr>
          <a:lstStyle/>
          <a:p>
            <a:pPr algn="l" marL="0" indent="0">
              <a:lnSpc>
                <a:spcPts val="1350"/>
              </a:lnSpc>
              <a:buNone/>
            </a:pPr>
            <a:r>
              <a:rPr lang="zh-CN" altLang="en-US" sz="950" b="1">
                <a:solidFill>
                  <a:srgbClr val="1A1A1A"/>
                </a:solidFill>
                <a:latin typeface="微软雅黑"/>
                <a:ea typeface="微软雅黑"/>
                <a:cs typeface="微软雅黑"/>
              </a:rPr>
              <a:t>固定资产相关费用（折旧）</a:t>
            </a:r>
          </a:p>
        </p:txBody>
      </p:sp>
      <p:sp>
        <p:nvSpPr>
          <p:cNvPr id="34" name="TextBox 33"/>
          <p:cNvSpPr txBox="1"/>
          <p:nvPr/>
        </p:nvSpPr>
        <p:spPr>
          <a:xfrm>
            <a:off x="2806700" y="4132943"/>
            <a:ext cx="685800" cy="40912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1A1A1A"/>
                </a:solidFill>
                <a:latin typeface="Consolas"/>
                <a:ea typeface="微软雅黑"/>
                <a:cs typeface="Consolas"/>
              </a:rPr>
              <a:t>5</a:t>
            </a:r>
          </a:p>
        </p:txBody>
      </p:sp>
      <p:sp>
        <p:nvSpPr>
          <p:cNvPr id="35" name="TextBox 34"/>
          <p:cNvSpPr txBox="1"/>
          <p:nvPr/>
        </p:nvSpPr>
        <p:spPr>
          <a:xfrm>
            <a:off x="3670300" y="4132943"/>
            <a:ext cx="431800" cy="409121"/>
          </a:xfrm>
          <a:prstGeom prst="rect">
            <a:avLst/>
          </a:prstGeom>
          <a:noFill/>
        </p:spPr>
        <p:txBody>
          <a:bodyPr wrap="square" anchor="ctr" lIns="0" tIns="0" rIns="0" bIns="0">
            <a:noAutofit/>
          </a:bodyPr>
          <a:lstStyle/>
          <a:p>
            <a:pPr algn="r" marL="0" indent="0">
              <a:lnSpc>
                <a:spcPts val="1350"/>
              </a:lnSpc>
              <a:buNone/>
            </a:pPr>
            <a:r>
              <a:rPr lang="zh-CN" altLang="en-US" sz="950" b="0">
                <a:solidFill>
                  <a:srgbClr val="666666"/>
                </a:solidFill>
                <a:latin typeface="Consolas"/>
                <a:ea typeface="微软雅黑"/>
                <a:cs typeface="Consolas"/>
              </a:rPr>
              <a:t>5%</a:t>
            </a:r>
          </a:p>
        </p:txBody>
      </p:sp>
      <p:sp>
        <p:nvSpPr>
          <p:cNvPr id="36" name="TextBox 35"/>
          <p:cNvSpPr txBox="1"/>
          <p:nvPr/>
        </p:nvSpPr>
        <p:spPr>
          <a:xfrm>
            <a:off x="4279900" y="4132943"/>
            <a:ext cx="2794000" cy="409121"/>
          </a:xfrm>
          <a:prstGeom prst="rect">
            <a:avLst/>
          </a:prstGeom>
          <a:noFill/>
        </p:spPr>
        <p:txBody>
          <a:bodyPr wrap="square" anchor="ctr" lIns="0" tIns="0" rIns="0" bIns="0">
            <a:noAutofit/>
          </a:bodyPr>
          <a:lstStyle/>
          <a:p>
            <a:pPr algn="l" marL="0" indent="0">
              <a:lnSpc>
                <a:spcPts val="1300"/>
              </a:lnSpc>
              <a:buNone/>
            </a:pPr>
            <a:r>
              <a:rPr lang="zh-CN" altLang="en-US" sz="900" b="0">
                <a:solidFill>
                  <a:srgbClr val="3D3D3D"/>
                </a:solidFill>
                <a:latin typeface="微软雅黑"/>
                <a:ea typeface="微软雅黑"/>
                <a:cs typeface="微软雅黑"/>
              </a:rPr>
              <a:t>现有仿真与测试设备折旧分摊</a:t>
            </a:r>
          </a:p>
        </p:txBody>
      </p:sp>
      <p:cxnSp>
        <p:nvCxnSpPr>
          <p:cNvPr id="37" name="Connector 36"/>
          <p:cNvCxnSpPr/>
          <p:nvPr/>
        </p:nvCxnSpPr>
        <p:spPr>
          <a:xfrm>
            <a:off x="406400" y="4542064"/>
            <a:ext cx="6756400" cy="0"/>
          </a:xfrm>
          <a:prstGeom prst="line">
            <a:avLst/>
          </a:prstGeom>
          <a:ln w="6350">
            <a:solidFill>
              <a:srgbClr val="E9E9E9"/>
            </a:solidFill>
            <a:round/>
          </a:ln>
        </p:spPr>
      </p:cxnSp>
      <p:sp>
        <p:nvSpPr>
          <p:cNvPr id="38" name="TextBox 37"/>
          <p:cNvSpPr txBox="1"/>
          <p:nvPr/>
        </p:nvSpPr>
        <p:spPr>
          <a:xfrm>
            <a:off x="495300" y="4542064"/>
            <a:ext cx="228600" cy="40912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666666"/>
                </a:solidFill>
                <a:latin typeface="Consolas"/>
                <a:ea typeface="微软雅黑"/>
                <a:cs typeface="Consolas"/>
              </a:rPr>
              <a:t>4</a:t>
            </a:r>
          </a:p>
        </p:txBody>
      </p:sp>
      <p:sp>
        <p:nvSpPr>
          <p:cNvPr id="39" name="TextBox 38"/>
          <p:cNvSpPr txBox="1"/>
          <p:nvPr/>
        </p:nvSpPr>
        <p:spPr>
          <a:xfrm>
            <a:off x="901700" y="4542064"/>
            <a:ext cx="1727200" cy="409121"/>
          </a:xfrm>
          <a:prstGeom prst="rect">
            <a:avLst/>
          </a:prstGeom>
          <a:noFill/>
        </p:spPr>
        <p:txBody>
          <a:bodyPr wrap="square" anchor="ctr" lIns="0" tIns="0" rIns="0" bIns="0">
            <a:noAutofit/>
          </a:bodyPr>
          <a:lstStyle/>
          <a:p>
            <a:pPr algn="l" marL="0" indent="0">
              <a:lnSpc>
                <a:spcPts val="1350"/>
              </a:lnSpc>
              <a:buNone/>
            </a:pPr>
            <a:r>
              <a:rPr lang="zh-CN" altLang="en-US" sz="950" b="1">
                <a:solidFill>
                  <a:srgbClr val="1A1A1A"/>
                </a:solidFill>
                <a:latin typeface="微软雅黑"/>
                <a:ea typeface="微软雅黑"/>
                <a:cs typeface="微软雅黑"/>
              </a:rPr>
              <a:t>试验检验及试制外协费用</a:t>
            </a:r>
          </a:p>
        </p:txBody>
      </p:sp>
      <p:sp>
        <p:nvSpPr>
          <p:cNvPr id="40" name="TextBox 39"/>
          <p:cNvSpPr txBox="1"/>
          <p:nvPr/>
        </p:nvSpPr>
        <p:spPr>
          <a:xfrm>
            <a:off x="2806700" y="4542064"/>
            <a:ext cx="685800" cy="40912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1A1A1A"/>
                </a:solidFill>
                <a:latin typeface="Consolas"/>
                <a:ea typeface="微软雅黑"/>
                <a:cs typeface="Consolas"/>
              </a:rPr>
              <a:t>5</a:t>
            </a:r>
          </a:p>
        </p:txBody>
      </p:sp>
      <p:sp>
        <p:nvSpPr>
          <p:cNvPr id="41" name="TextBox 40"/>
          <p:cNvSpPr txBox="1"/>
          <p:nvPr/>
        </p:nvSpPr>
        <p:spPr>
          <a:xfrm>
            <a:off x="3670300" y="4542064"/>
            <a:ext cx="431800" cy="409121"/>
          </a:xfrm>
          <a:prstGeom prst="rect">
            <a:avLst/>
          </a:prstGeom>
          <a:noFill/>
        </p:spPr>
        <p:txBody>
          <a:bodyPr wrap="square" anchor="ctr" lIns="0" tIns="0" rIns="0" bIns="0">
            <a:noAutofit/>
          </a:bodyPr>
          <a:lstStyle/>
          <a:p>
            <a:pPr algn="r" marL="0" indent="0">
              <a:lnSpc>
                <a:spcPts val="1350"/>
              </a:lnSpc>
              <a:buNone/>
            </a:pPr>
            <a:r>
              <a:rPr lang="zh-CN" altLang="en-US" sz="950" b="0">
                <a:solidFill>
                  <a:srgbClr val="666666"/>
                </a:solidFill>
                <a:latin typeface="Consolas"/>
                <a:ea typeface="微软雅黑"/>
                <a:cs typeface="Consolas"/>
              </a:rPr>
              <a:t>5%</a:t>
            </a:r>
          </a:p>
        </p:txBody>
      </p:sp>
      <p:sp>
        <p:nvSpPr>
          <p:cNvPr id="42" name="TextBox 41"/>
          <p:cNvSpPr txBox="1"/>
          <p:nvPr/>
        </p:nvSpPr>
        <p:spPr>
          <a:xfrm>
            <a:off x="4279900" y="4542064"/>
            <a:ext cx="2794000" cy="409121"/>
          </a:xfrm>
          <a:prstGeom prst="rect">
            <a:avLst/>
          </a:prstGeom>
          <a:noFill/>
        </p:spPr>
        <p:txBody>
          <a:bodyPr wrap="square" anchor="ctr" lIns="0" tIns="0" rIns="0" bIns="0">
            <a:noAutofit/>
          </a:bodyPr>
          <a:lstStyle/>
          <a:p>
            <a:pPr algn="l" marL="0" indent="0">
              <a:lnSpc>
                <a:spcPts val="1300"/>
              </a:lnSpc>
              <a:buNone/>
            </a:pPr>
            <a:r>
              <a:rPr lang="zh-CN" altLang="en-US" sz="900" b="0">
                <a:solidFill>
                  <a:srgbClr val="3D3D3D"/>
                </a:solidFill>
                <a:latin typeface="微软雅黑"/>
                <a:ea typeface="微软雅黑"/>
                <a:cs typeface="微软雅黑"/>
              </a:rPr>
              <a:t>建模数据采集处理 2万；模型校验与第三方验证 3万</a:t>
            </a:r>
          </a:p>
        </p:txBody>
      </p:sp>
      <p:cxnSp>
        <p:nvCxnSpPr>
          <p:cNvPr id="43" name="Connector 42"/>
          <p:cNvCxnSpPr/>
          <p:nvPr/>
        </p:nvCxnSpPr>
        <p:spPr>
          <a:xfrm>
            <a:off x="406400" y="4951186"/>
            <a:ext cx="6756400" cy="0"/>
          </a:xfrm>
          <a:prstGeom prst="line">
            <a:avLst/>
          </a:prstGeom>
          <a:ln w="6350">
            <a:solidFill>
              <a:srgbClr val="E9E9E9"/>
            </a:solidFill>
            <a:round/>
          </a:ln>
        </p:spPr>
      </p:cxnSp>
      <p:sp>
        <p:nvSpPr>
          <p:cNvPr id="44" name="TextBox 43"/>
          <p:cNvSpPr txBox="1"/>
          <p:nvPr/>
        </p:nvSpPr>
        <p:spPr>
          <a:xfrm>
            <a:off x="495300" y="4951186"/>
            <a:ext cx="228600" cy="40912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666666"/>
                </a:solidFill>
                <a:latin typeface="Consolas"/>
                <a:ea typeface="微软雅黑"/>
                <a:cs typeface="Consolas"/>
              </a:rPr>
              <a:t>5</a:t>
            </a:r>
          </a:p>
        </p:txBody>
      </p:sp>
      <p:sp>
        <p:nvSpPr>
          <p:cNvPr id="45" name="TextBox 44"/>
          <p:cNvSpPr txBox="1"/>
          <p:nvPr/>
        </p:nvSpPr>
        <p:spPr>
          <a:xfrm>
            <a:off x="901700" y="4951186"/>
            <a:ext cx="1727200" cy="409121"/>
          </a:xfrm>
          <a:prstGeom prst="rect">
            <a:avLst/>
          </a:prstGeom>
          <a:noFill/>
        </p:spPr>
        <p:txBody>
          <a:bodyPr wrap="square" anchor="ctr" lIns="0" tIns="0" rIns="0" bIns="0">
            <a:noAutofit/>
          </a:bodyPr>
          <a:lstStyle/>
          <a:p>
            <a:pPr algn="l" marL="0" indent="0">
              <a:lnSpc>
                <a:spcPts val="1350"/>
              </a:lnSpc>
              <a:buNone/>
            </a:pPr>
            <a:r>
              <a:rPr lang="zh-CN" altLang="en-US" sz="950" b="1">
                <a:solidFill>
                  <a:srgbClr val="1A1A1A"/>
                </a:solidFill>
                <a:latin typeface="微软雅黑"/>
                <a:ea typeface="微软雅黑"/>
                <a:cs typeface="微软雅黑"/>
              </a:rPr>
              <a:t>研发成果相关费用</a:t>
            </a:r>
          </a:p>
        </p:txBody>
      </p:sp>
      <p:sp>
        <p:nvSpPr>
          <p:cNvPr id="46" name="TextBox 45"/>
          <p:cNvSpPr txBox="1"/>
          <p:nvPr/>
        </p:nvSpPr>
        <p:spPr>
          <a:xfrm>
            <a:off x="2806700" y="4951186"/>
            <a:ext cx="685800" cy="40912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1A1A1A"/>
                </a:solidFill>
                <a:latin typeface="Consolas"/>
                <a:ea typeface="微软雅黑"/>
                <a:cs typeface="Consolas"/>
              </a:rPr>
              <a:t>5</a:t>
            </a:r>
          </a:p>
        </p:txBody>
      </p:sp>
      <p:sp>
        <p:nvSpPr>
          <p:cNvPr id="47" name="TextBox 46"/>
          <p:cNvSpPr txBox="1"/>
          <p:nvPr/>
        </p:nvSpPr>
        <p:spPr>
          <a:xfrm>
            <a:off x="3670300" y="4951186"/>
            <a:ext cx="431800" cy="409121"/>
          </a:xfrm>
          <a:prstGeom prst="rect">
            <a:avLst/>
          </a:prstGeom>
          <a:noFill/>
        </p:spPr>
        <p:txBody>
          <a:bodyPr wrap="square" anchor="ctr" lIns="0" tIns="0" rIns="0" bIns="0">
            <a:noAutofit/>
          </a:bodyPr>
          <a:lstStyle/>
          <a:p>
            <a:pPr algn="r" marL="0" indent="0">
              <a:lnSpc>
                <a:spcPts val="1350"/>
              </a:lnSpc>
              <a:buNone/>
            </a:pPr>
            <a:r>
              <a:rPr lang="zh-CN" altLang="en-US" sz="950" b="0">
                <a:solidFill>
                  <a:srgbClr val="666666"/>
                </a:solidFill>
                <a:latin typeface="Consolas"/>
                <a:ea typeface="微软雅黑"/>
                <a:cs typeface="Consolas"/>
              </a:rPr>
              <a:t>5%</a:t>
            </a:r>
          </a:p>
        </p:txBody>
      </p:sp>
      <p:sp>
        <p:nvSpPr>
          <p:cNvPr id="48" name="TextBox 47"/>
          <p:cNvSpPr txBox="1"/>
          <p:nvPr/>
        </p:nvSpPr>
        <p:spPr>
          <a:xfrm>
            <a:off x="4279900" y="4951186"/>
            <a:ext cx="2794000" cy="409121"/>
          </a:xfrm>
          <a:prstGeom prst="rect">
            <a:avLst/>
          </a:prstGeom>
          <a:noFill/>
        </p:spPr>
        <p:txBody>
          <a:bodyPr wrap="square" anchor="ctr" lIns="0" tIns="0" rIns="0" bIns="0">
            <a:noAutofit/>
          </a:bodyPr>
          <a:lstStyle/>
          <a:p>
            <a:pPr algn="l" marL="0" indent="0">
              <a:lnSpc>
                <a:spcPts val="1300"/>
              </a:lnSpc>
              <a:buNone/>
            </a:pPr>
            <a:r>
              <a:rPr lang="zh-CN" altLang="en-US" sz="900" b="0">
                <a:solidFill>
                  <a:srgbClr val="3D3D3D"/>
                </a:solidFill>
                <a:latin typeface="微软雅黑"/>
                <a:ea typeface="微软雅黑"/>
                <a:cs typeface="微软雅黑"/>
              </a:rPr>
              <a:t>发明专利申请 2万；论文与标准草案编制 3万</a:t>
            </a:r>
          </a:p>
        </p:txBody>
      </p:sp>
      <p:cxnSp>
        <p:nvCxnSpPr>
          <p:cNvPr id="49" name="Connector 48"/>
          <p:cNvCxnSpPr/>
          <p:nvPr/>
        </p:nvCxnSpPr>
        <p:spPr>
          <a:xfrm>
            <a:off x="406400" y="5360307"/>
            <a:ext cx="6756400" cy="0"/>
          </a:xfrm>
          <a:prstGeom prst="line">
            <a:avLst/>
          </a:prstGeom>
          <a:ln w="6350">
            <a:solidFill>
              <a:srgbClr val="E9E9E9"/>
            </a:solidFill>
            <a:round/>
          </a:ln>
        </p:spPr>
      </p:cxnSp>
      <p:sp>
        <p:nvSpPr>
          <p:cNvPr id="50" name="TextBox 49"/>
          <p:cNvSpPr txBox="1"/>
          <p:nvPr/>
        </p:nvSpPr>
        <p:spPr>
          <a:xfrm>
            <a:off x="495300" y="5360307"/>
            <a:ext cx="228600" cy="58057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666666"/>
                </a:solidFill>
                <a:latin typeface="Consolas"/>
                <a:ea typeface="微软雅黑"/>
                <a:cs typeface="Consolas"/>
              </a:rPr>
              <a:t>6</a:t>
            </a:r>
          </a:p>
        </p:txBody>
      </p:sp>
      <p:sp>
        <p:nvSpPr>
          <p:cNvPr id="51" name="TextBox 50"/>
          <p:cNvSpPr txBox="1"/>
          <p:nvPr/>
        </p:nvSpPr>
        <p:spPr>
          <a:xfrm>
            <a:off x="901700" y="5360307"/>
            <a:ext cx="1727200" cy="580571"/>
          </a:xfrm>
          <a:prstGeom prst="rect">
            <a:avLst/>
          </a:prstGeom>
          <a:noFill/>
        </p:spPr>
        <p:txBody>
          <a:bodyPr wrap="square" anchor="ctr" lIns="0" tIns="0" rIns="0" bIns="0">
            <a:noAutofit/>
          </a:bodyPr>
          <a:lstStyle/>
          <a:p>
            <a:pPr algn="l" marL="0" indent="0">
              <a:lnSpc>
                <a:spcPts val="1350"/>
              </a:lnSpc>
              <a:buNone/>
            </a:pPr>
            <a:r>
              <a:rPr lang="zh-CN" altLang="en-US" sz="950" b="1">
                <a:solidFill>
                  <a:srgbClr val="1A1A1A"/>
                </a:solidFill>
                <a:latin typeface="微软雅黑"/>
                <a:ea typeface="微软雅黑"/>
                <a:cs typeface="微软雅黑"/>
              </a:rPr>
              <a:t>与研发活动直接相关的</a:t>
            </a:r>
            <a:br>
              <a:rPr lang="zh-CN" altLang="en-US" sz="950"/>
            </a:br>
            <a:r>
              <a:rPr lang="zh-CN" altLang="en-US" sz="950" b="1">
                <a:solidFill>
                  <a:srgbClr val="1A1A1A"/>
                </a:solidFill>
                <a:latin typeface="微软雅黑"/>
                <a:ea typeface="微软雅黑"/>
                <a:cs typeface="微软雅黑"/>
              </a:rPr>
              <a:t>其他费用</a:t>
            </a:r>
          </a:p>
        </p:txBody>
      </p:sp>
      <p:sp>
        <p:nvSpPr>
          <p:cNvPr id="52" name="TextBox 51"/>
          <p:cNvSpPr txBox="1"/>
          <p:nvPr/>
        </p:nvSpPr>
        <p:spPr>
          <a:xfrm>
            <a:off x="2806700" y="5360307"/>
            <a:ext cx="685800" cy="58057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1A1A1A"/>
                </a:solidFill>
                <a:latin typeface="Consolas"/>
                <a:ea typeface="微软雅黑"/>
                <a:cs typeface="Consolas"/>
              </a:rPr>
              <a:t>5</a:t>
            </a:r>
          </a:p>
        </p:txBody>
      </p:sp>
      <p:sp>
        <p:nvSpPr>
          <p:cNvPr id="53" name="TextBox 52"/>
          <p:cNvSpPr txBox="1"/>
          <p:nvPr/>
        </p:nvSpPr>
        <p:spPr>
          <a:xfrm>
            <a:off x="3670300" y="5360307"/>
            <a:ext cx="431800" cy="580571"/>
          </a:xfrm>
          <a:prstGeom prst="rect">
            <a:avLst/>
          </a:prstGeom>
          <a:noFill/>
        </p:spPr>
        <p:txBody>
          <a:bodyPr wrap="square" anchor="ctr" lIns="0" tIns="0" rIns="0" bIns="0">
            <a:noAutofit/>
          </a:bodyPr>
          <a:lstStyle/>
          <a:p>
            <a:pPr algn="r" marL="0" indent="0">
              <a:lnSpc>
                <a:spcPts val="1350"/>
              </a:lnSpc>
              <a:buNone/>
            </a:pPr>
            <a:r>
              <a:rPr lang="zh-CN" altLang="en-US" sz="950" b="0">
                <a:solidFill>
                  <a:srgbClr val="666666"/>
                </a:solidFill>
                <a:latin typeface="Consolas"/>
                <a:ea typeface="微软雅黑"/>
                <a:cs typeface="Consolas"/>
              </a:rPr>
              <a:t>5%</a:t>
            </a:r>
          </a:p>
        </p:txBody>
      </p:sp>
      <p:sp>
        <p:nvSpPr>
          <p:cNvPr id="54" name="TextBox 53"/>
          <p:cNvSpPr txBox="1"/>
          <p:nvPr/>
        </p:nvSpPr>
        <p:spPr>
          <a:xfrm>
            <a:off x="4279900" y="5360307"/>
            <a:ext cx="2794000" cy="580571"/>
          </a:xfrm>
          <a:prstGeom prst="rect">
            <a:avLst/>
          </a:prstGeom>
          <a:noFill/>
        </p:spPr>
        <p:txBody>
          <a:bodyPr wrap="square" anchor="ctr" lIns="0" tIns="0" rIns="0" bIns="0">
            <a:noAutofit/>
          </a:bodyPr>
          <a:lstStyle/>
          <a:p>
            <a:pPr algn="l" marL="0" indent="0">
              <a:lnSpc>
                <a:spcPts val="1300"/>
              </a:lnSpc>
              <a:buNone/>
            </a:pPr>
            <a:r>
              <a:rPr lang="zh-CN" altLang="en-US" sz="900" b="0">
                <a:solidFill>
                  <a:srgbClr val="3D3D3D"/>
                </a:solidFill>
                <a:latin typeface="微软雅黑"/>
                <a:ea typeface="微软雅黑"/>
                <a:cs typeface="微软雅黑"/>
              </a:rPr>
              <a:t>差旅费 3万；会议费 2万</a:t>
            </a:r>
          </a:p>
        </p:txBody>
      </p:sp>
      <p:cxnSp>
        <p:nvCxnSpPr>
          <p:cNvPr id="55" name="Connector 54"/>
          <p:cNvCxnSpPr/>
          <p:nvPr/>
        </p:nvCxnSpPr>
        <p:spPr>
          <a:xfrm>
            <a:off x="406400" y="5940879"/>
            <a:ext cx="6756400" cy="0"/>
          </a:xfrm>
          <a:prstGeom prst="line">
            <a:avLst/>
          </a:prstGeom>
          <a:ln w="6350">
            <a:solidFill>
              <a:srgbClr val="E9E9E9"/>
            </a:solidFill>
            <a:round/>
          </a:ln>
        </p:spPr>
      </p:cxnSp>
      <p:sp>
        <p:nvSpPr>
          <p:cNvPr id="56" name="Rectangle 55"/>
          <p:cNvSpPr/>
          <p:nvPr/>
        </p:nvSpPr>
        <p:spPr>
          <a:xfrm>
            <a:off x="406400" y="5940879"/>
            <a:ext cx="6756400" cy="409121"/>
          </a:xfrm>
          <a:prstGeom prst="rect">
            <a:avLst/>
          </a:prstGeom>
          <a:solidFill>
            <a:srgbClr val="F9F9F9"/>
          </a:solidFill>
          <a:ln>
            <a:noFill/>
          </a:ln>
        </p:spPr>
        <p:txBody>
          <a:bodyPr rtlCol="0" anchor="ctr" lIns="0" rIns="0" tIns="0" bIns="0"/>
          <a:lstStyle/>
          <a:p>
            <a:pPr algn="ctr"/>
          </a:p>
        </p:txBody>
      </p:sp>
      <p:sp>
        <p:nvSpPr>
          <p:cNvPr id="57" name="TextBox 56"/>
          <p:cNvSpPr txBox="1"/>
          <p:nvPr/>
        </p:nvSpPr>
        <p:spPr>
          <a:xfrm>
            <a:off x="495300" y="5940879"/>
            <a:ext cx="228600" cy="409121"/>
          </a:xfrm>
          <a:prstGeom prst="rect">
            <a:avLst/>
          </a:prstGeom>
          <a:noFill/>
        </p:spPr>
        <p:txBody>
          <a:bodyPr wrap="square" anchor="ctr" lIns="0" tIns="0" rIns="0" bIns="0">
            <a:noAutofit/>
          </a:bodyPr>
          <a:lstStyle/>
          <a:p>
            <a:pPr algn="ctr" marL="0" indent="0">
              <a:lnSpc>
                <a:spcPts val="1350"/>
              </a:lnSpc>
              <a:buNone/>
            </a:pPr>
          </a:p>
        </p:txBody>
      </p:sp>
      <p:sp>
        <p:nvSpPr>
          <p:cNvPr id="58" name="TextBox 57"/>
          <p:cNvSpPr txBox="1"/>
          <p:nvPr/>
        </p:nvSpPr>
        <p:spPr>
          <a:xfrm>
            <a:off x="901700" y="5940879"/>
            <a:ext cx="1727200" cy="409121"/>
          </a:xfrm>
          <a:prstGeom prst="rect">
            <a:avLst/>
          </a:prstGeom>
          <a:noFill/>
        </p:spPr>
        <p:txBody>
          <a:bodyPr wrap="square" anchor="ctr" lIns="0" tIns="0" rIns="0" bIns="0">
            <a:noAutofit/>
          </a:bodyPr>
          <a:lstStyle/>
          <a:p>
            <a:pPr algn="l" marL="0" indent="0">
              <a:lnSpc>
                <a:spcPts val="1350"/>
              </a:lnSpc>
              <a:buNone/>
            </a:pPr>
            <a:r>
              <a:rPr lang="zh-CN" altLang="en-US" sz="950" b="1">
                <a:solidFill>
                  <a:srgbClr val="1A1A1A"/>
                </a:solidFill>
                <a:latin typeface="微软雅黑"/>
                <a:ea typeface="微软雅黑"/>
                <a:cs typeface="微软雅黑"/>
              </a:rPr>
              <a:t>合计</a:t>
            </a:r>
          </a:p>
        </p:txBody>
      </p:sp>
      <p:sp>
        <p:nvSpPr>
          <p:cNvPr id="59" name="TextBox 58"/>
          <p:cNvSpPr txBox="1"/>
          <p:nvPr/>
        </p:nvSpPr>
        <p:spPr>
          <a:xfrm>
            <a:off x="2806700" y="5940879"/>
            <a:ext cx="685800" cy="40912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1A1A1A"/>
                </a:solidFill>
                <a:latin typeface="Consolas"/>
                <a:ea typeface="微软雅黑"/>
                <a:cs typeface="Consolas"/>
              </a:rPr>
              <a:t>100</a:t>
            </a:r>
          </a:p>
        </p:txBody>
      </p:sp>
      <p:sp>
        <p:nvSpPr>
          <p:cNvPr id="60" name="TextBox 59"/>
          <p:cNvSpPr txBox="1"/>
          <p:nvPr/>
        </p:nvSpPr>
        <p:spPr>
          <a:xfrm>
            <a:off x="3670300" y="5940879"/>
            <a:ext cx="431800" cy="409121"/>
          </a:xfrm>
          <a:prstGeom prst="rect">
            <a:avLst/>
          </a:prstGeom>
          <a:noFill/>
        </p:spPr>
        <p:txBody>
          <a:bodyPr wrap="square" anchor="ctr" lIns="0" tIns="0" rIns="0" bIns="0">
            <a:noAutofit/>
          </a:bodyPr>
          <a:lstStyle/>
          <a:p>
            <a:pPr algn="r" marL="0" indent="0">
              <a:lnSpc>
                <a:spcPts val="1350"/>
              </a:lnSpc>
              <a:buNone/>
            </a:pPr>
            <a:r>
              <a:rPr lang="zh-CN" altLang="en-US" sz="950" b="1">
                <a:solidFill>
                  <a:srgbClr val="1A1A1A"/>
                </a:solidFill>
                <a:latin typeface="Consolas"/>
                <a:ea typeface="微软雅黑"/>
                <a:cs typeface="Consolas"/>
              </a:rPr>
              <a:t>100%</a:t>
            </a:r>
          </a:p>
        </p:txBody>
      </p:sp>
      <p:sp>
        <p:nvSpPr>
          <p:cNvPr id="61" name="TextBox 60"/>
          <p:cNvSpPr txBox="1"/>
          <p:nvPr/>
        </p:nvSpPr>
        <p:spPr>
          <a:xfrm>
            <a:off x="4279900" y="5940879"/>
            <a:ext cx="2794000" cy="409121"/>
          </a:xfrm>
          <a:prstGeom prst="rect">
            <a:avLst/>
          </a:prstGeom>
          <a:noFill/>
        </p:spPr>
        <p:txBody>
          <a:bodyPr wrap="square" anchor="ctr" lIns="0" tIns="0" rIns="0" bIns="0">
            <a:noAutofit/>
          </a:bodyPr>
          <a:lstStyle/>
          <a:p>
            <a:pPr algn="l" marL="0" indent="0">
              <a:lnSpc>
                <a:spcPts val="1300"/>
              </a:lnSpc>
              <a:buNone/>
            </a:pPr>
            <a:r>
              <a:rPr lang="zh-CN" altLang="en-US" sz="900" b="0">
                <a:solidFill>
                  <a:srgbClr val="3D3D3D"/>
                </a:solidFill>
                <a:latin typeface="微软雅黑"/>
                <a:ea typeface="微软雅黑"/>
                <a:cs typeface="微软雅黑"/>
              </a:rPr>
              <a:t>—</a:t>
            </a:r>
          </a:p>
        </p:txBody>
      </p:sp>
      <p:cxnSp>
        <p:nvCxnSpPr>
          <p:cNvPr id="62" name="Connector 61"/>
          <p:cNvCxnSpPr/>
          <p:nvPr/>
        </p:nvCxnSpPr>
        <p:spPr>
          <a:xfrm>
            <a:off x="406400" y="6350000"/>
            <a:ext cx="6756400" cy="0"/>
          </a:xfrm>
          <a:prstGeom prst="line">
            <a:avLst/>
          </a:prstGeom>
          <a:ln w="6350">
            <a:solidFill>
              <a:srgbClr val="E9E9E9"/>
            </a:solidFill>
            <a:round/>
          </a:ln>
        </p:spPr>
      </p:cxnSp>
      <p:sp>
        <p:nvSpPr>
          <p:cNvPr id="63" name="TextBox 62"/>
          <p:cNvSpPr txBox="1"/>
          <p:nvPr/>
        </p:nvSpPr>
        <p:spPr>
          <a:xfrm>
            <a:off x="7416800" y="2082800"/>
            <a:ext cx="43688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分年度</a:t>
            </a:r>
          </a:p>
        </p:txBody>
      </p:sp>
      <p:sp>
        <p:nvSpPr>
          <p:cNvPr id="64" name="Rectangle 63"/>
          <p:cNvSpPr/>
          <p:nvPr/>
        </p:nvSpPr>
        <p:spPr>
          <a:xfrm>
            <a:off x="7416800" y="2362200"/>
            <a:ext cx="2133600" cy="508000"/>
          </a:xfrm>
          <a:prstGeom prst="rect">
            <a:avLst/>
          </a:prstGeom>
          <a:solidFill>
            <a:srgbClr val="FFFFFF"/>
          </a:solidFill>
          <a:ln w="6350">
            <a:solidFill>
              <a:srgbClr val="E9E9E9"/>
            </a:solidFill>
            <a:round/>
          </a:ln>
        </p:spPr>
        <p:txBody>
          <a:bodyPr rtlCol="0" anchor="ctr" lIns="0" rIns="0" tIns="0" bIns="0"/>
          <a:lstStyle/>
          <a:p>
            <a:pPr algn="ctr"/>
          </a:p>
        </p:txBody>
      </p:sp>
      <p:sp>
        <p:nvSpPr>
          <p:cNvPr id="65" name="TextBox 64"/>
          <p:cNvSpPr txBox="1"/>
          <p:nvPr/>
        </p:nvSpPr>
        <p:spPr>
          <a:xfrm>
            <a:off x="7556500" y="2362200"/>
            <a:ext cx="889000" cy="508000"/>
          </a:xfrm>
          <a:prstGeom prst="rect">
            <a:avLst/>
          </a:prstGeom>
          <a:noFill/>
        </p:spPr>
        <p:txBody>
          <a:bodyPr wrap="none" anchor="ctr" lIns="0" tIns="0" rIns="0" bIns="0">
            <a:noAutofit/>
          </a:bodyPr>
          <a:lstStyle/>
          <a:p>
            <a:pPr algn="l" marL="0" indent="0">
              <a:lnSpc>
                <a:spcPts val="1500"/>
              </a:lnSpc>
              <a:buNone/>
            </a:pPr>
            <a:r>
              <a:rPr lang="zh-CN" altLang="en-US" sz="1050" b="1">
                <a:solidFill>
                  <a:srgbClr val="666666"/>
                </a:solidFill>
                <a:latin typeface="微软雅黑"/>
                <a:ea typeface="微软雅黑"/>
                <a:cs typeface="微软雅黑"/>
              </a:rPr>
              <a:t>2027 年</a:t>
            </a:r>
          </a:p>
        </p:txBody>
      </p:sp>
      <p:sp>
        <p:nvSpPr>
          <p:cNvPr id="66" name="TextBox 65"/>
          <p:cNvSpPr txBox="1"/>
          <p:nvPr/>
        </p:nvSpPr>
        <p:spPr>
          <a:xfrm>
            <a:off x="8305800" y="2362200"/>
            <a:ext cx="1117600" cy="508000"/>
          </a:xfrm>
          <a:prstGeom prst="rect">
            <a:avLst/>
          </a:prstGeom>
          <a:noFill/>
        </p:spPr>
        <p:txBody>
          <a:bodyPr wrap="none" anchor="ctr" lIns="0" tIns="0" rIns="0" bIns="0">
            <a:noAutofit/>
          </a:bodyPr>
          <a:lstStyle/>
          <a:p>
            <a:pPr algn="r" marL="0" indent="0">
              <a:lnSpc>
                <a:spcPts val="2600"/>
              </a:lnSpc>
              <a:buNone/>
            </a:pPr>
            <a:r>
              <a:rPr lang="zh-CN" altLang="en-US" sz="2000" b="1">
                <a:solidFill>
                  <a:srgbClr val="1A1A1A"/>
                </a:solidFill>
                <a:latin typeface="Consolas"/>
                <a:ea typeface="微软雅黑"/>
                <a:cs typeface="Consolas"/>
              </a:rPr>
              <a:t>50</a:t>
            </a:r>
            <a:r>
              <a:rPr lang="zh-CN" altLang="en-US" sz="1000" b="0">
                <a:solidFill>
                  <a:srgbClr val="666666"/>
                </a:solidFill>
                <a:latin typeface="Consolas"/>
                <a:ea typeface="微软雅黑"/>
                <a:cs typeface="Consolas"/>
              </a:rPr>
              <a:t> 万元</a:t>
            </a:r>
          </a:p>
        </p:txBody>
      </p:sp>
      <p:sp>
        <p:nvSpPr>
          <p:cNvPr id="67" name="Rectangle 66"/>
          <p:cNvSpPr/>
          <p:nvPr/>
        </p:nvSpPr>
        <p:spPr>
          <a:xfrm>
            <a:off x="9652000" y="2362200"/>
            <a:ext cx="2133600" cy="508000"/>
          </a:xfrm>
          <a:prstGeom prst="rect">
            <a:avLst/>
          </a:prstGeom>
          <a:solidFill>
            <a:srgbClr val="FFFFFF"/>
          </a:solidFill>
          <a:ln w="6350">
            <a:solidFill>
              <a:srgbClr val="E9E9E9"/>
            </a:solidFill>
            <a:round/>
          </a:ln>
        </p:spPr>
        <p:txBody>
          <a:bodyPr rtlCol="0" anchor="ctr" lIns="0" rIns="0" tIns="0" bIns="0"/>
          <a:lstStyle/>
          <a:p>
            <a:pPr algn="ctr"/>
          </a:p>
        </p:txBody>
      </p:sp>
      <p:sp>
        <p:nvSpPr>
          <p:cNvPr id="68" name="TextBox 67"/>
          <p:cNvSpPr txBox="1"/>
          <p:nvPr/>
        </p:nvSpPr>
        <p:spPr>
          <a:xfrm>
            <a:off x="9791700" y="2362200"/>
            <a:ext cx="889000" cy="508000"/>
          </a:xfrm>
          <a:prstGeom prst="rect">
            <a:avLst/>
          </a:prstGeom>
          <a:noFill/>
        </p:spPr>
        <p:txBody>
          <a:bodyPr wrap="none" anchor="ctr" lIns="0" tIns="0" rIns="0" bIns="0">
            <a:noAutofit/>
          </a:bodyPr>
          <a:lstStyle/>
          <a:p>
            <a:pPr algn="l" marL="0" indent="0">
              <a:lnSpc>
                <a:spcPts val="1500"/>
              </a:lnSpc>
              <a:buNone/>
            </a:pPr>
            <a:r>
              <a:rPr lang="zh-CN" altLang="en-US" sz="1050" b="1">
                <a:solidFill>
                  <a:srgbClr val="666666"/>
                </a:solidFill>
                <a:latin typeface="微软雅黑"/>
                <a:ea typeface="微软雅黑"/>
                <a:cs typeface="微软雅黑"/>
              </a:rPr>
              <a:t>2028 年</a:t>
            </a:r>
          </a:p>
        </p:txBody>
      </p:sp>
      <p:sp>
        <p:nvSpPr>
          <p:cNvPr id="69" name="TextBox 68"/>
          <p:cNvSpPr txBox="1"/>
          <p:nvPr/>
        </p:nvSpPr>
        <p:spPr>
          <a:xfrm>
            <a:off x="10541000" y="2362200"/>
            <a:ext cx="1117600" cy="508000"/>
          </a:xfrm>
          <a:prstGeom prst="rect">
            <a:avLst/>
          </a:prstGeom>
          <a:noFill/>
        </p:spPr>
        <p:txBody>
          <a:bodyPr wrap="none" anchor="ctr" lIns="0" tIns="0" rIns="0" bIns="0">
            <a:noAutofit/>
          </a:bodyPr>
          <a:lstStyle/>
          <a:p>
            <a:pPr algn="r" marL="0" indent="0">
              <a:lnSpc>
                <a:spcPts val="2600"/>
              </a:lnSpc>
              <a:buNone/>
            </a:pPr>
            <a:r>
              <a:rPr lang="zh-CN" altLang="en-US" sz="2000" b="1">
                <a:solidFill>
                  <a:srgbClr val="1A1A1A"/>
                </a:solidFill>
                <a:latin typeface="Consolas"/>
                <a:ea typeface="微软雅黑"/>
                <a:cs typeface="Consolas"/>
              </a:rPr>
              <a:t>50</a:t>
            </a:r>
            <a:r>
              <a:rPr lang="zh-CN" altLang="en-US" sz="1000" b="0">
                <a:solidFill>
                  <a:srgbClr val="666666"/>
                </a:solidFill>
                <a:latin typeface="Consolas"/>
                <a:ea typeface="微软雅黑"/>
                <a:cs typeface="Consolas"/>
              </a:rPr>
              <a:t> 万元</a:t>
            </a:r>
          </a:p>
        </p:txBody>
      </p:sp>
      <p:sp>
        <p:nvSpPr>
          <p:cNvPr id="70" name="TextBox 69"/>
          <p:cNvSpPr txBox="1"/>
          <p:nvPr/>
        </p:nvSpPr>
        <p:spPr>
          <a:xfrm>
            <a:off x="7416800" y="3022600"/>
            <a:ext cx="43688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合理性说明</a:t>
            </a:r>
          </a:p>
        </p:txBody>
      </p:sp>
      <p:sp>
        <p:nvSpPr>
          <p:cNvPr id="71" name="Rectangle 70"/>
          <p:cNvSpPr/>
          <p:nvPr/>
        </p:nvSpPr>
        <p:spPr>
          <a:xfrm>
            <a:off x="7416800" y="3302000"/>
            <a:ext cx="4368800" cy="956733"/>
          </a:xfrm>
          <a:prstGeom prst="rect">
            <a:avLst/>
          </a:prstGeom>
          <a:solidFill>
            <a:srgbClr val="FFFFFF"/>
          </a:solidFill>
          <a:ln w="6350">
            <a:solidFill>
              <a:srgbClr val="E9E9E9"/>
            </a:solidFill>
            <a:round/>
          </a:ln>
        </p:spPr>
        <p:txBody>
          <a:bodyPr rtlCol="0" anchor="ctr" lIns="0" rIns="0" tIns="0" bIns="0"/>
          <a:lstStyle/>
          <a:p>
            <a:pPr algn="ctr"/>
          </a:p>
        </p:txBody>
      </p:sp>
      <p:sp>
        <p:nvSpPr>
          <p:cNvPr id="72" name="Rectangle 71"/>
          <p:cNvSpPr/>
          <p:nvPr/>
        </p:nvSpPr>
        <p:spPr>
          <a:xfrm>
            <a:off x="7416800" y="3302000"/>
            <a:ext cx="19050" cy="956733"/>
          </a:xfrm>
          <a:prstGeom prst="rect">
            <a:avLst/>
          </a:prstGeom>
          <a:solidFill>
            <a:srgbClr val="C00000"/>
          </a:solidFill>
          <a:ln>
            <a:noFill/>
          </a:ln>
        </p:spPr>
        <p:txBody>
          <a:bodyPr rtlCol="0" anchor="ctr" lIns="0" rIns="0" tIns="0" bIns="0"/>
          <a:lstStyle/>
          <a:p>
            <a:pPr algn="ctr"/>
          </a:p>
        </p:txBody>
      </p:sp>
      <p:sp>
        <p:nvSpPr>
          <p:cNvPr id="73" name="TextBox 72"/>
          <p:cNvSpPr txBox="1"/>
          <p:nvPr/>
        </p:nvSpPr>
        <p:spPr>
          <a:xfrm>
            <a:off x="7594600" y="3577167"/>
            <a:ext cx="4013200" cy="190500"/>
          </a:xfrm>
          <a:prstGeom prst="rect">
            <a:avLst/>
          </a:prstGeom>
          <a:noFill/>
        </p:spPr>
        <p:txBody>
          <a:bodyPr wrap="none" anchor="t"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算力与任务强相关</a:t>
            </a:r>
          </a:p>
        </p:txBody>
      </p:sp>
      <p:sp>
        <p:nvSpPr>
          <p:cNvPr id="74" name="TextBox 73"/>
          <p:cNvSpPr txBox="1"/>
          <p:nvPr/>
        </p:nvSpPr>
        <p:spPr>
          <a:xfrm>
            <a:off x="7594600" y="3805767"/>
            <a:ext cx="4013200" cy="203200"/>
          </a:xfrm>
          <a:prstGeom prst="rect">
            <a:avLst/>
          </a:prstGeom>
          <a:noFill/>
        </p:spPr>
        <p:txBody>
          <a:bodyPr wrap="square" anchor="t" lIns="0" tIns="0" rIns="0" bIns="0">
            <a:noAutofit/>
          </a:bodyPr>
          <a:lstStyle/>
          <a:p>
            <a:pPr algn="l" marL="0" indent="0">
              <a:lnSpc>
                <a:spcPts val="1400"/>
              </a:lnSpc>
              <a:buNone/>
            </a:pPr>
            <a:r>
              <a:rPr lang="zh-CN" altLang="en-US" sz="950" b="0">
                <a:solidFill>
                  <a:srgbClr val="3D3D3D"/>
                </a:solidFill>
                <a:latin typeface="微软雅黑"/>
                <a:ea typeface="微软雅黑"/>
                <a:cs typeface="微软雅黑"/>
              </a:rPr>
              <a:t>NPU 做推理与编排，GPU 做多物理域并行仿真</a:t>
            </a:r>
          </a:p>
        </p:txBody>
      </p:sp>
      <p:sp>
        <p:nvSpPr>
          <p:cNvPr id="75" name="Rectangle 74"/>
          <p:cNvSpPr/>
          <p:nvPr/>
        </p:nvSpPr>
        <p:spPr>
          <a:xfrm>
            <a:off x="7416800" y="4347633"/>
            <a:ext cx="4368800" cy="956733"/>
          </a:xfrm>
          <a:prstGeom prst="rect">
            <a:avLst/>
          </a:prstGeom>
          <a:solidFill>
            <a:srgbClr val="FFFFFF"/>
          </a:solidFill>
          <a:ln w="6350">
            <a:solidFill>
              <a:srgbClr val="E9E9E9"/>
            </a:solidFill>
            <a:round/>
          </a:ln>
        </p:spPr>
        <p:txBody>
          <a:bodyPr rtlCol="0" anchor="ctr" lIns="0" rIns="0" tIns="0" bIns="0"/>
          <a:lstStyle/>
          <a:p>
            <a:pPr algn="ctr"/>
          </a:p>
        </p:txBody>
      </p:sp>
      <p:sp>
        <p:nvSpPr>
          <p:cNvPr id="76" name="Rectangle 75"/>
          <p:cNvSpPr/>
          <p:nvPr/>
        </p:nvSpPr>
        <p:spPr>
          <a:xfrm>
            <a:off x="7416800" y="4347633"/>
            <a:ext cx="19050" cy="956733"/>
          </a:xfrm>
          <a:prstGeom prst="rect">
            <a:avLst/>
          </a:prstGeom>
          <a:solidFill>
            <a:srgbClr val="C00000"/>
          </a:solidFill>
          <a:ln>
            <a:noFill/>
          </a:ln>
        </p:spPr>
        <p:txBody>
          <a:bodyPr rtlCol="0" anchor="ctr" lIns="0" rIns="0" tIns="0" bIns="0"/>
          <a:lstStyle/>
          <a:p>
            <a:pPr algn="ctr"/>
          </a:p>
        </p:txBody>
      </p:sp>
      <p:sp>
        <p:nvSpPr>
          <p:cNvPr id="77" name="TextBox 76"/>
          <p:cNvSpPr txBox="1"/>
          <p:nvPr/>
        </p:nvSpPr>
        <p:spPr>
          <a:xfrm>
            <a:off x="7594600" y="4622800"/>
            <a:ext cx="4013200" cy="190500"/>
          </a:xfrm>
          <a:prstGeom prst="rect">
            <a:avLst/>
          </a:prstGeom>
          <a:noFill/>
        </p:spPr>
        <p:txBody>
          <a:bodyPr wrap="none" anchor="t"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人员占比 30%</a:t>
            </a:r>
          </a:p>
        </p:txBody>
      </p:sp>
      <p:sp>
        <p:nvSpPr>
          <p:cNvPr id="78" name="TextBox 77"/>
          <p:cNvSpPr txBox="1"/>
          <p:nvPr/>
        </p:nvSpPr>
        <p:spPr>
          <a:xfrm>
            <a:off x="7594600" y="4851400"/>
            <a:ext cx="4013200" cy="203200"/>
          </a:xfrm>
          <a:prstGeom prst="rect">
            <a:avLst/>
          </a:prstGeom>
          <a:noFill/>
        </p:spPr>
        <p:txBody>
          <a:bodyPr wrap="square" anchor="t" lIns="0" tIns="0" rIns="0" bIns="0">
            <a:noAutofit/>
          </a:bodyPr>
          <a:lstStyle/>
          <a:p>
            <a:pPr algn="l" marL="0" indent="0">
              <a:lnSpc>
                <a:spcPts val="1400"/>
              </a:lnSpc>
              <a:buNone/>
            </a:pPr>
            <a:r>
              <a:rPr lang="zh-CN" altLang="en-US" sz="950" b="0">
                <a:solidFill>
                  <a:srgbClr val="3D3D3D"/>
                </a:solidFill>
                <a:latin typeface="微软雅黑"/>
                <a:ea typeface="微软雅黑"/>
                <a:cs typeface="微软雅黑"/>
              </a:rPr>
              <a:t>以算法与软件开发为主</a:t>
            </a:r>
          </a:p>
        </p:txBody>
      </p:sp>
      <p:sp>
        <p:nvSpPr>
          <p:cNvPr id="79" name="Rectangle 78"/>
          <p:cNvSpPr/>
          <p:nvPr/>
        </p:nvSpPr>
        <p:spPr>
          <a:xfrm>
            <a:off x="7416800" y="5393267"/>
            <a:ext cx="4368800" cy="956733"/>
          </a:xfrm>
          <a:prstGeom prst="rect">
            <a:avLst/>
          </a:prstGeom>
          <a:solidFill>
            <a:srgbClr val="FFFFFF"/>
          </a:solidFill>
          <a:ln w="6350">
            <a:solidFill>
              <a:srgbClr val="E9E9E9"/>
            </a:solidFill>
            <a:round/>
          </a:ln>
        </p:spPr>
        <p:txBody>
          <a:bodyPr rtlCol="0" anchor="ctr" lIns="0" rIns="0" tIns="0" bIns="0"/>
          <a:lstStyle/>
          <a:p>
            <a:pPr algn="ctr"/>
          </a:p>
        </p:txBody>
      </p:sp>
      <p:sp>
        <p:nvSpPr>
          <p:cNvPr id="80" name="Rectangle 79"/>
          <p:cNvSpPr/>
          <p:nvPr/>
        </p:nvSpPr>
        <p:spPr>
          <a:xfrm>
            <a:off x="7416800" y="5393267"/>
            <a:ext cx="19050" cy="956733"/>
          </a:xfrm>
          <a:prstGeom prst="rect">
            <a:avLst/>
          </a:prstGeom>
          <a:solidFill>
            <a:srgbClr val="C00000"/>
          </a:solidFill>
          <a:ln>
            <a:noFill/>
          </a:ln>
        </p:spPr>
        <p:txBody>
          <a:bodyPr rtlCol="0" anchor="ctr" lIns="0" rIns="0" tIns="0" bIns="0"/>
          <a:lstStyle/>
          <a:p>
            <a:pPr algn="ctr"/>
          </a:p>
        </p:txBody>
      </p:sp>
      <p:sp>
        <p:nvSpPr>
          <p:cNvPr id="81" name="TextBox 80"/>
          <p:cNvSpPr txBox="1"/>
          <p:nvPr/>
        </p:nvSpPr>
        <p:spPr>
          <a:xfrm>
            <a:off x="7594600" y="5668433"/>
            <a:ext cx="4013200" cy="190500"/>
          </a:xfrm>
          <a:prstGeom prst="rect">
            <a:avLst/>
          </a:prstGeom>
          <a:noFill/>
        </p:spPr>
        <p:txBody>
          <a:bodyPr wrap="none" anchor="t"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无对外技术合作费</a:t>
            </a:r>
          </a:p>
        </p:txBody>
      </p:sp>
      <p:sp>
        <p:nvSpPr>
          <p:cNvPr id="82" name="TextBox 81"/>
          <p:cNvSpPr txBox="1"/>
          <p:nvPr/>
        </p:nvSpPr>
        <p:spPr>
          <a:xfrm>
            <a:off x="7594600" y="5897033"/>
            <a:ext cx="4013200" cy="203200"/>
          </a:xfrm>
          <a:prstGeom prst="rect">
            <a:avLst/>
          </a:prstGeom>
          <a:noFill/>
        </p:spPr>
        <p:txBody>
          <a:bodyPr wrap="square" anchor="t" lIns="0" tIns="0" rIns="0" bIns="0">
            <a:noAutofit/>
          </a:bodyPr>
          <a:lstStyle/>
          <a:p>
            <a:pPr algn="l" marL="0" indent="0">
              <a:lnSpc>
                <a:spcPts val="1400"/>
              </a:lnSpc>
              <a:buNone/>
            </a:pPr>
            <a:r>
              <a:rPr lang="zh-CN" altLang="en-US" sz="950" b="0">
                <a:solidFill>
                  <a:srgbClr val="3D3D3D"/>
                </a:solidFill>
                <a:latin typeface="微软雅黑"/>
                <a:ea typeface="微软雅黑"/>
                <a:cs typeface="微软雅黑"/>
              </a:rPr>
              <a:t>全部用于自主研发</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项目管理计划</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按四层分组承担，按里程碑绑定考核</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17</a:t>
            </a:r>
          </a:p>
        </p:txBody>
      </p:sp>
      <p:sp>
        <p:nvSpPr>
          <p:cNvPr id="6" name="TextBox 5"/>
          <p:cNvSpPr txBox="1"/>
          <p:nvPr/>
        </p:nvSpPr>
        <p:spPr>
          <a:xfrm>
            <a:off x="406400" y="2082800"/>
            <a:ext cx="5715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组织架构与任务分配</a:t>
            </a:r>
          </a:p>
        </p:txBody>
      </p:sp>
      <p:sp>
        <p:nvSpPr>
          <p:cNvPr id="7" name="Rectangle 6"/>
          <p:cNvSpPr/>
          <p:nvPr/>
        </p:nvSpPr>
        <p:spPr>
          <a:xfrm>
            <a:off x="5080000" y="2082800"/>
            <a:ext cx="2032000" cy="317500"/>
          </a:xfrm>
          <a:prstGeom prst="rect">
            <a:avLst/>
          </a:prstGeom>
          <a:solidFill>
            <a:srgbClr val="3A3A3A"/>
          </a:solidFill>
          <a:ln>
            <a:noFill/>
          </a:ln>
        </p:spPr>
        <p:txBody>
          <a:bodyPr rtlCol="0" anchor="ctr" lIns="0" rIns="0" tIns="0" bIns="0"/>
          <a:lstStyle/>
          <a:p>
            <a:pPr algn="ctr"/>
          </a:p>
        </p:txBody>
      </p:sp>
      <p:pic>
        <p:nvPicPr>
          <p:cNvPr id="8" name="Picture 7" descr="user-star-FFFFFF-1_6.png"/>
          <p:cNvPicPr>
            <a:picLocks noChangeAspect="1"/>
          </p:cNvPicPr>
          <p:nvPr/>
        </p:nvPicPr>
        <p:blipFill>
          <a:blip r:embed="rId2"/>
          <a:stretch>
            <a:fillRect/>
          </a:stretch>
        </p:blipFill>
        <p:spPr>
          <a:xfrm>
            <a:off x="5524500" y="2152650"/>
            <a:ext cx="177800" cy="177800"/>
          </a:xfrm>
          <a:prstGeom prst="rect">
            <a:avLst/>
          </a:prstGeom>
        </p:spPr>
      </p:pic>
      <p:sp>
        <p:nvSpPr>
          <p:cNvPr id="9" name="TextBox 8"/>
          <p:cNvSpPr txBox="1"/>
          <p:nvPr/>
        </p:nvSpPr>
        <p:spPr>
          <a:xfrm>
            <a:off x="5765800" y="2082800"/>
            <a:ext cx="1219200" cy="317500"/>
          </a:xfrm>
          <a:prstGeom prst="rect">
            <a:avLst/>
          </a:prstGeom>
          <a:noFill/>
        </p:spPr>
        <p:txBody>
          <a:bodyPr wrap="none" anchor="ctr" lIns="0" tIns="0" rIns="0" bIns="0">
            <a:noAutofit/>
          </a:bodyPr>
          <a:lstStyle/>
          <a:p>
            <a:pPr algn="l" marL="0" indent="0">
              <a:lnSpc>
                <a:spcPts val="1500"/>
              </a:lnSpc>
              <a:buNone/>
            </a:pPr>
            <a:r>
              <a:rPr lang="zh-CN" altLang="en-US" sz="1100" b="1">
                <a:solidFill>
                  <a:srgbClr val="FFFFFF"/>
                </a:solidFill>
                <a:latin typeface="微软雅黑"/>
                <a:ea typeface="微软雅黑"/>
                <a:cs typeface="微软雅黑"/>
              </a:rPr>
              <a:t>项目负责人</a:t>
            </a:r>
          </a:p>
        </p:txBody>
      </p:sp>
      <p:cxnSp>
        <p:nvCxnSpPr>
          <p:cNvPr id="10" name="Connector 9"/>
          <p:cNvCxnSpPr/>
          <p:nvPr/>
        </p:nvCxnSpPr>
        <p:spPr>
          <a:xfrm>
            <a:off x="6096000" y="2400300"/>
            <a:ext cx="0" cy="127000"/>
          </a:xfrm>
          <a:prstGeom prst="line">
            <a:avLst/>
          </a:prstGeom>
          <a:ln w="9525">
            <a:solidFill>
              <a:srgbClr val="8C8C8C"/>
            </a:solidFill>
            <a:round/>
          </a:ln>
        </p:spPr>
      </p:cxnSp>
      <p:cxnSp>
        <p:nvCxnSpPr>
          <p:cNvPr id="11" name="Connector 10"/>
          <p:cNvCxnSpPr/>
          <p:nvPr/>
        </p:nvCxnSpPr>
        <p:spPr>
          <a:xfrm>
            <a:off x="1771650" y="2527300"/>
            <a:ext cx="8648700" cy="0"/>
          </a:xfrm>
          <a:prstGeom prst="line">
            <a:avLst/>
          </a:prstGeom>
          <a:ln w="9525">
            <a:solidFill>
              <a:srgbClr val="8C8C8C"/>
            </a:solidFill>
            <a:round/>
          </a:ln>
        </p:spPr>
      </p:cxnSp>
      <p:cxnSp>
        <p:nvCxnSpPr>
          <p:cNvPr id="12" name="Connector 11"/>
          <p:cNvCxnSpPr/>
          <p:nvPr/>
        </p:nvCxnSpPr>
        <p:spPr>
          <a:xfrm>
            <a:off x="1771650" y="2527300"/>
            <a:ext cx="0" cy="114300"/>
          </a:xfrm>
          <a:prstGeom prst="line">
            <a:avLst/>
          </a:prstGeom>
          <a:ln w="9525">
            <a:solidFill>
              <a:srgbClr val="8C8C8C"/>
            </a:solidFill>
            <a:round/>
            <a:tailEnd type="triangle" w="med" len="med"/>
          </a:ln>
        </p:spPr>
      </p:cxnSp>
      <p:sp>
        <p:nvSpPr>
          <p:cNvPr id="13" name="Rectangle 12"/>
          <p:cNvSpPr/>
          <p:nvPr/>
        </p:nvSpPr>
        <p:spPr>
          <a:xfrm>
            <a:off x="406400" y="2654300"/>
            <a:ext cx="2730500" cy="736600"/>
          </a:xfrm>
          <a:prstGeom prst="rect">
            <a:avLst/>
          </a:prstGeom>
          <a:solidFill>
            <a:srgbClr val="FFFFFF"/>
          </a:solidFill>
          <a:ln w="6350">
            <a:solidFill>
              <a:srgbClr val="E9E9E9"/>
            </a:solidFill>
            <a:round/>
          </a:ln>
        </p:spPr>
        <p:txBody>
          <a:bodyPr rtlCol="0" anchor="ctr" lIns="0" rIns="0" tIns="0" bIns="0"/>
          <a:lstStyle/>
          <a:p>
            <a:pPr algn="ctr"/>
          </a:p>
        </p:txBody>
      </p:sp>
      <p:sp>
        <p:nvSpPr>
          <p:cNvPr id="14" name="Rectangle 13"/>
          <p:cNvSpPr/>
          <p:nvPr/>
        </p:nvSpPr>
        <p:spPr>
          <a:xfrm>
            <a:off x="406400" y="2654300"/>
            <a:ext cx="2730500" cy="19050"/>
          </a:xfrm>
          <a:prstGeom prst="rect">
            <a:avLst/>
          </a:prstGeom>
          <a:solidFill>
            <a:srgbClr val="D46A6A"/>
          </a:solidFill>
          <a:ln>
            <a:noFill/>
          </a:ln>
        </p:spPr>
        <p:txBody>
          <a:bodyPr rtlCol="0" anchor="ctr" lIns="0" rIns="0" tIns="0" bIns="0"/>
          <a:lstStyle/>
          <a:p>
            <a:pPr algn="ctr"/>
          </a:p>
        </p:txBody>
      </p:sp>
      <p:sp>
        <p:nvSpPr>
          <p:cNvPr id="15" name="Rectangle 14"/>
          <p:cNvSpPr/>
          <p:nvPr/>
        </p:nvSpPr>
        <p:spPr>
          <a:xfrm>
            <a:off x="546100" y="2755900"/>
            <a:ext cx="888810" cy="177800"/>
          </a:xfrm>
          <a:prstGeom prst="rect">
            <a:avLst/>
          </a:prstGeom>
          <a:solidFill>
            <a:srgbClr val="FFFFFF"/>
          </a:solidFill>
          <a:ln w="6350">
            <a:solidFill>
              <a:srgbClr val="D46A6A"/>
            </a:solidFill>
            <a:round/>
          </a:ln>
        </p:spPr>
        <p:txBody>
          <a:bodyPr rtlCol="0" anchor="ctr" lIns="0" rIns="0" tIns="0" bIns="0" wrap="none">
            <a:noAutofit/>
          </a:bodyPr>
          <a:lstStyle/>
          <a:p>
            <a:pPr algn="ctr" marL="0" indent="0">
              <a:lnSpc>
                <a:spcPts val="1050"/>
              </a:lnSpc>
              <a:buNone/>
            </a:pPr>
            <a:r>
              <a:rPr lang="zh-CN" altLang="en-US" sz="800" b="1">
                <a:solidFill>
                  <a:srgbClr val="D46A6A"/>
                </a:solidFill>
                <a:latin typeface="微软雅黑"/>
                <a:ea typeface="微软雅黑"/>
                <a:cs typeface="微软雅黑"/>
              </a:rPr>
              <a:t>子任务 1 组 · ①</a:t>
            </a:r>
          </a:p>
        </p:txBody>
      </p:sp>
      <p:sp>
        <p:nvSpPr>
          <p:cNvPr id="16" name="TextBox 15"/>
          <p:cNvSpPr txBox="1"/>
          <p:nvPr/>
        </p:nvSpPr>
        <p:spPr>
          <a:xfrm>
            <a:off x="546100" y="2971800"/>
            <a:ext cx="2451100" cy="190500"/>
          </a:xfrm>
          <a:prstGeom prst="rect">
            <a:avLst/>
          </a:prstGeom>
          <a:noFill/>
        </p:spPr>
        <p:txBody>
          <a:bodyPr wrap="none" anchor="t"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测试知识库与任务工作流</a:t>
            </a:r>
          </a:p>
        </p:txBody>
      </p:sp>
      <p:sp>
        <p:nvSpPr>
          <p:cNvPr id="17" name="TextBox 16"/>
          <p:cNvSpPr txBox="1"/>
          <p:nvPr/>
        </p:nvSpPr>
        <p:spPr>
          <a:xfrm>
            <a:off x="546100" y="3187700"/>
            <a:ext cx="2451100" cy="165100"/>
          </a:xfrm>
          <a:prstGeom prst="rect">
            <a:avLst/>
          </a:prstGeom>
          <a:noFill/>
        </p:spPr>
        <p:txBody>
          <a:bodyPr wrap="none" anchor="t" lIns="0" tIns="0" rIns="0" bIns="0">
            <a:noAutofit/>
          </a:bodyPr>
          <a:lstStyle/>
          <a:p>
            <a:pPr algn="l" marL="0" indent="0">
              <a:lnSpc>
                <a:spcPts val="1200"/>
              </a:lnSpc>
              <a:buNone/>
            </a:pPr>
            <a:r>
              <a:rPr lang="zh-CN" altLang="en-US" sz="850" b="1">
                <a:solidFill>
                  <a:srgbClr val="1A1A1A"/>
                </a:solidFill>
                <a:latin typeface="微软雅黑"/>
                <a:ea typeface="微软雅黑"/>
                <a:cs typeface="微软雅黑"/>
              </a:rPr>
              <a:t>交付</a:t>
            </a:r>
            <a:r>
              <a:rPr lang="zh-CN" altLang="en-US" sz="850" b="0">
                <a:solidFill>
                  <a:srgbClr val="666666"/>
                </a:solidFill>
                <a:latin typeface="微软雅黑"/>
                <a:ea typeface="微软雅黑"/>
                <a:cs typeface="微软雅黑"/>
              </a:rPr>
              <a:t>　判据知识库、工作流定义</a:t>
            </a:r>
          </a:p>
        </p:txBody>
      </p:sp>
      <p:cxnSp>
        <p:nvCxnSpPr>
          <p:cNvPr id="18" name="Connector 17"/>
          <p:cNvCxnSpPr/>
          <p:nvPr/>
        </p:nvCxnSpPr>
        <p:spPr>
          <a:xfrm>
            <a:off x="4654550" y="2527300"/>
            <a:ext cx="0" cy="114300"/>
          </a:xfrm>
          <a:prstGeom prst="line">
            <a:avLst/>
          </a:prstGeom>
          <a:ln w="9525">
            <a:solidFill>
              <a:srgbClr val="8C8C8C"/>
            </a:solidFill>
            <a:round/>
            <a:tailEnd type="triangle" w="med" len="med"/>
          </a:ln>
        </p:spPr>
      </p:cxnSp>
      <p:sp>
        <p:nvSpPr>
          <p:cNvPr id="19" name="Rectangle 18"/>
          <p:cNvSpPr/>
          <p:nvPr/>
        </p:nvSpPr>
        <p:spPr>
          <a:xfrm>
            <a:off x="3289300" y="2654300"/>
            <a:ext cx="2730500" cy="736600"/>
          </a:xfrm>
          <a:prstGeom prst="rect">
            <a:avLst/>
          </a:prstGeom>
          <a:solidFill>
            <a:srgbClr val="FFFFFF"/>
          </a:solidFill>
          <a:ln w="6350">
            <a:solidFill>
              <a:srgbClr val="E9E9E9"/>
            </a:solidFill>
            <a:round/>
          </a:ln>
        </p:spPr>
        <p:txBody>
          <a:bodyPr rtlCol="0" anchor="ctr" lIns="0" rIns="0" tIns="0" bIns="0"/>
          <a:lstStyle/>
          <a:p>
            <a:pPr algn="ctr"/>
          </a:p>
        </p:txBody>
      </p:sp>
      <p:sp>
        <p:nvSpPr>
          <p:cNvPr id="20" name="Rectangle 19"/>
          <p:cNvSpPr/>
          <p:nvPr/>
        </p:nvSpPr>
        <p:spPr>
          <a:xfrm>
            <a:off x="3289300" y="2654300"/>
            <a:ext cx="2730500" cy="19050"/>
          </a:xfrm>
          <a:prstGeom prst="rect">
            <a:avLst/>
          </a:prstGeom>
          <a:solidFill>
            <a:srgbClr val="C83535"/>
          </a:solidFill>
          <a:ln>
            <a:noFill/>
          </a:ln>
        </p:spPr>
        <p:txBody>
          <a:bodyPr rtlCol="0" anchor="ctr" lIns="0" rIns="0" tIns="0" bIns="0"/>
          <a:lstStyle/>
          <a:p>
            <a:pPr algn="ctr"/>
          </a:p>
        </p:txBody>
      </p:sp>
      <p:sp>
        <p:nvSpPr>
          <p:cNvPr id="21" name="Rectangle 20"/>
          <p:cNvSpPr/>
          <p:nvPr/>
        </p:nvSpPr>
        <p:spPr>
          <a:xfrm>
            <a:off x="3429000" y="2755900"/>
            <a:ext cx="888810" cy="177800"/>
          </a:xfrm>
          <a:prstGeom prst="rect">
            <a:avLst/>
          </a:prstGeom>
          <a:solidFill>
            <a:srgbClr val="FFFFFF"/>
          </a:solidFill>
          <a:ln w="6350">
            <a:solidFill>
              <a:srgbClr val="C83535"/>
            </a:solidFill>
            <a:round/>
          </a:ln>
        </p:spPr>
        <p:txBody>
          <a:bodyPr rtlCol="0" anchor="ctr" lIns="0" rIns="0" tIns="0" bIns="0" wrap="none">
            <a:noAutofit/>
          </a:bodyPr>
          <a:lstStyle/>
          <a:p>
            <a:pPr algn="ctr" marL="0" indent="0">
              <a:lnSpc>
                <a:spcPts val="1050"/>
              </a:lnSpc>
              <a:buNone/>
            </a:pPr>
            <a:r>
              <a:rPr lang="zh-CN" altLang="en-US" sz="800" b="1">
                <a:solidFill>
                  <a:srgbClr val="C83535"/>
                </a:solidFill>
                <a:latin typeface="微软雅黑"/>
                <a:ea typeface="微软雅黑"/>
                <a:cs typeface="微软雅黑"/>
              </a:rPr>
              <a:t>子任务 2 组 · ②</a:t>
            </a:r>
          </a:p>
        </p:txBody>
      </p:sp>
      <p:sp>
        <p:nvSpPr>
          <p:cNvPr id="22" name="TextBox 21"/>
          <p:cNvSpPr txBox="1"/>
          <p:nvPr/>
        </p:nvSpPr>
        <p:spPr>
          <a:xfrm>
            <a:off x="3429000" y="2971800"/>
            <a:ext cx="2451100" cy="190500"/>
          </a:xfrm>
          <a:prstGeom prst="rect">
            <a:avLst/>
          </a:prstGeom>
          <a:noFill/>
        </p:spPr>
        <p:txBody>
          <a:bodyPr wrap="none" anchor="t"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任务理解与智能编排调度</a:t>
            </a:r>
          </a:p>
        </p:txBody>
      </p:sp>
      <p:sp>
        <p:nvSpPr>
          <p:cNvPr id="23" name="TextBox 22"/>
          <p:cNvSpPr txBox="1"/>
          <p:nvPr/>
        </p:nvSpPr>
        <p:spPr>
          <a:xfrm>
            <a:off x="3429000" y="3187700"/>
            <a:ext cx="2451100" cy="165100"/>
          </a:xfrm>
          <a:prstGeom prst="rect">
            <a:avLst/>
          </a:prstGeom>
          <a:noFill/>
        </p:spPr>
        <p:txBody>
          <a:bodyPr wrap="none" anchor="t" lIns="0" tIns="0" rIns="0" bIns="0">
            <a:noAutofit/>
          </a:bodyPr>
          <a:lstStyle/>
          <a:p>
            <a:pPr algn="l" marL="0" indent="0">
              <a:lnSpc>
                <a:spcPts val="1200"/>
              </a:lnSpc>
              <a:buNone/>
            </a:pPr>
            <a:r>
              <a:rPr lang="zh-CN" altLang="en-US" sz="850" b="1">
                <a:solidFill>
                  <a:srgbClr val="1A1A1A"/>
                </a:solidFill>
                <a:latin typeface="微软雅黑"/>
                <a:ea typeface="微软雅黑"/>
                <a:cs typeface="微软雅黑"/>
              </a:rPr>
              <a:t>交付</a:t>
            </a:r>
            <a:r>
              <a:rPr lang="zh-CN" altLang="en-US" sz="850" b="0">
                <a:solidFill>
                  <a:srgbClr val="666666"/>
                </a:solidFill>
                <a:latin typeface="微软雅黑"/>
                <a:ea typeface="微软雅黑"/>
                <a:cs typeface="微软雅黑"/>
              </a:rPr>
              <a:t>　协同运行与调度引擎</a:t>
            </a:r>
          </a:p>
        </p:txBody>
      </p:sp>
      <p:cxnSp>
        <p:nvCxnSpPr>
          <p:cNvPr id="24" name="Connector 23"/>
          <p:cNvCxnSpPr/>
          <p:nvPr/>
        </p:nvCxnSpPr>
        <p:spPr>
          <a:xfrm>
            <a:off x="7537450" y="2527300"/>
            <a:ext cx="0" cy="114300"/>
          </a:xfrm>
          <a:prstGeom prst="line">
            <a:avLst/>
          </a:prstGeom>
          <a:ln w="9525">
            <a:solidFill>
              <a:srgbClr val="8C8C8C"/>
            </a:solidFill>
            <a:round/>
            <a:tailEnd type="triangle" w="med" len="med"/>
          </a:ln>
        </p:spPr>
      </p:cxnSp>
      <p:sp>
        <p:nvSpPr>
          <p:cNvPr id="25" name="Rectangle 24"/>
          <p:cNvSpPr/>
          <p:nvPr/>
        </p:nvSpPr>
        <p:spPr>
          <a:xfrm>
            <a:off x="6172200" y="2654300"/>
            <a:ext cx="2730500" cy="736600"/>
          </a:xfrm>
          <a:prstGeom prst="rect">
            <a:avLst/>
          </a:prstGeom>
          <a:solidFill>
            <a:srgbClr val="FFFFFF"/>
          </a:solidFill>
          <a:ln w="6350">
            <a:solidFill>
              <a:srgbClr val="E9E9E9"/>
            </a:solidFill>
            <a:round/>
          </a:ln>
        </p:spPr>
        <p:txBody>
          <a:bodyPr rtlCol="0" anchor="ctr" lIns="0" rIns="0" tIns="0" bIns="0"/>
          <a:lstStyle/>
          <a:p>
            <a:pPr algn="ctr"/>
          </a:p>
        </p:txBody>
      </p:sp>
      <p:sp>
        <p:nvSpPr>
          <p:cNvPr id="26" name="Rectangle 25"/>
          <p:cNvSpPr/>
          <p:nvPr/>
        </p:nvSpPr>
        <p:spPr>
          <a:xfrm>
            <a:off x="6172200" y="2654300"/>
            <a:ext cx="2730500" cy="19050"/>
          </a:xfrm>
          <a:prstGeom prst="rect">
            <a:avLst/>
          </a:prstGeom>
          <a:solidFill>
            <a:srgbClr val="C00000"/>
          </a:solidFill>
          <a:ln>
            <a:noFill/>
          </a:ln>
        </p:spPr>
        <p:txBody>
          <a:bodyPr rtlCol="0" anchor="ctr" lIns="0" rIns="0" tIns="0" bIns="0"/>
          <a:lstStyle/>
          <a:p>
            <a:pPr algn="ctr"/>
          </a:p>
        </p:txBody>
      </p:sp>
      <p:sp>
        <p:nvSpPr>
          <p:cNvPr id="27" name="Rectangle 26"/>
          <p:cNvSpPr/>
          <p:nvPr/>
        </p:nvSpPr>
        <p:spPr>
          <a:xfrm>
            <a:off x="6311900" y="2755900"/>
            <a:ext cx="888810" cy="177800"/>
          </a:xfrm>
          <a:prstGeom prst="rect">
            <a:avLst/>
          </a:prstGeom>
          <a:solidFill>
            <a:srgbClr val="FFFFFF"/>
          </a:solidFill>
          <a:ln w="6350">
            <a:solidFill>
              <a:srgbClr val="C00000"/>
            </a:solidFill>
            <a:round/>
          </a:ln>
        </p:spPr>
        <p:txBody>
          <a:bodyPr rtlCol="0" anchor="ctr" lIns="0" rIns="0" tIns="0" bIns="0" wrap="none">
            <a:noAutofit/>
          </a:bodyPr>
          <a:lstStyle/>
          <a:p>
            <a:pPr algn="ctr" marL="0" indent="0">
              <a:lnSpc>
                <a:spcPts val="1050"/>
              </a:lnSpc>
              <a:buNone/>
            </a:pPr>
            <a:r>
              <a:rPr lang="zh-CN" altLang="en-US" sz="800" b="1">
                <a:solidFill>
                  <a:srgbClr val="C00000"/>
                </a:solidFill>
                <a:latin typeface="微软雅黑"/>
                <a:ea typeface="微软雅黑"/>
                <a:cs typeface="微软雅黑"/>
              </a:rPr>
              <a:t>子任务 3 组 · ③</a:t>
            </a:r>
          </a:p>
        </p:txBody>
      </p:sp>
      <p:sp>
        <p:nvSpPr>
          <p:cNvPr id="28" name="TextBox 27"/>
          <p:cNvSpPr txBox="1"/>
          <p:nvPr/>
        </p:nvSpPr>
        <p:spPr>
          <a:xfrm>
            <a:off x="6311900" y="2971800"/>
            <a:ext cx="2451100" cy="190500"/>
          </a:xfrm>
          <a:prstGeom prst="rect">
            <a:avLst/>
          </a:prstGeom>
          <a:noFill/>
        </p:spPr>
        <p:txBody>
          <a:bodyPr wrap="none" anchor="t"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智能体执行</a:t>
            </a:r>
          </a:p>
        </p:txBody>
      </p:sp>
      <p:sp>
        <p:nvSpPr>
          <p:cNvPr id="29" name="TextBox 28"/>
          <p:cNvSpPr txBox="1"/>
          <p:nvPr/>
        </p:nvSpPr>
        <p:spPr>
          <a:xfrm>
            <a:off x="6311900" y="3187700"/>
            <a:ext cx="2451100" cy="165100"/>
          </a:xfrm>
          <a:prstGeom prst="rect">
            <a:avLst/>
          </a:prstGeom>
          <a:noFill/>
        </p:spPr>
        <p:txBody>
          <a:bodyPr wrap="none" anchor="t" lIns="0" tIns="0" rIns="0" bIns="0">
            <a:noAutofit/>
          </a:bodyPr>
          <a:lstStyle/>
          <a:p>
            <a:pPr algn="l" marL="0" indent="0">
              <a:lnSpc>
                <a:spcPts val="1200"/>
              </a:lnSpc>
              <a:buNone/>
            </a:pPr>
            <a:r>
              <a:rPr lang="zh-CN" altLang="en-US" sz="850" b="1">
                <a:solidFill>
                  <a:srgbClr val="1A1A1A"/>
                </a:solidFill>
                <a:latin typeface="微软雅黑"/>
                <a:ea typeface="微软雅黑"/>
                <a:cs typeface="微软雅黑"/>
              </a:rPr>
              <a:t>交付</a:t>
            </a:r>
            <a:r>
              <a:rPr lang="zh-CN" altLang="en-US" sz="850" b="0">
                <a:solidFill>
                  <a:srgbClr val="666666"/>
                </a:solidFill>
                <a:latin typeface="微软雅黑"/>
                <a:ea typeface="微软雅黑"/>
                <a:cs typeface="微软雅黑"/>
              </a:rPr>
              <a:t>　仿真智能体、验证报告</a:t>
            </a:r>
          </a:p>
        </p:txBody>
      </p:sp>
      <p:cxnSp>
        <p:nvCxnSpPr>
          <p:cNvPr id="30" name="Connector 29"/>
          <p:cNvCxnSpPr/>
          <p:nvPr/>
        </p:nvCxnSpPr>
        <p:spPr>
          <a:xfrm>
            <a:off x="10420350" y="2527300"/>
            <a:ext cx="0" cy="114300"/>
          </a:xfrm>
          <a:prstGeom prst="line">
            <a:avLst/>
          </a:prstGeom>
          <a:ln w="9525">
            <a:solidFill>
              <a:srgbClr val="8C8C8C"/>
            </a:solidFill>
            <a:round/>
            <a:tailEnd type="triangle" w="med" len="med"/>
          </a:ln>
        </p:spPr>
      </p:cxnSp>
      <p:sp>
        <p:nvSpPr>
          <p:cNvPr id="31" name="Rectangle 30"/>
          <p:cNvSpPr/>
          <p:nvPr/>
        </p:nvSpPr>
        <p:spPr>
          <a:xfrm>
            <a:off x="9055100" y="2654300"/>
            <a:ext cx="2730500" cy="736600"/>
          </a:xfrm>
          <a:prstGeom prst="rect">
            <a:avLst/>
          </a:prstGeom>
          <a:solidFill>
            <a:srgbClr val="FFFFFF"/>
          </a:solidFill>
          <a:ln w="6350">
            <a:solidFill>
              <a:srgbClr val="E9E9E9"/>
            </a:solidFill>
            <a:round/>
          </a:ln>
        </p:spPr>
        <p:txBody>
          <a:bodyPr rtlCol="0" anchor="ctr" lIns="0" rIns="0" tIns="0" bIns="0"/>
          <a:lstStyle/>
          <a:p>
            <a:pPr algn="ctr"/>
          </a:p>
        </p:txBody>
      </p:sp>
      <p:sp>
        <p:nvSpPr>
          <p:cNvPr id="32" name="Rectangle 31"/>
          <p:cNvSpPr/>
          <p:nvPr/>
        </p:nvSpPr>
        <p:spPr>
          <a:xfrm>
            <a:off x="9055100" y="2654300"/>
            <a:ext cx="2730500" cy="19050"/>
          </a:xfrm>
          <a:prstGeom prst="rect">
            <a:avLst/>
          </a:prstGeom>
          <a:solidFill>
            <a:srgbClr val="8E0000"/>
          </a:solidFill>
          <a:ln>
            <a:noFill/>
          </a:ln>
        </p:spPr>
        <p:txBody>
          <a:bodyPr rtlCol="0" anchor="ctr" lIns="0" rIns="0" tIns="0" bIns="0"/>
          <a:lstStyle/>
          <a:p>
            <a:pPr algn="ctr"/>
          </a:p>
        </p:txBody>
      </p:sp>
      <p:sp>
        <p:nvSpPr>
          <p:cNvPr id="33" name="Rectangle 32"/>
          <p:cNvSpPr/>
          <p:nvPr/>
        </p:nvSpPr>
        <p:spPr>
          <a:xfrm>
            <a:off x="9194800" y="2755900"/>
            <a:ext cx="888810" cy="177800"/>
          </a:xfrm>
          <a:prstGeom prst="rect">
            <a:avLst/>
          </a:prstGeom>
          <a:solidFill>
            <a:srgbClr val="FFFFFF"/>
          </a:solidFill>
          <a:ln w="6350">
            <a:solidFill>
              <a:srgbClr val="8E0000"/>
            </a:solidFill>
            <a:round/>
          </a:ln>
        </p:spPr>
        <p:txBody>
          <a:bodyPr rtlCol="0" anchor="ctr" lIns="0" rIns="0" tIns="0" bIns="0" wrap="none">
            <a:noAutofit/>
          </a:bodyPr>
          <a:lstStyle/>
          <a:p>
            <a:pPr algn="ctr" marL="0" indent="0">
              <a:lnSpc>
                <a:spcPts val="1050"/>
              </a:lnSpc>
              <a:buNone/>
            </a:pPr>
            <a:r>
              <a:rPr lang="zh-CN" altLang="en-US" sz="800" b="1">
                <a:solidFill>
                  <a:srgbClr val="8E0000"/>
                </a:solidFill>
                <a:latin typeface="微软雅黑"/>
                <a:ea typeface="微软雅黑"/>
                <a:cs typeface="微软雅黑"/>
              </a:rPr>
              <a:t>子任务 4 组 · ④</a:t>
            </a:r>
          </a:p>
        </p:txBody>
      </p:sp>
      <p:sp>
        <p:nvSpPr>
          <p:cNvPr id="34" name="TextBox 33"/>
          <p:cNvSpPr txBox="1"/>
          <p:nvPr/>
        </p:nvSpPr>
        <p:spPr>
          <a:xfrm>
            <a:off x="9194800" y="2971800"/>
            <a:ext cx="2451100" cy="190500"/>
          </a:xfrm>
          <a:prstGeom prst="rect">
            <a:avLst/>
          </a:prstGeom>
          <a:noFill/>
        </p:spPr>
        <p:txBody>
          <a:bodyPr wrap="none" anchor="t"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架构融合与协同运行</a:t>
            </a:r>
          </a:p>
        </p:txBody>
      </p:sp>
      <p:sp>
        <p:nvSpPr>
          <p:cNvPr id="35" name="TextBox 34"/>
          <p:cNvSpPr txBox="1"/>
          <p:nvPr/>
        </p:nvSpPr>
        <p:spPr>
          <a:xfrm>
            <a:off x="9194800" y="3187700"/>
            <a:ext cx="2451100" cy="165100"/>
          </a:xfrm>
          <a:prstGeom prst="rect">
            <a:avLst/>
          </a:prstGeom>
          <a:noFill/>
        </p:spPr>
        <p:txBody>
          <a:bodyPr wrap="none" anchor="t" lIns="0" tIns="0" rIns="0" bIns="0">
            <a:noAutofit/>
          </a:bodyPr>
          <a:lstStyle/>
          <a:p>
            <a:pPr algn="l" marL="0" indent="0">
              <a:lnSpc>
                <a:spcPts val="1200"/>
              </a:lnSpc>
              <a:buNone/>
            </a:pPr>
            <a:r>
              <a:rPr lang="zh-CN" altLang="en-US" sz="850" b="1">
                <a:solidFill>
                  <a:srgbClr val="1A1A1A"/>
                </a:solidFill>
                <a:latin typeface="微软雅黑"/>
                <a:ea typeface="微软雅黑"/>
                <a:cs typeface="微软雅黑"/>
              </a:rPr>
              <a:t>交付</a:t>
            </a:r>
            <a:r>
              <a:rPr lang="zh-CN" altLang="en-US" sz="850" b="0">
                <a:solidFill>
                  <a:srgbClr val="666666"/>
                </a:solidFill>
                <a:latin typeface="微软雅黑"/>
                <a:ea typeface="微软雅黑"/>
                <a:cs typeface="微软雅黑"/>
              </a:rPr>
              <a:t>　数字样机、方法体系与规范</a:t>
            </a:r>
          </a:p>
        </p:txBody>
      </p:sp>
      <p:sp>
        <p:nvSpPr>
          <p:cNvPr id="36" name="TextBox 35"/>
          <p:cNvSpPr txBox="1"/>
          <p:nvPr/>
        </p:nvSpPr>
        <p:spPr>
          <a:xfrm>
            <a:off x="406400" y="3594100"/>
            <a:ext cx="56134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项目管理流程</a:t>
            </a:r>
          </a:p>
        </p:txBody>
      </p:sp>
      <p:sp>
        <p:nvSpPr>
          <p:cNvPr id="37" name="Rectangle 36"/>
          <p:cNvSpPr/>
          <p:nvPr/>
        </p:nvSpPr>
        <p:spPr>
          <a:xfrm>
            <a:off x="406400" y="4597400"/>
            <a:ext cx="1289050" cy="1752600"/>
          </a:xfrm>
          <a:prstGeom prst="rect">
            <a:avLst/>
          </a:prstGeom>
          <a:solidFill>
            <a:srgbClr val="FFFFFF"/>
          </a:solidFill>
          <a:ln w="6350">
            <a:solidFill>
              <a:srgbClr val="E9E9E9"/>
            </a:solidFill>
            <a:round/>
          </a:ln>
        </p:spPr>
        <p:txBody>
          <a:bodyPr rtlCol="0" anchor="ctr" lIns="0" rIns="0" tIns="0" bIns="0"/>
          <a:lstStyle/>
          <a:p>
            <a:pPr algn="ctr"/>
          </a:p>
        </p:txBody>
      </p:sp>
      <p:sp>
        <p:nvSpPr>
          <p:cNvPr id="38" name="Rectangle 37"/>
          <p:cNvSpPr/>
          <p:nvPr/>
        </p:nvSpPr>
        <p:spPr>
          <a:xfrm>
            <a:off x="406400" y="4597400"/>
            <a:ext cx="1289050" cy="19050"/>
          </a:xfrm>
          <a:prstGeom prst="rect">
            <a:avLst/>
          </a:prstGeom>
          <a:solidFill>
            <a:srgbClr val="C00000"/>
          </a:solidFill>
          <a:ln>
            <a:noFill/>
          </a:ln>
        </p:spPr>
        <p:txBody>
          <a:bodyPr rtlCol="0" anchor="ctr" lIns="0" rIns="0" tIns="0" bIns="0"/>
          <a:lstStyle/>
          <a:p>
            <a:pPr algn="ctr"/>
          </a:p>
        </p:txBody>
      </p:sp>
      <p:sp>
        <p:nvSpPr>
          <p:cNvPr id="39" name="TextBox 38"/>
          <p:cNvSpPr txBox="1"/>
          <p:nvPr/>
        </p:nvSpPr>
        <p:spPr>
          <a:xfrm>
            <a:off x="546100" y="4724400"/>
            <a:ext cx="1009650" cy="203200"/>
          </a:xfrm>
          <a:prstGeom prst="rect">
            <a:avLst/>
          </a:prstGeom>
          <a:noFill/>
        </p:spPr>
        <p:txBody>
          <a:bodyPr wrap="none" anchor="t"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双周例会</a:t>
            </a:r>
          </a:p>
        </p:txBody>
      </p:sp>
      <p:sp>
        <p:nvSpPr>
          <p:cNvPr id="40" name="TextBox 39"/>
          <p:cNvSpPr txBox="1"/>
          <p:nvPr/>
        </p:nvSpPr>
        <p:spPr>
          <a:xfrm>
            <a:off x="546100" y="4991100"/>
            <a:ext cx="1035050" cy="355600"/>
          </a:xfrm>
          <a:prstGeom prst="rect">
            <a:avLst/>
          </a:prstGeom>
          <a:noFill/>
        </p:spPr>
        <p:txBody>
          <a:bodyPr wrap="square" anchor="t" lIns="0" tIns="0" rIns="0" bIns="0">
            <a:noAutofit/>
          </a:bodyPr>
          <a:lstStyle/>
          <a:p>
            <a:pPr algn="l" marL="0" indent="0">
              <a:lnSpc>
                <a:spcPts val="1300"/>
              </a:lnSpc>
              <a:buNone/>
            </a:pPr>
            <a:r>
              <a:rPr lang="zh-CN" altLang="en-US" sz="900" b="0">
                <a:solidFill>
                  <a:srgbClr val="666666"/>
                </a:solidFill>
                <a:latin typeface="微软雅黑"/>
                <a:ea typeface="微软雅黑"/>
                <a:cs typeface="微软雅黑"/>
              </a:rPr>
              <a:t>进展同步</a:t>
            </a:r>
            <a:br>
              <a:rPr lang="zh-CN" altLang="en-US" sz="900"/>
            </a:br>
            <a:r>
              <a:rPr lang="zh-CN" altLang="en-US" sz="900" b="0">
                <a:solidFill>
                  <a:srgbClr val="666666"/>
                </a:solidFill>
                <a:latin typeface="微软雅黑"/>
                <a:ea typeface="微软雅黑"/>
                <a:cs typeface="微软雅黑"/>
              </a:rPr>
              <a:t>问题协调</a:t>
            </a:r>
          </a:p>
        </p:txBody>
      </p:sp>
      <p:sp>
        <p:nvSpPr>
          <p:cNvPr id="41" name="Rectangle 40"/>
          <p:cNvSpPr/>
          <p:nvPr/>
        </p:nvSpPr>
        <p:spPr>
          <a:xfrm>
            <a:off x="1847850" y="4368800"/>
            <a:ext cx="1289050" cy="1981200"/>
          </a:xfrm>
          <a:prstGeom prst="rect">
            <a:avLst/>
          </a:prstGeom>
          <a:solidFill>
            <a:srgbClr val="FFFFFF"/>
          </a:solidFill>
          <a:ln w="6350">
            <a:solidFill>
              <a:srgbClr val="E9E9E9"/>
            </a:solidFill>
            <a:round/>
          </a:ln>
        </p:spPr>
        <p:txBody>
          <a:bodyPr rtlCol="0" anchor="ctr" lIns="0" rIns="0" tIns="0" bIns="0"/>
          <a:lstStyle/>
          <a:p>
            <a:pPr algn="ctr"/>
          </a:p>
        </p:txBody>
      </p:sp>
      <p:sp>
        <p:nvSpPr>
          <p:cNvPr id="42" name="Rectangle 41"/>
          <p:cNvSpPr/>
          <p:nvPr/>
        </p:nvSpPr>
        <p:spPr>
          <a:xfrm>
            <a:off x="1847850" y="4368800"/>
            <a:ext cx="1289050" cy="19050"/>
          </a:xfrm>
          <a:prstGeom prst="rect">
            <a:avLst/>
          </a:prstGeom>
          <a:solidFill>
            <a:srgbClr val="C00000"/>
          </a:solidFill>
          <a:ln>
            <a:noFill/>
          </a:ln>
        </p:spPr>
        <p:txBody>
          <a:bodyPr rtlCol="0" anchor="ctr" lIns="0" rIns="0" tIns="0" bIns="0"/>
          <a:lstStyle/>
          <a:p>
            <a:pPr algn="ctr"/>
          </a:p>
        </p:txBody>
      </p:sp>
      <p:sp>
        <p:nvSpPr>
          <p:cNvPr id="43" name="TextBox 42"/>
          <p:cNvSpPr txBox="1"/>
          <p:nvPr/>
        </p:nvSpPr>
        <p:spPr>
          <a:xfrm>
            <a:off x="1987550" y="4495800"/>
            <a:ext cx="1009650" cy="203200"/>
          </a:xfrm>
          <a:prstGeom prst="rect">
            <a:avLst/>
          </a:prstGeom>
          <a:noFill/>
        </p:spPr>
        <p:txBody>
          <a:bodyPr wrap="none" anchor="t"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月度节点检查</a:t>
            </a:r>
          </a:p>
        </p:txBody>
      </p:sp>
      <p:sp>
        <p:nvSpPr>
          <p:cNvPr id="44" name="TextBox 43"/>
          <p:cNvSpPr txBox="1"/>
          <p:nvPr/>
        </p:nvSpPr>
        <p:spPr>
          <a:xfrm>
            <a:off x="1987550" y="4762500"/>
            <a:ext cx="1035050" cy="355600"/>
          </a:xfrm>
          <a:prstGeom prst="rect">
            <a:avLst/>
          </a:prstGeom>
          <a:noFill/>
        </p:spPr>
        <p:txBody>
          <a:bodyPr wrap="square" anchor="t" lIns="0" tIns="0" rIns="0" bIns="0">
            <a:noAutofit/>
          </a:bodyPr>
          <a:lstStyle/>
          <a:p>
            <a:pPr algn="l" marL="0" indent="0">
              <a:lnSpc>
                <a:spcPts val="1300"/>
              </a:lnSpc>
              <a:buNone/>
            </a:pPr>
            <a:r>
              <a:rPr lang="zh-CN" altLang="en-US" sz="900" b="0">
                <a:solidFill>
                  <a:srgbClr val="666666"/>
                </a:solidFill>
                <a:latin typeface="微软雅黑"/>
                <a:ea typeface="微软雅黑"/>
                <a:cs typeface="微软雅黑"/>
              </a:rPr>
              <a:t>对照里程碑</a:t>
            </a:r>
            <a:br>
              <a:rPr lang="zh-CN" altLang="en-US" sz="900"/>
            </a:br>
            <a:r>
              <a:rPr lang="zh-CN" altLang="en-US" sz="900" b="0">
                <a:solidFill>
                  <a:srgbClr val="666666"/>
                </a:solidFill>
                <a:latin typeface="微软雅黑"/>
                <a:ea typeface="微软雅黑"/>
                <a:cs typeface="微软雅黑"/>
              </a:rPr>
              <a:t>核查交付物</a:t>
            </a:r>
          </a:p>
        </p:txBody>
      </p:sp>
      <p:sp>
        <p:nvSpPr>
          <p:cNvPr id="45" name="Rectangle 44"/>
          <p:cNvSpPr/>
          <p:nvPr/>
        </p:nvSpPr>
        <p:spPr>
          <a:xfrm>
            <a:off x="3289300" y="4140200"/>
            <a:ext cx="1289050" cy="2209800"/>
          </a:xfrm>
          <a:prstGeom prst="rect">
            <a:avLst/>
          </a:prstGeom>
          <a:solidFill>
            <a:srgbClr val="FFFFFF"/>
          </a:solidFill>
          <a:ln w="6350">
            <a:solidFill>
              <a:srgbClr val="E9E9E9"/>
            </a:solidFill>
            <a:round/>
          </a:ln>
        </p:spPr>
        <p:txBody>
          <a:bodyPr rtlCol="0" anchor="ctr" lIns="0" rIns="0" tIns="0" bIns="0"/>
          <a:lstStyle/>
          <a:p>
            <a:pPr algn="ctr"/>
          </a:p>
        </p:txBody>
      </p:sp>
      <p:sp>
        <p:nvSpPr>
          <p:cNvPr id="46" name="Rectangle 45"/>
          <p:cNvSpPr/>
          <p:nvPr/>
        </p:nvSpPr>
        <p:spPr>
          <a:xfrm>
            <a:off x="3289300" y="4140200"/>
            <a:ext cx="1289050" cy="19050"/>
          </a:xfrm>
          <a:prstGeom prst="rect">
            <a:avLst/>
          </a:prstGeom>
          <a:solidFill>
            <a:srgbClr val="C00000"/>
          </a:solidFill>
          <a:ln>
            <a:noFill/>
          </a:ln>
        </p:spPr>
        <p:txBody>
          <a:bodyPr rtlCol="0" anchor="ctr" lIns="0" rIns="0" tIns="0" bIns="0"/>
          <a:lstStyle/>
          <a:p>
            <a:pPr algn="ctr"/>
          </a:p>
        </p:txBody>
      </p:sp>
      <p:sp>
        <p:nvSpPr>
          <p:cNvPr id="47" name="TextBox 46"/>
          <p:cNvSpPr txBox="1"/>
          <p:nvPr/>
        </p:nvSpPr>
        <p:spPr>
          <a:xfrm>
            <a:off x="3429000" y="4267200"/>
            <a:ext cx="1009650" cy="203200"/>
          </a:xfrm>
          <a:prstGeom prst="rect">
            <a:avLst/>
          </a:prstGeom>
          <a:noFill/>
        </p:spPr>
        <p:txBody>
          <a:bodyPr wrap="none" anchor="t"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季度评审</a:t>
            </a:r>
          </a:p>
        </p:txBody>
      </p:sp>
      <p:sp>
        <p:nvSpPr>
          <p:cNvPr id="48" name="TextBox 47"/>
          <p:cNvSpPr txBox="1"/>
          <p:nvPr/>
        </p:nvSpPr>
        <p:spPr>
          <a:xfrm>
            <a:off x="3429000" y="4533900"/>
            <a:ext cx="1035050" cy="355600"/>
          </a:xfrm>
          <a:prstGeom prst="rect">
            <a:avLst/>
          </a:prstGeom>
          <a:noFill/>
        </p:spPr>
        <p:txBody>
          <a:bodyPr wrap="square" anchor="t" lIns="0" tIns="0" rIns="0" bIns="0">
            <a:noAutofit/>
          </a:bodyPr>
          <a:lstStyle/>
          <a:p>
            <a:pPr algn="l" marL="0" indent="0">
              <a:lnSpc>
                <a:spcPts val="1300"/>
              </a:lnSpc>
              <a:buNone/>
            </a:pPr>
            <a:r>
              <a:rPr lang="zh-CN" altLang="en-US" sz="900" b="0">
                <a:solidFill>
                  <a:srgbClr val="666666"/>
                </a:solidFill>
                <a:latin typeface="微软雅黑"/>
                <a:ea typeface="微软雅黑"/>
                <a:cs typeface="微软雅黑"/>
              </a:rPr>
              <a:t>方案评审</a:t>
            </a:r>
            <a:br>
              <a:rPr lang="zh-CN" altLang="en-US" sz="900"/>
            </a:br>
            <a:r>
              <a:rPr lang="zh-CN" altLang="en-US" sz="900" b="0">
                <a:solidFill>
                  <a:srgbClr val="666666"/>
                </a:solidFill>
                <a:latin typeface="微软雅黑"/>
                <a:ea typeface="微软雅黑"/>
                <a:cs typeface="微软雅黑"/>
              </a:rPr>
              <a:t>成果确认</a:t>
            </a:r>
          </a:p>
        </p:txBody>
      </p:sp>
      <p:sp>
        <p:nvSpPr>
          <p:cNvPr id="49" name="Rectangle 48"/>
          <p:cNvSpPr/>
          <p:nvPr/>
        </p:nvSpPr>
        <p:spPr>
          <a:xfrm>
            <a:off x="4730750" y="3911600"/>
            <a:ext cx="1289050" cy="2438400"/>
          </a:xfrm>
          <a:prstGeom prst="rect">
            <a:avLst/>
          </a:prstGeom>
          <a:solidFill>
            <a:srgbClr val="FFFFFF"/>
          </a:solidFill>
          <a:ln w="6350">
            <a:solidFill>
              <a:srgbClr val="E9E9E9"/>
            </a:solidFill>
            <a:round/>
          </a:ln>
        </p:spPr>
        <p:txBody>
          <a:bodyPr rtlCol="0" anchor="ctr" lIns="0" rIns="0" tIns="0" bIns="0"/>
          <a:lstStyle/>
          <a:p>
            <a:pPr algn="ctr"/>
          </a:p>
        </p:txBody>
      </p:sp>
      <p:sp>
        <p:nvSpPr>
          <p:cNvPr id="50" name="Rectangle 49"/>
          <p:cNvSpPr/>
          <p:nvPr/>
        </p:nvSpPr>
        <p:spPr>
          <a:xfrm>
            <a:off x="4730750" y="3911600"/>
            <a:ext cx="1289050" cy="19050"/>
          </a:xfrm>
          <a:prstGeom prst="rect">
            <a:avLst/>
          </a:prstGeom>
          <a:solidFill>
            <a:srgbClr val="C00000"/>
          </a:solidFill>
          <a:ln>
            <a:noFill/>
          </a:ln>
        </p:spPr>
        <p:txBody>
          <a:bodyPr rtlCol="0" anchor="ctr" lIns="0" rIns="0" tIns="0" bIns="0"/>
          <a:lstStyle/>
          <a:p>
            <a:pPr algn="ctr"/>
          </a:p>
        </p:txBody>
      </p:sp>
      <p:sp>
        <p:nvSpPr>
          <p:cNvPr id="51" name="TextBox 50"/>
          <p:cNvSpPr txBox="1"/>
          <p:nvPr/>
        </p:nvSpPr>
        <p:spPr>
          <a:xfrm>
            <a:off x="4870450" y="4038600"/>
            <a:ext cx="1009650" cy="203200"/>
          </a:xfrm>
          <a:prstGeom prst="rect">
            <a:avLst/>
          </a:prstGeom>
          <a:noFill/>
        </p:spPr>
        <p:txBody>
          <a:bodyPr wrap="none" anchor="t"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年度总结</a:t>
            </a:r>
          </a:p>
        </p:txBody>
      </p:sp>
      <p:sp>
        <p:nvSpPr>
          <p:cNvPr id="52" name="TextBox 51"/>
          <p:cNvSpPr txBox="1"/>
          <p:nvPr/>
        </p:nvSpPr>
        <p:spPr>
          <a:xfrm>
            <a:off x="4870450" y="4305300"/>
            <a:ext cx="1035050" cy="355600"/>
          </a:xfrm>
          <a:prstGeom prst="rect">
            <a:avLst/>
          </a:prstGeom>
          <a:noFill/>
        </p:spPr>
        <p:txBody>
          <a:bodyPr wrap="square" anchor="t" lIns="0" tIns="0" rIns="0" bIns="0">
            <a:noAutofit/>
          </a:bodyPr>
          <a:lstStyle/>
          <a:p>
            <a:pPr algn="l" marL="0" indent="0">
              <a:lnSpc>
                <a:spcPts val="1300"/>
              </a:lnSpc>
              <a:buNone/>
            </a:pPr>
            <a:r>
              <a:rPr lang="zh-CN" altLang="en-US" sz="900" b="0">
                <a:solidFill>
                  <a:srgbClr val="666666"/>
                </a:solidFill>
                <a:latin typeface="微软雅黑"/>
                <a:ea typeface="微软雅黑"/>
                <a:cs typeface="微软雅黑"/>
              </a:rPr>
              <a:t>目标评估</a:t>
            </a:r>
            <a:br>
              <a:rPr lang="zh-CN" altLang="en-US" sz="900"/>
            </a:br>
            <a:r>
              <a:rPr lang="zh-CN" altLang="en-US" sz="900" b="0">
                <a:solidFill>
                  <a:srgbClr val="666666"/>
                </a:solidFill>
                <a:latin typeface="微软雅黑"/>
                <a:ea typeface="微软雅黑"/>
                <a:cs typeface="微软雅黑"/>
              </a:rPr>
              <a:t>计划调整</a:t>
            </a:r>
          </a:p>
        </p:txBody>
      </p:sp>
      <p:sp>
        <p:nvSpPr>
          <p:cNvPr id="53" name="TextBox 52"/>
          <p:cNvSpPr txBox="1"/>
          <p:nvPr/>
        </p:nvSpPr>
        <p:spPr>
          <a:xfrm>
            <a:off x="6172200" y="3594100"/>
            <a:ext cx="56134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时间安排与执行保障</a:t>
            </a:r>
          </a:p>
        </p:txBody>
      </p:sp>
      <p:sp>
        <p:nvSpPr>
          <p:cNvPr id="54" name="Rectangle 53"/>
          <p:cNvSpPr/>
          <p:nvPr/>
        </p:nvSpPr>
        <p:spPr>
          <a:xfrm>
            <a:off x="6172200" y="3911600"/>
            <a:ext cx="1397000" cy="279400"/>
          </a:xfrm>
          <a:prstGeom prst="rect">
            <a:avLst/>
          </a:prstGeom>
          <a:solidFill>
            <a:srgbClr val="EBA8A8"/>
          </a:solidFill>
          <a:ln>
            <a:noFill/>
          </a:ln>
        </p:spPr>
        <p:txBody>
          <a:bodyPr rtlCol="0" anchor="ctr" lIns="0" rIns="0" tIns="0" bIns="0" wrap="none">
            <a:noAutofit/>
          </a:bodyPr>
          <a:lstStyle/>
          <a:p>
            <a:pPr algn="ctr" marL="0" indent="0">
              <a:lnSpc>
                <a:spcPts val="1200"/>
              </a:lnSpc>
              <a:buNone/>
            </a:pPr>
            <a:r>
              <a:rPr lang="zh-CN" altLang="en-US" sz="850" b="1">
                <a:solidFill>
                  <a:srgbClr val="1A1A1A"/>
                </a:solidFill>
                <a:latin typeface="微软雅黑"/>
                <a:ea typeface="微软雅黑"/>
                <a:cs typeface="微软雅黑"/>
              </a:rPr>
              <a:t>阶段一</a:t>
            </a:r>
          </a:p>
        </p:txBody>
      </p:sp>
      <p:sp>
        <p:nvSpPr>
          <p:cNvPr id="55" name="TextBox 54"/>
          <p:cNvSpPr txBox="1"/>
          <p:nvPr/>
        </p:nvSpPr>
        <p:spPr>
          <a:xfrm>
            <a:off x="6362700" y="4241800"/>
            <a:ext cx="1016000" cy="152400"/>
          </a:xfrm>
          <a:prstGeom prst="rect">
            <a:avLst/>
          </a:prstGeom>
          <a:noFill/>
        </p:spPr>
        <p:txBody>
          <a:bodyPr wrap="none" anchor="t" lIns="0" tIns="0" rIns="0" bIns="0">
            <a:noAutofit/>
          </a:bodyPr>
          <a:lstStyle/>
          <a:p>
            <a:pPr algn="ctr" marL="0" indent="0">
              <a:lnSpc>
                <a:spcPts val="1100"/>
              </a:lnSpc>
              <a:buNone/>
            </a:pPr>
            <a:r>
              <a:rPr lang="zh-CN" altLang="en-US" sz="800" b="1">
                <a:solidFill>
                  <a:srgbClr val="C00000"/>
                </a:solidFill>
                <a:latin typeface="微软雅黑"/>
                <a:ea typeface="微软雅黑"/>
                <a:cs typeface="微软雅黑"/>
              </a:rPr>
              <a:t>M1 · 2027.06</a:t>
            </a:r>
          </a:p>
        </p:txBody>
      </p:sp>
      <p:sp>
        <p:nvSpPr>
          <p:cNvPr id="56" name="Rectangle 55"/>
          <p:cNvSpPr/>
          <p:nvPr/>
        </p:nvSpPr>
        <p:spPr>
          <a:xfrm>
            <a:off x="7581900" y="3911600"/>
            <a:ext cx="2092325" cy="279400"/>
          </a:xfrm>
          <a:prstGeom prst="rect">
            <a:avLst/>
          </a:prstGeom>
          <a:solidFill>
            <a:srgbClr val="D86060"/>
          </a:solidFill>
          <a:ln>
            <a:noFill/>
          </a:ln>
        </p:spPr>
        <p:txBody>
          <a:bodyPr rtlCol="0" anchor="ctr" lIns="0" rIns="0" tIns="0" bIns="0" wrap="none">
            <a:noAutofit/>
          </a:bodyPr>
          <a:lstStyle/>
          <a:p>
            <a:pPr algn="ctr" marL="0" indent="0">
              <a:lnSpc>
                <a:spcPts val="1200"/>
              </a:lnSpc>
              <a:buNone/>
            </a:pPr>
            <a:r>
              <a:rPr lang="zh-CN" altLang="en-US" sz="850" b="1">
                <a:solidFill>
                  <a:srgbClr val="1A1A1A"/>
                </a:solidFill>
                <a:latin typeface="微软雅黑"/>
                <a:ea typeface="微软雅黑"/>
                <a:cs typeface="微软雅黑"/>
              </a:rPr>
              <a:t>阶段二</a:t>
            </a:r>
          </a:p>
        </p:txBody>
      </p:sp>
      <p:sp>
        <p:nvSpPr>
          <p:cNvPr id="57" name="TextBox 56"/>
          <p:cNvSpPr txBox="1"/>
          <p:nvPr/>
        </p:nvSpPr>
        <p:spPr>
          <a:xfrm>
            <a:off x="8120062" y="4241800"/>
            <a:ext cx="1016000" cy="152400"/>
          </a:xfrm>
          <a:prstGeom prst="rect">
            <a:avLst/>
          </a:prstGeom>
          <a:noFill/>
        </p:spPr>
        <p:txBody>
          <a:bodyPr wrap="none" anchor="t" lIns="0" tIns="0" rIns="0" bIns="0">
            <a:noAutofit/>
          </a:bodyPr>
          <a:lstStyle/>
          <a:p>
            <a:pPr algn="ctr" marL="0" indent="0">
              <a:lnSpc>
                <a:spcPts val="1100"/>
              </a:lnSpc>
              <a:buNone/>
            </a:pPr>
            <a:r>
              <a:rPr lang="zh-CN" altLang="en-US" sz="800" b="1">
                <a:solidFill>
                  <a:srgbClr val="C00000"/>
                </a:solidFill>
                <a:latin typeface="微软雅黑"/>
                <a:ea typeface="微软雅黑"/>
                <a:cs typeface="微软雅黑"/>
              </a:rPr>
              <a:t>M2 · 2028.03</a:t>
            </a:r>
          </a:p>
        </p:txBody>
      </p:sp>
      <p:sp>
        <p:nvSpPr>
          <p:cNvPr id="58" name="Rectangle 57"/>
          <p:cNvSpPr/>
          <p:nvPr/>
        </p:nvSpPr>
        <p:spPr>
          <a:xfrm>
            <a:off x="9686925" y="3911600"/>
            <a:ext cx="1390650" cy="279400"/>
          </a:xfrm>
          <a:prstGeom prst="rect">
            <a:avLst/>
          </a:prstGeom>
          <a:solidFill>
            <a:srgbClr val="C00000"/>
          </a:solidFill>
          <a:ln>
            <a:noFill/>
          </a:ln>
        </p:spPr>
        <p:txBody>
          <a:bodyPr rtlCol="0" anchor="ctr" lIns="0" rIns="0" tIns="0" bIns="0" wrap="none">
            <a:noAutofit/>
          </a:bodyPr>
          <a:lstStyle/>
          <a:p>
            <a:pPr algn="ctr" marL="0" indent="0">
              <a:lnSpc>
                <a:spcPts val="1200"/>
              </a:lnSpc>
              <a:buNone/>
            </a:pPr>
            <a:r>
              <a:rPr lang="zh-CN" altLang="en-US" sz="850" b="1">
                <a:solidFill>
                  <a:srgbClr val="FFFFFF"/>
                </a:solidFill>
                <a:latin typeface="微软雅黑"/>
                <a:ea typeface="微软雅黑"/>
                <a:cs typeface="微软雅黑"/>
              </a:rPr>
              <a:t>阶段三</a:t>
            </a:r>
          </a:p>
        </p:txBody>
      </p:sp>
      <p:sp>
        <p:nvSpPr>
          <p:cNvPr id="59" name="TextBox 58"/>
          <p:cNvSpPr txBox="1"/>
          <p:nvPr/>
        </p:nvSpPr>
        <p:spPr>
          <a:xfrm>
            <a:off x="9874250" y="4241800"/>
            <a:ext cx="1016000" cy="152400"/>
          </a:xfrm>
          <a:prstGeom prst="rect">
            <a:avLst/>
          </a:prstGeom>
          <a:noFill/>
        </p:spPr>
        <p:txBody>
          <a:bodyPr wrap="none" anchor="t" lIns="0" tIns="0" rIns="0" bIns="0">
            <a:noAutofit/>
          </a:bodyPr>
          <a:lstStyle/>
          <a:p>
            <a:pPr algn="ctr" marL="0" indent="0">
              <a:lnSpc>
                <a:spcPts val="1100"/>
              </a:lnSpc>
              <a:buNone/>
            </a:pPr>
            <a:r>
              <a:rPr lang="zh-CN" altLang="en-US" sz="800" b="1">
                <a:solidFill>
                  <a:srgbClr val="C00000"/>
                </a:solidFill>
                <a:latin typeface="微软雅黑"/>
                <a:ea typeface="微软雅黑"/>
                <a:cs typeface="微软雅黑"/>
              </a:rPr>
              <a:t>M3 · 2028.09</a:t>
            </a:r>
          </a:p>
        </p:txBody>
      </p:sp>
      <p:sp>
        <p:nvSpPr>
          <p:cNvPr id="60" name="Rectangle 59"/>
          <p:cNvSpPr/>
          <p:nvPr/>
        </p:nvSpPr>
        <p:spPr>
          <a:xfrm>
            <a:off x="11090275" y="3911600"/>
            <a:ext cx="695325" cy="279400"/>
          </a:xfrm>
          <a:prstGeom prst="rect">
            <a:avLst/>
          </a:prstGeom>
          <a:solidFill>
            <a:srgbClr val="8E0000"/>
          </a:solidFill>
          <a:ln>
            <a:noFill/>
          </a:ln>
        </p:spPr>
        <p:txBody>
          <a:bodyPr rtlCol="0" anchor="ctr" lIns="0" rIns="0" tIns="0" bIns="0" wrap="none">
            <a:noAutofit/>
          </a:bodyPr>
          <a:lstStyle/>
          <a:p>
            <a:pPr algn="ctr" marL="0" indent="0">
              <a:lnSpc>
                <a:spcPts val="1200"/>
              </a:lnSpc>
              <a:buNone/>
            </a:pPr>
            <a:r>
              <a:rPr lang="zh-CN" altLang="en-US" sz="850" b="1">
                <a:solidFill>
                  <a:srgbClr val="FFFFFF"/>
                </a:solidFill>
                <a:latin typeface="微软雅黑"/>
                <a:ea typeface="微软雅黑"/>
                <a:cs typeface="微软雅黑"/>
              </a:rPr>
              <a:t>阶段四</a:t>
            </a:r>
          </a:p>
        </p:txBody>
      </p:sp>
      <p:sp>
        <p:nvSpPr>
          <p:cNvPr id="61" name="TextBox 60"/>
          <p:cNvSpPr txBox="1"/>
          <p:nvPr/>
        </p:nvSpPr>
        <p:spPr>
          <a:xfrm>
            <a:off x="10908689" y="4241800"/>
            <a:ext cx="1016000" cy="152400"/>
          </a:xfrm>
          <a:prstGeom prst="rect">
            <a:avLst/>
          </a:prstGeom>
          <a:noFill/>
        </p:spPr>
        <p:txBody>
          <a:bodyPr wrap="none" anchor="t" lIns="0" tIns="0" rIns="0" bIns="0">
            <a:noAutofit/>
          </a:bodyPr>
          <a:lstStyle/>
          <a:p>
            <a:pPr algn="ctr" marL="0" indent="0">
              <a:lnSpc>
                <a:spcPts val="1100"/>
              </a:lnSpc>
              <a:buNone/>
            </a:pPr>
            <a:r>
              <a:rPr lang="zh-CN" altLang="en-US" sz="800" b="1">
                <a:solidFill>
                  <a:srgbClr val="C00000"/>
                </a:solidFill>
                <a:latin typeface="微软雅黑"/>
                <a:ea typeface="微软雅黑"/>
                <a:cs typeface="微软雅黑"/>
              </a:rPr>
              <a:t>M4 · 2028.12</a:t>
            </a:r>
          </a:p>
        </p:txBody>
      </p:sp>
      <p:cxnSp>
        <p:nvCxnSpPr>
          <p:cNvPr id="62" name="Connector 61"/>
          <p:cNvCxnSpPr/>
          <p:nvPr/>
        </p:nvCxnSpPr>
        <p:spPr>
          <a:xfrm>
            <a:off x="6172200" y="4470400"/>
            <a:ext cx="5613400" cy="0"/>
          </a:xfrm>
          <a:prstGeom prst="line">
            <a:avLst/>
          </a:prstGeom>
          <a:ln w="6350">
            <a:solidFill>
              <a:srgbClr val="E9E9E9"/>
            </a:solidFill>
            <a:round/>
          </a:ln>
        </p:spPr>
      </p:cxnSp>
      <p:pic>
        <p:nvPicPr>
          <p:cNvPr id="63" name="Picture 62" descr="shield-check-1A1A1A-1_6.png"/>
          <p:cNvPicPr>
            <a:picLocks noChangeAspect="1"/>
          </p:cNvPicPr>
          <p:nvPr/>
        </p:nvPicPr>
        <p:blipFill>
          <a:blip r:embed="rId3"/>
          <a:stretch>
            <a:fillRect/>
          </a:stretch>
        </p:blipFill>
        <p:spPr>
          <a:xfrm>
            <a:off x="6172200" y="4634442"/>
            <a:ext cx="165100" cy="165100"/>
          </a:xfrm>
          <a:prstGeom prst="rect">
            <a:avLst/>
          </a:prstGeom>
        </p:spPr>
      </p:pic>
      <p:sp>
        <p:nvSpPr>
          <p:cNvPr id="64" name="TextBox 63"/>
          <p:cNvSpPr txBox="1"/>
          <p:nvPr/>
        </p:nvSpPr>
        <p:spPr>
          <a:xfrm>
            <a:off x="6413500" y="4628092"/>
            <a:ext cx="1270000" cy="190500"/>
          </a:xfrm>
          <a:prstGeom prst="rect">
            <a:avLst/>
          </a:prstGeom>
          <a:noFill/>
        </p:spPr>
        <p:txBody>
          <a:bodyPr wrap="none" anchor="t" lIns="0" tIns="0" rIns="0" bIns="0">
            <a:noAutofit/>
          </a:bodyPr>
          <a:lstStyle/>
          <a:p>
            <a:pPr algn="l" marL="0" indent="0">
              <a:lnSpc>
                <a:spcPts val="1350"/>
              </a:lnSpc>
              <a:buNone/>
            </a:pPr>
            <a:r>
              <a:rPr lang="zh-CN" altLang="en-US" sz="950" b="1">
                <a:solidFill>
                  <a:srgbClr val="1A1A1A"/>
                </a:solidFill>
                <a:latin typeface="微软雅黑"/>
                <a:ea typeface="微软雅黑"/>
                <a:cs typeface="微软雅黑"/>
              </a:rPr>
              <a:t>质量</a:t>
            </a:r>
          </a:p>
        </p:txBody>
      </p:sp>
      <p:sp>
        <p:nvSpPr>
          <p:cNvPr id="65" name="TextBox 64"/>
          <p:cNvSpPr txBox="1"/>
          <p:nvPr/>
        </p:nvSpPr>
        <p:spPr>
          <a:xfrm>
            <a:off x="7632700" y="4640792"/>
            <a:ext cx="4152900" cy="196850"/>
          </a:xfrm>
          <a:prstGeom prst="rect">
            <a:avLst/>
          </a:prstGeom>
          <a:noFill/>
        </p:spPr>
        <p:txBody>
          <a:bodyPr wrap="square" anchor="t"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内部评审 ＋ 第三方验证，交付物可核查</a:t>
            </a:r>
          </a:p>
        </p:txBody>
      </p:sp>
      <p:cxnSp>
        <p:nvCxnSpPr>
          <p:cNvPr id="66" name="Connector 65"/>
          <p:cNvCxnSpPr/>
          <p:nvPr/>
        </p:nvCxnSpPr>
        <p:spPr>
          <a:xfrm>
            <a:off x="6172200" y="4982633"/>
            <a:ext cx="5613400" cy="0"/>
          </a:xfrm>
          <a:prstGeom prst="line">
            <a:avLst/>
          </a:prstGeom>
          <a:ln w="6350">
            <a:solidFill>
              <a:srgbClr val="E9E9E9"/>
            </a:solidFill>
            <a:round/>
          </a:ln>
        </p:spPr>
      </p:cxnSp>
      <p:pic>
        <p:nvPicPr>
          <p:cNvPr id="67" name="Picture 66" descr="alert-triangle-C00000-1_6.png"/>
          <p:cNvPicPr>
            <a:picLocks noChangeAspect="1"/>
          </p:cNvPicPr>
          <p:nvPr/>
        </p:nvPicPr>
        <p:blipFill>
          <a:blip r:embed="rId4"/>
          <a:stretch>
            <a:fillRect/>
          </a:stretch>
        </p:blipFill>
        <p:spPr>
          <a:xfrm>
            <a:off x="6172200" y="5146675"/>
            <a:ext cx="165100" cy="165100"/>
          </a:xfrm>
          <a:prstGeom prst="rect">
            <a:avLst/>
          </a:prstGeom>
        </p:spPr>
      </p:pic>
      <p:sp>
        <p:nvSpPr>
          <p:cNvPr id="68" name="TextBox 67"/>
          <p:cNvSpPr txBox="1"/>
          <p:nvPr/>
        </p:nvSpPr>
        <p:spPr>
          <a:xfrm>
            <a:off x="6413500" y="5140325"/>
            <a:ext cx="1270000" cy="190500"/>
          </a:xfrm>
          <a:prstGeom prst="rect">
            <a:avLst/>
          </a:prstGeom>
          <a:noFill/>
        </p:spPr>
        <p:txBody>
          <a:bodyPr wrap="none" anchor="t" lIns="0" tIns="0" rIns="0" bIns="0">
            <a:noAutofit/>
          </a:bodyPr>
          <a:lstStyle/>
          <a:p>
            <a:pPr algn="l" marL="0" indent="0">
              <a:lnSpc>
                <a:spcPts val="1350"/>
              </a:lnSpc>
              <a:buNone/>
            </a:pPr>
            <a:r>
              <a:rPr lang="zh-CN" altLang="en-US" sz="950" b="1">
                <a:solidFill>
                  <a:srgbClr val="1A1A1A"/>
                </a:solidFill>
                <a:latin typeface="微软雅黑"/>
                <a:ea typeface="微软雅黑"/>
                <a:cs typeface="微软雅黑"/>
              </a:rPr>
              <a:t>风险 → 应对</a:t>
            </a:r>
          </a:p>
        </p:txBody>
      </p:sp>
      <p:sp>
        <p:nvSpPr>
          <p:cNvPr id="69" name="TextBox 68"/>
          <p:cNvSpPr txBox="1"/>
          <p:nvPr/>
        </p:nvSpPr>
        <p:spPr>
          <a:xfrm>
            <a:off x="7632700" y="5153025"/>
            <a:ext cx="4152900" cy="539750"/>
          </a:xfrm>
          <a:prstGeom prst="rect">
            <a:avLst/>
          </a:prstGeom>
          <a:noFill/>
        </p:spPr>
        <p:txBody>
          <a:bodyPr wrap="square" anchor="t"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判据不全 → 首批聚焦三项关键性能</a:t>
            </a:r>
            <a:br>
              <a:rPr lang="zh-CN" altLang="en-US" sz="900"/>
            </a:br>
            <a:r>
              <a:rPr lang="zh-CN" altLang="en-US" sz="900" b="0">
                <a:solidFill>
                  <a:srgbClr val="3D3D3D"/>
                </a:solidFill>
                <a:latin typeface="微软雅黑"/>
                <a:ea typeface="微软雅黑"/>
                <a:cs typeface="微软雅黑"/>
              </a:rPr>
              <a:t>同步失真 → 分层步长、关键工况全保真校核</a:t>
            </a:r>
            <a:br>
              <a:rPr lang="zh-CN" altLang="en-US" sz="900"/>
            </a:br>
            <a:r>
              <a:rPr lang="zh-CN" altLang="en-US" sz="900" b="0">
                <a:solidFill>
                  <a:srgbClr val="3D3D3D"/>
                </a:solidFill>
                <a:latin typeface="微软雅黑"/>
                <a:ea typeface="微软雅黑"/>
                <a:cs typeface="微软雅黑"/>
              </a:rPr>
              <a:t>极端工况数据少 → 实测数据标定、第三方验证</a:t>
            </a:r>
          </a:p>
        </p:txBody>
      </p:sp>
      <p:cxnSp>
        <p:nvCxnSpPr>
          <p:cNvPr id="70" name="Connector 69"/>
          <p:cNvCxnSpPr/>
          <p:nvPr/>
        </p:nvCxnSpPr>
        <p:spPr>
          <a:xfrm>
            <a:off x="6172200" y="5837767"/>
            <a:ext cx="5613400" cy="0"/>
          </a:xfrm>
          <a:prstGeom prst="line">
            <a:avLst/>
          </a:prstGeom>
          <a:ln w="6350">
            <a:solidFill>
              <a:srgbClr val="E9E9E9"/>
            </a:solidFill>
            <a:round/>
          </a:ln>
        </p:spPr>
      </p:cxnSp>
      <p:pic>
        <p:nvPicPr>
          <p:cNvPr id="71" name="Picture 70" descr="server-1A1A1A-1_6.png"/>
          <p:cNvPicPr>
            <a:picLocks noChangeAspect="1"/>
          </p:cNvPicPr>
          <p:nvPr/>
        </p:nvPicPr>
        <p:blipFill>
          <a:blip r:embed="rId5"/>
          <a:stretch>
            <a:fillRect/>
          </a:stretch>
        </p:blipFill>
        <p:spPr>
          <a:xfrm>
            <a:off x="6172200" y="6001808"/>
            <a:ext cx="165100" cy="165100"/>
          </a:xfrm>
          <a:prstGeom prst="rect">
            <a:avLst/>
          </a:prstGeom>
        </p:spPr>
      </p:pic>
      <p:sp>
        <p:nvSpPr>
          <p:cNvPr id="72" name="TextBox 71"/>
          <p:cNvSpPr txBox="1"/>
          <p:nvPr/>
        </p:nvSpPr>
        <p:spPr>
          <a:xfrm>
            <a:off x="6413500" y="5995458"/>
            <a:ext cx="1270000" cy="190500"/>
          </a:xfrm>
          <a:prstGeom prst="rect">
            <a:avLst/>
          </a:prstGeom>
          <a:noFill/>
        </p:spPr>
        <p:txBody>
          <a:bodyPr wrap="none" anchor="t" lIns="0" tIns="0" rIns="0" bIns="0">
            <a:noAutofit/>
          </a:bodyPr>
          <a:lstStyle/>
          <a:p>
            <a:pPr algn="l" marL="0" indent="0">
              <a:lnSpc>
                <a:spcPts val="1350"/>
              </a:lnSpc>
              <a:buNone/>
            </a:pPr>
            <a:r>
              <a:rPr lang="zh-CN" altLang="en-US" sz="950" b="1">
                <a:solidFill>
                  <a:srgbClr val="1A1A1A"/>
                </a:solidFill>
                <a:latin typeface="微软雅黑"/>
                <a:ea typeface="微软雅黑"/>
                <a:cs typeface="微软雅黑"/>
              </a:rPr>
              <a:t>资源</a:t>
            </a:r>
          </a:p>
        </p:txBody>
      </p:sp>
      <p:sp>
        <p:nvSpPr>
          <p:cNvPr id="73" name="TextBox 72"/>
          <p:cNvSpPr txBox="1"/>
          <p:nvPr/>
        </p:nvSpPr>
        <p:spPr>
          <a:xfrm>
            <a:off x="7632700" y="6008158"/>
            <a:ext cx="4152900" cy="196850"/>
          </a:xfrm>
          <a:prstGeom prst="rect">
            <a:avLst/>
          </a:prstGeom>
          <a:noFill/>
        </p:spPr>
        <p:txBody>
          <a:bodyPr wrap="square" anchor="t"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算力平台、HIL 台架、FXN5C 试验与运用数据</a:t>
            </a:r>
          </a:p>
        </p:txBody>
      </p:sp>
      <p:cxnSp>
        <p:nvCxnSpPr>
          <p:cNvPr id="74" name="Connector 73"/>
          <p:cNvCxnSpPr/>
          <p:nvPr/>
        </p:nvCxnSpPr>
        <p:spPr>
          <a:xfrm>
            <a:off x="6172200" y="6350000"/>
            <a:ext cx="5613400" cy="0"/>
          </a:xfrm>
          <a:prstGeom prst="line">
            <a:avLst/>
          </a:prstGeom>
          <a:ln w="6350">
            <a:solidFill>
              <a:srgbClr val="E9E9E9"/>
            </a:solidFill>
            <a:round/>
          </a:ln>
        </p:spPr>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团队研究能力</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为什么由我们承担</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18</a:t>
            </a:r>
          </a:p>
        </p:txBody>
      </p:sp>
      <p:sp>
        <p:nvSpPr>
          <p:cNvPr id="6" name="Rectangle 5"/>
          <p:cNvSpPr/>
          <p:nvPr/>
        </p:nvSpPr>
        <p:spPr>
          <a:xfrm>
            <a:off x="406400" y="2082800"/>
            <a:ext cx="11379200" cy="508000"/>
          </a:xfrm>
          <a:prstGeom prst="rect">
            <a:avLst/>
          </a:prstGeom>
          <a:solidFill>
            <a:srgbClr val="FCF2F2"/>
          </a:solidFill>
          <a:ln>
            <a:noFill/>
          </a:ln>
        </p:spPr>
        <p:txBody>
          <a:bodyPr rtlCol="0" anchor="ctr" lIns="0" rIns="0" tIns="0" bIns="0"/>
          <a:lstStyle/>
          <a:p>
            <a:pPr algn="ctr"/>
          </a:p>
        </p:txBody>
      </p:sp>
      <p:sp>
        <p:nvSpPr>
          <p:cNvPr id="7" name="Rectangle 6"/>
          <p:cNvSpPr/>
          <p:nvPr/>
        </p:nvSpPr>
        <p:spPr>
          <a:xfrm>
            <a:off x="406400" y="2082800"/>
            <a:ext cx="19050" cy="508000"/>
          </a:xfrm>
          <a:prstGeom prst="rect">
            <a:avLst/>
          </a:prstGeom>
          <a:solidFill>
            <a:srgbClr val="C00000"/>
          </a:solidFill>
          <a:ln>
            <a:noFill/>
          </a:ln>
        </p:spPr>
        <p:txBody>
          <a:bodyPr rtlCol="0" anchor="ctr" lIns="0" rIns="0" tIns="0" bIns="0"/>
          <a:lstStyle/>
          <a:p>
            <a:pPr algn="ctr"/>
          </a:p>
        </p:txBody>
      </p:sp>
      <p:sp>
        <p:nvSpPr>
          <p:cNvPr id="8" name="TextBox 7"/>
          <p:cNvSpPr txBox="1"/>
          <p:nvPr/>
        </p:nvSpPr>
        <p:spPr>
          <a:xfrm>
            <a:off x="584200" y="2082800"/>
            <a:ext cx="11049000" cy="5080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1A1A1A"/>
                </a:solidFill>
                <a:latin typeface="微软雅黑"/>
                <a:ea typeface="微软雅黑"/>
                <a:cs typeface="微软雅黑"/>
              </a:rPr>
              <a:t>控制系统与车辆动力学是主营方向；FXN5C 的研制、试验与运用数据在手；有 HIL 台架和现场问题记录——</a:t>
            </a:r>
            <a:r>
              <a:rPr lang="zh-CN" altLang="en-US" sz="1000" b="1">
                <a:solidFill>
                  <a:srgbClr val="1A1A1A"/>
                </a:solidFill>
                <a:latin typeface="微软雅黑"/>
                <a:ea typeface="微软雅黑"/>
                <a:cs typeface="微软雅黑"/>
              </a:rPr>
              <a:t>判据来源、标定数据、验证对象都是现成的</a:t>
            </a:r>
            <a:r>
              <a:rPr lang="zh-CN" altLang="en-US" sz="1000" b="0">
                <a:solidFill>
                  <a:srgbClr val="1A1A1A"/>
                </a:solidFill>
                <a:latin typeface="微软雅黑"/>
                <a:ea typeface="微软雅黑"/>
                <a:cs typeface="微软雅黑"/>
              </a:rPr>
              <a:t>。</a:t>
            </a:r>
            <a:r>
              <a:rPr lang="zh-CN" altLang="en-US" sz="1000" b="0">
                <a:solidFill>
                  <a:srgbClr val="875D1C"/>
                </a:solidFill>
                <a:latin typeface="微软雅黑"/>
                <a:ea typeface="微软雅黑"/>
                <a:cs typeface="微软雅黑"/>
              </a:rPr>
              <a:t>【按实际情况调整】</a:t>
            </a:r>
          </a:p>
        </p:txBody>
      </p:sp>
      <p:sp>
        <p:nvSpPr>
          <p:cNvPr id="9" name="Rectangle 8"/>
          <p:cNvSpPr/>
          <p:nvPr/>
        </p:nvSpPr>
        <p:spPr>
          <a:xfrm>
            <a:off x="406400" y="2743200"/>
            <a:ext cx="3691467" cy="1727200"/>
          </a:xfrm>
          <a:prstGeom prst="rect">
            <a:avLst/>
          </a:prstGeom>
          <a:solidFill>
            <a:srgbClr val="FFFFFF"/>
          </a:solidFill>
          <a:ln w="6350">
            <a:solidFill>
              <a:srgbClr val="E9E9E9"/>
            </a:solidFill>
            <a:round/>
          </a:ln>
        </p:spPr>
        <p:txBody>
          <a:bodyPr rtlCol="0" anchor="ctr" lIns="0" rIns="0" tIns="0" bIns="0"/>
          <a:lstStyle/>
          <a:p>
            <a:pPr algn="ctr"/>
          </a:p>
        </p:txBody>
      </p:sp>
      <p:sp>
        <p:nvSpPr>
          <p:cNvPr id="10" name="Oval 9"/>
          <p:cNvSpPr/>
          <p:nvPr/>
        </p:nvSpPr>
        <p:spPr>
          <a:xfrm>
            <a:off x="558800" y="2870200"/>
            <a:ext cx="355600" cy="355600"/>
          </a:xfrm>
          <a:prstGeom prst="ellipse">
            <a:avLst/>
          </a:prstGeom>
          <a:solidFill>
            <a:srgbClr val="F5F5F5"/>
          </a:solidFill>
          <a:ln>
            <a:noFill/>
          </a:ln>
        </p:spPr>
        <p:txBody>
          <a:bodyPr rtlCol="0" anchor="ctr" lIns="0" rIns="0" tIns="0" bIns="0"/>
          <a:lstStyle/>
          <a:p>
            <a:pPr algn="ctr"/>
          </a:p>
        </p:txBody>
      </p:sp>
      <p:pic>
        <p:nvPicPr>
          <p:cNvPr id="11" name="Picture 10" descr="building-factory-2-C00000-1_6.png"/>
          <p:cNvPicPr>
            <a:picLocks noChangeAspect="1"/>
          </p:cNvPicPr>
          <p:nvPr/>
        </p:nvPicPr>
        <p:blipFill>
          <a:blip r:embed="rId2"/>
          <a:stretch>
            <a:fillRect/>
          </a:stretch>
        </p:blipFill>
        <p:spPr>
          <a:xfrm>
            <a:off x="641350" y="2952750"/>
            <a:ext cx="190500" cy="190500"/>
          </a:xfrm>
          <a:prstGeom prst="rect">
            <a:avLst/>
          </a:prstGeom>
        </p:spPr>
      </p:pic>
      <p:sp>
        <p:nvSpPr>
          <p:cNvPr id="12" name="TextBox 11"/>
          <p:cNvSpPr txBox="1"/>
          <p:nvPr/>
        </p:nvSpPr>
        <p:spPr>
          <a:xfrm>
            <a:off x="1016000" y="2870200"/>
            <a:ext cx="2929467" cy="355600"/>
          </a:xfrm>
          <a:prstGeom prst="rect">
            <a:avLst/>
          </a:prstGeom>
          <a:noFill/>
        </p:spPr>
        <p:txBody>
          <a:bodyPr wrap="none" anchor="ctr" lIns="0" tIns="0" rIns="0" bIns="0">
            <a:noAutofit/>
          </a:bodyPr>
          <a:lstStyle/>
          <a:p>
            <a:pPr algn="l" marL="0" indent="0">
              <a:lnSpc>
                <a:spcPts val="1600"/>
              </a:lnSpc>
              <a:buNone/>
            </a:pPr>
            <a:r>
              <a:rPr lang="zh-CN" altLang="en-US" sz="1200" b="1">
                <a:solidFill>
                  <a:srgbClr val="1A1A1A"/>
                </a:solidFill>
                <a:latin typeface="微软雅黑"/>
                <a:ea typeface="微软雅黑"/>
                <a:cs typeface="微软雅黑"/>
              </a:rPr>
              <a:t>研发平台</a:t>
            </a:r>
          </a:p>
        </p:txBody>
      </p:sp>
      <p:sp>
        <p:nvSpPr>
          <p:cNvPr id="13" name="Rectangle 12"/>
          <p:cNvSpPr/>
          <p:nvPr/>
        </p:nvSpPr>
        <p:spPr>
          <a:xfrm>
            <a:off x="558800" y="3327400"/>
            <a:ext cx="3386667" cy="1016000"/>
          </a:xfrm>
          <a:prstGeom prst="rect">
            <a:avLst/>
          </a:prstGeom>
          <a:solidFill>
            <a:srgbClr val="FBF6EC"/>
          </a:solidFill>
          <a:ln w="7620">
            <a:solidFill>
              <a:srgbClr val="9E6F28"/>
            </a:solidFill>
            <a:prstDash val="dash"/>
            <a:round/>
          </a:ln>
        </p:spPr>
        <p:txBody>
          <a:bodyPr rtlCol="0" anchor="ctr" lIns="0" rIns="0" tIns="0" bIns="0"/>
          <a:lstStyle/>
          <a:p>
            <a:pPr algn="ctr"/>
          </a:p>
        </p:txBody>
      </p:sp>
      <p:sp>
        <p:nvSpPr>
          <p:cNvPr id="14" name="TextBox 13"/>
          <p:cNvSpPr txBox="1"/>
          <p:nvPr/>
        </p:nvSpPr>
        <p:spPr>
          <a:xfrm>
            <a:off x="685800" y="3327400"/>
            <a:ext cx="3132667" cy="1016000"/>
          </a:xfrm>
          <a:prstGeom prst="rect">
            <a:avLst/>
          </a:prstGeom>
          <a:noFill/>
        </p:spPr>
        <p:txBody>
          <a:bodyPr wrap="square" anchor="ctr" lIns="0" tIns="0" rIns="0" bIns="0">
            <a:noAutofit/>
          </a:bodyPr>
          <a:lstStyle/>
          <a:p>
            <a:pPr algn="l" marL="0" indent="0">
              <a:lnSpc>
                <a:spcPts val="1350"/>
              </a:lnSpc>
              <a:buNone/>
            </a:pPr>
            <a:r>
              <a:rPr lang="zh-CN" altLang="en-US" sz="900" b="0">
                <a:solidFill>
                  <a:srgbClr val="875D1C"/>
                </a:solidFill>
                <a:latin typeface="微软雅黑"/>
                <a:ea typeface="微软雅黑"/>
                <a:cs typeface="微软雅黑"/>
              </a:rPr>
              <a:t>【待填：机车总体设计／控制系统开发等平台】</a:t>
            </a:r>
          </a:p>
        </p:txBody>
      </p:sp>
      <p:sp>
        <p:nvSpPr>
          <p:cNvPr id="15" name="Rectangle 14"/>
          <p:cNvSpPr/>
          <p:nvPr/>
        </p:nvSpPr>
        <p:spPr>
          <a:xfrm>
            <a:off x="4250267" y="2743200"/>
            <a:ext cx="3691467" cy="1727200"/>
          </a:xfrm>
          <a:prstGeom prst="rect">
            <a:avLst/>
          </a:prstGeom>
          <a:solidFill>
            <a:srgbClr val="FFFFFF"/>
          </a:solidFill>
          <a:ln w="6350">
            <a:solidFill>
              <a:srgbClr val="E9E9E9"/>
            </a:solidFill>
            <a:round/>
          </a:ln>
        </p:spPr>
        <p:txBody>
          <a:bodyPr rtlCol="0" anchor="ctr" lIns="0" rIns="0" tIns="0" bIns="0"/>
          <a:lstStyle/>
          <a:p>
            <a:pPr algn="ctr"/>
          </a:p>
        </p:txBody>
      </p:sp>
      <p:sp>
        <p:nvSpPr>
          <p:cNvPr id="16" name="Oval 15"/>
          <p:cNvSpPr/>
          <p:nvPr/>
        </p:nvSpPr>
        <p:spPr>
          <a:xfrm>
            <a:off x="4402667" y="2870200"/>
            <a:ext cx="355600" cy="355600"/>
          </a:xfrm>
          <a:prstGeom prst="ellipse">
            <a:avLst/>
          </a:prstGeom>
          <a:solidFill>
            <a:srgbClr val="F5F5F5"/>
          </a:solidFill>
          <a:ln>
            <a:noFill/>
          </a:ln>
        </p:spPr>
        <p:txBody>
          <a:bodyPr rtlCol="0" anchor="ctr" lIns="0" rIns="0" tIns="0" bIns="0"/>
          <a:lstStyle/>
          <a:p>
            <a:pPr algn="ctr"/>
          </a:p>
        </p:txBody>
      </p:sp>
      <p:pic>
        <p:nvPicPr>
          <p:cNvPr id="17" name="Picture 16" descr="device-desktop-analytics-C00000-1_6.png"/>
          <p:cNvPicPr>
            <a:picLocks noChangeAspect="1"/>
          </p:cNvPicPr>
          <p:nvPr/>
        </p:nvPicPr>
        <p:blipFill>
          <a:blip r:embed="rId3"/>
          <a:stretch>
            <a:fillRect/>
          </a:stretch>
        </p:blipFill>
        <p:spPr>
          <a:xfrm>
            <a:off x="4485217" y="2952750"/>
            <a:ext cx="190500" cy="190500"/>
          </a:xfrm>
          <a:prstGeom prst="rect">
            <a:avLst/>
          </a:prstGeom>
        </p:spPr>
      </p:pic>
      <p:sp>
        <p:nvSpPr>
          <p:cNvPr id="18" name="TextBox 17"/>
          <p:cNvSpPr txBox="1"/>
          <p:nvPr/>
        </p:nvSpPr>
        <p:spPr>
          <a:xfrm>
            <a:off x="4859867" y="2870200"/>
            <a:ext cx="2929467" cy="355600"/>
          </a:xfrm>
          <a:prstGeom prst="rect">
            <a:avLst/>
          </a:prstGeom>
          <a:noFill/>
        </p:spPr>
        <p:txBody>
          <a:bodyPr wrap="none" anchor="ctr" lIns="0" tIns="0" rIns="0" bIns="0">
            <a:noAutofit/>
          </a:bodyPr>
          <a:lstStyle/>
          <a:p>
            <a:pPr algn="l" marL="0" indent="0">
              <a:lnSpc>
                <a:spcPts val="1600"/>
              </a:lnSpc>
              <a:buNone/>
            </a:pPr>
            <a:r>
              <a:rPr lang="zh-CN" altLang="en-US" sz="1200" b="1">
                <a:solidFill>
                  <a:srgbClr val="1A1A1A"/>
                </a:solidFill>
                <a:latin typeface="微软雅黑"/>
                <a:ea typeface="微软雅黑"/>
                <a:cs typeface="微软雅黑"/>
              </a:rPr>
              <a:t>仿真能力</a:t>
            </a:r>
          </a:p>
        </p:txBody>
      </p:sp>
      <p:sp>
        <p:nvSpPr>
          <p:cNvPr id="19" name="Rectangle 18"/>
          <p:cNvSpPr/>
          <p:nvPr/>
        </p:nvSpPr>
        <p:spPr>
          <a:xfrm>
            <a:off x="4402667" y="3327400"/>
            <a:ext cx="3386667" cy="1016000"/>
          </a:xfrm>
          <a:prstGeom prst="rect">
            <a:avLst/>
          </a:prstGeom>
          <a:solidFill>
            <a:srgbClr val="FBF6EC"/>
          </a:solidFill>
          <a:ln w="7620">
            <a:solidFill>
              <a:srgbClr val="9E6F28"/>
            </a:solidFill>
            <a:prstDash val="dash"/>
            <a:round/>
          </a:ln>
        </p:spPr>
        <p:txBody>
          <a:bodyPr rtlCol="0" anchor="ctr" lIns="0" rIns="0" tIns="0" bIns="0"/>
          <a:lstStyle/>
          <a:p>
            <a:pPr algn="ctr"/>
          </a:p>
        </p:txBody>
      </p:sp>
      <p:sp>
        <p:nvSpPr>
          <p:cNvPr id="20" name="TextBox 19"/>
          <p:cNvSpPr txBox="1"/>
          <p:nvPr/>
        </p:nvSpPr>
        <p:spPr>
          <a:xfrm>
            <a:off x="4529667" y="3327400"/>
            <a:ext cx="3132667" cy="1016000"/>
          </a:xfrm>
          <a:prstGeom prst="rect">
            <a:avLst/>
          </a:prstGeom>
          <a:noFill/>
        </p:spPr>
        <p:txBody>
          <a:bodyPr wrap="square" anchor="ctr" lIns="0" tIns="0" rIns="0" bIns="0">
            <a:noAutofit/>
          </a:bodyPr>
          <a:lstStyle/>
          <a:p>
            <a:pPr algn="l" marL="0" indent="0">
              <a:lnSpc>
                <a:spcPts val="1350"/>
              </a:lnSpc>
              <a:buNone/>
            </a:pPr>
            <a:r>
              <a:rPr lang="zh-CN" altLang="en-US" sz="900" b="0">
                <a:solidFill>
                  <a:srgbClr val="875D1C"/>
                </a:solidFill>
                <a:latin typeface="微软雅黑"/>
                <a:ea typeface="微软雅黑"/>
                <a:cs typeface="微软雅黑"/>
              </a:rPr>
              <a:t>【待填：车辆动力学、牵引电传动、控制等仿真模型与软件】</a:t>
            </a:r>
          </a:p>
        </p:txBody>
      </p:sp>
      <p:sp>
        <p:nvSpPr>
          <p:cNvPr id="21" name="Rectangle 20"/>
          <p:cNvSpPr/>
          <p:nvPr/>
        </p:nvSpPr>
        <p:spPr>
          <a:xfrm>
            <a:off x="8094133" y="2743200"/>
            <a:ext cx="3691467" cy="1727200"/>
          </a:xfrm>
          <a:prstGeom prst="rect">
            <a:avLst/>
          </a:prstGeom>
          <a:solidFill>
            <a:srgbClr val="FFFFFF"/>
          </a:solidFill>
          <a:ln w="6350">
            <a:solidFill>
              <a:srgbClr val="E9E9E9"/>
            </a:solidFill>
            <a:round/>
          </a:ln>
        </p:spPr>
        <p:txBody>
          <a:bodyPr rtlCol="0" anchor="ctr" lIns="0" rIns="0" tIns="0" bIns="0"/>
          <a:lstStyle/>
          <a:p>
            <a:pPr algn="ctr"/>
          </a:p>
        </p:txBody>
      </p:sp>
      <p:sp>
        <p:nvSpPr>
          <p:cNvPr id="22" name="Oval 21"/>
          <p:cNvSpPr/>
          <p:nvPr/>
        </p:nvSpPr>
        <p:spPr>
          <a:xfrm>
            <a:off x="8246533" y="2870200"/>
            <a:ext cx="355600" cy="355600"/>
          </a:xfrm>
          <a:prstGeom prst="ellipse">
            <a:avLst/>
          </a:prstGeom>
          <a:solidFill>
            <a:srgbClr val="F5F5F5"/>
          </a:solidFill>
          <a:ln>
            <a:noFill/>
          </a:ln>
        </p:spPr>
        <p:txBody>
          <a:bodyPr rtlCol="0" anchor="ctr" lIns="0" rIns="0" tIns="0" bIns="0"/>
          <a:lstStyle/>
          <a:p>
            <a:pPr algn="ctr"/>
          </a:p>
        </p:txBody>
      </p:sp>
      <p:pic>
        <p:nvPicPr>
          <p:cNvPr id="23" name="Picture 22" descr="test-pipe-C00000-1_6.png"/>
          <p:cNvPicPr>
            <a:picLocks noChangeAspect="1"/>
          </p:cNvPicPr>
          <p:nvPr/>
        </p:nvPicPr>
        <p:blipFill>
          <a:blip r:embed="rId4"/>
          <a:stretch>
            <a:fillRect/>
          </a:stretch>
        </p:blipFill>
        <p:spPr>
          <a:xfrm>
            <a:off x="8329083" y="2952750"/>
            <a:ext cx="190500" cy="190500"/>
          </a:xfrm>
          <a:prstGeom prst="rect">
            <a:avLst/>
          </a:prstGeom>
        </p:spPr>
      </p:pic>
      <p:sp>
        <p:nvSpPr>
          <p:cNvPr id="24" name="TextBox 23"/>
          <p:cNvSpPr txBox="1"/>
          <p:nvPr/>
        </p:nvSpPr>
        <p:spPr>
          <a:xfrm>
            <a:off x="8703733" y="2870200"/>
            <a:ext cx="2929467" cy="355600"/>
          </a:xfrm>
          <a:prstGeom prst="rect">
            <a:avLst/>
          </a:prstGeom>
          <a:noFill/>
        </p:spPr>
        <p:txBody>
          <a:bodyPr wrap="none" anchor="ctr" lIns="0" tIns="0" rIns="0" bIns="0">
            <a:noAutofit/>
          </a:bodyPr>
          <a:lstStyle/>
          <a:p>
            <a:pPr algn="l" marL="0" indent="0">
              <a:lnSpc>
                <a:spcPts val="1600"/>
              </a:lnSpc>
              <a:buNone/>
            </a:pPr>
            <a:r>
              <a:rPr lang="zh-CN" altLang="en-US" sz="1200" b="1">
                <a:solidFill>
                  <a:srgbClr val="1A1A1A"/>
                </a:solidFill>
                <a:latin typeface="微软雅黑"/>
                <a:ea typeface="微软雅黑"/>
                <a:cs typeface="微软雅黑"/>
              </a:rPr>
              <a:t>试验能力</a:t>
            </a:r>
          </a:p>
        </p:txBody>
      </p:sp>
      <p:sp>
        <p:nvSpPr>
          <p:cNvPr id="25" name="Rectangle 24"/>
          <p:cNvSpPr/>
          <p:nvPr/>
        </p:nvSpPr>
        <p:spPr>
          <a:xfrm>
            <a:off x="8246533" y="3327400"/>
            <a:ext cx="3386667" cy="1016000"/>
          </a:xfrm>
          <a:prstGeom prst="rect">
            <a:avLst/>
          </a:prstGeom>
          <a:solidFill>
            <a:srgbClr val="FBF6EC"/>
          </a:solidFill>
          <a:ln w="7620">
            <a:solidFill>
              <a:srgbClr val="9E6F28"/>
            </a:solidFill>
            <a:prstDash val="dash"/>
            <a:round/>
          </a:ln>
        </p:spPr>
        <p:txBody>
          <a:bodyPr rtlCol="0" anchor="ctr" lIns="0" rIns="0" tIns="0" bIns="0"/>
          <a:lstStyle/>
          <a:p>
            <a:pPr algn="ctr"/>
          </a:p>
        </p:txBody>
      </p:sp>
      <p:sp>
        <p:nvSpPr>
          <p:cNvPr id="26" name="TextBox 25"/>
          <p:cNvSpPr txBox="1"/>
          <p:nvPr/>
        </p:nvSpPr>
        <p:spPr>
          <a:xfrm>
            <a:off x="8373533" y="3327400"/>
            <a:ext cx="3132667" cy="1016000"/>
          </a:xfrm>
          <a:prstGeom prst="rect">
            <a:avLst/>
          </a:prstGeom>
          <a:noFill/>
        </p:spPr>
        <p:txBody>
          <a:bodyPr wrap="square" anchor="ctr" lIns="0" tIns="0" rIns="0" bIns="0">
            <a:noAutofit/>
          </a:bodyPr>
          <a:lstStyle/>
          <a:p>
            <a:pPr algn="l" marL="0" indent="0">
              <a:lnSpc>
                <a:spcPts val="1350"/>
              </a:lnSpc>
              <a:buNone/>
            </a:pPr>
            <a:r>
              <a:rPr lang="zh-CN" altLang="en-US" sz="900" b="0">
                <a:solidFill>
                  <a:srgbClr val="875D1C"/>
                </a:solidFill>
                <a:latin typeface="微软雅黑"/>
                <a:ea typeface="微软雅黑"/>
                <a:cs typeface="微软雅黑"/>
              </a:rPr>
              <a:t>HIL 试验台＋经验数据模拟运用工况；【待填：其他台架】</a:t>
            </a:r>
          </a:p>
        </p:txBody>
      </p:sp>
      <p:sp>
        <p:nvSpPr>
          <p:cNvPr id="27" name="Rectangle 26"/>
          <p:cNvSpPr/>
          <p:nvPr/>
        </p:nvSpPr>
        <p:spPr>
          <a:xfrm>
            <a:off x="406400" y="4622800"/>
            <a:ext cx="3691467" cy="1727200"/>
          </a:xfrm>
          <a:prstGeom prst="rect">
            <a:avLst/>
          </a:prstGeom>
          <a:solidFill>
            <a:srgbClr val="FFFFFF"/>
          </a:solidFill>
          <a:ln w="6350">
            <a:solidFill>
              <a:srgbClr val="E9E9E9"/>
            </a:solidFill>
            <a:round/>
          </a:ln>
        </p:spPr>
        <p:txBody>
          <a:bodyPr rtlCol="0" anchor="ctr" lIns="0" rIns="0" tIns="0" bIns="0"/>
          <a:lstStyle/>
          <a:p>
            <a:pPr algn="ctr"/>
          </a:p>
        </p:txBody>
      </p:sp>
      <p:sp>
        <p:nvSpPr>
          <p:cNvPr id="28" name="Oval 27"/>
          <p:cNvSpPr/>
          <p:nvPr/>
        </p:nvSpPr>
        <p:spPr>
          <a:xfrm>
            <a:off x="558800" y="4749800"/>
            <a:ext cx="355600" cy="355600"/>
          </a:xfrm>
          <a:prstGeom prst="ellipse">
            <a:avLst/>
          </a:prstGeom>
          <a:solidFill>
            <a:srgbClr val="F5F5F5"/>
          </a:solidFill>
          <a:ln>
            <a:noFill/>
          </a:ln>
        </p:spPr>
        <p:txBody>
          <a:bodyPr rtlCol="0" anchor="ctr" lIns="0" rIns="0" tIns="0" bIns="0"/>
          <a:lstStyle/>
          <a:p>
            <a:pPr algn="ctr"/>
          </a:p>
        </p:txBody>
      </p:sp>
      <p:pic>
        <p:nvPicPr>
          <p:cNvPr id="29" name="Picture 28" descr="database-C00000-1_6.png"/>
          <p:cNvPicPr>
            <a:picLocks noChangeAspect="1"/>
          </p:cNvPicPr>
          <p:nvPr/>
        </p:nvPicPr>
        <p:blipFill>
          <a:blip r:embed="rId5"/>
          <a:stretch>
            <a:fillRect/>
          </a:stretch>
        </p:blipFill>
        <p:spPr>
          <a:xfrm>
            <a:off x="641350" y="4832350"/>
            <a:ext cx="190500" cy="190500"/>
          </a:xfrm>
          <a:prstGeom prst="rect">
            <a:avLst/>
          </a:prstGeom>
        </p:spPr>
      </p:pic>
      <p:sp>
        <p:nvSpPr>
          <p:cNvPr id="30" name="TextBox 29"/>
          <p:cNvSpPr txBox="1"/>
          <p:nvPr/>
        </p:nvSpPr>
        <p:spPr>
          <a:xfrm>
            <a:off x="1016000" y="4749800"/>
            <a:ext cx="2929467" cy="355600"/>
          </a:xfrm>
          <a:prstGeom prst="rect">
            <a:avLst/>
          </a:prstGeom>
          <a:noFill/>
        </p:spPr>
        <p:txBody>
          <a:bodyPr wrap="none" anchor="ctr" lIns="0" tIns="0" rIns="0" bIns="0">
            <a:noAutofit/>
          </a:bodyPr>
          <a:lstStyle/>
          <a:p>
            <a:pPr algn="l" marL="0" indent="0">
              <a:lnSpc>
                <a:spcPts val="1600"/>
              </a:lnSpc>
              <a:buNone/>
            </a:pPr>
            <a:r>
              <a:rPr lang="zh-CN" altLang="en-US" sz="1200" b="1">
                <a:solidFill>
                  <a:srgbClr val="1A1A1A"/>
                </a:solidFill>
                <a:latin typeface="微软雅黑"/>
                <a:ea typeface="微软雅黑"/>
                <a:cs typeface="微软雅黑"/>
              </a:rPr>
              <a:t>数据积累</a:t>
            </a:r>
          </a:p>
        </p:txBody>
      </p:sp>
      <p:sp>
        <p:nvSpPr>
          <p:cNvPr id="31" name="Rectangle 30"/>
          <p:cNvSpPr/>
          <p:nvPr/>
        </p:nvSpPr>
        <p:spPr>
          <a:xfrm>
            <a:off x="558800" y="5207000"/>
            <a:ext cx="3386667" cy="1016000"/>
          </a:xfrm>
          <a:prstGeom prst="rect">
            <a:avLst/>
          </a:prstGeom>
          <a:solidFill>
            <a:srgbClr val="FBF6EC"/>
          </a:solidFill>
          <a:ln w="7620">
            <a:solidFill>
              <a:srgbClr val="9E6F28"/>
            </a:solidFill>
            <a:prstDash val="dash"/>
            <a:round/>
          </a:ln>
        </p:spPr>
        <p:txBody>
          <a:bodyPr rtlCol="0" anchor="ctr" lIns="0" rIns="0" tIns="0" bIns="0"/>
          <a:lstStyle/>
          <a:p>
            <a:pPr algn="ctr"/>
          </a:p>
        </p:txBody>
      </p:sp>
      <p:sp>
        <p:nvSpPr>
          <p:cNvPr id="32" name="TextBox 31"/>
          <p:cNvSpPr txBox="1"/>
          <p:nvPr/>
        </p:nvSpPr>
        <p:spPr>
          <a:xfrm>
            <a:off x="685800" y="5207000"/>
            <a:ext cx="3132667" cy="1016000"/>
          </a:xfrm>
          <a:prstGeom prst="rect">
            <a:avLst/>
          </a:prstGeom>
          <a:noFill/>
        </p:spPr>
        <p:txBody>
          <a:bodyPr wrap="square" anchor="ctr" lIns="0" tIns="0" rIns="0" bIns="0">
            <a:noAutofit/>
          </a:bodyPr>
          <a:lstStyle/>
          <a:p>
            <a:pPr algn="l" marL="0" indent="0">
              <a:lnSpc>
                <a:spcPts val="1350"/>
              </a:lnSpc>
              <a:buNone/>
            </a:pPr>
            <a:r>
              <a:rPr lang="zh-CN" altLang="en-US" sz="900" b="0">
                <a:solidFill>
                  <a:srgbClr val="875D1C"/>
                </a:solidFill>
                <a:latin typeface="微软雅黑"/>
                <a:ea typeface="微软雅黑"/>
                <a:cs typeface="微软雅黑"/>
              </a:rPr>
              <a:t>【待填：FXN5C 型式试验、线路试验数据与运用记录】</a:t>
            </a:r>
          </a:p>
        </p:txBody>
      </p:sp>
      <p:sp>
        <p:nvSpPr>
          <p:cNvPr id="33" name="Rectangle 32"/>
          <p:cNvSpPr/>
          <p:nvPr/>
        </p:nvSpPr>
        <p:spPr>
          <a:xfrm>
            <a:off x="4250267" y="4622800"/>
            <a:ext cx="3691467" cy="1727200"/>
          </a:xfrm>
          <a:prstGeom prst="rect">
            <a:avLst/>
          </a:prstGeom>
          <a:solidFill>
            <a:srgbClr val="FFFFFF"/>
          </a:solidFill>
          <a:ln w="6350">
            <a:solidFill>
              <a:srgbClr val="E9E9E9"/>
            </a:solidFill>
            <a:round/>
          </a:ln>
        </p:spPr>
        <p:txBody>
          <a:bodyPr rtlCol="0" anchor="ctr" lIns="0" rIns="0" tIns="0" bIns="0"/>
          <a:lstStyle/>
          <a:p>
            <a:pPr algn="ctr"/>
          </a:p>
        </p:txBody>
      </p:sp>
      <p:sp>
        <p:nvSpPr>
          <p:cNvPr id="34" name="Oval 33"/>
          <p:cNvSpPr/>
          <p:nvPr/>
        </p:nvSpPr>
        <p:spPr>
          <a:xfrm>
            <a:off x="4402667" y="4749800"/>
            <a:ext cx="355600" cy="355600"/>
          </a:xfrm>
          <a:prstGeom prst="ellipse">
            <a:avLst/>
          </a:prstGeom>
          <a:solidFill>
            <a:srgbClr val="F5F5F5"/>
          </a:solidFill>
          <a:ln>
            <a:noFill/>
          </a:ln>
        </p:spPr>
        <p:txBody>
          <a:bodyPr rtlCol="0" anchor="ctr" lIns="0" rIns="0" tIns="0" bIns="0"/>
          <a:lstStyle/>
          <a:p>
            <a:pPr algn="ctr"/>
          </a:p>
        </p:txBody>
      </p:sp>
      <p:pic>
        <p:nvPicPr>
          <p:cNvPr id="35" name="Picture 34" descr="clipboard-list-C00000-1_6.png"/>
          <p:cNvPicPr>
            <a:picLocks noChangeAspect="1"/>
          </p:cNvPicPr>
          <p:nvPr/>
        </p:nvPicPr>
        <p:blipFill>
          <a:blip r:embed="rId6"/>
          <a:stretch>
            <a:fillRect/>
          </a:stretch>
        </p:blipFill>
        <p:spPr>
          <a:xfrm>
            <a:off x="4485217" y="4832350"/>
            <a:ext cx="190500" cy="190500"/>
          </a:xfrm>
          <a:prstGeom prst="rect">
            <a:avLst/>
          </a:prstGeom>
        </p:spPr>
      </p:pic>
      <p:sp>
        <p:nvSpPr>
          <p:cNvPr id="36" name="TextBox 35"/>
          <p:cNvSpPr txBox="1"/>
          <p:nvPr/>
        </p:nvSpPr>
        <p:spPr>
          <a:xfrm>
            <a:off x="4859867" y="4749800"/>
            <a:ext cx="2929467" cy="355600"/>
          </a:xfrm>
          <a:prstGeom prst="rect">
            <a:avLst/>
          </a:prstGeom>
          <a:noFill/>
        </p:spPr>
        <p:txBody>
          <a:bodyPr wrap="none" anchor="ctr" lIns="0" tIns="0" rIns="0" bIns="0">
            <a:noAutofit/>
          </a:bodyPr>
          <a:lstStyle/>
          <a:p>
            <a:pPr algn="l" marL="0" indent="0">
              <a:lnSpc>
                <a:spcPts val="1600"/>
              </a:lnSpc>
              <a:buNone/>
            </a:pPr>
            <a:r>
              <a:rPr lang="zh-CN" altLang="en-US" sz="1200" b="1">
                <a:solidFill>
                  <a:srgbClr val="1A1A1A"/>
                </a:solidFill>
                <a:latin typeface="微软雅黑"/>
                <a:ea typeface="微软雅黑"/>
                <a:cs typeface="微软雅黑"/>
              </a:rPr>
              <a:t>在研项目</a:t>
            </a:r>
          </a:p>
        </p:txBody>
      </p:sp>
      <p:sp>
        <p:nvSpPr>
          <p:cNvPr id="37" name="Rectangle 36"/>
          <p:cNvSpPr/>
          <p:nvPr/>
        </p:nvSpPr>
        <p:spPr>
          <a:xfrm>
            <a:off x="4402667" y="5207000"/>
            <a:ext cx="3386667" cy="1016000"/>
          </a:xfrm>
          <a:prstGeom prst="rect">
            <a:avLst/>
          </a:prstGeom>
          <a:solidFill>
            <a:srgbClr val="FBF6EC"/>
          </a:solidFill>
          <a:ln w="7620">
            <a:solidFill>
              <a:srgbClr val="9E6F28"/>
            </a:solidFill>
            <a:prstDash val="dash"/>
            <a:round/>
          </a:ln>
        </p:spPr>
        <p:txBody>
          <a:bodyPr rtlCol="0" anchor="ctr" lIns="0" rIns="0" tIns="0" bIns="0"/>
          <a:lstStyle/>
          <a:p>
            <a:pPr algn="ctr"/>
          </a:p>
        </p:txBody>
      </p:sp>
      <p:sp>
        <p:nvSpPr>
          <p:cNvPr id="38" name="TextBox 37"/>
          <p:cNvSpPr txBox="1"/>
          <p:nvPr/>
        </p:nvSpPr>
        <p:spPr>
          <a:xfrm>
            <a:off x="4529667" y="5207000"/>
            <a:ext cx="3132667" cy="1016000"/>
          </a:xfrm>
          <a:prstGeom prst="rect">
            <a:avLst/>
          </a:prstGeom>
          <a:noFill/>
        </p:spPr>
        <p:txBody>
          <a:bodyPr wrap="square" anchor="ctr" lIns="0" tIns="0" rIns="0" bIns="0">
            <a:noAutofit/>
          </a:bodyPr>
          <a:lstStyle/>
          <a:p>
            <a:pPr algn="l" marL="0" indent="0">
              <a:lnSpc>
                <a:spcPts val="1350"/>
              </a:lnSpc>
              <a:buNone/>
            </a:pPr>
            <a:r>
              <a:rPr lang="zh-CN" altLang="en-US" sz="900" b="0">
                <a:solidFill>
                  <a:srgbClr val="875D1C"/>
                </a:solidFill>
                <a:latin typeface="微软雅黑"/>
                <a:ea typeface="微软雅黑"/>
                <a:cs typeface="微软雅黑"/>
              </a:rPr>
              <a:t>【待填：**级****项目数量与名称】</a:t>
            </a:r>
          </a:p>
        </p:txBody>
      </p:sp>
      <p:sp>
        <p:nvSpPr>
          <p:cNvPr id="39" name="Rectangle 38"/>
          <p:cNvSpPr/>
          <p:nvPr/>
        </p:nvSpPr>
        <p:spPr>
          <a:xfrm>
            <a:off x="8094133" y="4622800"/>
            <a:ext cx="3691467" cy="1727200"/>
          </a:xfrm>
          <a:prstGeom prst="rect">
            <a:avLst/>
          </a:prstGeom>
          <a:solidFill>
            <a:srgbClr val="FFFFFF"/>
          </a:solidFill>
          <a:ln w="6350">
            <a:solidFill>
              <a:srgbClr val="E9E9E9"/>
            </a:solidFill>
            <a:round/>
          </a:ln>
        </p:spPr>
        <p:txBody>
          <a:bodyPr rtlCol="0" anchor="ctr" lIns="0" rIns="0" tIns="0" bIns="0"/>
          <a:lstStyle/>
          <a:p>
            <a:pPr algn="ctr"/>
          </a:p>
        </p:txBody>
      </p:sp>
      <p:sp>
        <p:nvSpPr>
          <p:cNvPr id="40" name="Oval 39"/>
          <p:cNvSpPr/>
          <p:nvPr/>
        </p:nvSpPr>
        <p:spPr>
          <a:xfrm>
            <a:off x="8246533" y="4749800"/>
            <a:ext cx="355600" cy="355600"/>
          </a:xfrm>
          <a:prstGeom prst="ellipse">
            <a:avLst/>
          </a:prstGeom>
          <a:solidFill>
            <a:srgbClr val="F5F5F5"/>
          </a:solidFill>
          <a:ln>
            <a:noFill/>
          </a:ln>
        </p:spPr>
        <p:txBody>
          <a:bodyPr rtlCol="0" anchor="ctr" lIns="0" rIns="0" tIns="0" bIns="0"/>
          <a:lstStyle/>
          <a:p>
            <a:pPr algn="ctr"/>
          </a:p>
        </p:txBody>
      </p:sp>
      <p:pic>
        <p:nvPicPr>
          <p:cNvPr id="41" name="Picture 40" descr="users-group-C00000-1_6.png"/>
          <p:cNvPicPr>
            <a:picLocks noChangeAspect="1"/>
          </p:cNvPicPr>
          <p:nvPr/>
        </p:nvPicPr>
        <p:blipFill>
          <a:blip r:embed="rId7"/>
          <a:stretch>
            <a:fillRect/>
          </a:stretch>
        </p:blipFill>
        <p:spPr>
          <a:xfrm>
            <a:off x="8329083" y="4832350"/>
            <a:ext cx="190500" cy="190500"/>
          </a:xfrm>
          <a:prstGeom prst="rect">
            <a:avLst/>
          </a:prstGeom>
        </p:spPr>
      </p:pic>
      <p:sp>
        <p:nvSpPr>
          <p:cNvPr id="42" name="TextBox 41"/>
          <p:cNvSpPr txBox="1"/>
          <p:nvPr/>
        </p:nvSpPr>
        <p:spPr>
          <a:xfrm>
            <a:off x="8703733" y="4749800"/>
            <a:ext cx="2929467" cy="355600"/>
          </a:xfrm>
          <a:prstGeom prst="rect">
            <a:avLst/>
          </a:prstGeom>
          <a:noFill/>
        </p:spPr>
        <p:txBody>
          <a:bodyPr wrap="none" anchor="ctr" lIns="0" tIns="0" rIns="0" bIns="0">
            <a:noAutofit/>
          </a:bodyPr>
          <a:lstStyle/>
          <a:p>
            <a:pPr algn="l" marL="0" indent="0">
              <a:lnSpc>
                <a:spcPts val="1600"/>
              </a:lnSpc>
              <a:buNone/>
            </a:pPr>
            <a:r>
              <a:rPr lang="zh-CN" altLang="en-US" sz="1200" b="1">
                <a:solidFill>
                  <a:srgbClr val="1A1A1A"/>
                </a:solidFill>
                <a:latin typeface="微软雅黑"/>
                <a:ea typeface="微软雅黑"/>
                <a:cs typeface="微软雅黑"/>
              </a:rPr>
              <a:t>人才队伍</a:t>
            </a:r>
          </a:p>
        </p:txBody>
      </p:sp>
      <p:sp>
        <p:nvSpPr>
          <p:cNvPr id="43" name="Rectangle 42"/>
          <p:cNvSpPr/>
          <p:nvPr/>
        </p:nvSpPr>
        <p:spPr>
          <a:xfrm>
            <a:off x="8246533" y="5207000"/>
            <a:ext cx="3386667" cy="1016000"/>
          </a:xfrm>
          <a:prstGeom prst="rect">
            <a:avLst/>
          </a:prstGeom>
          <a:solidFill>
            <a:srgbClr val="FBF6EC"/>
          </a:solidFill>
          <a:ln w="7620">
            <a:solidFill>
              <a:srgbClr val="9E6F28"/>
            </a:solidFill>
            <a:prstDash val="dash"/>
            <a:round/>
          </a:ln>
        </p:spPr>
        <p:txBody>
          <a:bodyPr rtlCol="0" anchor="ctr" lIns="0" rIns="0" tIns="0" bIns="0"/>
          <a:lstStyle/>
          <a:p>
            <a:pPr algn="ctr"/>
          </a:p>
        </p:txBody>
      </p:sp>
      <p:sp>
        <p:nvSpPr>
          <p:cNvPr id="44" name="TextBox 43"/>
          <p:cNvSpPr txBox="1"/>
          <p:nvPr/>
        </p:nvSpPr>
        <p:spPr>
          <a:xfrm>
            <a:off x="8373533" y="5207000"/>
            <a:ext cx="3132667" cy="1016000"/>
          </a:xfrm>
          <a:prstGeom prst="rect">
            <a:avLst/>
          </a:prstGeom>
          <a:noFill/>
        </p:spPr>
        <p:txBody>
          <a:bodyPr wrap="square" anchor="ctr" lIns="0" tIns="0" rIns="0" bIns="0">
            <a:noAutofit/>
          </a:bodyPr>
          <a:lstStyle/>
          <a:p>
            <a:pPr algn="l" marL="0" indent="0">
              <a:lnSpc>
                <a:spcPts val="1350"/>
              </a:lnSpc>
              <a:buNone/>
            </a:pPr>
            <a:r>
              <a:rPr lang="zh-CN" altLang="en-US" sz="900" b="0">
                <a:solidFill>
                  <a:srgbClr val="875D1C"/>
                </a:solidFill>
                <a:latin typeface="微软雅黑"/>
                <a:ea typeface="微软雅黑"/>
                <a:cs typeface="微软雅黑"/>
              </a:rPr>
              <a:t>【待填：参研人员规模与职称结构】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成果介绍</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五项成果 ＋ 知识产权与标准</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19</a:t>
            </a:r>
          </a:p>
        </p:txBody>
      </p:sp>
      <p:sp>
        <p:nvSpPr>
          <p:cNvPr id="6" name="Rectangle 5"/>
          <p:cNvSpPr/>
          <p:nvPr/>
        </p:nvSpPr>
        <p:spPr>
          <a:xfrm>
            <a:off x="406400" y="2082800"/>
            <a:ext cx="3691467" cy="2222500"/>
          </a:xfrm>
          <a:prstGeom prst="rect">
            <a:avLst/>
          </a:prstGeom>
          <a:solidFill>
            <a:srgbClr val="FFFFFF"/>
          </a:solidFill>
          <a:ln w="6350">
            <a:solidFill>
              <a:srgbClr val="E9E9E9"/>
            </a:solidFill>
            <a:round/>
          </a:ln>
        </p:spPr>
        <p:txBody>
          <a:bodyPr rtlCol="0" anchor="ctr" lIns="0" rIns="0" tIns="0" bIns="0"/>
          <a:lstStyle/>
          <a:p>
            <a:pPr algn="ctr"/>
          </a:p>
        </p:txBody>
      </p:sp>
      <p:sp>
        <p:nvSpPr>
          <p:cNvPr id="7" name="Rectangle 6"/>
          <p:cNvSpPr/>
          <p:nvPr/>
        </p:nvSpPr>
        <p:spPr>
          <a:xfrm>
            <a:off x="406400" y="2082800"/>
            <a:ext cx="3691467" cy="19050"/>
          </a:xfrm>
          <a:prstGeom prst="rect">
            <a:avLst/>
          </a:prstGeom>
          <a:solidFill>
            <a:srgbClr val="C00000"/>
          </a:solidFill>
          <a:ln>
            <a:noFill/>
          </a:ln>
        </p:spPr>
        <p:txBody>
          <a:bodyPr rtlCol="0" anchor="ctr" lIns="0" rIns="0" tIns="0" bIns="0"/>
          <a:lstStyle/>
          <a:p>
            <a:pPr algn="ctr"/>
          </a:p>
        </p:txBody>
      </p:sp>
      <p:sp>
        <p:nvSpPr>
          <p:cNvPr id="8" name="Oval 7"/>
          <p:cNvSpPr/>
          <p:nvPr/>
        </p:nvSpPr>
        <p:spPr>
          <a:xfrm>
            <a:off x="558800" y="2222500"/>
            <a:ext cx="330200" cy="330200"/>
          </a:xfrm>
          <a:prstGeom prst="ellipse">
            <a:avLst/>
          </a:prstGeom>
          <a:solidFill>
            <a:srgbClr val="F5F5F5"/>
          </a:solidFill>
          <a:ln>
            <a:noFill/>
          </a:ln>
        </p:spPr>
        <p:txBody>
          <a:bodyPr rtlCol="0" anchor="ctr" lIns="0" rIns="0" tIns="0" bIns="0"/>
          <a:lstStyle/>
          <a:p>
            <a:pPr algn="ctr"/>
          </a:p>
        </p:txBody>
      </p:sp>
      <p:pic>
        <p:nvPicPr>
          <p:cNvPr id="9" name="Picture 8" descr="settings-automation-C00000-1_6.png"/>
          <p:cNvPicPr>
            <a:picLocks noChangeAspect="1"/>
          </p:cNvPicPr>
          <p:nvPr/>
        </p:nvPicPr>
        <p:blipFill>
          <a:blip r:embed="rId2"/>
          <a:stretch>
            <a:fillRect/>
          </a:stretch>
        </p:blipFill>
        <p:spPr>
          <a:xfrm>
            <a:off x="635000" y="2298700"/>
            <a:ext cx="177800" cy="177800"/>
          </a:xfrm>
          <a:prstGeom prst="rect">
            <a:avLst/>
          </a:prstGeom>
        </p:spPr>
      </p:pic>
      <p:sp>
        <p:nvSpPr>
          <p:cNvPr id="10" name="TextBox 9"/>
          <p:cNvSpPr txBox="1"/>
          <p:nvPr/>
        </p:nvSpPr>
        <p:spPr>
          <a:xfrm>
            <a:off x="977900" y="2184400"/>
            <a:ext cx="1905000" cy="165100"/>
          </a:xfrm>
          <a:prstGeom prst="rect">
            <a:avLst/>
          </a:prstGeom>
          <a:noFill/>
        </p:spPr>
        <p:txBody>
          <a:bodyPr wrap="none" anchor="t" lIns="0" tIns="0" rIns="0" bIns="0">
            <a:noAutofit/>
          </a:bodyPr>
          <a:lstStyle/>
          <a:p>
            <a:pPr algn="l" marL="0" indent="0">
              <a:lnSpc>
                <a:spcPts val="1200"/>
              </a:lnSpc>
              <a:buNone/>
            </a:pPr>
            <a:r>
              <a:rPr lang="zh-CN" altLang="en-US" sz="850" b="1">
                <a:solidFill>
                  <a:srgbClr val="C00000"/>
                </a:solidFill>
                <a:latin typeface="微软雅黑"/>
                <a:ea typeface="微软雅黑"/>
                <a:cs typeface="微软雅黑"/>
              </a:rPr>
              <a:t>成果1</a:t>
            </a:r>
            <a:r>
              <a:rPr lang="zh-CN" altLang="en-US" sz="850" b="0">
                <a:solidFill>
                  <a:srgbClr val="C00000"/>
                </a:solidFill>
                <a:latin typeface="微软雅黑"/>
                <a:ea typeface="微软雅黑"/>
                <a:cs typeface="微软雅黑"/>
              </a:rPr>
              <a:t>　</a:t>
            </a:r>
            <a:r>
              <a:rPr lang="zh-CN" altLang="en-US" sz="850" b="0">
                <a:solidFill>
                  <a:srgbClr val="666666"/>
                </a:solidFill>
                <a:latin typeface="微软雅黑"/>
                <a:ea typeface="微软雅黑"/>
                <a:cs typeface="微软雅黑"/>
              </a:rPr>
              <a:t>软件1套</a:t>
            </a:r>
          </a:p>
        </p:txBody>
      </p:sp>
      <p:sp>
        <p:nvSpPr>
          <p:cNvPr id="11" name="TextBox 10"/>
          <p:cNvSpPr txBox="1"/>
          <p:nvPr/>
        </p:nvSpPr>
        <p:spPr>
          <a:xfrm>
            <a:off x="977900" y="2349500"/>
            <a:ext cx="2967567" cy="368300"/>
          </a:xfrm>
          <a:prstGeom prst="rect">
            <a:avLst/>
          </a:prstGeom>
          <a:noFill/>
        </p:spPr>
        <p:txBody>
          <a:bodyPr wrap="square" anchor="t" lIns="0" tIns="0" rIns="0" bIns="0">
            <a:noAutofit/>
          </a:bodyPr>
          <a:lstStyle/>
          <a:p>
            <a:pPr algn="l" marL="0" indent="0">
              <a:lnSpc>
                <a:spcPts val="1450"/>
              </a:lnSpc>
              <a:buNone/>
            </a:pPr>
            <a:r>
              <a:rPr lang="zh-CN" altLang="en-US" sz="1100" b="1">
                <a:solidFill>
                  <a:srgbClr val="1A1A1A"/>
                </a:solidFill>
                <a:latin typeface="微软雅黑"/>
                <a:ea typeface="微软雅黑"/>
                <a:cs typeface="微软雅黑"/>
              </a:rPr>
              <a:t>多智能体协同运行与调度引擎</a:t>
            </a:r>
          </a:p>
        </p:txBody>
      </p:sp>
      <p:grpSp>
        <p:nvGrpSpPr>
          <p:cNvPr id="12" name="附图位置 · 调度引擎软件"/>
          <p:cNvGrpSpPr/>
          <p:nvPr/>
        </p:nvGrpSpPr>
        <p:grpSpPr>
          <a:xfrm>
            <a:off x="558800" y="2781300"/>
            <a:ext cx="3386667" cy="1066800"/>
            <a:chOff x="558800" y="2781300"/>
            <a:chExt cx="3386667" cy="1066800"/>
          </a:xfrm>
        </p:grpSpPr>
        <p:sp>
          <p:nvSpPr>
            <p:cNvPr id="13" name="Rectangle 12"/>
            <p:cNvSpPr/>
            <p:nvPr/>
          </p:nvSpPr>
          <p:spPr>
            <a:xfrm>
              <a:off x="558800" y="2781300"/>
              <a:ext cx="3386667" cy="1066800"/>
            </a:xfrm>
            <a:prstGeom prst="rect">
              <a:avLst/>
            </a:prstGeom>
            <a:solidFill>
              <a:srgbClr val="FBF6EC"/>
            </a:solidFill>
            <a:ln w="7620">
              <a:solidFill>
                <a:srgbClr val="9E6F28"/>
              </a:solidFill>
              <a:prstDash val="dash"/>
              <a:round/>
            </a:ln>
          </p:spPr>
          <p:txBody>
            <a:bodyPr rtlCol="0" anchor="ctr" lIns="0" rIns="0" tIns="0" bIns="0"/>
            <a:lstStyle/>
            <a:p>
              <a:pPr algn="ctr"/>
            </a:p>
          </p:txBody>
        </p:sp>
        <p:pic>
          <p:nvPicPr>
            <p:cNvPr id="14" name="Picture 13" descr="photo-9E6F28-1_6.png"/>
            <p:cNvPicPr>
              <a:picLocks noChangeAspect="1"/>
            </p:cNvPicPr>
            <p:nvPr/>
          </p:nvPicPr>
          <p:blipFill>
            <a:blip r:embed="rId3"/>
            <a:stretch>
              <a:fillRect/>
            </a:stretch>
          </p:blipFill>
          <p:spPr>
            <a:xfrm>
              <a:off x="2125133" y="2971800"/>
              <a:ext cx="254000" cy="254000"/>
            </a:xfrm>
            <a:prstGeom prst="rect">
              <a:avLst/>
            </a:prstGeom>
          </p:spPr>
        </p:pic>
        <p:sp>
          <p:nvSpPr>
            <p:cNvPr id="15" name="TextBox 14"/>
            <p:cNvSpPr txBox="1"/>
            <p:nvPr/>
          </p:nvSpPr>
          <p:spPr>
            <a:xfrm>
              <a:off x="660400" y="3276600"/>
              <a:ext cx="3183467" cy="177800"/>
            </a:xfrm>
            <a:prstGeom prst="rect">
              <a:avLst/>
            </a:prstGeom>
            <a:noFill/>
          </p:spPr>
          <p:txBody>
            <a:bodyPr wrap="none" anchor="t" lIns="0" tIns="0" rIns="0" bIns="0">
              <a:noAutofit/>
            </a:bodyPr>
            <a:lstStyle/>
            <a:p>
              <a:pPr algn="ctr" marL="0" indent="0">
                <a:lnSpc>
                  <a:spcPts val="1300"/>
                </a:lnSpc>
                <a:buNone/>
              </a:pPr>
              <a:r>
                <a:rPr lang="zh-CN" altLang="en-US" sz="900" b="1">
                  <a:solidFill>
                    <a:srgbClr val="875D1C"/>
                  </a:solidFill>
                  <a:latin typeface="微软雅黑"/>
                  <a:ea typeface="微软雅黑"/>
                  <a:cs typeface="微软雅黑"/>
                </a:rPr>
                <a:t>附图位置 · 调度引擎软件</a:t>
              </a:r>
            </a:p>
          </p:txBody>
        </p:sp>
        <p:sp>
          <p:nvSpPr>
            <p:cNvPr id="16" name="TextBox 15"/>
            <p:cNvSpPr txBox="1"/>
            <p:nvPr/>
          </p:nvSpPr>
          <p:spPr>
            <a:xfrm>
              <a:off x="660400" y="3467100"/>
              <a:ext cx="3183467" cy="152400"/>
            </a:xfrm>
            <a:prstGeom prst="rect">
              <a:avLst/>
            </a:prstGeom>
            <a:noFill/>
          </p:spPr>
          <p:txBody>
            <a:bodyPr wrap="none" anchor="t" lIns="0" tIns="0" rIns="0" bIns="0">
              <a:noAutofit/>
            </a:bodyPr>
            <a:lstStyle/>
            <a:p>
              <a:pPr algn="ctr" marL="0" indent="0">
                <a:lnSpc>
                  <a:spcPts val="1100"/>
                </a:lnSpc>
                <a:buNone/>
              </a:pPr>
              <a:r>
                <a:rPr lang="zh-CN" altLang="en-US" sz="750" b="0">
                  <a:solidFill>
                    <a:srgbClr val="875D1C"/>
                  </a:solidFill>
                  <a:latin typeface="微软雅黑"/>
                  <a:ea typeface="微软雅黑"/>
                  <a:cs typeface="微软雅黑"/>
                </a:rPr>
                <a:t>建议：软件界面截图或系统架构图</a:t>
              </a:r>
            </a:p>
          </p:txBody>
        </p:sp>
      </p:grpSp>
      <p:sp>
        <p:nvSpPr>
          <p:cNvPr id="17" name="TextBox 16"/>
          <p:cNvSpPr txBox="1"/>
          <p:nvPr/>
        </p:nvSpPr>
        <p:spPr>
          <a:xfrm>
            <a:off x="558800" y="3924300"/>
            <a:ext cx="3386667" cy="355600"/>
          </a:xfrm>
          <a:prstGeom prst="rect">
            <a:avLst/>
          </a:prstGeom>
          <a:noFill/>
        </p:spPr>
        <p:txBody>
          <a:bodyPr wrap="square" anchor="t"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输入验证需求，自动完成</a:t>
            </a:r>
            <a:r>
              <a:rPr lang="zh-CN" altLang="en-US" sz="900" b="1">
                <a:solidFill>
                  <a:srgbClr val="1A1A1A"/>
                </a:solidFill>
                <a:latin typeface="微软雅黑"/>
                <a:ea typeface="微软雅黑"/>
                <a:cs typeface="微软雅黑"/>
              </a:rPr>
              <a:t>分解、装配、调度、监控与报告</a:t>
            </a:r>
          </a:p>
        </p:txBody>
      </p:sp>
      <p:sp>
        <p:nvSpPr>
          <p:cNvPr id="18" name="Rectangle 17"/>
          <p:cNvSpPr/>
          <p:nvPr/>
        </p:nvSpPr>
        <p:spPr>
          <a:xfrm>
            <a:off x="4250267" y="2082800"/>
            <a:ext cx="3691467" cy="2222500"/>
          </a:xfrm>
          <a:prstGeom prst="rect">
            <a:avLst/>
          </a:prstGeom>
          <a:solidFill>
            <a:srgbClr val="FFFFFF"/>
          </a:solidFill>
          <a:ln w="6350">
            <a:solidFill>
              <a:srgbClr val="E9E9E9"/>
            </a:solidFill>
            <a:round/>
          </a:ln>
        </p:spPr>
        <p:txBody>
          <a:bodyPr rtlCol="0" anchor="ctr" lIns="0" rIns="0" tIns="0" bIns="0"/>
          <a:lstStyle/>
          <a:p>
            <a:pPr algn="ctr"/>
          </a:p>
        </p:txBody>
      </p:sp>
      <p:sp>
        <p:nvSpPr>
          <p:cNvPr id="19" name="Rectangle 18"/>
          <p:cNvSpPr/>
          <p:nvPr/>
        </p:nvSpPr>
        <p:spPr>
          <a:xfrm>
            <a:off x="4250267" y="2082800"/>
            <a:ext cx="3691467" cy="19050"/>
          </a:xfrm>
          <a:prstGeom prst="rect">
            <a:avLst/>
          </a:prstGeom>
          <a:solidFill>
            <a:srgbClr val="C00000"/>
          </a:solidFill>
          <a:ln>
            <a:noFill/>
          </a:ln>
        </p:spPr>
        <p:txBody>
          <a:bodyPr rtlCol="0" anchor="ctr" lIns="0" rIns="0" tIns="0" bIns="0"/>
          <a:lstStyle/>
          <a:p>
            <a:pPr algn="ctr"/>
          </a:p>
        </p:txBody>
      </p:sp>
      <p:sp>
        <p:nvSpPr>
          <p:cNvPr id="20" name="Oval 19"/>
          <p:cNvSpPr/>
          <p:nvPr/>
        </p:nvSpPr>
        <p:spPr>
          <a:xfrm>
            <a:off x="4402667" y="2222500"/>
            <a:ext cx="330200" cy="330200"/>
          </a:xfrm>
          <a:prstGeom prst="ellipse">
            <a:avLst/>
          </a:prstGeom>
          <a:solidFill>
            <a:srgbClr val="F5F5F5"/>
          </a:solidFill>
          <a:ln>
            <a:noFill/>
          </a:ln>
        </p:spPr>
        <p:txBody>
          <a:bodyPr rtlCol="0" anchor="ctr" lIns="0" rIns="0" tIns="0" bIns="0"/>
          <a:lstStyle/>
          <a:p>
            <a:pPr algn="ctr"/>
          </a:p>
        </p:txBody>
      </p:sp>
      <p:pic>
        <p:nvPicPr>
          <p:cNvPr id="21" name="Picture 20" descr="robot-C00000-1_6.png"/>
          <p:cNvPicPr>
            <a:picLocks noChangeAspect="1"/>
          </p:cNvPicPr>
          <p:nvPr/>
        </p:nvPicPr>
        <p:blipFill>
          <a:blip r:embed="rId4"/>
          <a:stretch>
            <a:fillRect/>
          </a:stretch>
        </p:blipFill>
        <p:spPr>
          <a:xfrm>
            <a:off x="4478867" y="2298700"/>
            <a:ext cx="177800" cy="177800"/>
          </a:xfrm>
          <a:prstGeom prst="rect">
            <a:avLst/>
          </a:prstGeom>
        </p:spPr>
      </p:pic>
      <p:sp>
        <p:nvSpPr>
          <p:cNvPr id="22" name="TextBox 21"/>
          <p:cNvSpPr txBox="1"/>
          <p:nvPr/>
        </p:nvSpPr>
        <p:spPr>
          <a:xfrm>
            <a:off x="4821767" y="2184400"/>
            <a:ext cx="1905000" cy="165100"/>
          </a:xfrm>
          <a:prstGeom prst="rect">
            <a:avLst/>
          </a:prstGeom>
          <a:noFill/>
        </p:spPr>
        <p:txBody>
          <a:bodyPr wrap="none" anchor="t" lIns="0" tIns="0" rIns="0" bIns="0">
            <a:noAutofit/>
          </a:bodyPr>
          <a:lstStyle/>
          <a:p>
            <a:pPr algn="l" marL="0" indent="0">
              <a:lnSpc>
                <a:spcPts val="1200"/>
              </a:lnSpc>
              <a:buNone/>
            </a:pPr>
            <a:r>
              <a:rPr lang="zh-CN" altLang="en-US" sz="850" b="1">
                <a:solidFill>
                  <a:srgbClr val="C00000"/>
                </a:solidFill>
                <a:latin typeface="微软雅黑"/>
                <a:ea typeface="微软雅黑"/>
                <a:cs typeface="微软雅黑"/>
              </a:rPr>
              <a:t>成果2</a:t>
            </a:r>
            <a:r>
              <a:rPr lang="zh-CN" altLang="en-US" sz="850" b="0">
                <a:solidFill>
                  <a:srgbClr val="C00000"/>
                </a:solidFill>
                <a:latin typeface="微软雅黑"/>
                <a:ea typeface="微软雅黑"/>
                <a:cs typeface="微软雅黑"/>
              </a:rPr>
              <a:t>　</a:t>
            </a:r>
            <a:r>
              <a:rPr lang="zh-CN" altLang="en-US" sz="850" b="0">
                <a:solidFill>
                  <a:srgbClr val="666666"/>
                </a:solidFill>
                <a:latin typeface="微软雅黑"/>
                <a:ea typeface="微软雅黑"/>
                <a:cs typeface="微软雅黑"/>
              </a:rPr>
              <a:t>1套</a:t>
            </a:r>
          </a:p>
        </p:txBody>
      </p:sp>
      <p:sp>
        <p:nvSpPr>
          <p:cNvPr id="23" name="TextBox 22"/>
          <p:cNvSpPr txBox="1"/>
          <p:nvPr/>
        </p:nvSpPr>
        <p:spPr>
          <a:xfrm>
            <a:off x="4821767" y="2349500"/>
            <a:ext cx="2967567" cy="368300"/>
          </a:xfrm>
          <a:prstGeom prst="rect">
            <a:avLst/>
          </a:prstGeom>
          <a:noFill/>
        </p:spPr>
        <p:txBody>
          <a:bodyPr wrap="square" anchor="t" lIns="0" tIns="0" rIns="0" bIns="0">
            <a:noAutofit/>
          </a:bodyPr>
          <a:lstStyle/>
          <a:p>
            <a:pPr algn="l" marL="0" indent="0">
              <a:lnSpc>
                <a:spcPts val="1450"/>
              </a:lnSpc>
              <a:buNone/>
            </a:pPr>
            <a:r>
              <a:rPr lang="zh-CN" altLang="en-US" sz="1100" b="1">
                <a:solidFill>
                  <a:srgbClr val="1A1A1A"/>
                </a:solidFill>
                <a:latin typeface="微软雅黑"/>
                <a:ea typeface="微软雅黑"/>
                <a:cs typeface="微软雅黑"/>
              </a:rPr>
              <a:t>关键系统仿真智能体／</a:t>
            </a:r>
            <a:br>
              <a:rPr lang="zh-CN" altLang="en-US" sz="1100"/>
            </a:br>
            <a:r>
              <a:rPr lang="zh-CN" altLang="en-US" sz="1100" b="1">
                <a:solidFill>
                  <a:srgbClr val="1A1A1A"/>
                </a:solidFill>
                <a:latin typeface="微软雅黑"/>
                <a:ea typeface="微软雅黑"/>
                <a:cs typeface="微软雅黑"/>
              </a:rPr>
              <a:t>智能孪生模型</a:t>
            </a:r>
          </a:p>
        </p:txBody>
      </p:sp>
      <p:grpSp>
        <p:nvGrpSpPr>
          <p:cNvPr id="24" name="附图位置 · 仿真智能体／孪生模型"/>
          <p:cNvGrpSpPr/>
          <p:nvPr/>
        </p:nvGrpSpPr>
        <p:grpSpPr>
          <a:xfrm>
            <a:off x="4402667" y="2781300"/>
            <a:ext cx="3386667" cy="1066800"/>
            <a:chOff x="4402667" y="2781300"/>
            <a:chExt cx="3386667" cy="1066800"/>
          </a:xfrm>
        </p:grpSpPr>
        <p:sp>
          <p:nvSpPr>
            <p:cNvPr id="25" name="Rectangle 24"/>
            <p:cNvSpPr/>
            <p:nvPr/>
          </p:nvSpPr>
          <p:spPr>
            <a:xfrm>
              <a:off x="4402667" y="2781300"/>
              <a:ext cx="3386667" cy="1066800"/>
            </a:xfrm>
            <a:prstGeom prst="rect">
              <a:avLst/>
            </a:prstGeom>
            <a:solidFill>
              <a:srgbClr val="FBF6EC"/>
            </a:solidFill>
            <a:ln w="7620">
              <a:solidFill>
                <a:srgbClr val="9E6F28"/>
              </a:solidFill>
              <a:prstDash val="dash"/>
              <a:round/>
            </a:ln>
          </p:spPr>
          <p:txBody>
            <a:bodyPr rtlCol="0" anchor="ctr" lIns="0" rIns="0" tIns="0" bIns="0"/>
            <a:lstStyle/>
            <a:p>
              <a:pPr algn="ctr"/>
            </a:p>
          </p:txBody>
        </p:sp>
        <p:pic>
          <p:nvPicPr>
            <p:cNvPr id="26" name="Picture 25" descr="photo-9E6F28-1_6.png"/>
            <p:cNvPicPr>
              <a:picLocks noChangeAspect="1"/>
            </p:cNvPicPr>
            <p:nvPr/>
          </p:nvPicPr>
          <p:blipFill>
            <a:blip r:embed="rId3"/>
            <a:stretch>
              <a:fillRect/>
            </a:stretch>
          </p:blipFill>
          <p:spPr>
            <a:xfrm>
              <a:off x="5969000" y="2971800"/>
              <a:ext cx="254000" cy="254000"/>
            </a:xfrm>
            <a:prstGeom prst="rect">
              <a:avLst/>
            </a:prstGeom>
          </p:spPr>
        </p:pic>
        <p:sp>
          <p:nvSpPr>
            <p:cNvPr id="27" name="TextBox 26"/>
            <p:cNvSpPr txBox="1"/>
            <p:nvPr/>
          </p:nvSpPr>
          <p:spPr>
            <a:xfrm>
              <a:off x="4504267" y="3276600"/>
              <a:ext cx="3183467" cy="177800"/>
            </a:xfrm>
            <a:prstGeom prst="rect">
              <a:avLst/>
            </a:prstGeom>
            <a:noFill/>
          </p:spPr>
          <p:txBody>
            <a:bodyPr wrap="none" anchor="t" lIns="0" tIns="0" rIns="0" bIns="0">
              <a:noAutofit/>
            </a:bodyPr>
            <a:lstStyle/>
            <a:p>
              <a:pPr algn="ctr" marL="0" indent="0">
                <a:lnSpc>
                  <a:spcPts val="1300"/>
                </a:lnSpc>
                <a:buNone/>
              </a:pPr>
              <a:r>
                <a:rPr lang="zh-CN" altLang="en-US" sz="900" b="1">
                  <a:solidFill>
                    <a:srgbClr val="875D1C"/>
                  </a:solidFill>
                  <a:latin typeface="微软雅黑"/>
                  <a:ea typeface="微软雅黑"/>
                  <a:cs typeface="微软雅黑"/>
                </a:rPr>
                <a:t>附图位置 · 仿真智能体／孪生模型</a:t>
              </a:r>
            </a:p>
          </p:txBody>
        </p:sp>
        <p:sp>
          <p:nvSpPr>
            <p:cNvPr id="28" name="TextBox 27"/>
            <p:cNvSpPr txBox="1"/>
            <p:nvPr/>
          </p:nvSpPr>
          <p:spPr>
            <a:xfrm>
              <a:off x="4504267" y="3467100"/>
              <a:ext cx="3183467" cy="152400"/>
            </a:xfrm>
            <a:prstGeom prst="rect">
              <a:avLst/>
            </a:prstGeom>
            <a:noFill/>
          </p:spPr>
          <p:txBody>
            <a:bodyPr wrap="none" anchor="t" lIns="0" tIns="0" rIns="0" bIns="0">
              <a:noAutofit/>
            </a:bodyPr>
            <a:lstStyle/>
            <a:p>
              <a:pPr algn="ctr" marL="0" indent="0">
                <a:lnSpc>
                  <a:spcPts val="1100"/>
                </a:lnSpc>
                <a:buNone/>
              </a:pPr>
              <a:r>
                <a:rPr lang="zh-CN" altLang="en-US" sz="750" b="0">
                  <a:solidFill>
                    <a:srgbClr val="875D1C"/>
                  </a:solidFill>
                  <a:latin typeface="微软雅黑"/>
                  <a:ea typeface="微软雅黑"/>
                  <a:cs typeface="微软雅黑"/>
                </a:rPr>
                <a:t>建议：模型结构图或仿真运行界面截图</a:t>
              </a:r>
            </a:p>
          </p:txBody>
        </p:sp>
      </p:grpSp>
      <p:sp>
        <p:nvSpPr>
          <p:cNvPr id="29" name="TextBox 28"/>
          <p:cNvSpPr txBox="1"/>
          <p:nvPr/>
        </p:nvSpPr>
        <p:spPr>
          <a:xfrm>
            <a:off x="4402667" y="3924300"/>
            <a:ext cx="3386667" cy="355600"/>
          </a:xfrm>
          <a:prstGeom prst="rect">
            <a:avLst/>
          </a:prstGeom>
          <a:noFill/>
        </p:spPr>
        <p:txBody>
          <a:bodyPr wrap="square" anchor="t"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控制系统、车辆动力学、线路等，按实测数据</a:t>
            </a:r>
            <a:r>
              <a:rPr lang="zh-CN" altLang="en-US" sz="900" b="1">
                <a:solidFill>
                  <a:srgbClr val="1A1A1A"/>
                </a:solidFill>
                <a:latin typeface="微软雅黑"/>
                <a:ea typeface="微软雅黑"/>
                <a:cs typeface="微软雅黑"/>
              </a:rPr>
              <a:t>自动标定</a:t>
            </a:r>
          </a:p>
        </p:txBody>
      </p:sp>
      <p:sp>
        <p:nvSpPr>
          <p:cNvPr id="30" name="Rectangle 29"/>
          <p:cNvSpPr/>
          <p:nvPr/>
        </p:nvSpPr>
        <p:spPr>
          <a:xfrm>
            <a:off x="8094133" y="2082800"/>
            <a:ext cx="3691467" cy="2222500"/>
          </a:xfrm>
          <a:prstGeom prst="rect">
            <a:avLst/>
          </a:prstGeom>
          <a:solidFill>
            <a:srgbClr val="FFFFFF"/>
          </a:solidFill>
          <a:ln w="6350">
            <a:solidFill>
              <a:srgbClr val="E9E9E9"/>
            </a:solidFill>
            <a:round/>
          </a:ln>
        </p:spPr>
        <p:txBody>
          <a:bodyPr rtlCol="0" anchor="ctr" lIns="0" rIns="0" tIns="0" bIns="0"/>
          <a:lstStyle/>
          <a:p>
            <a:pPr algn="ctr"/>
          </a:p>
        </p:txBody>
      </p:sp>
      <p:sp>
        <p:nvSpPr>
          <p:cNvPr id="31" name="Rectangle 30"/>
          <p:cNvSpPr/>
          <p:nvPr/>
        </p:nvSpPr>
        <p:spPr>
          <a:xfrm>
            <a:off x="8094133" y="2082800"/>
            <a:ext cx="3691467" cy="19050"/>
          </a:xfrm>
          <a:prstGeom prst="rect">
            <a:avLst/>
          </a:prstGeom>
          <a:solidFill>
            <a:srgbClr val="C00000"/>
          </a:solidFill>
          <a:ln>
            <a:noFill/>
          </a:ln>
        </p:spPr>
        <p:txBody>
          <a:bodyPr rtlCol="0" anchor="ctr" lIns="0" rIns="0" tIns="0" bIns="0"/>
          <a:lstStyle/>
          <a:p>
            <a:pPr algn="ctr"/>
          </a:p>
        </p:txBody>
      </p:sp>
      <p:sp>
        <p:nvSpPr>
          <p:cNvPr id="32" name="Oval 31"/>
          <p:cNvSpPr/>
          <p:nvPr/>
        </p:nvSpPr>
        <p:spPr>
          <a:xfrm>
            <a:off x="8246533" y="2222500"/>
            <a:ext cx="330200" cy="330200"/>
          </a:xfrm>
          <a:prstGeom prst="ellipse">
            <a:avLst/>
          </a:prstGeom>
          <a:solidFill>
            <a:srgbClr val="F5F5F5"/>
          </a:solidFill>
          <a:ln>
            <a:noFill/>
          </a:ln>
        </p:spPr>
        <p:txBody>
          <a:bodyPr rtlCol="0" anchor="ctr" lIns="0" rIns="0" tIns="0" bIns="0"/>
          <a:lstStyle/>
          <a:p>
            <a:pPr algn="ctr"/>
          </a:p>
        </p:txBody>
      </p:sp>
      <p:pic>
        <p:nvPicPr>
          <p:cNvPr id="33" name="Picture 32" descr="train-C00000-1_6.png"/>
          <p:cNvPicPr>
            <a:picLocks noChangeAspect="1"/>
          </p:cNvPicPr>
          <p:nvPr/>
        </p:nvPicPr>
        <p:blipFill>
          <a:blip r:embed="rId5"/>
          <a:stretch>
            <a:fillRect/>
          </a:stretch>
        </p:blipFill>
        <p:spPr>
          <a:xfrm>
            <a:off x="8322733" y="2298700"/>
            <a:ext cx="177800" cy="177800"/>
          </a:xfrm>
          <a:prstGeom prst="rect">
            <a:avLst/>
          </a:prstGeom>
        </p:spPr>
      </p:pic>
      <p:sp>
        <p:nvSpPr>
          <p:cNvPr id="34" name="TextBox 33"/>
          <p:cNvSpPr txBox="1"/>
          <p:nvPr/>
        </p:nvSpPr>
        <p:spPr>
          <a:xfrm>
            <a:off x="8665633" y="2184400"/>
            <a:ext cx="1905000" cy="165100"/>
          </a:xfrm>
          <a:prstGeom prst="rect">
            <a:avLst/>
          </a:prstGeom>
          <a:noFill/>
        </p:spPr>
        <p:txBody>
          <a:bodyPr wrap="none" anchor="t" lIns="0" tIns="0" rIns="0" bIns="0">
            <a:noAutofit/>
          </a:bodyPr>
          <a:lstStyle/>
          <a:p>
            <a:pPr algn="l" marL="0" indent="0">
              <a:lnSpc>
                <a:spcPts val="1200"/>
              </a:lnSpc>
              <a:buNone/>
            </a:pPr>
            <a:r>
              <a:rPr lang="zh-CN" altLang="en-US" sz="850" b="1">
                <a:solidFill>
                  <a:srgbClr val="C00000"/>
                </a:solidFill>
                <a:latin typeface="微软雅黑"/>
                <a:ea typeface="微软雅黑"/>
                <a:cs typeface="微软雅黑"/>
              </a:rPr>
              <a:t>成果3</a:t>
            </a:r>
            <a:r>
              <a:rPr lang="zh-CN" altLang="en-US" sz="850" b="0">
                <a:solidFill>
                  <a:srgbClr val="C00000"/>
                </a:solidFill>
                <a:latin typeface="微软雅黑"/>
                <a:ea typeface="微软雅黑"/>
                <a:cs typeface="微软雅黑"/>
              </a:rPr>
              <a:t>　</a:t>
            </a:r>
            <a:r>
              <a:rPr lang="zh-CN" altLang="en-US" sz="850" b="0">
                <a:solidFill>
                  <a:srgbClr val="666666"/>
                </a:solidFill>
                <a:latin typeface="微软雅黑"/>
                <a:ea typeface="微软雅黑"/>
                <a:cs typeface="微软雅黑"/>
              </a:rPr>
              <a:t>1套</a:t>
            </a:r>
          </a:p>
        </p:txBody>
      </p:sp>
      <p:sp>
        <p:nvSpPr>
          <p:cNvPr id="35" name="TextBox 34"/>
          <p:cNvSpPr txBox="1"/>
          <p:nvPr/>
        </p:nvSpPr>
        <p:spPr>
          <a:xfrm>
            <a:off x="8665633" y="2349500"/>
            <a:ext cx="2967567" cy="368300"/>
          </a:xfrm>
          <a:prstGeom prst="rect">
            <a:avLst/>
          </a:prstGeom>
          <a:noFill/>
        </p:spPr>
        <p:txBody>
          <a:bodyPr wrap="square" anchor="t" lIns="0" tIns="0" rIns="0" bIns="0">
            <a:noAutofit/>
          </a:bodyPr>
          <a:lstStyle/>
          <a:p>
            <a:pPr algn="l" marL="0" indent="0">
              <a:lnSpc>
                <a:spcPts val="1450"/>
              </a:lnSpc>
              <a:buNone/>
            </a:pPr>
            <a:r>
              <a:rPr lang="zh-CN" altLang="en-US" sz="1100" b="1">
                <a:solidFill>
                  <a:srgbClr val="1A1A1A"/>
                </a:solidFill>
                <a:latin typeface="微软雅黑"/>
                <a:ea typeface="微软雅黑"/>
                <a:cs typeface="微软雅黑"/>
              </a:rPr>
              <a:t>列车级数字样机</a:t>
            </a:r>
          </a:p>
        </p:txBody>
      </p:sp>
      <p:grpSp>
        <p:nvGrpSpPr>
          <p:cNvPr id="36" name="附图位置 · 列车级数字样机"/>
          <p:cNvGrpSpPr/>
          <p:nvPr/>
        </p:nvGrpSpPr>
        <p:grpSpPr>
          <a:xfrm>
            <a:off x="8246533" y="2781300"/>
            <a:ext cx="3386667" cy="1066800"/>
            <a:chOff x="8246533" y="2781300"/>
            <a:chExt cx="3386667" cy="1066800"/>
          </a:xfrm>
        </p:grpSpPr>
        <p:sp>
          <p:nvSpPr>
            <p:cNvPr id="37" name="Rectangle 36"/>
            <p:cNvSpPr/>
            <p:nvPr/>
          </p:nvSpPr>
          <p:spPr>
            <a:xfrm>
              <a:off x="8246533" y="2781300"/>
              <a:ext cx="3386667" cy="1066800"/>
            </a:xfrm>
            <a:prstGeom prst="rect">
              <a:avLst/>
            </a:prstGeom>
            <a:solidFill>
              <a:srgbClr val="FBF6EC"/>
            </a:solidFill>
            <a:ln w="7620">
              <a:solidFill>
                <a:srgbClr val="9E6F28"/>
              </a:solidFill>
              <a:prstDash val="dash"/>
              <a:round/>
            </a:ln>
          </p:spPr>
          <p:txBody>
            <a:bodyPr rtlCol="0" anchor="ctr" lIns="0" rIns="0" tIns="0" bIns="0"/>
            <a:lstStyle/>
            <a:p>
              <a:pPr algn="ctr"/>
            </a:p>
          </p:txBody>
        </p:sp>
        <p:pic>
          <p:nvPicPr>
            <p:cNvPr id="38" name="Picture 37" descr="photo-9E6F28-1_6.png"/>
            <p:cNvPicPr>
              <a:picLocks noChangeAspect="1"/>
            </p:cNvPicPr>
            <p:nvPr/>
          </p:nvPicPr>
          <p:blipFill>
            <a:blip r:embed="rId3"/>
            <a:stretch>
              <a:fillRect/>
            </a:stretch>
          </p:blipFill>
          <p:spPr>
            <a:xfrm>
              <a:off x="9812867" y="2971800"/>
              <a:ext cx="254000" cy="254000"/>
            </a:xfrm>
            <a:prstGeom prst="rect">
              <a:avLst/>
            </a:prstGeom>
          </p:spPr>
        </p:pic>
        <p:sp>
          <p:nvSpPr>
            <p:cNvPr id="39" name="TextBox 38"/>
            <p:cNvSpPr txBox="1"/>
            <p:nvPr/>
          </p:nvSpPr>
          <p:spPr>
            <a:xfrm>
              <a:off x="8348133" y="3276600"/>
              <a:ext cx="3183467" cy="177800"/>
            </a:xfrm>
            <a:prstGeom prst="rect">
              <a:avLst/>
            </a:prstGeom>
            <a:noFill/>
          </p:spPr>
          <p:txBody>
            <a:bodyPr wrap="none" anchor="t" lIns="0" tIns="0" rIns="0" bIns="0">
              <a:noAutofit/>
            </a:bodyPr>
            <a:lstStyle/>
            <a:p>
              <a:pPr algn="ctr" marL="0" indent="0">
                <a:lnSpc>
                  <a:spcPts val="1300"/>
                </a:lnSpc>
                <a:buNone/>
              </a:pPr>
              <a:r>
                <a:rPr lang="zh-CN" altLang="en-US" sz="900" b="1">
                  <a:solidFill>
                    <a:srgbClr val="875D1C"/>
                  </a:solidFill>
                  <a:latin typeface="微软雅黑"/>
                  <a:ea typeface="微软雅黑"/>
                  <a:cs typeface="微软雅黑"/>
                </a:rPr>
                <a:t>附图位置 · 列车级数字样机</a:t>
              </a:r>
            </a:p>
          </p:txBody>
        </p:sp>
        <p:sp>
          <p:nvSpPr>
            <p:cNvPr id="40" name="TextBox 39"/>
            <p:cNvSpPr txBox="1"/>
            <p:nvPr/>
          </p:nvSpPr>
          <p:spPr>
            <a:xfrm>
              <a:off x="8348133" y="3467100"/>
              <a:ext cx="3183467" cy="152400"/>
            </a:xfrm>
            <a:prstGeom prst="rect">
              <a:avLst/>
            </a:prstGeom>
            <a:noFill/>
          </p:spPr>
          <p:txBody>
            <a:bodyPr wrap="none" anchor="t" lIns="0" tIns="0" rIns="0" bIns="0">
              <a:noAutofit/>
            </a:bodyPr>
            <a:lstStyle/>
            <a:p>
              <a:pPr algn="ctr" marL="0" indent="0">
                <a:lnSpc>
                  <a:spcPts val="1100"/>
                </a:lnSpc>
                <a:buNone/>
              </a:pPr>
              <a:r>
                <a:rPr lang="zh-CN" altLang="en-US" sz="750" b="0">
                  <a:solidFill>
                    <a:srgbClr val="875D1C"/>
                  </a:solidFill>
                  <a:latin typeface="微软雅黑"/>
                  <a:ea typeface="微软雅黑"/>
                  <a:cs typeface="微软雅黑"/>
                </a:rPr>
                <a:t>建议：数字样机三维模型或运行界面截图</a:t>
              </a:r>
            </a:p>
          </p:txBody>
        </p:sp>
      </p:grpSp>
      <p:sp>
        <p:nvSpPr>
          <p:cNvPr id="41" name="TextBox 40"/>
          <p:cNvSpPr txBox="1"/>
          <p:nvPr/>
        </p:nvSpPr>
        <p:spPr>
          <a:xfrm>
            <a:off x="8246533" y="3924300"/>
            <a:ext cx="3386667" cy="355600"/>
          </a:xfrm>
          <a:prstGeom prst="rect">
            <a:avLst/>
          </a:prstGeom>
          <a:noFill/>
        </p:spPr>
        <p:txBody>
          <a:bodyPr wrap="square" anchor="t"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以 </a:t>
            </a:r>
            <a:r>
              <a:rPr lang="zh-CN" altLang="en-US" sz="900" b="1">
                <a:solidFill>
                  <a:srgbClr val="1A1A1A"/>
                </a:solidFill>
                <a:latin typeface="微软雅黑"/>
                <a:ea typeface="微软雅黑"/>
                <a:cs typeface="微软雅黑"/>
              </a:rPr>
              <a:t>FXN5C</a:t>
            </a:r>
            <a:r>
              <a:rPr lang="zh-CN" altLang="en-US" sz="900" b="0">
                <a:solidFill>
                  <a:srgbClr val="3D3D3D"/>
                </a:solidFill>
                <a:latin typeface="微软雅黑"/>
                <a:ea typeface="微软雅黑"/>
                <a:cs typeface="微软雅黑"/>
              </a:rPr>
              <a:t> 为对象，用于回归验证与问题复现</a:t>
            </a:r>
          </a:p>
        </p:txBody>
      </p:sp>
      <p:sp>
        <p:nvSpPr>
          <p:cNvPr id="42" name="Rectangle 41"/>
          <p:cNvSpPr/>
          <p:nvPr/>
        </p:nvSpPr>
        <p:spPr>
          <a:xfrm>
            <a:off x="406400" y="4432300"/>
            <a:ext cx="5842000" cy="914400"/>
          </a:xfrm>
          <a:prstGeom prst="rect">
            <a:avLst/>
          </a:prstGeom>
          <a:solidFill>
            <a:srgbClr val="FFFFFF"/>
          </a:solidFill>
          <a:ln w="6350">
            <a:solidFill>
              <a:srgbClr val="E9E9E9"/>
            </a:solidFill>
            <a:round/>
          </a:ln>
        </p:spPr>
        <p:txBody>
          <a:bodyPr rtlCol="0" anchor="ctr" lIns="0" rIns="0" tIns="0" bIns="0"/>
          <a:lstStyle/>
          <a:p>
            <a:pPr algn="ctr"/>
          </a:p>
        </p:txBody>
      </p:sp>
      <p:sp>
        <p:nvSpPr>
          <p:cNvPr id="43" name="Rectangle 42"/>
          <p:cNvSpPr/>
          <p:nvPr/>
        </p:nvSpPr>
        <p:spPr>
          <a:xfrm>
            <a:off x="406400" y="4432300"/>
            <a:ext cx="19050" cy="914400"/>
          </a:xfrm>
          <a:prstGeom prst="rect">
            <a:avLst/>
          </a:prstGeom>
          <a:solidFill>
            <a:srgbClr val="C00000"/>
          </a:solidFill>
          <a:ln>
            <a:noFill/>
          </a:ln>
        </p:spPr>
        <p:txBody>
          <a:bodyPr rtlCol="0" anchor="ctr" lIns="0" rIns="0" tIns="0" bIns="0"/>
          <a:lstStyle/>
          <a:p>
            <a:pPr algn="ctr"/>
          </a:p>
        </p:txBody>
      </p:sp>
      <p:sp>
        <p:nvSpPr>
          <p:cNvPr id="44" name="Oval 43"/>
          <p:cNvSpPr/>
          <p:nvPr/>
        </p:nvSpPr>
        <p:spPr>
          <a:xfrm>
            <a:off x="558800" y="4711700"/>
            <a:ext cx="355600" cy="355600"/>
          </a:xfrm>
          <a:prstGeom prst="ellipse">
            <a:avLst/>
          </a:prstGeom>
          <a:solidFill>
            <a:srgbClr val="F5F5F5"/>
          </a:solidFill>
          <a:ln>
            <a:noFill/>
          </a:ln>
        </p:spPr>
        <p:txBody>
          <a:bodyPr rtlCol="0" anchor="ctr" lIns="0" rIns="0" tIns="0" bIns="0"/>
          <a:lstStyle/>
          <a:p>
            <a:pPr algn="ctr"/>
          </a:p>
        </p:txBody>
      </p:sp>
      <p:pic>
        <p:nvPicPr>
          <p:cNvPr id="45" name="Picture 44" descr="file-certificate-C00000-1_6.png"/>
          <p:cNvPicPr>
            <a:picLocks noChangeAspect="1"/>
          </p:cNvPicPr>
          <p:nvPr/>
        </p:nvPicPr>
        <p:blipFill>
          <a:blip r:embed="rId6"/>
          <a:stretch>
            <a:fillRect/>
          </a:stretch>
        </p:blipFill>
        <p:spPr>
          <a:xfrm>
            <a:off x="641350" y="4794250"/>
            <a:ext cx="190500" cy="190500"/>
          </a:xfrm>
          <a:prstGeom prst="rect">
            <a:avLst/>
          </a:prstGeom>
        </p:spPr>
      </p:pic>
      <p:sp>
        <p:nvSpPr>
          <p:cNvPr id="46" name="TextBox 45"/>
          <p:cNvSpPr txBox="1"/>
          <p:nvPr/>
        </p:nvSpPr>
        <p:spPr>
          <a:xfrm>
            <a:off x="1066800" y="4683125"/>
            <a:ext cx="4597400" cy="203200"/>
          </a:xfrm>
          <a:prstGeom prst="rect">
            <a:avLst/>
          </a:prstGeom>
          <a:noFill/>
        </p:spPr>
        <p:txBody>
          <a:bodyPr wrap="none" anchor="t" lIns="0" tIns="0" rIns="0" bIns="0">
            <a:noAutofit/>
          </a:bodyPr>
          <a:lstStyle/>
          <a:p>
            <a:pPr algn="l" marL="0" indent="0">
              <a:lnSpc>
                <a:spcPts val="1400"/>
              </a:lnSpc>
              <a:buNone/>
            </a:pPr>
            <a:r>
              <a:rPr lang="zh-CN" altLang="en-US" sz="1000" b="1">
                <a:solidFill>
                  <a:srgbClr val="C00000"/>
                </a:solidFill>
                <a:latin typeface="微软雅黑"/>
                <a:ea typeface="微软雅黑"/>
                <a:cs typeface="微软雅黑"/>
              </a:rPr>
              <a:t>成果4</a:t>
            </a:r>
            <a:r>
              <a:rPr lang="zh-CN" altLang="en-US" sz="1000" b="1">
                <a:solidFill>
                  <a:srgbClr val="1A1A1A"/>
                </a:solidFill>
                <a:latin typeface="微软雅黑"/>
                <a:ea typeface="微软雅黑"/>
                <a:cs typeface="微软雅黑"/>
              </a:rPr>
              <a:t>　列车级数字样机构建方法体系与技术规范　</a:t>
            </a:r>
            <a:r>
              <a:rPr lang="zh-CN" altLang="en-US" sz="1000" b="1">
                <a:solidFill>
                  <a:srgbClr val="666666"/>
                </a:solidFill>
                <a:latin typeface="微软雅黑"/>
                <a:ea typeface="微软雅黑"/>
                <a:cs typeface="微软雅黑"/>
              </a:rPr>
              <a:t>1套</a:t>
            </a:r>
          </a:p>
        </p:txBody>
      </p:sp>
      <p:sp>
        <p:nvSpPr>
          <p:cNvPr id="47" name="TextBox 46"/>
          <p:cNvSpPr txBox="1"/>
          <p:nvPr/>
        </p:nvSpPr>
        <p:spPr>
          <a:xfrm>
            <a:off x="1066800" y="4924425"/>
            <a:ext cx="4597400" cy="196850"/>
          </a:xfrm>
          <a:prstGeom prst="rect">
            <a:avLst/>
          </a:prstGeom>
          <a:noFill/>
        </p:spPr>
        <p:txBody>
          <a:bodyPr wrap="square" anchor="t"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构建方法、集成流程与接口规范，可在**内推广、后续课题复用</a:t>
            </a:r>
          </a:p>
        </p:txBody>
      </p:sp>
      <p:sp>
        <p:nvSpPr>
          <p:cNvPr id="48" name="Rectangle 47"/>
          <p:cNvSpPr/>
          <p:nvPr/>
        </p:nvSpPr>
        <p:spPr>
          <a:xfrm>
            <a:off x="406400" y="5435600"/>
            <a:ext cx="5842000" cy="914400"/>
          </a:xfrm>
          <a:prstGeom prst="rect">
            <a:avLst/>
          </a:prstGeom>
          <a:solidFill>
            <a:srgbClr val="FFFFFF"/>
          </a:solidFill>
          <a:ln w="6350">
            <a:solidFill>
              <a:srgbClr val="E9E9E9"/>
            </a:solidFill>
            <a:round/>
          </a:ln>
        </p:spPr>
        <p:txBody>
          <a:bodyPr rtlCol="0" anchor="ctr" lIns="0" rIns="0" tIns="0" bIns="0"/>
          <a:lstStyle/>
          <a:p>
            <a:pPr algn="ctr"/>
          </a:p>
        </p:txBody>
      </p:sp>
      <p:sp>
        <p:nvSpPr>
          <p:cNvPr id="49" name="Rectangle 48"/>
          <p:cNvSpPr/>
          <p:nvPr/>
        </p:nvSpPr>
        <p:spPr>
          <a:xfrm>
            <a:off x="406400" y="5435600"/>
            <a:ext cx="19050" cy="914400"/>
          </a:xfrm>
          <a:prstGeom prst="rect">
            <a:avLst/>
          </a:prstGeom>
          <a:solidFill>
            <a:srgbClr val="C00000"/>
          </a:solidFill>
          <a:ln>
            <a:noFill/>
          </a:ln>
        </p:spPr>
        <p:txBody>
          <a:bodyPr rtlCol="0" anchor="ctr" lIns="0" rIns="0" tIns="0" bIns="0"/>
          <a:lstStyle/>
          <a:p>
            <a:pPr algn="ctr"/>
          </a:p>
        </p:txBody>
      </p:sp>
      <p:sp>
        <p:nvSpPr>
          <p:cNvPr id="50" name="Oval 49"/>
          <p:cNvSpPr/>
          <p:nvPr/>
        </p:nvSpPr>
        <p:spPr>
          <a:xfrm>
            <a:off x="558800" y="5715000"/>
            <a:ext cx="355600" cy="355600"/>
          </a:xfrm>
          <a:prstGeom prst="ellipse">
            <a:avLst/>
          </a:prstGeom>
          <a:solidFill>
            <a:srgbClr val="F5F5F5"/>
          </a:solidFill>
          <a:ln>
            <a:noFill/>
          </a:ln>
        </p:spPr>
        <p:txBody>
          <a:bodyPr rtlCol="0" anchor="ctr" lIns="0" rIns="0" tIns="0" bIns="0"/>
          <a:lstStyle/>
          <a:p>
            <a:pPr algn="ctr"/>
          </a:p>
        </p:txBody>
      </p:sp>
      <p:pic>
        <p:nvPicPr>
          <p:cNvPr id="51" name="Picture 50" descr="report-analytics-C00000-1_6.png"/>
          <p:cNvPicPr>
            <a:picLocks noChangeAspect="1"/>
          </p:cNvPicPr>
          <p:nvPr/>
        </p:nvPicPr>
        <p:blipFill>
          <a:blip r:embed="rId7"/>
          <a:stretch>
            <a:fillRect/>
          </a:stretch>
        </p:blipFill>
        <p:spPr>
          <a:xfrm>
            <a:off x="641350" y="5797550"/>
            <a:ext cx="190500" cy="190500"/>
          </a:xfrm>
          <a:prstGeom prst="rect">
            <a:avLst/>
          </a:prstGeom>
        </p:spPr>
      </p:pic>
      <p:sp>
        <p:nvSpPr>
          <p:cNvPr id="52" name="TextBox 51"/>
          <p:cNvSpPr txBox="1"/>
          <p:nvPr/>
        </p:nvSpPr>
        <p:spPr>
          <a:xfrm>
            <a:off x="1066800" y="5686425"/>
            <a:ext cx="4597400" cy="203200"/>
          </a:xfrm>
          <a:prstGeom prst="rect">
            <a:avLst/>
          </a:prstGeom>
          <a:noFill/>
        </p:spPr>
        <p:txBody>
          <a:bodyPr wrap="none" anchor="t" lIns="0" tIns="0" rIns="0" bIns="0">
            <a:noAutofit/>
          </a:bodyPr>
          <a:lstStyle/>
          <a:p>
            <a:pPr algn="l" marL="0" indent="0">
              <a:lnSpc>
                <a:spcPts val="1400"/>
              </a:lnSpc>
              <a:buNone/>
            </a:pPr>
            <a:r>
              <a:rPr lang="zh-CN" altLang="en-US" sz="1000" b="1">
                <a:solidFill>
                  <a:srgbClr val="C00000"/>
                </a:solidFill>
                <a:latin typeface="微软雅黑"/>
                <a:ea typeface="微软雅黑"/>
                <a:cs typeface="微软雅黑"/>
              </a:rPr>
              <a:t>成果5</a:t>
            </a:r>
            <a:r>
              <a:rPr lang="zh-CN" altLang="en-US" sz="1000" b="1">
                <a:solidFill>
                  <a:srgbClr val="1A1A1A"/>
                </a:solidFill>
                <a:latin typeface="微软雅黑"/>
                <a:ea typeface="微软雅黑"/>
                <a:cs typeface="微软雅黑"/>
              </a:rPr>
              <a:t>　示范应用与验证报告　</a:t>
            </a:r>
            <a:r>
              <a:rPr lang="zh-CN" altLang="en-US" sz="1000" b="1">
                <a:solidFill>
                  <a:srgbClr val="666666"/>
                </a:solidFill>
                <a:latin typeface="微软雅黑"/>
                <a:ea typeface="微软雅黑"/>
                <a:cs typeface="微软雅黑"/>
              </a:rPr>
              <a:t>1份</a:t>
            </a:r>
          </a:p>
        </p:txBody>
      </p:sp>
      <p:sp>
        <p:nvSpPr>
          <p:cNvPr id="53" name="TextBox 52"/>
          <p:cNvSpPr txBox="1"/>
          <p:nvPr/>
        </p:nvSpPr>
        <p:spPr>
          <a:xfrm>
            <a:off x="1066800" y="5927725"/>
            <a:ext cx="4597400" cy="196850"/>
          </a:xfrm>
          <a:prstGeom prst="rect">
            <a:avLst/>
          </a:prstGeom>
          <a:noFill/>
        </p:spPr>
        <p:txBody>
          <a:bodyPr wrap="square" anchor="t"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FXN5C 临哈线典型区段关键性能协同验证与效能评估</a:t>
            </a:r>
          </a:p>
        </p:txBody>
      </p:sp>
      <p:sp>
        <p:nvSpPr>
          <p:cNvPr id="54" name="TextBox 53"/>
          <p:cNvSpPr txBox="1"/>
          <p:nvPr/>
        </p:nvSpPr>
        <p:spPr>
          <a:xfrm>
            <a:off x="6400800" y="4406900"/>
            <a:ext cx="53848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知识产权与标准</a:t>
            </a:r>
          </a:p>
        </p:txBody>
      </p:sp>
      <p:sp>
        <p:nvSpPr>
          <p:cNvPr id="55" name="Rectangle 54"/>
          <p:cNvSpPr/>
          <p:nvPr/>
        </p:nvSpPr>
        <p:spPr>
          <a:xfrm>
            <a:off x="6400800" y="4686300"/>
            <a:ext cx="9525" cy="1663700"/>
          </a:xfrm>
          <a:prstGeom prst="rect">
            <a:avLst/>
          </a:prstGeom>
          <a:solidFill>
            <a:srgbClr val="E9E9E9"/>
          </a:solidFill>
          <a:ln>
            <a:noFill/>
          </a:ln>
        </p:spPr>
        <p:txBody>
          <a:bodyPr rtlCol="0" anchor="ctr" lIns="0" rIns="0" tIns="0" bIns="0"/>
          <a:lstStyle/>
          <a:p>
            <a:pPr algn="ctr"/>
          </a:p>
        </p:txBody>
      </p:sp>
      <p:sp>
        <p:nvSpPr>
          <p:cNvPr id="56" name="TextBox 55"/>
          <p:cNvSpPr txBox="1"/>
          <p:nvPr/>
        </p:nvSpPr>
        <p:spPr>
          <a:xfrm>
            <a:off x="6515100" y="4787900"/>
            <a:ext cx="1515533" cy="349250"/>
          </a:xfrm>
          <a:prstGeom prst="rect">
            <a:avLst/>
          </a:prstGeom>
          <a:noFill/>
        </p:spPr>
        <p:txBody>
          <a:bodyPr wrap="none" anchor="t" lIns="0" tIns="0" rIns="0" bIns="0">
            <a:noAutofit/>
          </a:bodyPr>
          <a:lstStyle/>
          <a:p>
            <a:pPr algn="l" marL="0" indent="0">
              <a:lnSpc>
                <a:spcPts val="2750"/>
              </a:lnSpc>
              <a:buNone/>
            </a:pPr>
            <a:r>
              <a:rPr lang="zh-CN" altLang="en-US" sz="2200" b="1">
                <a:solidFill>
                  <a:srgbClr val="C00000"/>
                </a:solidFill>
                <a:latin typeface="微软雅黑"/>
                <a:ea typeface="微软雅黑"/>
                <a:cs typeface="微软雅黑"/>
              </a:rPr>
              <a:t>4</a:t>
            </a:r>
            <a:r>
              <a:rPr lang="zh-CN" altLang="en-US" sz="1000" b="0">
                <a:solidFill>
                  <a:srgbClr val="666666"/>
                </a:solidFill>
                <a:latin typeface="微软雅黑"/>
                <a:ea typeface="微软雅黑"/>
                <a:cs typeface="微软雅黑"/>
              </a:rPr>
              <a:t> 项</a:t>
            </a:r>
          </a:p>
        </p:txBody>
      </p:sp>
      <p:sp>
        <p:nvSpPr>
          <p:cNvPr id="57" name="TextBox 56"/>
          <p:cNvSpPr txBox="1"/>
          <p:nvPr/>
        </p:nvSpPr>
        <p:spPr>
          <a:xfrm>
            <a:off x="6515100" y="5175250"/>
            <a:ext cx="1515533" cy="177800"/>
          </a:xfrm>
          <a:prstGeom prst="rect">
            <a:avLst/>
          </a:prstGeom>
          <a:noFill/>
        </p:spPr>
        <p:txBody>
          <a:bodyPr wrap="square" anchor="t" lIns="0" tIns="0" rIns="0" bIns="0">
            <a:noAutofit/>
          </a:bodyPr>
          <a:lstStyle/>
          <a:p>
            <a:pPr algn="l" marL="0" indent="0">
              <a:lnSpc>
                <a:spcPts val="1400"/>
              </a:lnSpc>
              <a:buNone/>
            </a:pPr>
            <a:r>
              <a:rPr lang="zh-CN" altLang="en-US" sz="1000" b="1">
                <a:solidFill>
                  <a:srgbClr val="1A1A1A"/>
                </a:solidFill>
                <a:latin typeface="微软雅黑"/>
                <a:ea typeface="微软雅黑"/>
                <a:cs typeface="微软雅黑"/>
              </a:rPr>
              <a:t>发明专利申请</a:t>
            </a:r>
          </a:p>
        </p:txBody>
      </p:sp>
      <p:sp>
        <p:nvSpPr>
          <p:cNvPr id="58" name="TextBox 57"/>
          <p:cNvSpPr txBox="1"/>
          <p:nvPr/>
        </p:nvSpPr>
        <p:spPr>
          <a:xfrm>
            <a:off x="6515100" y="5391150"/>
            <a:ext cx="1515533" cy="895350"/>
          </a:xfrm>
          <a:prstGeom prst="rect">
            <a:avLst/>
          </a:prstGeom>
          <a:noFill/>
        </p:spPr>
        <p:txBody>
          <a:bodyPr wrap="square" anchor="t" lIns="0" tIns="0" rIns="0" bIns="0">
            <a:noAutofit/>
          </a:bodyPr>
          <a:lstStyle/>
          <a:p>
            <a:pPr algn="l" marL="0" indent="0">
              <a:lnSpc>
                <a:spcPts val="1200"/>
              </a:lnSpc>
              <a:buNone/>
            </a:pPr>
            <a:r>
              <a:rPr lang="zh-CN" altLang="en-US" sz="800" b="0">
                <a:solidFill>
                  <a:srgbClr val="666666"/>
                </a:solidFill>
                <a:latin typeface="微软雅黑"/>
                <a:ea typeface="微软雅黑"/>
                <a:cs typeface="微软雅黑"/>
              </a:rPr>
              <a:t>任务编排调度、保真度与算力调度、实时时序同步、工况自生成</a:t>
            </a:r>
          </a:p>
        </p:txBody>
      </p:sp>
      <p:sp>
        <p:nvSpPr>
          <p:cNvPr id="59" name="Rectangle 58"/>
          <p:cNvSpPr/>
          <p:nvPr/>
        </p:nvSpPr>
        <p:spPr>
          <a:xfrm>
            <a:off x="8221133" y="4686300"/>
            <a:ext cx="9525" cy="1663700"/>
          </a:xfrm>
          <a:prstGeom prst="rect">
            <a:avLst/>
          </a:prstGeom>
          <a:solidFill>
            <a:srgbClr val="E9E9E9"/>
          </a:solidFill>
          <a:ln>
            <a:noFill/>
          </a:ln>
        </p:spPr>
        <p:txBody>
          <a:bodyPr rtlCol="0" anchor="ctr" lIns="0" rIns="0" tIns="0" bIns="0"/>
          <a:lstStyle/>
          <a:p>
            <a:pPr algn="ctr"/>
          </a:p>
        </p:txBody>
      </p:sp>
      <p:sp>
        <p:nvSpPr>
          <p:cNvPr id="60" name="TextBox 59"/>
          <p:cNvSpPr txBox="1"/>
          <p:nvPr/>
        </p:nvSpPr>
        <p:spPr>
          <a:xfrm>
            <a:off x="8335433" y="4787900"/>
            <a:ext cx="1515533" cy="349250"/>
          </a:xfrm>
          <a:prstGeom prst="rect">
            <a:avLst/>
          </a:prstGeom>
          <a:noFill/>
        </p:spPr>
        <p:txBody>
          <a:bodyPr wrap="none" anchor="t" lIns="0" tIns="0" rIns="0" bIns="0">
            <a:noAutofit/>
          </a:bodyPr>
          <a:lstStyle/>
          <a:p>
            <a:pPr algn="l" marL="0" indent="0">
              <a:lnSpc>
                <a:spcPts val="2750"/>
              </a:lnSpc>
              <a:buNone/>
            </a:pPr>
            <a:r>
              <a:rPr lang="zh-CN" altLang="en-US" sz="2200" b="1">
                <a:solidFill>
                  <a:srgbClr val="C00000"/>
                </a:solidFill>
                <a:latin typeface="微软雅黑"/>
                <a:ea typeface="微软雅黑"/>
                <a:cs typeface="微软雅黑"/>
              </a:rPr>
              <a:t>2</a:t>
            </a:r>
            <a:r>
              <a:rPr lang="zh-CN" altLang="en-US" sz="1000" b="0">
                <a:solidFill>
                  <a:srgbClr val="666666"/>
                </a:solidFill>
                <a:latin typeface="微软雅黑"/>
                <a:ea typeface="微软雅黑"/>
                <a:cs typeface="微软雅黑"/>
              </a:rPr>
              <a:t> 篇</a:t>
            </a:r>
          </a:p>
        </p:txBody>
      </p:sp>
      <p:sp>
        <p:nvSpPr>
          <p:cNvPr id="61" name="TextBox 60"/>
          <p:cNvSpPr txBox="1"/>
          <p:nvPr/>
        </p:nvSpPr>
        <p:spPr>
          <a:xfrm>
            <a:off x="8335433" y="5175250"/>
            <a:ext cx="1515533" cy="177800"/>
          </a:xfrm>
          <a:prstGeom prst="rect">
            <a:avLst/>
          </a:prstGeom>
          <a:noFill/>
        </p:spPr>
        <p:txBody>
          <a:bodyPr wrap="square" anchor="t" lIns="0" tIns="0" rIns="0" bIns="0">
            <a:noAutofit/>
          </a:bodyPr>
          <a:lstStyle/>
          <a:p>
            <a:pPr algn="l" marL="0" indent="0">
              <a:lnSpc>
                <a:spcPts val="1400"/>
              </a:lnSpc>
              <a:buNone/>
            </a:pPr>
            <a:r>
              <a:rPr lang="zh-CN" altLang="en-US" sz="1000" b="1">
                <a:solidFill>
                  <a:srgbClr val="1A1A1A"/>
                </a:solidFill>
                <a:latin typeface="微软雅黑"/>
                <a:ea typeface="微软雅黑"/>
                <a:cs typeface="微软雅黑"/>
              </a:rPr>
              <a:t>核心论文</a:t>
            </a:r>
          </a:p>
        </p:txBody>
      </p:sp>
      <p:sp>
        <p:nvSpPr>
          <p:cNvPr id="62" name="TextBox 61"/>
          <p:cNvSpPr txBox="1"/>
          <p:nvPr/>
        </p:nvSpPr>
        <p:spPr>
          <a:xfrm>
            <a:off x="8335433" y="5391150"/>
            <a:ext cx="1515533" cy="895350"/>
          </a:xfrm>
          <a:prstGeom prst="rect">
            <a:avLst/>
          </a:prstGeom>
          <a:noFill/>
        </p:spPr>
        <p:txBody>
          <a:bodyPr wrap="square" anchor="t" lIns="0" tIns="0" rIns="254000" bIns="0">
            <a:noAutofit/>
          </a:bodyPr>
          <a:lstStyle/>
          <a:p>
            <a:pPr algn="l" marL="0" indent="0">
              <a:lnSpc>
                <a:spcPts val="1200"/>
              </a:lnSpc>
              <a:buNone/>
            </a:pPr>
            <a:r>
              <a:rPr lang="zh-CN" altLang="en-US" sz="800" b="0">
                <a:solidFill>
                  <a:srgbClr val="666666"/>
                </a:solidFill>
                <a:latin typeface="微软雅黑"/>
                <a:ea typeface="微软雅黑"/>
                <a:cs typeface="微软雅黑"/>
              </a:rPr>
              <a:t>多智能体协同仿真与性能验证方法</a:t>
            </a:r>
          </a:p>
        </p:txBody>
      </p:sp>
      <p:sp>
        <p:nvSpPr>
          <p:cNvPr id="63" name="Rectangle 62"/>
          <p:cNvSpPr/>
          <p:nvPr/>
        </p:nvSpPr>
        <p:spPr>
          <a:xfrm>
            <a:off x="10041467" y="4686300"/>
            <a:ext cx="9525" cy="1663700"/>
          </a:xfrm>
          <a:prstGeom prst="rect">
            <a:avLst/>
          </a:prstGeom>
          <a:solidFill>
            <a:srgbClr val="E9E9E9"/>
          </a:solidFill>
          <a:ln>
            <a:noFill/>
          </a:ln>
        </p:spPr>
        <p:txBody>
          <a:bodyPr rtlCol="0" anchor="ctr" lIns="0" rIns="0" tIns="0" bIns="0"/>
          <a:lstStyle/>
          <a:p>
            <a:pPr algn="ctr"/>
          </a:p>
        </p:txBody>
      </p:sp>
      <p:sp>
        <p:nvSpPr>
          <p:cNvPr id="64" name="TextBox 63"/>
          <p:cNvSpPr txBox="1"/>
          <p:nvPr/>
        </p:nvSpPr>
        <p:spPr>
          <a:xfrm>
            <a:off x="10155767" y="4787900"/>
            <a:ext cx="1515533" cy="349250"/>
          </a:xfrm>
          <a:prstGeom prst="rect">
            <a:avLst/>
          </a:prstGeom>
          <a:noFill/>
        </p:spPr>
        <p:txBody>
          <a:bodyPr wrap="none" anchor="t" lIns="0" tIns="0" rIns="0" bIns="0">
            <a:noAutofit/>
          </a:bodyPr>
          <a:lstStyle/>
          <a:p>
            <a:pPr algn="l" marL="0" indent="0">
              <a:lnSpc>
                <a:spcPts val="2750"/>
              </a:lnSpc>
              <a:buNone/>
            </a:pPr>
            <a:r>
              <a:rPr lang="zh-CN" altLang="en-US" sz="2200" b="1">
                <a:solidFill>
                  <a:srgbClr val="C00000"/>
                </a:solidFill>
                <a:latin typeface="微软雅黑"/>
                <a:ea typeface="微软雅黑"/>
                <a:cs typeface="微软雅黑"/>
              </a:rPr>
              <a:t>2</a:t>
            </a:r>
            <a:r>
              <a:rPr lang="zh-CN" altLang="en-US" sz="1000" b="0">
                <a:solidFill>
                  <a:srgbClr val="666666"/>
                </a:solidFill>
                <a:latin typeface="微软雅黑"/>
                <a:ea typeface="微软雅黑"/>
                <a:cs typeface="微软雅黑"/>
              </a:rPr>
              <a:t> 项</a:t>
            </a:r>
          </a:p>
        </p:txBody>
      </p:sp>
      <p:sp>
        <p:nvSpPr>
          <p:cNvPr id="65" name="TextBox 64"/>
          <p:cNvSpPr txBox="1"/>
          <p:nvPr/>
        </p:nvSpPr>
        <p:spPr>
          <a:xfrm>
            <a:off x="10155767" y="5175250"/>
            <a:ext cx="1515533" cy="177800"/>
          </a:xfrm>
          <a:prstGeom prst="rect">
            <a:avLst/>
          </a:prstGeom>
          <a:noFill/>
        </p:spPr>
        <p:txBody>
          <a:bodyPr wrap="square" anchor="t" lIns="0" tIns="0" rIns="0" bIns="0">
            <a:noAutofit/>
          </a:bodyPr>
          <a:lstStyle/>
          <a:p>
            <a:pPr algn="l" marL="0" indent="0">
              <a:lnSpc>
                <a:spcPts val="1400"/>
              </a:lnSpc>
              <a:buNone/>
            </a:pPr>
            <a:r>
              <a:rPr lang="zh-CN" altLang="en-US" sz="1000" b="1">
                <a:solidFill>
                  <a:srgbClr val="1A1A1A"/>
                </a:solidFill>
                <a:latin typeface="微软雅黑"/>
                <a:ea typeface="微软雅黑"/>
                <a:cs typeface="微软雅黑"/>
              </a:rPr>
              <a:t>企业标准草案</a:t>
            </a:r>
          </a:p>
        </p:txBody>
      </p:sp>
      <p:sp>
        <p:nvSpPr>
          <p:cNvPr id="66" name="TextBox 65"/>
          <p:cNvSpPr txBox="1"/>
          <p:nvPr/>
        </p:nvSpPr>
        <p:spPr>
          <a:xfrm>
            <a:off x="10155767" y="5391150"/>
            <a:ext cx="1515533" cy="895350"/>
          </a:xfrm>
          <a:prstGeom prst="rect">
            <a:avLst/>
          </a:prstGeom>
          <a:noFill/>
        </p:spPr>
        <p:txBody>
          <a:bodyPr wrap="square" anchor="t" lIns="0" tIns="0" rIns="254000" bIns="0">
            <a:noAutofit/>
          </a:bodyPr>
          <a:lstStyle/>
          <a:p>
            <a:pPr algn="l" marL="0" indent="0">
              <a:lnSpc>
                <a:spcPts val="1200"/>
              </a:lnSpc>
              <a:buNone/>
            </a:pPr>
            <a:r>
              <a:rPr lang="zh-CN" altLang="en-US" sz="800" b="0">
                <a:solidFill>
                  <a:srgbClr val="666666"/>
                </a:solidFill>
                <a:latin typeface="微软雅黑"/>
                <a:ea typeface="微软雅黑"/>
                <a:cs typeface="微软雅黑"/>
              </a:rPr>
              <a:t>列车级数字样机构建、智能体接口</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06400" y="215900"/>
            <a:ext cx="11379200" cy="6350"/>
          </a:xfrm>
          <a:prstGeom prst="rect">
            <a:avLst/>
          </a:prstGeom>
          <a:solidFill>
            <a:srgbClr val="DEDEDE"/>
          </a:solidFill>
          <a:ln>
            <a:noFill/>
          </a:ln>
        </p:spPr>
        <p:txBody>
          <a:bodyPr rtlCol="0" anchor="ctr" lIns="0" rIns="0" tIns="0" bIns="0"/>
          <a:lstStyle/>
          <a:p>
            <a:pPr algn="ctr"/>
          </a:p>
        </p:txBody>
      </p:sp>
      <p:sp>
        <p:nvSpPr>
          <p:cNvPr id="3" name="Rectangle 2"/>
          <p:cNvSpPr/>
          <p:nvPr/>
        </p:nvSpPr>
        <p:spPr>
          <a:xfrm>
            <a:off x="406400" y="838200"/>
            <a:ext cx="50800" cy="190500"/>
          </a:xfrm>
          <a:prstGeom prst="rect">
            <a:avLst/>
          </a:prstGeom>
          <a:solidFill>
            <a:srgbClr val="C00000"/>
          </a:solidFill>
          <a:ln>
            <a:noFill/>
          </a:ln>
        </p:spPr>
        <p:txBody>
          <a:bodyPr rtlCol="0" anchor="ctr" lIns="0" rIns="0" tIns="0" bIns="0"/>
          <a:lstStyle/>
          <a:p>
            <a:pPr algn="ctr"/>
          </a:p>
        </p:txBody>
      </p:sp>
      <p:sp>
        <p:nvSpPr>
          <p:cNvPr id="4" name="TextBox 3"/>
          <p:cNvSpPr txBox="1"/>
          <p:nvPr/>
        </p:nvSpPr>
        <p:spPr>
          <a:xfrm>
            <a:off x="558800" y="812800"/>
            <a:ext cx="8890000" cy="241300"/>
          </a:xfrm>
          <a:prstGeom prst="rect">
            <a:avLst/>
          </a:prstGeom>
          <a:noFill/>
        </p:spPr>
        <p:txBody>
          <a:bodyPr wrap="none" anchor="ctr" lIns="0" tIns="0" rIns="0" bIns="0">
            <a:noAutofit/>
          </a:bodyPr>
          <a:lstStyle/>
          <a:p>
            <a:pPr algn="l" marL="0" indent="0">
              <a:lnSpc>
                <a:spcPts val="1700"/>
              </a:lnSpc>
              <a:buNone/>
            </a:pPr>
            <a:r>
              <a:rPr lang="zh-CN" altLang="en-US" sz="1250" b="1" spc="150">
                <a:solidFill>
                  <a:srgbClr val="C00000"/>
                </a:solidFill>
                <a:latin typeface="微软雅黑"/>
                <a:ea typeface="微软雅黑"/>
                <a:cs typeface="微软雅黑"/>
              </a:rPr>
              <a:t>****“***”科技重大专项课题申报</a:t>
            </a:r>
          </a:p>
        </p:txBody>
      </p:sp>
      <p:sp>
        <p:nvSpPr>
          <p:cNvPr id="5" name="TextBox 4"/>
          <p:cNvSpPr txBox="1"/>
          <p:nvPr/>
        </p:nvSpPr>
        <p:spPr>
          <a:xfrm>
            <a:off x="406400" y="1663700"/>
            <a:ext cx="11379200" cy="889000"/>
          </a:xfrm>
          <a:prstGeom prst="rect">
            <a:avLst/>
          </a:prstGeom>
          <a:noFill/>
        </p:spPr>
        <p:txBody>
          <a:bodyPr wrap="none" anchor="t" lIns="0" tIns="0" rIns="0" bIns="0">
            <a:noAutofit/>
          </a:bodyPr>
          <a:lstStyle/>
          <a:p>
            <a:pPr algn="l" marL="0" indent="0">
              <a:lnSpc>
                <a:spcPts val="6700"/>
              </a:lnSpc>
              <a:buNone/>
            </a:pPr>
            <a:r>
              <a:rPr lang="zh-CN" altLang="en-US" sz="5200" b="1">
                <a:solidFill>
                  <a:srgbClr val="1A1A1A"/>
                </a:solidFill>
                <a:latin typeface="微软雅黑"/>
                <a:ea typeface="微软雅黑"/>
                <a:cs typeface="微软雅黑"/>
              </a:rPr>
              <a:t>恳请各位专家指导</a:t>
            </a:r>
          </a:p>
        </p:txBody>
      </p:sp>
      <p:sp>
        <p:nvSpPr>
          <p:cNvPr id="6" name="Rectangle 5"/>
          <p:cNvSpPr/>
          <p:nvPr/>
        </p:nvSpPr>
        <p:spPr>
          <a:xfrm>
            <a:off x="406400" y="2743200"/>
            <a:ext cx="571500" cy="38100"/>
          </a:xfrm>
          <a:prstGeom prst="rect">
            <a:avLst/>
          </a:prstGeom>
          <a:solidFill>
            <a:srgbClr val="C00000"/>
          </a:solidFill>
          <a:ln>
            <a:noFill/>
          </a:ln>
        </p:spPr>
        <p:txBody>
          <a:bodyPr rtlCol="0" anchor="ctr" lIns="0" rIns="0" tIns="0" bIns="0"/>
          <a:lstStyle/>
          <a:p>
            <a:pPr algn="ctr"/>
          </a:p>
        </p:txBody>
      </p:sp>
      <p:sp>
        <p:nvSpPr>
          <p:cNvPr id="7" name="TextBox 6"/>
          <p:cNvSpPr txBox="1"/>
          <p:nvPr/>
        </p:nvSpPr>
        <p:spPr>
          <a:xfrm>
            <a:off x="406400" y="3022600"/>
            <a:ext cx="11379200" cy="317500"/>
          </a:xfrm>
          <a:prstGeom prst="rect">
            <a:avLst/>
          </a:prstGeom>
          <a:noFill/>
        </p:spPr>
        <p:txBody>
          <a:bodyPr wrap="none" anchor="t" lIns="0" tIns="0" rIns="0" bIns="0">
            <a:noAutofit/>
          </a:bodyPr>
          <a:lstStyle/>
          <a:p>
            <a:pPr algn="l" marL="0" indent="0">
              <a:lnSpc>
                <a:spcPts val="2300"/>
              </a:lnSpc>
              <a:buNone/>
            </a:pPr>
            <a:r>
              <a:rPr lang="zh-CN" altLang="en-US" sz="1700" b="1">
                <a:solidFill>
                  <a:srgbClr val="1A1A1A"/>
                </a:solidFill>
                <a:latin typeface="微软雅黑"/>
                <a:ea typeface="微软雅黑"/>
                <a:cs typeface="微软雅黑"/>
              </a:rPr>
              <a:t>**********</a:t>
            </a:r>
          </a:p>
        </p:txBody>
      </p:sp>
      <p:sp>
        <p:nvSpPr>
          <p:cNvPr id="8" name="TextBox 7"/>
          <p:cNvSpPr txBox="1"/>
          <p:nvPr/>
        </p:nvSpPr>
        <p:spPr>
          <a:xfrm>
            <a:off x="406400" y="3416300"/>
            <a:ext cx="11379200" cy="292100"/>
          </a:xfrm>
          <a:prstGeom prst="rect">
            <a:avLst/>
          </a:prstGeom>
          <a:noFill/>
        </p:spPr>
        <p:txBody>
          <a:bodyPr wrap="none" anchor="t" lIns="0" tIns="0" rIns="0" bIns="0">
            <a:noAutofit/>
          </a:bodyPr>
          <a:lstStyle/>
          <a:p>
            <a:pPr algn="l" marL="0" indent="0">
              <a:lnSpc>
                <a:spcPts val="2000"/>
              </a:lnSpc>
              <a:buNone/>
            </a:pPr>
            <a:r>
              <a:rPr lang="zh-CN" altLang="en-US" sz="1400" b="0">
                <a:solidFill>
                  <a:srgbClr val="666666"/>
                </a:solidFill>
                <a:latin typeface="微软雅黑"/>
                <a:ea typeface="微软雅黑"/>
                <a:cs typeface="微软雅黑"/>
              </a:rPr>
              <a:t>7.3 轨道交通装备性能验证的多智能体协同运行与调度引擎技术研究</a:t>
            </a:r>
          </a:p>
        </p:txBody>
      </p:sp>
      <p:sp>
        <p:nvSpPr>
          <p:cNvPr id="9" name="Rectangle 8"/>
          <p:cNvSpPr/>
          <p:nvPr/>
        </p:nvSpPr>
        <p:spPr>
          <a:xfrm>
            <a:off x="406400" y="5994400"/>
            <a:ext cx="11379200" cy="19050"/>
          </a:xfrm>
          <a:prstGeom prst="rect">
            <a:avLst/>
          </a:prstGeom>
          <a:solidFill>
            <a:srgbClr val="C6C6C6"/>
          </a:solidFill>
          <a:ln>
            <a:noFill/>
          </a:ln>
        </p:spPr>
        <p:txBody>
          <a:bodyPr rtlCol="0" anchor="ctr" lIns="0" rIns="0" tIns="0" bIns="0"/>
          <a:lstStyle/>
          <a:p>
            <a:pPr algn="ctr"/>
          </a:p>
        </p:txBody>
      </p:sp>
      <p:sp>
        <p:nvSpPr>
          <p:cNvPr id="10" name="Rectangle 9"/>
          <p:cNvSpPr/>
          <p:nvPr/>
        </p:nvSpPr>
        <p:spPr>
          <a:xfrm>
            <a:off x="406400" y="6013450"/>
            <a:ext cx="12700" cy="63500"/>
          </a:xfrm>
          <a:prstGeom prst="rect">
            <a:avLst/>
          </a:prstGeom>
          <a:solidFill>
            <a:srgbClr val="C6C6C6"/>
          </a:solidFill>
          <a:ln>
            <a:noFill/>
          </a:ln>
        </p:spPr>
        <p:txBody>
          <a:bodyPr rtlCol="0" anchor="ctr" lIns="0" rIns="0" tIns="0" bIns="0"/>
          <a:lstStyle/>
          <a:p>
            <a:pPr algn="ctr"/>
          </a:p>
        </p:txBody>
      </p:sp>
      <p:sp>
        <p:nvSpPr>
          <p:cNvPr id="11" name="Rectangle 10"/>
          <p:cNvSpPr/>
          <p:nvPr/>
        </p:nvSpPr>
        <p:spPr>
          <a:xfrm>
            <a:off x="685800" y="6013450"/>
            <a:ext cx="12700" cy="63500"/>
          </a:xfrm>
          <a:prstGeom prst="rect">
            <a:avLst/>
          </a:prstGeom>
          <a:solidFill>
            <a:srgbClr val="C6C6C6"/>
          </a:solidFill>
          <a:ln>
            <a:noFill/>
          </a:ln>
        </p:spPr>
        <p:txBody>
          <a:bodyPr rtlCol="0" anchor="ctr" lIns="0" rIns="0" tIns="0" bIns="0"/>
          <a:lstStyle/>
          <a:p>
            <a:pPr algn="ctr"/>
          </a:p>
        </p:txBody>
      </p:sp>
      <p:sp>
        <p:nvSpPr>
          <p:cNvPr id="12" name="Rectangle 11"/>
          <p:cNvSpPr/>
          <p:nvPr/>
        </p:nvSpPr>
        <p:spPr>
          <a:xfrm>
            <a:off x="965200" y="6013450"/>
            <a:ext cx="12700" cy="63500"/>
          </a:xfrm>
          <a:prstGeom prst="rect">
            <a:avLst/>
          </a:prstGeom>
          <a:solidFill>
            <a:srgbClr val="C6C6C6"/>
          </a:solidFill>
          <a:ln>
            <a:noFill/>
          </a:ln>
        </p:spPr>
        <p:txBody>
          <a:bodyPr rtlCol="0" anchor="ctr" lIns="0" rIns="0" tIns="0" bIns="0"/>
          <a:lstStyle/>
          <a:p>
            <a:pPr algn="ctr"/>
          </a:p>
        </p:txBody>
      </p:sp>
      <p:sp>
        <p:nvSpPr>
          <p:cNvPr id="13" name="Rectangle 12"/>
          <p:cNvSpPr/>
          <p:nvPr/>
        </p:nvSpPr>
        <p:spPr>
          <a:xfrm>
            <a:off x="1244600" y="6013450"/>
            <a:ext cx="12700" cy="63500"/>
          </a:xfrm>
          <a:prstGeom prst="rect">
            <a:avLst/>
          </a:prstGeom>
          <a:solidFill>
            <a:srgbClr val="C6C6C6"/>
          </a:solidFill>
          <a:ln>
            <a:noFill/>
          </a:ln>
        </p:spPr>
        <p:txBody>
          <a:bodyPr rtlCol="0" anchor="ctr" lIns="0" rIns="0" tIns="0" bIns="0"/>
          <a:lstStyle/>
          <a:p>
            <a:pPr algn="ctr"/>
          </a:p>
        </p:txBody>
      </p:sp>
      <p:sp>
        <p:nvSpPr>
          <p:cNvPr id="14" name="Rectangle 13"/>
          <p:cNvSpPr/>
          <p:nvPr/>
        </p:nvSpPr>
        <p:spPr>
          <a:xfrm>
            <a:off x="1524000" y="6013450"/>
            <a:ext cx="12700" cy="63500"/>
          </a:xfrm>
          <a:prstGeom prst="rect">
            <a:avLst/>
          </a:prstGeom>
          <a:solidFill>
            <a:srgbClr val="C6C6C6"/>
          </a:solidFill>
          <a:ln>
            <a:noFill/>
          </a:ln>
        </p:spPr>
        <p:txBody>
          <a:bodyPr rtlCol="0" anchor="ctr" lIns="0" rIns="0" tIns="0" bIns="0"/>
          <a:lstStyle/>
          <a:p>
            <a:pPr algn="ctr"/>
          </a:p>
        </p:txBody>
      </p:sp>
      <p:sp>
        <p:nvSpPr>
          <p:cNvPr id="15" name="Rectangle 14"/>
          <p:cNvSpPr/>
          <p:nvPr/>
        </p:nvSpPr>
        <p:spPr>
          <a:xfrm>
            <a:off x="1803400" y="6013450"/>
            <a:ext cx="12700" cy="63500"/>
          </a:xfrm>
          <a:prstGeom prst="rect">
            <a:avLst/>
          </a:prstGeom>
          <a:solidFill>
            <a:srgbClr val="C6C6C6"/>
          </a:solidFill>
          <a:ln>
            <a:noFill/>
          </a:ln>
        </p:spPr>
        <p:txBody>
          <a:bodyPr rtlCol="0" anchor="ctr" lIns="0" rIns="0" tIns="0" bIns="0"/>
          <a:lstStyle/>
          <a:p>
            <a:pPr algn="ctr"/>
          </a:p>
        </p:txBody>
      </p:sp>
      <p:sp>
        <p:nvSpPr>
          <p:cNvPr id="16" name="Rectangle 15"/>
          <p:cNvSpPr/>
          <p:nvPr/>
        </p:nvSpPr>
        <p:spPr>
          <a:xfrm>
            <a:off x="2082800" y="6013450"/>
            <a:ext cx="12700" cy="63500"/>
          </a:xfrm>
          <a:prstGeom prst="rect">
            <a:avLst/>
          </a:prstGeom>
          <a:solidFill>
            <a:srgbClr val="C6C6C6"/>
          </a:solidFill>
          <a:ln>
            <a:noFill/>
          </a:ln>
        </p:spPr>
        <p:txBody>
          <a:bodyPr rtlCol="0" anchor="ctr" lIns="0" rIns="0" tIns="0" bIns="0"/>
          <a:lstStyle/>
          <a:p>
            <a:pPr algn="ctr"/>
          </a:p>
        </p:txBody>
      </p:sp>
      <p:sp>
        <p:nvSpPr>
          <p:cNvPr id="17" name="Rectangle 16"/>
          <p:cNvSpPr/>
          <p:nvPr/>
        </p:nvSpPr>
        <p:spPr>
          <a:xfrm>
            <a:off x="2362200" y="6013450"/>
            <a:ext cx="12700" cy="63500"/>
          </a:xfrm>
          <a:prstGeom prst="rect">
            <a:avLst/>
          </a:prstGeom>
          <a:solidFill>
            <a:srgbClr val="C6C6C6"/>
          </a:solidFill>
          <a:ln>
            <a:noFill/>
          </a:ln>
        </p:spPr>
        <p:txBody>
          <a:bodyPr rtlCol="0" anchor="ctr" lIns="0" rIns="0" tIns="0" bIns="0"/>
          <a:lstStyle/>
          <a:p>
            <a:pPr algn="ctr"/>
          </a:p>
        </p:txBody>
      </p:sp>
      <p:sp>
        <p:nvSpPr>
          <p:cNvPr id="18" name="Rectangle 17"/>
          <p:cNvSpPr/>
          <p:nvPr/>
        </p:nvSpPr>
        <p:spPr>
          <a:xfrm>
            <a:off x="2641600" y="6013450"/>
            <a:ext cx="12700" cy="63500"/>
          </a:xfrm>
          <a:prstGeom prst="rect">
            <a:avLst/>
          </a:prstGeom>
          <a:solidFill>
            <a:srgbClr val="C6C6C6"/>
          </a:solidFill>
          <a:ln>
            <a:noFill/>
          </a:ln>
        </p:spPr>
        <p:txBody>
          <a:bodyPr rtlCol="0" anchor="ctr" lIns="0" rIns="0" tIns="0" bIns="0"/>
          <a:lstStyle/>
          <a:p>
            <a:pPr algn="ctr"/>
          </a:p>
        </p:txBody>
      </p:sp>
      <p:sp>
        <p:nvSpPr>
          <p:cNvPr id="19" name="Rectangle 18"/>
          <p:cNvSpPr/>
          <p:nvPr/>
        </p:nvSpPr>
        <p:spPr>
          <a:xfrm>
            <a:off x="2921000" y="6013450"/>
            <a:ext cx="12700" cy="63500"/>
          </a:xfrm>
          <a:prstGeom prst="rect">
            <a:avLst/>
          </a:prstGeom>
          <a:solidFill>
            <a:srgbClr val="C6C6C6"/>
          </a:solidFill>
          <a:ln>
            <a:noFill/>
          </a:ln>
        </p:spPr>
        <p:txBody>
          <a:bodyPr rtlCol="0" anchor="ctr" lIns="0" rIns="0" tIns="0" bIns="0"/>
          <a:lstStyle/>
          <a:p>
            <a:pPr algn="ctr"/>
          </a:p>
        </p:txBody>
      </p:sp>
      <p:sp>
        <p:nvSpPr>
          <p:cNvPr id="20" name="Rectangle 19"/>
          <p:cNvSpPr/>
          <p:nvPr/>
        </p:nvSpPr>
        <p:spPr>
          <a:xfrm>
            <a:off x="3200400" y="6013450"/>
            <a:ext cx="12700" cy="63500"/>
          </a:xfrm>
          <a:prstGeom prst="rect">
            <a:avLst/>
          </a:prstGeom>
          <a:solidFill>
            <a:srgbClr val="C6C6C6"/>
          </a:solidFill>
          <a:ln>
            <a:noFill/>
          </a:ln>
        </p:spPr>
        <p:txBody>
          <a:bodyPr rtlCol="0" anchor="ctr" lIns="0" rIns="0" tIns="0" bIns="0"/>
          <a:lstStyle/>
          <a:p>
            <a:pPr algn="ctr"/>
          </a:p>
        </p:txBody>
      </p:sp>
      <p:sp>
        <p:nvSpPr>
          <p:cNvPr id="21" name="Rectangle 20"/>
          <p:cNvSpPr/>
          <p:nvPr/>
        </p:nvSpPr>
        <p:spPr>
          <a:xfrm>
            <a:off x="3479800" y="6013450"/>
            <a:ext cx="12700" cy="63500"/>
          </a:xfrm>
          <a:prstGeom prst="rect">
            <a:avLst/>
          </a:prstGeom>
          <a:solidFill>
            <a:srgbClr val="C6C6C6"/>
          </a:solidFill>
          <a:ln>
            <a:noFill/>
          </a:ln>
        </p:spPr>
        <p:txBody>
          <a:bodyPr rtlCol="0" anchor="ctr" lIns="0" rIns="0" tIns="0" bIns="0"/>
          <a:lstStyle/>
          <a:p>
            <a:pPr algn="ctr"/>
          </a:p>
        </p:txBody>
      </p:sp>
      <p:sp>
        <p:nvSpPr>
          <p:cNvPr id="22" name="Rectangle 21"/>
          <p:cNvSpPr/>
          <p:nvPr/>
        </p:nvSpPr>
        <p:spPr>
          <a:xfrm>
            <a:off x="3759200" y="6013450"/>
            <a:ext cx="12700" cy="63500"/>
          </a:xfrm>
          <a:prstGeom prst="rect">
            <a:avLst/>
          </a:prstGeom>
          <a:solidFill>
            <a:srgbClr val="C6C6C6"/>
          </a:solidFill>
          <a:ln>
            <a:noFill/>
          </a:ln>
        </p:spPr>
        <p:txBody>
          <a:bodyPr rtlCol="0" anchor="ctr" lIns="0" rIns="0" tIns="0" bIns="0"/>
          <a:lstStyle/>
          <a:p>
            <a:pPr algn="ctr"/>
          </a:p>
        </p:txBody>
      </p:sp>
      <p:sp>
        <p:nvSpPr>
          <p:cNvPr id="23" name="Rectangle 22"/>
          <p:cNvSpPr/>
          <p:nvPr/>
        </p:nvSpPr>
        <p:spPr>
          <a:xfrm>
            <a:off x="4038600" y="6013450"/>
            <a:ext cx="12700" cy="63500"/>
          </a:xfrm>
          <a:prstGeom prst="rect">
            <a:avLst/>
          </a:prstGeom>
          <a:solidFill>
            <a:srgbClr val="C6C6C6"/>
          </a:solidFill>
          <a:ln>
            <a:noFill/>
          </a:ln>
        </p:spPr>
        <p:txBody>
          <a:bodyPr rtlCol="0" anchor="ctr" lIns="0" rIns="0" tIns="0" bIns="0"/>
          <a:lstStyle/>
          <a:p>
            <a:pPr algn="ctr"/>
          </a:p>
        </p:txBody>
      </p:sp>
      <p:sp>
        <p:nvSpPr>
          <p:cNvPr id="24" name="Rectangle 23"/>
          <p:cNvSpPr/>
          <p:nvPr/>
        </p:nvSpPr>
        <p:spPr>
          <a:xfrm>
            <a:off x="4318000" y="6013450"/>
            <a:ext cx="12700" cy="63500"/>
          </a:xfrm>
          <a:prstGeom prst="rect">
            <a:avLst/>
          </a:prstGeom>
          <a:solidFill>
            <a:srgbClr val="C6C6C6"/>
          </a:solidFill>
          <a:ln>
            <a:noFill/>
          </a:ln>
        </p:spPr>
        <p:txBody>
          <a:bodyPr rtlCol="0" anchor="ctr" lIns="0" rIns="0" tIns="0" bIns="0"/>
          <a:lstStyle/>
          <a:p>
            <a:pPr algn="ctr"/>
          </a:p>
        </p:txBody>
      </p:sp>
      <p:sp>
        <p:nvSpPr>
          <p:cNvPr id="25" name="Rectangle 24"/>
          <p:cNvSpPr/>
          <p:nvPr/>
        </p:nvSpPr>
        <p:spPr>
          <a:xfrm>
            <a:off x="4597400" y="6013450"/>
            <a:ext cx="12700" cy="63500"/>
          </a:xfrm>
          <a:prstGeom prst="rect">
            <a:avLst/>
          </a:prstGeom>
          <a:solidFill>
            <a:srgbClr val="C6C6C6"/>
          </a:solidFill>
          <a:ln>
            <a:noFill/>
          </a:ln>
        </p:spPr>
        <p:txBody>
          <a:bodyPr rtlCol="0" anchor="ctr" lIns="0" rIns="0" tIns="0" bIns="0"/>
          <a:lstStyle/>
          <a:p>
            <a:pPr algn="ctr"/>
          </a:p>
        </p:txBody>
      </p:sp>
      <p:sp>
        <p:nvSpPr>
          <p:cNvPr id="26" name="Rectangle 25"/>
          <p:cNvSpPr/>
          <p:nvPr/>
        </p:nvSpPr>
        <p:spPr>
          <a:xfrm>
            <a:off x="4876800" y="6013450"/>
            <a:ext cx="12700" cy="63500"/>
          </a:xfrm>
          <a:prstGeom prst="rect">
            <a:avLst/>
          </a:prstGeom>
          <a:solidFill>
            <a:srgbClr val="C6C6C6"/>
          </a:solidFill>
          <a:ln>
            <a:noFill/>
          </a:ln>
        </p:spPr>
        <p:txBody>
          <a:bodyPr rtlCol="0" anchor="ctr" lIns="0" rIns="0" tIns="0" bIns="0"/>
          <a:lstStyle/>
          <a:p>
            <a:pPr algn="ctr"/>
          </a:p>
        </p:txBody>
      </p:sp>
      <p:sp>
        <p:nvSpPr>
          <p:cNvPr id="27" name="Rectangle 26"/>
          <p:cNvSpPr/>
          <p:nvPr/>
        </p:nvSpPr>
        <p:spPr>
          <a:xfrm>
            <a:off x="5156200" y="6013450"/>
            <a:ext cx="12700" cy="63500"/>
          </a:xfrm>
          <a:prstGeom prst="rect">
            <a:avLst/>
          </a:prstGeom>
          <a:solidFill>
            <a:srgbClr val="C6C6C6"/>
          </a:solidFill>
          <a:ln>
            <a:noFill/>
          </a:ln>
        </p:spPr>
        <p:txBody>
          <a:bodyPr rtlCol="0" anchor="ctr" lIns="0" rIns="0" tIns="0" bIns="0"/>
          <a:lstStyle/>
          <a:p>
            <a:pPr algn="ctr"/>
          </a:p>
        </p:txBody>
      </p:sp>
      <p:sp>
        <p:nvSpPr>
          <p:cNvPr id="28" name="Rectangle 27"/>
          <p:cNvSpPr/>
          <p:nvPr/>
        </p:nvSpPr>
        <p:spPr>
          <a:xfrm>
            <a:off x="5435600" y="6013450"/>
            <a:ext cx="12700" cy="63500"/>
          </a:xfrm>
          <a:prstGeom prst="rect">
            <a:avLst/>
          </a:prstGeom>
          <a:solidFill>
            <a:srgbClr val="C6C6C6"/>
          </a:solidFill>
          <a:ln>
            <a:noFill/>
          </a:ln>
        </p:spPr>
        <p:txBody>
          <a:bodyPr rtlCol="0" anchor="ctr" lIns="0" rIns="0" tIns="0" bIns="0"/>
          <a:lstStyle/>
          <a:p>
            <a:pPr algn="ctr"/>
          </a:p>
        </p:txBody>
      </p:sp>
      <p:sp>
        <p:nvSpPr>
          <p:cNvPr id="29" name="Rectangle 28"/>
          <p:cNvSpPr/>
          <p:nvPr/>
        </p:nvSpPr>
        <p:spPr>
          <a:xfrm>
            <a:off x="5715000" y="6013450"/>
            <a:ext cx="12700" cy="63500"/>
          </a:xfrm>
          <a:prstGeom prst="rect">
            <a:avLst/>
          </a:prstGeom>
          <a:solidFill>
            <a:srgbClr val="C6C6C6"/>
          </a:solidFill>
          <a:ln>
            <a:noFill/>
          </a:ln>
        </p:spPr>
        <p:txBody>
          <a:bodyPr rtlCol="0" anchor="ctr" lIns="0" rIns="0" tIns="0" bIns="0"/>
          <a:lstStyle/>
          <a:p>
            <a:pPr algn="ctr"/>
          </a:p>
        </p:txBody>
      </p:sp>
      <p:sp>
        <p:nvSpPr>
          <p:cNvPr id="30" name="Rectangle 29"/>
          <p:cNvSpPr/>
          <p:nvPr/>
        </p:nvSpPr>
        <p:spPr>
          <a:xfrm>
            <a:off x="5994400" y="6013450"/>
            <a:ext cx="12700" cy="63500"/>
          </a:xfrm>
          <a:prstGeom prst="rect">
            <a:avLst/>
          </a:prstGeom>
          <a:solidFill>
            <a:srgbClr val="C6C6C6"/>
          </a:solidFill>
          <a:ln>
            <a:noFill/>
          </a:ln>
        </p:spPr>
        <p:txBody>
          <a:bodyPr rtlCol="0" anchor="ctr" lIns="0" rIns="0" tIns="0" bIns="0"/>
          <a:lstStyle/>
          <a:p>
            <a:pPr algn="ctr"/>
          </a:p>
        </p:txBody>
      </p:sp>
      <p:sp>
        <p:nvSpPr>
          <p:cNvPr id="31" name="Rectangle 30"/>
          <p:cNvSpPr/>
          <p:nvPr/>
        </p:nvSpPr>
        <p:spPr>
          <a:xfrm>
            <a:off x="6273800" y="6013450"/>
            <a:ext cx="12700" cy="63500"/>
          </a:xfrm>
          <a:prstGeom prst="rect">
            <a:avLst/>
          </a:prstGeom>
          <a:solidFill>
            <a:srgbClr val="C6C6C6"/>
          </a:solidFill>
          <a:ln>
            <a:noFill/>
          </a:ln>
        </p:spPr>
        <p:txBody>
          <a:bodyPr rtlCol="0" anchor="ctr" lIns="0" rIns="0" tIns="0" bIns="0"/>
          <a:lstStyle/>
          <a:p>
            <a:pPr algn="ctr"/>
          </a:p>
        </p:txBody>
      </p:sp>
      <p:sp>
        <p:nvSpPr>
          <p:cNvPr id="32" name="Rectangle 31"/>
          <p:cNvSpPr/>
          <p:nvPr/>
        </p:nvSpPr>
        <p:spPr>
          <a:xfrm>
            <a:off x="6553200" y="6013450"/>
            <a:ext cx="12700" cy="63500"/>
          </a:xfrm>
          <a:prstGeom prst="rect">
            <a:avLst/>
          </a:prstGeom>
          <a:solidFill>
            <a:srgbClr val="C6C6C6"/>
          </a:solidFill>
          <a:ln>
            <a:noFill/>
          </a:ln>
        </p:spPr>
        <p:txBody>
          <a:bodyPr rtlCol="0" anchor="ctr" lIns="0" rIns="0" tIns="0" bIns="0"/>
          <a:lstStyle/>
          <a:p>
            <a:pPr algn="ctr"/>
          </a:p>
        </p:txBody>
      </p:sp>
      <p:sp>
        <p:nvSpPr>
          <p:cNvPr id="33" name="Rectangle 32"/>
          <p:cNvSpPr/>
          <p:nvPr/>
        </p:nvSpPr>
        <p:spPr>
          <a:xfrm>
            <a:off x="6832600" y="6013450"/>
            <a:ext cx="12700" cy="63500"/>
          </a:xfrm>
          <a:prstGeom prst="rect">
            <a:avLst/>
          </a:prstGeom>
          <a:solidFill>
            <a:srgbClr val="C6C6C6"/>
          </a:solidFill>
          <a:ln>
            <a:noFill/>
          </a:ln>
        </p:spPr>
        <p:txBody>
          <a:bodyPr rtlCol="0" anchor="ctr" lIns="0" rIns="0" tIns="0" bIns="0"/>
          <a:lstStyle/>
          <a:p>
            <a:pPr algn="ctr"/>
          </a:p>
        </p:txBody>
      </p:sp>
      <p:sp>
        <p:nvSpPr>
          <p:cNvPr id="34" name="Rectangle 33"/>
          <p:cNvSpPr/>
          <p:nvPr/>
        </p:nvSpPr>
        <p:spPr>
          <a:xfrm>
            <a:off x="7112000" y="6013450"/>
            <a:ext cx="12700" cy="63500"/>
          </a:xfrm>
          <a:prstGeom prst="rect">
            <a:avLst/>
          </a:prstGeom>
          <a:solidFill>
            <a:srgbClr val="C6C6C6"/>
          </a:solidFill>
          <a:ln>
            <a:noFill/>
          </a:ln>
        </p:spPr>
        <p:txBody>
          <a:bodyPr rtlCol="0" anchor="ctr" lIns="0" rIns="0" tIns="0" bIns="0"/>
          <a:lstStyle/>
          <a:p>
            <a:pPr algn="ctr"/>
          </a:p>
        </p:txBody>
      </p:sp>
      <p:sp>
        <p:nvSpPr>
          <p:cNvPr id="35" name="Rectangle 34"/>
          <p:cNvSpPr/>
          <p:nvPr/>
        </p:nvSpPr>
        <p:spPr>
          <a:xfrm>
            <a:off x="7391400" y="6013450"/>
            <a:ext cx="12700" cy="63500"/>
          </a:xfrm>
          <a:prstGeom prst="rect">
            <a:avLst/>
          </a:prstGeom>
          <a:solidFill>
            <a:srgbClr val="C6C6C6"/>
          </a:solidFill>
          <a:ln>
            <a:noFill/>
          </a:ln>
        </p:spPr>
        <p:txBody>
          <a:bodyPr rtlCol="0" anchor="ctr" lIns="0" rIns="0" tIns="0" bIns="0"/>
          <a:lstStyle/>
          <a:p>
            <a:pPr algn="ctr"/>
          </a:p>
        </p:txBody>
      </p:sp>
      <p:sp>
        <p:nvSpPr>
          <p:cNvPr id="36" name="Rectangle 35"/>
          <p:cNvSpPr/>
          <p:nvPr/>
        </p:nvSpPr>
        <p:spPr>
          <a:xfrm>
            <a:off x="7670800" y="6013450"/>
            <a:ext cx="12700" cy="63500"/>
          </a:xfrm>
          <a:prstGeom prst="rect">
            <a:avLst/>
          </a:prstGeom>
          <a:solidFill>
            <a:srgbClr val="C6C6C6"/>
          </a:solidFill>
          <a:ln>
            <a:noFill/>
          </a:ln>
        </p:spPr>
        <p:txBody>
          <a:bodyPr rtlCol="0" anchor="ctr" lIns="0" rIns="0" tIns="0" bIns="0"/>
          <a:lstStyle/>
          <a:p>
            <a:pPr algn="ctr"/>
          </a:p>
        </p:txBody>
      </p:sp>
      <p:sp>
        <p:nvSpPr>
          <p:cNvPr id="37" name="Rectangle 36"/>
          <p:cNvSpPr/>
          <p:nvPr/>
        </p:nvSpPr>
        <p:spPr>
          <a:xfrm>
            <a:off x="7950200" y="6013450"/>
            <a:ext cx="12700" cy="63500"/>
          </a:xfrm>
          <a:prstGeom prst="rect">
            <a:avLst/>
          </a:prstGeom>
          <a:solidFill>
            <a:srgbClr val="C6C6C6"/>
          </a:solidFill>
          <a:ln>
            <a:noFill/>
          </a:ln>
        </p:spPr>
        <p:txBody>
          <a:bodyPr rtlCol="0" anchor="ctr" lIns="0" rIns="0" tIns="0" bIns="0"/>
          <a:lstStyle/>
          <a:p>
            <a:pPr algn="ctr"/>
          </a:p>
        </p:txBody>
      </p:sp>
      <p:sp>
        <p:nvSpPr>
          <p:cNvPr id="38" name="Rectangle 37"/>
          <p:cNvSpPr/>
          <p:nvPr/>
        </p:nvSpPr>
        <p:spPr>
          <a:xfrm>
            <a:off x="8229600" y="6013450"/>
            <a:ext cx="12700" cy="63500"/>
          </a:xfrm>
          <a:prstGeom prst="rect">
            <a:avLst/>
          </a:prstGeom>
          <a:solidFill>
            <a:srgbClr val="C6C6C6"/>
          </a:solidFill>
          <a:ln>
            <a:noFill/>
          </a:ln>
        </p:spPr>
        <p:txBody>
          <a:bodyPr rtlCol="0" anchor="ctr" lIns="0" rIns="0" tIns="0" bIns="0"/>
          <a:lstStyle/>
          <a:p>
            <a:pPr algn="ctr"/>
          </a:p>
        </p:txBody>
      </p:sp>
      <p:sp>
        <p:nvSpPr>
          <p:cNvPr id="39" name="Rectangle 38"/>
          <p:cNvSpPr/>
          <p:nvPr/>
        </p:nvSpPr>
        <p:spPr>
          <a:xfrm>
            <a:off x="8509000" y="6013450"/>
            <a:ext cx="12700" cy="63500"/>
          </a:xfrm>
          <a:prstGeom prst="rect">
            <a:avLst/>
          </a:prstGeom>
          <a:solidFill>
            <a:srgbClr val="C6C6C6"/>
          </a:solidFill>
          <a:ln>
            <a:noFill/>
          </a:ln>
        </p:spPr>
        <p:txBody>
          <a:bodyPr rtlCol="0" anchor="ctr" lIns="0" rIns="0" tIns="0" bIns="0"/>
          <a:lstStyle/>
          <a:p>
            <a:pPr algn="ctr"/>
          </a:p>
        </p:txBody>
      </p:sp>
      <p:sp>
        <p:nvSpPr>
          <p:cNvPr id="40" name="Rectangle 39"/>
          <p:cNvSpPr/>
          <p:nvPr/>
        </p:nvSpPr>
        <p:spPr>
          <a:xfrm>
            <a:off x="8788400" y="6013450"/>
            <a:ext cx="12700" cy="63500"/>
          </a:xfrm>
          <a:prstGeom prst="rect">
            <a:avLst/>
          </a:prstGeom>
          <a:solidFill>
            <a:srgbClr val="C6C6C6"/>
          </a:solidFill>
          <a:ln>
            <a:noFill/>
          </a:ln>
        </p:spPr>
        <p:txBody>
          <a:bodyPr rtlCol="0" anchor="ctr" lIns="0" rIns="0" tIns="0" bIns="0"/>
          <a:lstStyle/>
          <a:p>
            <a:pPr algn="ctr"/>
          </a:p>
        </p:txBody>
      </p:sp>
      <p:sp>
        <p:nvSpPr>
          <p:cNvPr id="41" name="Rectangle 40"/>
          <p:cNvSpPr/>
          <p:nvPr/>
        </p:nvSpPr>
        <p:spPr>
          <a:xfrm>
            <a:off x="9067800" y="6013450"/>
            <a:ext cx="12700" cy="63500"/>
          </a:xfrm>
          <a:prstGeom prst="rect">
            <a:avLst/>
          </a:prstGeom>
          <a:solidFill>
            <a:srgbClr val="C6C6C6"/>
          </a:solidFill>
          <a:ln>
            <a:noFill/>
          </a:ln>
        </p:spPr>
        <p:txBody>
          <a:bodyPr rtlCol="0" anchor="ctr" lIns="0" rIns="0" tIns="0" bIns="0"/>
          <a:lstStyle/>
          <a:p>
            <a:pPr algn="ctr"/>
          </a:p>
        </p:txBody>
      </p:sp>
      <p:sp>
        <p:nvSpPr>
          <p:cNvPr id="42" name="Rectangle 41"/>
          <p:cNvSpPr/>
          <p:nvPr/>
        </p:nvSpPr>
        <p:spPr>
          <a:xfrm>
            <a:off x="9347200" y="6013450"/>
            <a:ext cx="12700" cy="63500"/>
          </a:xfrm>
          <a:prstGeom prst="rect">
            <a:avLst/>
          </a:prstGeom>
          <a:solidFill>
            <a:srgbClr val="C6C6C6"/>
          </a:solidFill>
          <a:ln>
            <a:noFill/>
          </a:ln>
        </p:spPr>
        <p:txBody>
          <a:bodyPr rtlCol="0" anchor="ctr" lIns="0" rIns="0" tIns="0" bIns="0"/>
          <a:lstStyle/>
          <a:p>
            <a:pPr algn="ctr"/>
          </a:p>
        </p:txBody>
      </p:sp>
      <p:sp>
        <p:nvSpPr>
          <p:cNvPr id="43" name="Rectangle 42"/>
          <p:cNvSpPr/>
          <p:nvPr/>
        </p:nvSpPr>
        <p:spPr>
          <a:xfrm>
            <a:off x="9626600" y="6013450"/>
            <a:ext cx="12700" cy="63500"/>
          </a:xfrm>
          <a:prstGeom prst="rect">
            <a:avLst/>
          </a:prstGeom>
          <a:solidFill>
            <a:srgbClr val="C6C6C6"/>
          </a:solidFill>
          <a:ln>
            <a:noFill/>
          </a:ln>
        </p:spPr>
        <p:txBody>
          <a:bodyPr rtlCol="0" anchor="ctr" lIns="0" rIns="0" tIns="0" bIns="0"/>
          <a:lstStyle/>
          <a:p>
            <a:pPr algn="ctr"/>
          </a:p>
        </p:txBody>
      </p:sp>
      <p:sp>
        <p:nvSpPr>
          <p:cNvPr id="44" name="Rectangle 43"/>
          <p:cNvSpPr/>
          <p:nvPr/>
        </p:nvSpPr>
        <p:spPr>
          <a:xfrm>
            <a:off x="9906000" y="6013450"/>
            <a:ext cx="12700" cy="63500"/>
          </a:xfrm>
          <a:prstGeom prst="rect">
            <a:avLst/>
          </a:prstGeom>
          <a:solidFill>
            <a:srgbClr val="C6C6C6"/>
          </a:solidFill>
          <a:ln>
            <a:noFill/>
          </a:ln>
        </p:spPr>
        <p:txBody>
          <a:bodyPr rtlCol="0" anchor="ctr" lIns="0" rIns="0" tIns="0" bIns="0"/>
          <a:lstStyle/>
          <a:p>
            <a:pPr algn="ctr"/>
          </a:p>
        </p:txBody>
      </p:sp>
      <p:sp>
        <p:nvSpPr>
          <p:cNvPr id="45" name="Rectangle 44"/>
          <p:cNvSpPr/>
          <p:nvPr/>
        </p:nvSpPr>
        <p:spPr>
          <a:xfrm>
            <a:off x="10185400" y="6013450"/>
            <a:ext cx="12700" cy="63500"/>
          </a:xfrm>
          <a:prstGeom prst="rect">
            <a:avLst/>
          </a:prstGeom>
          <a:solidFill>
            <a:srgbClr val="C6C6C6"/>
          </a:solidFill>
          <a:ln>
            <a:noFill/>
          </a:ln>
        </p:spPr>
        <p:txBody>
          <a:bodyPr rtlCol="0" anchor="ctr" lIns="0" rIns="0" tIns="0" bIns="0"/>
          <a:lstStyle/>
          <a:p>
            <a:pPr algn="ctr"/>
          </a:p>
        </p:txBody>
      </p:sp>
      <p:sp>
        <p:nvSpPr>
          <p:cNvPr id="46" name="Rectangle 45"/>
          <p:cNvSpPr/>
          <p:nvPr/>
        </p:nvSpPr>
        <p:spPr>
          <a:xfrm>
            <a:off x="10464800" y="6013450"/>
            <a:ext cx="12700" cy="63500"/>
          </a:xfrm>
          <a:prstGeom prst="rect">
            <a:avLst/>
          </a:prstGeom>
          <a:solidFill>
            <a:srgbClr val="C6C6C6"/>
          </a:solidFill>
          <a:ln>
            <a:noFill/>
          </a:ln>
        </p:spPr>
        <p:txBody>
          <a:bodyPr rtlCol="0" anchor="ctr" lIns="0" rIns="0" tIns="0" bIns="0"/>
          <a:lstStyle/>
          <a:p>
            <a:pPr algn="ctr"/>
          </a:p>
        </p:txBody>
      </p:sp>
      <p:sp>
        <p:nvSpPr>
          <p:cNvPr id="47" name="Rectangle 46"/>
          <p:cNvSpPr/>
          <p:nvPr/>
        </p:nvSpPr>
        <p:spPr>
          <a:xfrm>
            <a:off x="10744200" y="6013450"/>
            <a:ext cx="12700" cy="63500"/>
          </a:xfrm>
          <a:prstGeom prst="rect">
            <a:avLst/>
          </a:prstGeom>
          <a:solidFill>
            <a:srgbClr val="C6C6C6"/>
          </a:solidFill>
          <a:ln>
            <a:noFill/>
          </a:ln>
        </p:spPr>
        <p:txBody>
          <a:bodyPr rtlCol="0" anchor="ctr" lIns="0" rIns="0" tIns="0" bIns="0"/>
          <a:lstStyle/>
          <a:p>
            <a:pPr algn="ctr"/>
          </a:p>
        </p:txBody>
      </p:sp>
      <p:sp>
        <p:nvSpPr>
          <p:cNvPr id="48" name="Rectangle 47"/>
          <p:cNvSpPr/>
          <p:nvPr/>
        </p:nvSpPr>
        <p:spPr>
          <a:xfrm>
            <a:off x="11023600" y="6013450"/>
            <a:ext cx="12700" cy="63500"/>
          </a:xfrm>
          <a:prstGeom prst="rect">
            <a:avLst/>
          </a:prstGeom>
          <a:solidFill>
            <a:srgbClr val="C6C6C6"/>
          </a:solidFill>
          <a:ln>
            <a:noFill/>
          </a:ln>
        </p:spPr>
        <p:txBody>
          <a:bodyPr rtlCol="0" anchor="ctr" lIns="0" rIns="0" tIns="0" bIns="0"/>
          <a:lstStyle/>
          <a:p>
            <a:pPr algn="ctr"/>
          </a:p>
        </p:txBody>
      </p:sp>
      <p:sp>
        <p:nvSpPr>
          <p:cNvPr id="49" name="Rectangle 48"/>
          <p:cNvSpPr/>
          <p:nvPr/>
        </p:nvSpPr>
        <p:spPr>
          <a:xfrm>
            <a:off x="11303000" y="6013450"/>
            <a:ext cx="12700" cy="63500"/>
          </a:xfrm>
          <a:prstGeom prst="rect">
            <a:avLst/>
          </a:prstGeom>
          <a:solidFill>
            <a:srgbClr val="C6C6C6"/>
          </a:solidFill>
          <a:ln>
            <a:noFill/>
          </a:ln>
        </p:spPr>
        <p:txBody>
          <a:bodyPr rtlCol="0" anchor="ctr" lIns="0" rIns="0" tIns="0" bIns="0"/>
          <a:lstStyle/>
          <a:p>
            <a:pPr algn="ctr"/>
          </a:p>
        </p:txBody>
      </p:sp>
      <p:sp>
        <p:nvSpPr>
          <p:cNvPr id="50" name="Rectangle 49"/>
          <p:cNvSpPr/>
          <p:nvPr/>
        </p:nvSpPr>
        <p:spPr>
          <a:xfrm>
            <a:off x="11582400" y="6013450"/>
            <a:ext cx="12700" cy="63500"/>
          </a:xfrm>
          <a:prstGeom prst="rect">
            <a:avLst/>
          </a:prstGeom>
          <a:solidFill>
            <a:srgbClr val="C6C6C6"/>
          </a:solidFill>
          <a:ln>
            <a:noFill/>
          </a:ln>
        </p:spPr>
        <p:txBody>
          <a:bodyPr rtlCol="0" anchor="ctr" lIns="0" rIns="0" tIns="0" bIns="0"/>
          <a:lstStyle/>
          <a:p>
            <a:pPr algn="ctr"/>
          </a:p>
        </p:txBody>
      </p:sp>
      <p:pic>
        <p:nvPicPr>
          <p:cNvPr id="51" name="Picture 50" descr="locomotive_premium.png"/>
          <p:cNvPicPr>
            <a:picLocks noChangeAspect="1"/>
          </p:cNvPicPr>
          <p:nvPr/>
        </p:nvPicPr>
        <p:blipFill>
          <a:blip r:embed="rId2"/>
          <a:stretch>
            <a:fillRect/>
          </a:stretch>
        </p:blipFill>
        <p:spPr>
          <a:xfrm>
            <a:off x="3556000" y="5320386"/>
            <a:ext cx="2717800" cy="679450"/>
          </a:xfrm>
          <a:prstGeom prst="rect">
            <a:avLst/>
          </a:prstGeom>
        </p:spPr>
      </p:pic>
      <p:pic>
        <p:nvPicPr>
          <p:cNvPr id="52" name="Picture 51" descr="locomotive_premium.png"/>
          <p:cNvPicPr>
            <a:picLocks noChangeAspect="1"/>
          </p:cNvPicPr>
          <p:nvPr/>
        </p:nvPicPr>
        <p:blipFill>
          <a:blip r:embed="rId2"/>
          <a:stretch>
            <a:fillRect/>
          </a:stretch>
        </p:blipFill>
        <p:spPr>
          <a:xfrm>
            <a:off x="6324600" y="5320386"/>
            <a:ext cx="2717800" cy="679450"/>
          </a:xfrm>
          <a:prstGeom prst="rect">
            <a:avLst/>
          </a:prstGeom>
        </p:spPr>
      </p:pic>
      <p:pic>
        <p:nvPicPr>
          <p:cNvPr id="53" name="Picture 52" descr="locomotive_premium.png"/>
          <p:cNvPicPr>
            <a:picLocks noChangeAspect="1"/>
          </p:cNvPicPr>
          <p:nvPr/>
        </p:nvPicPr>
        <p:blipFill>
          <a:blip r:embed="rId2"/>
          <a:stretch>
            <a:fillRect/>
          </a:stretch>
        </p:blipFill>
        <p:spPr>
          <a:xfrm>
            <a:off x="9093200" y="5320386"/>
            <a:ext cx="2717800" cy="679450"/>
          </a:xfrm>
          <a:prstGeom prst="rect">
            <a:avLst/>
          </a:prstGeom>
        </p:spPr>
      </p:pic>
      <p:sp>
        <p:nvSpPr>
          <p:cNvPr id="54" name="Rectangle 53"/>
          <p:cNvSpPr/>
          <p:nvPr/>
        </p:nvSpPr>
        <p:spPr>
          <a:xfrm>
            <a:off x="406400" y="6413500"/>
            <a:ext cx="11379200" cy="6350"/>
          </a:xfrm>
          <a:prstGeom prst="rect">
            <a:avLst/>
          </a:prstGeom>
          <a:solidFill>
            <a:srgbClr val="DEDEDE"/>
          </a:solidFill>
          <a:ln>
            <a:noFill/>
          </a:ln>
        </p:spPr>
        <p:txBody>
          <a:bodyPr rtlCol="0" anchor="ctr" lIns="0" rIns="0" tIns="0" bIns="0"/>
          <a:lstStyle/>
          <a:p>
            <a:pPr algn="ctr"/>
          </a:p>
        </p:txBody>
      </p:sp>
      <p:sp>
        <p:nvSpPr>
          <p:cNvPr id="55" name="TextBox 54"/>
          <p:cNvSpPr txBox="1"/>
          <p:nvPr/>
        </p:nvSpPr>
        <p:spPr>
          <a:xfrm>
            <a:off x="406400" y="6502400"/>
            <a:ext cx="8255000" cy="228600"/>
          </a:xfrm>
          <a:prstGeom prst="rect">
            <a:avLst/>
          </a:prstGeom>
          <a:noFill/>
        </p:spPr>
        <p:txBody>
          <a:bodyPr wrap="none" anchor="ctr" lIns="0" tIns="0" rIns="0" bIns="0">
            <a:noAutofit/>
          </a:bodyPr>
          <a:lstStyle/>
          <a:p>
            <a:pPr algn="l" marL="0" indent="0">
              <a:lnSpc>
                <a:spcPts val="1200"/>
              </a:lnSpc>
              <a:buNone/>
            </a:pPr>
            <a:r>
              <a:rPr lang="zh-CN" altLang="en-US" sz="850" b="1" spc="125">
                <a:solidFill>
                  <a:srgbClr val="8C8C8C"/>
                </a:solidFill>
                <a:latin typeface="微软雅黑"/>
                <a:ea typeface="微软雅黑"/>
                <a:cs typeface="微软雅黑"/>
              </a:rPr>
              <a:t>7.3 多智能体协同运行与调度引擎</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课题申报汇报</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谢谢</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微软雅黑"/>
        <a:ea typeface="微软雅黑"/>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微软雅黑"/>
        <a:ea typeface="微软雅黑"/>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7.3 轨道交通装备性能验证的多智能体协同运行与调度引擎技术研究 · 课题申报汇报</dc:title>
  <dc:subject>课题申报汇报</dc:subject>
  <dc:creator/>
  <cp:keywords>多智能体; 协同运行; 调度引擎; 数字样机; 性能验证</cp:keywords>
  <dc:description>generated using python-pptx</dc:description>
  <cp:lastModifiedBy/>
  <cp:revision>1</cp:revision>
  <dcterms:created xsi:type="dcterms:W3CDTF">2013-01-27T09:14:16Z</dcterms:created>
  <dcterms:modified xsi:type="dcterms:W3CDTF">2013-01-27T09:15:58Z</dcterms:modified>
  <cp:category/>
</cp:coreProperties>
</file>