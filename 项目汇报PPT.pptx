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说明：本页需填入单位实际基础，它是“为何由我单位承担”的直接依据。</a:t>
            </a:r>
          </a:p>
          <a:p>
            <a:r>
              <a:t>橙色虚线框与【待填】/【可补充】为占位内容，请替换为牵头单位实际情况。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11.png"/><Relationship Id="rId6" Type="http://schemas.openxmlformats.org/officeDocument/2006/relationships/image" Target="../media/image1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8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22.png"/><Relationship Id="rId4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16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20.png"/><Relationship Id="rId6" Type="http://schemas.openxmlformats.org/officeDocument/2006/relationships/image" Target="../media/image6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762000" cy="50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48000"/>
            <a:ext cx="11379200" cy="2921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4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7719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19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400" y="37719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64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6900" y="37719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39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4400" y="37719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2" name="Picture 61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共 25 页 · 第三部分“主要研究内容、技术路线与方法”为核心章节（第 6—17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B7785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基本信息 · 在项目7中的位置 · 主要成果物 · 经费概览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B7785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背景 · 目的 · 价值 · 效益 ｜ 立项必要性与紧迫性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4—5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31750" cy="6477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C0000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核心命题 · 研究内容①—④ · 研究方法 · 技术路线 · 典型验证场景 · 创新内核 · 技术对标 · 未来价值 · 阶段进度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第 6—17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B7785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任务分解与考核方式 · 预期目标与成果对应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18—20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B7785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预算明细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21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B7785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组织 · 分配 · 流程 · 控制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22—23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B7785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24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基本信息 · 在项目7中的位置与边界 · 主要成果物 · 经费概览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03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1" name="Rectangle 10"/>
          <p:cNvSpPr/>
          <p:nvPr/>
        </p:nvSpPr>
        <p:spPr>
          <a:xfrm>
            <a:off x="406400" y="1625600"/>
            <a:ext cx="609600" cy="444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900" y="1625600"/>
            <a:ext cx="4826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00" y="1625600"/>
            <a:ext cx="16383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 基于智能体的轨道交通装备</a:t>
            </a:r>
            <a:br>
              <a:rPr lang="zh-CN" altLang="en-US" sz="950"/>
            </a:b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性能数字样机关键技术研究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1300" y="1625600"/>
            <a:ext cx="711200" cy="444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4800" y="1625600"/>
            <a:ext cx="5842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0" y="1625600"/>
            <a:ext cx="21209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7.3 轨道交通装备性能验证的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0701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8" name="Rectangle 17"/>
          <p:cNvSpPr/>
          <p:nvPr/>
        </p:nvSpPr>
        <p:spPr>
          <a:xfrm>
            <a:off x="406400" y="207010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900" y="20701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" y="20701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1300" y="207010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44800" y="20701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20701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23431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5" name="Rectangle 24"/>
          <p:cNvSpPr/>
          <p:nvPr/>
        </p:nvSpPr>
        <p:spPr>
          <a:xfrm>
            <a:off x="406400" y="234315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900" y="23431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500" y="23431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81300" y="234315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4800" y="23431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6000" y="23431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400" y="26162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2" name="Rectangle 31"/>
          <p:cNvSpPr/>
          <p:nvPr/>
        </p:nvSpPr>
        <p:spPr>
          <a:xfrm>
            <a:off x="406400" y="261620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900" y="26162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500" y="26162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1300" y="261620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44800" y="26162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6000" y="26162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28892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288925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900" y="28892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500" y="28892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1300" y="288925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4800" y="28892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6000" y="28892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400" y="31623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406400" y="3302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主要成果物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5400" y="33020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软件 · 模型 · 系统 · 规范 · 报告 · 知识产权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3594100"/>
            <a:ext cx="1727200" cy="25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settings-automation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7084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540256" y="3708400"/>
            <a:ext cx="491744" cy="177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80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098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09800" y="3594100"/>
            <a:ext cx="1727200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robo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37084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3343656" y="3708400"/>
            <a:ext cx="491744" cy="1778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14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132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13200" y="3594100"/>
            <a:ext cx="1727200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train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084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147056" y="3708400"/>
            <a:ext cx="491744" cy="177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6400" y="4406900"/>
            <a:ext cx="1727200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file-certificate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5212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1540256" y="4521200"/>
            <a:ext cx="491744" cy="177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80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098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09800" y="4406900"/>
            <a:ext cx="17272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analytics-D9770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521200"/>
            <a:ext cx="190500" cy="1905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3343656" y="4521200"/>
            <a:ext cx="491744" cy="177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114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132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13200" y="4406900"/>
            <a:ext cx="17272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5" name="Picture 74" descr="certificate-D9770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521200"/>
            <a:ext cx="190500" cy="1905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4823968" y="4521200"/>
            <a:ext cx="814832" cy="177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发明专利／论文／</a:t>
            </a:r>
            <a:br>
              <a:rPr lang="zh-CN" altLang="en-US" sz="900"/>
            </a:b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6400" y="5283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经费概览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43000" y="52832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6400" y="5588000"/>
            <a:ext cx="2635250" cy="2540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054350" y="5588000"/>
            <a:ext cx="1581150" cy="2540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48200" y="5588000"/>
            <a:ext cx="263525" cy="254000"/>
          </a:xfrm>
          <a:prstGeom prst="rect">
            <a:avLst/>
          </a:prstGeom>
          <a:solidFill>
            <a:srgbClr val="6F7C9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24425" y="5588000"/>
            <a:ext cx="263525" cy="2540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00650" y="5588000"/>
            <a:ext cx="263525" cy="2540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476875" y="5588000"/>
            <a:ext cx="263525" cy="254000"/>
          </a:xfrm>
          <a:prstGeom prst="rect">
            <a:avLst/>
          </a:prstGeom>
          <a:solidFill>
            <a:srgbClr val="C5CD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6400" y="5880100"/>
            <a:ext cx="26352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GPU+NPU 异构算力服务器 40 · 一体化工作站 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0" y="5880100"/>
            <a:ext cx="254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人员 30 · 折旧 · 外协 · 成果 · 其他 各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在项目7中的位置与相邻课题边界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44916" y="1346200"/>
            <a:ext cx="3440684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项目7设5个子课题 · 研究重心是“引擎”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1625600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1625600"/>
            <a:ext cx="482600" cy="61700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4000" y="1708679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04000" y="1975379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边界：仅采用其数据规范与接口，不承担构建（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7.1 建库、7.3 按需生成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94400" y="2306108"/>
            <a:ext cx="5791200" cy="80115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94400" y="2306108"/>
            <a:ext cx="482600" cy="80115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04000" y="2389188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04000" y="2655888"/>
            <a:ext cx="50419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边界：为验证需要自建控制系统、车辆动力学与线路等必要智能体，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不覆盖弓网/牵引/制动等全部关键系统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994400" y="3170767"/>
            <a:ext cx="5791200" cy="985308"/>
          </a:xfrm>
          <a:prstGeom prst="rect">
            <a:avLst/>
          </a:prstGeom>
          <a:solidFill>
            <a:srgbClr val="FDF2F2"/>
          </a:solidFill>
          <a:ln w="12700">
            <a:solidFill>
              <a:srgbClr val="C00000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94400" y="3170767"/>
            <a:ext cx="482600" cy="9853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04000" y="3253846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8700" y="3272896"/>
            <a:ext cx="431800" cy="177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04000" y="3520546"/>
            <a:ext cx="5041900" cy="565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核心攻关多智能体协同运行与调度引擎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</a:t>
            </a:r>
            <a:br>
              <a:rPr lang="zh-CN" altLang="en-US" sz="950"/>
            </a:b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解决多专业智能体“接得上、跑得动、调得灵”的问题；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列车级数字样机是引擎承载智能体后形成的集成产物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94400" y="4219575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994400" y="4219575"/>
            <a:ext cx="482600" cy="61700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04000" y="4302654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04000" y="4569354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边界：承接智能体集成与协同运行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94400" y="4900083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94400" y="4900083"/>
            <a:ext cx="482600" cy="61700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04000" y="4983162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04000" y="5249862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边界：仅为优化提供验证支撑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994400" y="5612342"/>
            <a:ext cx="5791200" cy="0"/>
          </a:xfrm>
          <a:prstGeom prst="line">
            <a:avLst/>
          </a:prstGeom>
          <a:ln w="9525">
            <a:solidFill>
              <a:srgbClr val="D3D9E1"/>
            </a:solidFill>
            <a:prstDash val="dash"/>
            <a:round/>
          </a:ln>
        </p:spPr>
      </p:cxnSp>
      <p:sp>
        <p:nvSpPr>
          <p:cNvPr id="112" name="Rectangle 111"/>
          <p:cNvSpPr/>
          <p:nvPr/>
        </p:nvSpPr>
        <p:spPr>
          <a:xfrm>
            <a:off x="5994400" y="5707592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94400" y="5707592"/>
            <a:ext cx="482600" cy="61700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04000" y="5790671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50200" y="5809721"/>
            <a:ext cx="533400" cy="1778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604000" y="6057371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边界：本课题为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面向性能验证任务的领域化编排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研究意义与价值：实现列车关键性能的快速、可复现、全覆盖验证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背景与必要性 → 研究目的 → 应用价值与推动作用 · 潜在社会经济效益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04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4097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背景与必要性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272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实物试验为主、模型各自为战，难以支撑列车级性能验证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5000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5000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0100" y="1498600"/>
            <a:ext cx="2861733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实物试验＋离线仿真为主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0100" y="1816100"/>
            <a:ext cx="2927773" cy="584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轨道交通装备研发验证仍以实物试验＋单系统离线仿真为主，周期长、成本高，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极端工况与故障场景难以全覆盖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49333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9333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4433" y="1498600"/>
            <a:ext cx="2861733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求解慢 · 精度低 · 靠经验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4433" y="1816100"/>
            <a:ext cx="2927773" cy="584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现有数字样机与孪生模型存在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运算求解慢、极端工况精度低、经验依赖性强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等突出问题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3667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3667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8767" y="1498600"/>
            <a:ext cx="2861733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各专业模型各自为战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8767" y="1816100"/>
            <a:ext cx="2927773" cy="584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各专业仿真模型各自为战，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缺乏统一的协同运行与调度能力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，难以支撑列车级性能验证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400" y="26924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研究目的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05000" y="2628900"/>
            <a:ext cx="9880600" cy="5588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5000" y="2628900"/>
            <a:ext cx="31750" cy="558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5500" y="2628900"/>
            <a:ext cx="94996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突破多智能体协同运行与调度引擎技术，构建包含关键系统仿真智能体的列车级数字样机，实现列车关键性能的</a:t>
            </a:r>
            <a:r>
              <a:rPr lang="zh-CN" altLang="en-US" sz="11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快速、可复现、全覆盖</a:t>
            </a: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34290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价值与效益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400" y="37465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应用价值与推动作用</a:t>
            </a:r>
            <a:br>
              <a:rPr lang="zh-CN" altLang="en-US" sz="950"/>
            </a:b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潜在社会经济效益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5000" y="3352800"/>
            <a:ext cx="48387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05000" y="3352800"/>
            <a:ext cx="48387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59000" y="3556000"/>
            <a:ext cx="482600" cy="4826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trending-up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125" y="3667125"/>
            <a:ext cx="260350" cy="2603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781300" y="3556000"/>
            <a:ext cx="300990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应用价值与对领域发展的推动作用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0700" y="34798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59000" y="4178300"/>
            <a:ext cx="43307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2159000" y="4305300"/>
            <a:ext cx="4330700" cy="1333500"/>
          </a:xfrm>
          <a:prstGeom prst="rect">
            <a:avLst/>
          </a:prstGeom>
          <a:noFill/>
        </p:spPr>
        <p:txBody>
          <a:bodyPr wrap="square" anchor="t" lIns="0" tIns="0" rIns="19050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机车研发验证与运维测试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，覆盖速度跟踪控制品质、牵引能耗与再生能量利用、运行平稳性等关键性能；支撑复杂工况的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低成本、高频次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推动研发验证从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单系统、离线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列车级、实时协同、智能调度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演进；将多智能体协同从通用平台层引入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装备性能验证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领域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59000" y="5664200"/>
            <a:ext cx="4330700" cy="457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59000" y="5664200"/>
            <a:ext cx="31750" cy="457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30450" y="5664200"/>
            <a:ext cx="401955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输出列车级数字样机构建方法体系与技术规范，</a:t>
            </a:r>
            <a:br>
              <a:rPr lang="zh-CN" altLang="en-US" sz="1000"/>
            </a:b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为行业提供可复用的方法支撑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6900" y="3352800"/>
            <a:ext cx="48387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46900" y="3352800"/>
            <a:ext cx="48387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200900" y="3556000"/>
            <a:ext cx="482600" cy="4826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3" name="Picture 42" descr="coins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025" y="3667125"/>
            <a:ext cx="260350" cy="26035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823200" y="3556000"/>
            <a:ext cx="300990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潜在社会经济效益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42600" y="34798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200900" y="4178300"/>
            <a:ext cx="43307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7" name="Rectangle 46"/>
          <p:cNvSpPr/>
          <p:nvPr/>
        </p:nvSpPr>
        <p:spPr>
          <a:xfrm>
            <a:off x="7200900" y="43180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report-money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4394200"/>
            <a:ext cx="203200" cy="203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683500" y="43053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3500" y="4495800"/>
            <a:ext cx="3848100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减少实物试验次数与样车试制投入，缩短研制迭代周期，降低运用考核与线路试验成本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00900" y="51308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2" name="Picture 51" descr="shield-check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7100" y="52070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683500" y="51181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3500" y="5308600"/>
            <a:ext cx="3848100" cy="2095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提升关键性能验证的覆盖度与可信度，支撑轨道交通安全可靠运营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00900" y="575945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6" name="Picture 55" descr="building-factory-2-00A37A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100" y="5835650"/>
            <a:ext cx="203200" cy="2032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683500" y="574675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3500" y="5937250"/>
            <a:ext cx="3848100" cy="2095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方法体系具备向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制动、辅助系统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扩展的能力，可在**内主机企业推广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立项必要性与紧迫性：晚一年布局，就多一年被动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政策与规划已有明确要求 · 受制于人的风险已经量化 · 验证环节存在差距 · 窗口期有限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05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1358900"/>
            <a:ext cx="52705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政策与规划已有明确要求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" y="1663700"/>
            <a:ext cx="5588000" cy="15875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《“***”铁路科技创新规划》（****〔****〕**号）将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数字孪生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列为智能铁路关键技术，明确要求“开展智能建造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数字孪生平台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研发应用”，研发具备“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自感知、自决策、自适应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”能力的*****，并提出“到****年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智能铁路技术全面突破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</a:t>
            </a:r>
          </a:p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该规划同时坦承短板：“部分关键核心技术亟待突破，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更高速度、更加智能、更高效率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技术有待补强”</a:t>
            </a:r>
          </a:p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进入“***”，智能铁路已由“技术突破”转入“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体系化落地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”，数字样机与智能验证成为核心抓手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33655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3365500"/>
            <a:ext cx="52705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底层能力受制于人的风险已经量化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8800" y="3759200"/>
            <a:ext cx="1490133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约 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4114800"/>
            <a:ext cx="1490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研发设计类工业软件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国产化率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4495800"/>
            <a:ext cx="1490133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有研究报告指出；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CAD/CAE/EDA 长期被欧美少数巨头企业垄断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2933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5333" y="3759200"/>
            <a:ext cx="1490133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超 3 亿美元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5333" y="4114800"/>
            <a:ext cx="1490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全球最大 CAE 厂商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年研发投入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5333" y="4495800"/>
            <a:ext cx="1490133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相当于国内所有工业软件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公司投入总和的数倍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99467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1867" y="3759200"/>
            <a:ext cx="1490133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约 5% / 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1867" y="4114800"/>
            <a:ext cx="1490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用户端软件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年均涨价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1867" y="4495800"/>
            <a:ext cx="1490133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用户端每年软件支出达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数百万元，且不提供个性化定制</a:t>
            </a:r>
          </a:p>
        </p:txBody>
      </p:sp>
      <p:pic>
        <p:nvPicPr>
          <p:cNvPr id="26" name="Picture 25" descr="alert-triangle-C0000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3240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0400" y="5194300"/>
            <a:ext cx="53340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**指南亦已将“研发设计软件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受制于人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”“设计仿真数据割裂”列为待解决事项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8400" y="13589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900" y="1358900"/>
            <a:ext cx="52197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验证环节的差距：现状 → 目标形态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0900" y="1638300"/>
            <a:ext cx="1651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900" y="16383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目标形态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8400" y="1854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验证方式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7400" y="1854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实物试验为主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8972550" y="1962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2100" y="1854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虚拟验证前移，数字孪生驱动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8400" y="2235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建模范围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7400" y="2235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单系统、离线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972550" y="2343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2100" y="2235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多系统实时协同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8400" y="2616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工况覆盖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7400" y="2616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受试验条件限制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8972550" y="2724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82100" y="2616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边界与故障工况可计算覆盖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8400" y="2997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经验依赖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7400" y="2997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强，靠专家判断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8972550" y="3105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82100" y="2997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判据知识化、流程自动化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8400" y="3378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结论可信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7400" y="3378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难复现、难追溯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8972550" y="3486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82100" y="3378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可回放、可追溯、可回归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48400" y="38735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900" y="3873500"/>
            <a:ext cx="52197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窗口期有限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8400" y="4165600"/>
            <a:ext cx="5537200" cy="13081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quote-7C889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400" y="4438650"/>
            <a:ext cx="203200" cy="2032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67500" y="4425950"/>
            <a:ext cx="4965700" cy="812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《规划》面向世界科技前沿提出，要“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抢占新一轮科技革命和产业变革制高点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，保持我国铁路科技创新领先优势，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增强国际话语权和影响力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”。数字孪生与智能体技术正处于从概念验证走向工程落地的窗口期——</a:t>
            </a: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若“***”期间不能拿下协同运行与调度引擎的自主权，验证环节将再次依赖国外工具链，重演工业软件的路径。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5676900"/>
            <a:ext cx="31750" cy="609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4200" y="5676900"/>
            <a:ext cx="112014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结论：本课题要做的不是“锦上添花的工具”，而是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。晚一年布局，就多一年被动。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核心命题：让列车性能验证像软件回归测试一样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四层架构构成“协同运行与调度引擎” · 对接项目7总体目标 · 全流程跑在可复现沙箱中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核心命题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06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本课题的四层架构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699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自下而上：基础层 → 决策层 → 执行层 → 集成层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637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63700"/>
            <a:ext cx="1587500" cy="8001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63700"/>
            <a:ext cx="38100" cy="800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8161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20828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9000" y="19240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0250" y="1924050"/>
            <a:ext cx="11430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02150" y="19240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5400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540000"/>
            <a:ext cx="1587500" cy="8001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2540000"/>
            <a:ext cx="38100" cy="800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26924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29591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59000" y="28003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29718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051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37973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306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46228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61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测试报告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54483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816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34163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6400" y="3416300"/>
            <a:ext cx="1587500" cy="8001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3416300"/>
            <a:ext cx="38100" cy="800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" y="3568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38354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59000" y="3676650"/>
            <a:ext cx="12636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目标解析与任务分解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11550" y="36766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环境自装配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676650"/>
            <a:ext cx="11430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保真度与算力调度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400" y="42926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6400" y="4292600"/>
            <a:ext cx="1587500" cy="8001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6400" y="4292600"/>
            <a:ext cx="38100" cy="800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" y="44450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" y="47117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59000" y="45529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验证判据知识库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70250" y="45529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任务工作流定义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课题定位：四层如何构成“协同运行与调度引擎”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600" y="1663700"/>
            <a:ext cx="3048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课题要求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80600" y="1663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四层中的落点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18796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1879600"/>
            <a:ext cx="304800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多智能体模型的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高效实时协同运行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80600" y="2012950"/>
            <a:ext cx="608708" cy="203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40108" y="2012950"/>
            <a:ext cx="60870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05600" y="23495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6" name="TextBox 55"/>
          <p:cNvSpPr txBox="1"/>
          <p:nvPr/>
        </p:nvSpPr>
        <p:spPr>
          <a:xfrm>
            <a:off x="6705600" y="2349500"/>
            <a:ext cx="304800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多智能体模型的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调度引擎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80600" y="2482850"/>
            <a:ext cx="608708" cy="203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05600" y="28194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9" name="TextBox 58"/>
          <p:cNvSpPr txBox="1"/>
          <p:nvPr/>
        </p:nvSpPr>
        <p:spPr>
          <a:xfrm>
            <a:off x="6705600" y="2819400"/>
            <a:ext cx="3048000" cy="571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包含关键系统仿真智能体/智能孪生模型的列车级数字样机及构建方法体系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80600" y="3003550"/>
            <a:ext cx="82460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集成层产出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05600" y="33909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2" name="TextBox 61"/>
          <p:cNvSpPr txBox="1"/>
          <p:nvPr/>
        </p:nvSpPr>
        <p:spPr>
          <a:xfrm>
            <a:off x="6705600" y="3390900"/>
            <a:ext cx="304800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列车关键性能验证与智能运维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80600" y="3524250"/>
            <a:ext cx="136435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集成层数字样机的用途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05600" y="38608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5" name="TextBox 64"/>
          <p:cNvSpPr txBox="1"/>
          <p:nvPr/>
        </p:nvSpPr>
        <p:spPr>
          <a:xfrm>
            <a:off x="6705600" y="40005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05600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705600" y="4279900"/>
            <a:ext cx="1634067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8" name="Picture 67" descr="adjustments-7C5CF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900" y="4445000"/>
            <a:ext cx="190500" cy="1905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073900" y="4419600"/>
            <a:ext cx="1214967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9900" y="4711700"/>
            <a:ext cx="1481667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③ 执行层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28567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428567" y="4279900"/>
            <a:ext cx="1634067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3" name="Picture 72" descr="activity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867" y="4445000"/>
            <a:ext cx="190500" cy="1905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796867" y="4419600"/>
            <a:ext cx="1214967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指标实时推演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2867" y="4711700"/>
            <a:ext cx="1481667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→ ④ 协同运行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51533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151533" y="4279900"/>
            <a:ext cx="1634067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8" name="Picture 77" descr="clipboard-check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833" y="4445000"/>
            <a:ext cx="190500" cy="1905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519833" y="4419600"/>
            <a:ext cx="1214967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性能自动评估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65833" y="4711700"/>
            <a:ext cx="1481667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③ 测试识别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06400" y="5384800"/>
            <a:ext cx="31750" cy="889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4200" y="5568950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价值锚点：设计改一次，全工况列车关键性能验证自动重跑一遍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4200" y="5880100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全流程跑在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中——验证可回放、可追溯；于是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设计改一次，全工况列车关键性能验证自动重跑一遍</a:t>
            </a: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，支撑研发验证由“实物试验为主”转向“数字样机为主”。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研究内容① 测试知识库与任务工作流：为上层提供知识与规则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研究什么：验证判据知识化 · 任务工作流建模 · 知识与流程的迭代机制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为上层提供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——没有判据知识库，任务理解只能靠通用大模型“猜”；没有任务工作流，编排调度无章可循。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6600" y="1460500"/>
            <a:ext cx="6350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pic>
        <p:nvPicPr>
          <p:cNvPr id="29" name="Picture 28" descr="list-check-D9770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100" y="1574800"/>
            <a:ext cx="406400" cy="4064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60600" y="2070100"/>
            <a:ext cx="30734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验证判据知识化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3575" y="2374900"/>
            <a:ext cx="118745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3800" y="2527300"/>
            <a:ext cx="2667000" cy="63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从设计规范、运用要求与历史案例中提取判据，形式化为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的判据条目，构建验证判据知识库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130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527300" y="34671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设计规范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27300" y="37592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运用要求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27300" y="40513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历史案例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2639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9000" y="3790950"/>
            <a:ext cx="6350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判据条目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41402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05300" y="3759200"/>
            <a:ext cx="762000" cy="30480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1460500"/>
            <a:ext cx="6350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pic>
        <p:nvPicPr>
          <p:cNvPr id="43" name="Picture 42" descr="hierarchy-3-D9770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900" y="1574800"/>
            <a:ext cx="406400" cy="406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6400" y="2070100"/>
            <a:ext cx="30734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任务工作流建模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29375" y="2374900"/>
            <a:ext cx="118745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89600" y="2527300"/>
            <a:ext cx="2667000" cy="635000"/>
          </a:xfrm>
          <a:prstGeom prst="rect">
            <a:avLst/>
          </a:prstGeom>
          <a:noFill/>
        </p:spPr>
        <p:txBody>
          <a:bodyPr wrap="square" anchor="t" lIns="0" tIns="0" rIns="1905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定义验证任务的分解规则、执行顺序、流转条件与异常分支，形成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可配置、可复用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的任务工作流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388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53100" y="35687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分解规则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64300" y="35687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执行顺序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53100" y="39116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流转条件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4300" y="39116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异常分支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136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78700" y="3759200"/>
            <a:ext cx="914400" cy="30480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任务工作流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122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98200" y="1460500"/>
            <a:ext cx="6350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pic>
        <p:nvPicPr>
          <p:cNvPr id="56" name="Picture 55" descr="refresh-D97706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5700" y="1574800"/>
            <a:ext cx="406400" cy="406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712200" y="2070100"/>
            <a:ext cx="30734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知识与流程的迭代机制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17050" y="2374900"/>
            <a:ext cx="166370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15400" y="2527300"/>
            <a:ext cx="2667000" cy="635000"/>
          </a:xfrm>
          <a:prstGeom prst="rect">
            <a:avLst/>
          </a:prstGeom>
          <a:noFill/>
        </p:spPr>
        <p:txBody>
          <a:bodyPr wrap="square" anchor="t" lIns="0" tIns="0" rIns="635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依据验证结果回流，持续更新判据条目与工作流定义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46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978900" y="34798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验证结果回流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78900" y="40767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更新判据条目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566400" y="40767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更新工作流定义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455150" y="3746500"/>
            <a:ext cx="0" cy="317500"/>
          </a:xfrm>
          <a:prstGeom prst="line">
            <a:avLst/>
          </a:prstGeom>
          <a:ln w="12700">
            <a:solidFill>
              <a:srgbClr val="D97706"/>
            </a:solidFill>
            <a:round/>
            <a:tailEnd type="triangle" w="med" len="med"/>
          </a:ln>
        </p:spPr>
      </p:cxnSp>
      <p:sp>
        <p:nvSpPr>
          <p:cNvPr id="65" name="Freeform 64"/>
          <p:cNvSpPr/>
          <p:nvPr/>
        </p:nvSpPr>
        <p:spPr>
          <a:xfrm>
            <a:off x="9931400" y="3613150"/>
            <a:ext cx="1111250" cy="450850"/>
          </a:xfrm>
          <a:custGeom>
            <a:avLst/>
            <a:gdLst/>
            <a:ahLst/>
            <a:cxnLst/>
            <a:rect l="l" t="t" r="r" b="b"/>
            <a:pathLst>
              <a:path w="175" h="71">
                <a:moveTo>
                  <a:pt x="0" y="0"/>
                </a:moveTo>
                <a:lnTo>
                  <a:pt x="175" y="0"/>
                </a:lnTo>
                <a:lnTo>
                  <a:pt x="175" y="71"/>
                </a:lnTo>
              </a:path>
            </a:pathLst>
          </a:custGeom>
          <a:noFill/>
          <a:ln w="12700">
            <a:solidFill>
              <a:srgbClr val="D97706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31400" y="3416300"/>
            <a:ext cx="111125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持续迭代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60600" y="49022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60600" y="5207000"/>
            <a:ext cx="4445000" cy="3810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60600" y="5207000"/>
            <a:ext cx="31750" cy="381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32050" y="5207000"/>
            <a:ext cx="4133850" cy="381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60600" y="5676900"/>
            <a:ext cx="4445000" cy="3810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260600" y="5676900"/>
            <a:ext cx="31750" cy="381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2050" y="5676900"/>
            <a:ext cx="4133850" cy="381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任务工作流定义与配置规范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59600" y="4902200"/>
            <a:ext cx="4826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959600" y="5270500"/>
            <a:ext cx="1587500" cy="355600"/>
          </a:xfrm>
          <a:prstGeom prst="roundRect">
            <a:avLst>
              <a:gd name="adj" fmla="val 7142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知识库与工作流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623300" y="5448300"/>
            <a:ext cx="1498600" cy="0"/>
          </a:xfrm>
          <a:prstGeom prst="line">
            <a:avLst/>
          </a:prstGeom>
          <a:ln w="15875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7" name="TextBox 76"/>
          <p:cNvSpPr txBox="1"/>
          <p:nvPr/>
        </p:nvSpPr>
        <p:spPr>
          <a:xfrm>
            <a:off x="8623300" y="5219700"/>
            <a:ext cx="14986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198100" y="5270500"/>
            <a:ext cx="1587500" cy="355600"/>
          </a:xfrm>
          <a:prstGeom prst="roundRect">
            <a:avLst>
              <a:gd name="adj" fmla="val 7142"/>
            </a:avLst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任务理解与编排调度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59600" y="5740400"/>
            <a:ext cx="48260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知识库与工作流是“任务理解与编排调度”的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研究什么：验证目标解析与任务分解 · 测试环境自动装配 · 模型保真度与算力自适应调度 · 执行监控与失败重规划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08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本课题的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核心决策层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——“多智能体协同运行与调度引擎”在此落地。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8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pic>
        <p:nvPicPr>
          <p:cNvPr id="29" name="Picture 28" descr="target-arrow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00" y="1562100"/>
            <a:ext cx="381000" cy="381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60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验证目标解析与任务分解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27300" y="2324100"/>
            <a:ext cx="17526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25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把“验证该机车某项性能是否满足要求”拆解为可执行验证任务，并匹配知识库中的判据与工作流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87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87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拆解为可执行验证任务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40000" y="3771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验证对象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40000" y="4152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关键性能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40000" y="4533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判据条目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73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1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pic>
        <p:nvPicPr>
          <p:cNvPr id="40" name="Picture 39" descr="plug-connected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100" y="1562100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73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测试环境自动装配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68900" y="2324100"/>
            <a:ext cx="12954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按验证目标自动完成智能体组合、接口连接与算力资源配置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按验证目标自动完成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53000" y="3771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智能体组合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4051300"/>
            <a:ext cx="2032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53000" y="42164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接口连接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0" y="4495800"/>
            <a:ext cx="2032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53000" y="4660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算力资源配置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74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pic>
        <p:nvPicPr>
          <p:cNvPr id="53" name="Picture 52" descr="adjustments-0A4CFF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0" y="1562100"/>
            <a:ext cx="381000" cy="3810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086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模型保真度与算力自适应调度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42175" y="2324100"/>
            <a:ext cx="197485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51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按工况特征匹配模型精度与算力配置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13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13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保真度分配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40600" y="3784600"/>
            <a:ext cx="1778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常规工况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40600" y="4000500"/>
            <a:ext cx="1778000" cy="292100"/>
          </a:xfrm>
          <a:prstGeom prst="roundRect">
            <a:avLst>
              <a:gd name="adj" fmla="val 8695"/>
            </a:avLst>
          </a:prstGeom>
          <a:solidFill>
            <a:srgbClr val="F4F7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降阶模型提速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40600" y="4483100"/>
            <a:ext cx="1778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极端工况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0600" y="4699000"/>
            <a:ext cx="1778000" cy="292100"/>
          </a:xfrm>
          <a:prstGeom prst="roundRect">
            <a:avLst>
              <a:gd name="adj" fmla="val 8695"/>
            </a:avLst>
          </a:prstGeom>
          <a:solidFill>
            <a:srgbClr val="FDF2F2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强制全保真保精度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99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87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pic>
        <p:nvPicPr>
          <p:cNvPr id="65" name="Picture 64" descr="activity-0A4CFF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2100" y="1562100"/>
            <a:ext cx="381000" cy="3810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499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执行监控与失败重规划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42500" y="2324100"/>
            <a:ext cx="16002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64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运行过程监控、异常中断后重规划，支撑指标实时推演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26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6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监控 → 重规划闭环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79000" y="37719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运行过程监控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528300" y="40640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3" name="Rounded Rectangle 72"/>
          <p:cNvSpPr/>
          <p:nvPr/>
        </p:nvSpPr>
        <p:spPr>
          <a:xfrm>
            <a:off x="9779000" y="42164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异常中断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528300" y="45085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5" name="Rounded Rectangle 74"/>
          <p:cNvSpPr/>
          <p:nvPr/>
        </p:nvSpPr>
        <p:spPr>
          <a:xfrm>
            <a:off x="9779000" y="46609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重规划</a:t>
            </a:r>
          </a:p>
        </p:txBody>
      </p:sp>
      <p:sp>
        <p:nvSpPr>
          <p:cNvPr id="76" name="Freeform 75"/>
          <p:cNvSpPr/>
          <p:nvPr/>
        </p:nvSpPr>
        <p:spPr>
          <a:xfrm>
            <a:off x="11277600" y="3917950"/>
            <a:ext cx="190500" cy="889000"/>
          </a:xfrm>
          <a:custGeom>
            <a:avLst/>
            <a:gdLst/>
            <a:ahLst/>
            <a:cxnLst/>
            <a:rect l="l" t="t" r="r" b="b"/>
            <a:pathLst>
              <a:path w="30" h="140">
                <a:moveTo>
                  <a:pt x="0" y="140"/>
                </a:moveTo>
                <a:lnTo>
                  <a:pt x="30" y="140"/>
                </a:lnTo>
                <a:lnTo>
                  <a:pt x="30" y="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0A4CF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60600" y="5549900"/>
            <a:ext cx="4572000" cy="4826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60600" y="5549900"/>
            <a:ext cx="31750" cy="482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32050" y="5549900"/>
            <a:ext cx="426085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✓ 产出：多智能体协同运行与调度引擎（软件1套）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086600" y="5651500"/>
            <a:ext cx="107478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判据与工作流</a:t>
            </a:r>
          </a:p>
        </p:txBody>
      </p:sp>
      <p:sp>
        <p:nvSpPr>
          <p:cNvPr id="81" name="Isosceles Triangle 80"/>
          <p:cNvSpPr/>
          <p:nvPr/>
        </p:nvSpPr>
        <p:spPr>
          <a:xfrm rot="5400000">
            <a:off x="8282033" y="57531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504283" y="5651500"/>
            <a:ext cx="83348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调度引擎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9458416" y="57531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680666" y="5651500"/>
            <a:ext cx="71283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6019800"/>
            <a:ext cx="46990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向下承接知识与规则输入，向执行层下发执行方案（智能体组合、工况、算力）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研究内容③ 智能体执行：一条完整的验证执行链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仿真智能体 → 测试用例生成 → 测试识别 → 测试报告 → 数据回归，结果回流、支持回归重跑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spcAft>
                <a:spcPts val="700"/>
              </a:spcAft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br>
              <a:rPr lang="zh-CN" altLang="en-US" sz="950"/>
            </a:b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→ 01 仿真智能体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br>
              <a:rPr lang="zh-CN" altLang="en-US" sz="950"/>
            </a:b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→ 03 测试识别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606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09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30" name="Oval 29"/>
          <p:cNvSpPr/>
          <p:nvPr/>
        </p:nvSpPr>
        <p:spPr>
          <a:xfrm>
            <a:off x="24003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1" name="Picture 30" descr="robot-7C5CF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375" y="1641475"/>
            <a:ext cx="222250" cy="2222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003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03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4003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24003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研制控制系统、车辆动力学与线路等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仿真智能体与智能孪生模型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；标准化接入、时序同步、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49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749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55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模型自动标定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40259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037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37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40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3" name="Oval 42"/>
          <p:cNvSpPr/>
          <p:nvPr/>
        </p:nvSpPr>
        <p:spPr>
          <a:xfrm>
            <a:off x="43434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file-tex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475" y="16414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434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测试用例生成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用例与线路数据按需自生成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434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3434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按覆盖完备性生成用例与线路模型数据（平纵断面、曲线半径、超高、坡度、不平顺谱）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180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180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按需自生成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9690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68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468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771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6" name="Oval 55"/>
          <p:cNvSpPr/>
          <p:nvPr/>
        </p:nvSpPr>
        <p:spPr>
          <a:xfrm>
            <a:off x="62865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zoom-check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575" y="1641475"/>
            <a:ext cx="222250" cy="2222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2865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65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865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62865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识别异常工况并定位原因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，输出结果可信性判断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11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11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817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异常定位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79121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899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899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202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69" name="Oval 68"/>
          <p:cNvSpPr/>
          <p:nvPr/>
        </p:nvSpPr>
        <p:spPr>
          <a:xfrm>
            <a:off x="82296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7C5CF0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675" y="1641475"/>
            <a:ext cx="222250" cy="2222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2296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测试报告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报告生成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2296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74" name="TextBox 73"/>
          <p:cNvSpPr txBox="1"/>
          <p:nvPr/>
        </p:nvSpPr>
        <p:spPr>
          <a:xfrm>
            <a:off x="82296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验证结论自动汇总，生成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可追溯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的验证报告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042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042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248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可追溯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98552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0330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330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1633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82" name="Oval 81"/>
          <p:cNvSpPr/>
          <p:nvPr/>
        </p:nvSpPr>
        <p:spPr>
          <a:xfrm>
            <a:off x="101727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3" name="Picture 82" descr="refresh-7C5CF0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4775" y="1641475"/>
            <a:ext cx="222250" cy="22225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1727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727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回流迭代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1727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87" name="TextBox 86"/>
          <p:cNvSpPr txBox="1"/>
          <p:nvPr/>
        </p:nvSpPr>
        <p:spPr>
          <a:xfrm>
            <a:off x="101727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验证结果回流，迭代模型标定、判据与工况集；支持设计变更后的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73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1473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679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回归重跑</a:t>
            </a:r>
          </a:p>
        </p:txBody>
      </p:sp>
      <p:sp>
        <p:nvSpPr>
          <p:cNvPr id="91" name="Freeform 90"/>
          <p:cNvSpPr/>
          <p:nvPr/>
        </p:nvSpPr>
        <p:spPr>
          <a:xfrm>
            <a:off x="3136900" y="4724400"/>
            <a:ext cx="7772400" cy="254000"/>
          </a:xfrm>
          <a:custGeom>
            <a:avLst/>
            <a:gdLst/>
            <a:ahLst/>
            <a:cxnLst/>
            <a:rect l="l" t="t" r="r" b="b"/>
            <a:pathLst>
              <a:path w="1224" h="40">
                <a:moveTo>
                  <a:pt x="1224" y="0"/>
                </a:moveTo>
                <a:lnTo>
                  <a:pt x="1224" y="40"/>
                </a:lnTo>
                <a:lnTo>
                  <a:pt x="0" y="40"/>
                </a:lnTo>
                <a:lnTo>
                  <a:pt x="0" y="2"/>
                </a:lnTo>
              </a:path>
            </a:pathLst>
          </a:custGeom>
          <a:noFill/>
          <a:ln w="15875">
            <a:solidFill>
              <a:srgbClr val="00A37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90900" y="5041900"/>
            <a:ext cx="72644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数据回归：验证结果回流，迭代模型标定、判据与工况集 · 设计变更后回归重跑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60600" y="53721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60600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260600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32050" y="5676900"/>
            <a:ext cx="2779183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关键系统仿真智能体／智能孪生模型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77933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77933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49383" y="5676900"/>
            <a:ext cx="2779183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95267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95267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66717" y="5676900"/>
            <a:ext cx="2779183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研究什么：总体架构与接口规范 · 多智能体协同运行 · 可复现沙箱 · 列车级数字样机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把前三层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融合成一个能跑起来的整体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，形成列车级数字样机。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60600" y="13589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63800" y="15621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sitemap-00A37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875" y="1654175"/>
            <a:ext cx="222250" cy="2222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009900" y="15621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总体架构与接口规范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47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3800" y="21082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4" name="Rectangle 33"/>
          <p:cNvSpPr/>
          <p:nvPr/>
        </p:nvSpPr>
        <p:spPr>
          <a:xfrm>
            <a:off x="7099300" y="13589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99300" y="13589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02500" y="15621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7" name="Picture 36" descr="topology-star-3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575" y="1654175"/>
            <a:ext cx="222250" cy="2222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8600" y="15621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34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02500" y="21082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1" name="Rectangle 40"/>
          <p:cNvSpPr/>
          <p:nvPr/>
        </p:nvSpPr>
        <p:spPr>
          <a:xfrm>
            <a:off x="2260600" y="33401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33401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463800" y="35433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box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875" y="36353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009900" y="35433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4700" y="34671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463800" y="40894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8" name="Rectangle 47"/>
          <p:cNvSpPr/>
          <p:nvPr/>
        </p:nvSpPr>
        <p:spPr>
          <a:xfrm>
            <a:off x="7099300" y="33401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99300" y="33401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02500" y="35433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train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575" y="3635375"/>
            <a:ext cx="222250" cy="222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848600" y="35433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3400" y="34671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02500" y="40894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2463800" y="2222500"/>
            <a:ext cx="4279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定义四层之间的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可扩展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的架构规范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63800" y="2590800"/>
            <a:ext cx="4953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35300" y="2590800"/>
            <a:ext cx="6159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27450" y="2590800"/>
            <a:ext cx="6159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控制流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51350" y="2686050"/>
            <a:ext cx="114300" cy="889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635500" y="2590800"/>
            <a:ext cx="1219200" cy="279400"/>
          </a:xfrm>
          <a:prstGeom prst="roundRect">
            <a:avLst>
              <a:gd name="adj" fmla="val 9090"/>
            </a:avLst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可扩展的架构规范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02500" y="2222500"/>
            <a:ext cx="4279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异构智能体的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02500" y="2590800"/>
            <a:ext cx="9779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实时协同求解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56600" y="2590800"/>
            <a:ext cx="7366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69400" y="2590800"/>
            <a:ext cx="7366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状态同步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63800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6" name="Picture 65" descr="shield-check-00A37A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400" y="4292600"/>
            <a:ext cx="177800" cy="1778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2794000" y="4279900"/>
            <a:ext cx="9948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隔离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65400" y="4533900"/>
            <a:ext cx="1198033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单路模型发散不扩散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15833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file-text-00A37A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7433" y="4292600"/>
            <a:ext cx="177800" cy="1778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246033" y="4279900"/>
            <a:ext cx="9948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17433" y="4533900"/>
            <a:ext cx="1198033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参数、模型版本、</a:t>
            </a:r>
            <a:br>
              <a:rPr lang="zh-CN" altLang="en-US" sz="900"/>
            </a:b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随机种子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67867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4" name="Picture 73" descr="player-play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9467" y="4292600"/>
            <a:ext cx="177800" cy="177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98067" y="4279900"/>
            <a:ext cx="9948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69467" y="4533900"/>
            <a:ext cx="1198033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任意一次验证可复现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02500" y="4203700"/>
            <a:ext cx="4279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集成关键系统仿真智能体，支持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列车关键性能验证与智能运维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02500" y="4965700"/>
            <a:ext cx="4279900" cy="127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02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31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59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988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216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45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674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902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31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359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88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817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45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274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02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31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960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188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417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8" name="Picture 97" descr="locomotive_fa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2050" y="4493260"/>
            <a:ext cx="1905000" cy="476250"/>
          </a:xfrm>
          <a:prstGeom prst="rect">
            <a:avLst/>
          </a:prstGeom>
        </p:spPr>
      </p:pic>
      <p:pic>
        <p:nvPicPr>
          <p:cNvPr id="99" name="Picture 98" descr="locomotive_fa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7850" y="4493260"/>
            <a:ext cx="1905000" cy="47625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2260600" y="53721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60600" y="5676900"/>
            <a:ext cx="46990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260600" y="56769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2050" y="5676900"/>
            <a:ext cx="43878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86600" y="5676900"/>
            <a:ext cx="46990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086600" y="56769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258050" y="5676900"/>
            <a:ext cx="43878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研究方法：四层各有方法，攻关四个技术难点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知识工程方法 · 智能调度方法 · 实时协同与可信评判方法 · 系统集成方法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4097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四层方法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272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四层各自的研究方法与关键技术手段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358900"/>
            <a:ext cx="1905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400" y="1358900"/>
            <a:ext cx="1905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9900" y="1358900"/>
            <a:ext cx="1905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关键技术手段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16129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1612900"/>
            <a:ext cx="2540000" cy="7493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05000" y="1612900"/>
            <a:ext cx="38100" cy="7493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0100" y="17653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测试知识库与任务工作流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0100" y="20193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400" y="16129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知识工程方法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9900" y="1841500"/>
            <a:ext cx="9271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领域知识建模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3200" y="18415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标准规范形式化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47150" y="18415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5000" y="24257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05000" y="2425700"/>
            <a:ext cx="2540000" cy="7493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5000" y="2425700"/>
            <a:ext cx="38100" cy="7493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70100" y="25781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任务理解与智能编排调度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70100" y="28321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决策层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7400" y="24257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智能调度方法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9900" y="26543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任务分解与匹配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26543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多目标寻优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6500" y="2654300"/>
            <a:ext cx="1396919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保真度—算力协同配置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32385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05000" y="3238500"/>
            <a:ext cx="2540000" cy="7493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238500"/>
            <a:ext cx="38100" cy="7493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0100" y="33909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0100" y="36449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7400" y="32385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实时协同与可信评判方法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19900" y="34671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分布式协同仿真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3850" y="3467100"/>
            <a:ext cx="6858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850" y="3467100"/>
            <a:ext cx="15303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自动标定与不确定度量化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05000" y="40513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4051300"/>
            <a:ext cx="2540000" cy="7493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05000" y="4051300"/>
            <a:ext cx="38100" cy="7493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70100" y="42037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70100" y="44577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集成层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7400" y="40513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系统集成方法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9900" y="42799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标准化接口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02550" y="42799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服务化封装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85200" y="4279900"/>
            <a:ext cx="14097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沙箱化运行与全程留痕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400" y="50165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技术难点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400" y="53340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方法层面的攻关点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050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50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701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701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工程判据多以经验与文档形式存在，结构化为机器可用知识难度大</a:t>
            </a:r>
          </a:p>
        </p:txBody>
      </p:sp>
      <p:pic>
        <p:nvPicPr>
          <p:cNvPr id="56" name="Picture 55" descr="file-search-7C889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5156200"/>
            <a:ext cx="203200" cy="2032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44069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069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多物理域模型步长差异显著，联合求解易失真</a:t>
            </a:r>
          </a:p>
        </p:txBody>
      </p:sp>
      <p:pic>
        <p:nvPicPr>
          <p:cNvPr id="61" name="Picture 60" descr="clock-7C889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5156200"/>
            <a:ext cx="203200" cy="2032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088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088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39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保真度调度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739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需在线权衡精度与效率，且极端工况不允许外推</a:t>
            </a:r>
          </a:p>
        </p:txBody>
      </p:sp>
      <p:pic>
        <p:nvPicPr>
          <p:cNvPr id="66" name="Picture 65" descr="adjustments-7C889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8100" y="5156200"/>
            <a:ext cx="203200" cy="20320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94107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07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758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可信评判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758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极端工况实测数据稀缺，结论可信性难以自证</a:t>
            </a:r>
          </a:p>
        </p:txBody>
      </p:sp>
      <p:pic>
        <p:nvPicPr>
          <p:cNvPr id="71" name="Picture 70" descr="shield-check-7C889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5156200"/>
            <a:ext cx="203200" cy="20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技术路线：四层递进 ＋ 沙箱底座，闭环迭代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四层递进：① 知识 → ② 调度 → ③ 执行 → ④ 集成；沙箱底座：隔离 · 记录 · 回放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706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7800" y="1346200"/>
            <a:ext cx="6019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四层递进 ＋ 可复现沙箱底座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841500"/>
            <a:ext cx="7061200" cy="3530600"/>
          </a:xfrm>
          <a:prstGeom prst="rect">
            <a:avLst/>
          </a:prstGeom>
          <a:solidFill>
            <a:srgbClr val="FBFCFE"/>
          </a:solidFill>
          <a:ln w="9525">
            <a:solidFill>
              <a:srgbClr val="B7C0CE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4200" y="1727200"/>
            <a:ext cx="2389215" cy="228600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可复现沙箱底座（隔离 · 记录 · 回放）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" y="2311400"/>
            <a:ext cx="1905000" cy="33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知识库与工作流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47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47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工作流建模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7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知识迭代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28900" y="3206750"/>
            <a:ext cx="3048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29845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84500" y="2311400"/>
            <a:ext cx="1905000" cy="330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任务理解与编排调度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861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目标解析与任务分解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861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环境自装配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861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保真度与算力调度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86100" y="37338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监控与重规划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40300" y="3206750"/>
            <a:ext cx="3048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52959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95900" y="2311400"/>
            <a:ext cx="190500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75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75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75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测试识别／报告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7500" y="37338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32" name="Freeform 31"/>
          <p:cNvSpPr/>
          <p:nvPr/>
        </p:nvSpPr>
        <p:spPr>
          <a:xfrm>
            <a:off x="1625600" y="2171700"/>
            <a:ext cx="4622800" cy="139700"/>
          </a:xfrm>
          <a:custGeom>
            <a:avLst/>
            <a:gdLst/>
            <a:ahLst/>
            <a:cxnLst/>
            <a:rect l="l" t="t" r="r" b="b"/>
            <a:pathLst>
              <a:path w="728" h="22">
                <a:moveTo>
                  <a:pt x="728" y="22"/>
                </a:moveTo>
                <a:lnTo>
                  <a:pt x="728" y="0"/>
                </a:lnTo>
                <a:lnTo>
                  <a:pt x="0" y="0"/>
                </a:lnTo>
                <a:lnTo>
                  <a:pt x="0" y="20"/>
                </a:lnTo>
              </a:path>
            </a:pathLst>
          </a:custGeom>
          <a:noFill/>
          <a:ln w="12700">
            <a:solidFill>
              <a:srgbClr val="C00000"/>
            </a:solidFill>
            <a:prstDash val="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43225" y="2082800"/>
            <a:ext cx="1987550" cy="1778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数据回归：结果回流更新判据与工作流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625600" y="4102100"/>
            <a:ext cx="0" cy="16510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5" name="Connector 34"/>
          <p:cNvCxnSpPr/>
          <p:nvPr/>
        </p:nvCxnSpPr>
        <p:spPr>
          <a:xfrm>
            <a:off x="3937000" y="4102100"/>
            <a:ext cx="0" cy="16510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6" name="Connector 35"/>
          <p:cNvCxnSpPr/>
          <p:nvPr/>
        </p:nvCxnSpPr>
        <p:spPr>
          <a:xfrm>
            <a:off x="6248400" y="4102100"/>
            <a:ext cx="0" cy="16510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7" name="Connector 36"/>
          <p:cNvCxnSpPr/>
          <p:nvPr/>
        </p:nvCxnSpPr>
        <p:spPr>
          <a:xfrm>
            <a:off x="1625600" y="4267200"/>
            <a:ext cx="4622800" cy="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8" name="Connector 37"/>
          <p:cNvCxnSpPr/>
          <p:nvPr/>
        </p:nvCxnSpPr>
        <p:spPr>
          <a:xfrm>
            <a:off x="3937000" y="4267200"/>
            <a:ext cx="0" cy="20320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39" name="Rectangle 38"/>
          <p:cNvSpPr/>
          <p:nvPr/>
        </p:nvSpPr>
        <p:spPr>
          <a:xfrm>
            <a:off x="673100" y="4483100"/>
            <a:ext cx="6527800" cy="609600"/>
          </a:xfrm>
          <a:prstGeom prst="rect">
            <a:avLst/>
          </a:prstGeom>
          <a:solidFill>
            <a:srgbClr val="EFF9F6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3100" y="4483100"/>
            <a:ext cx="2095500" cy="609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895600" y="4787900"/>
            <a:ext cx="508000" cy="0"/>
          </a:xfrm>
          <a:prstGeom prst="line">
            <a:avLst/>
          </a:prstGeom>
          <a:ln w="15875">
            <a:solidFill>
              <a:srgbClr val="00A37A"/>
            </a:solidFill>
            <a:round/>
            <a:tailEnd type="triangle" w="med" len="med"/>
          </a:ln>
        </p:spPr>
      </p:cxnSp>
      <p:pic>
        <p:nvPicPr>
          <p:cNvPr id="42" name="Picture 41" descr="train-00A37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00" y="4635500"/>
            <a:ext cx="304800" cy="304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24300" y="4483100"/>
            <a:ext cx="1905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99100" y="4483100"/>
            <a:ext cx="15748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集成层产出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1600" y="1346200"/>
            <a:ext cx="406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四层之间的衔接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1600" y="1663700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1600" y="1663700"/>
            <a:ext cx="38100" cy="8651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86700" y="1790700"/>
            <a:ext cx="594533" cy="215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→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74100" y="1790700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知识与规则输入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86700" y="2082800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判据与工作流是任务理解与调度的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知识与规则输入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21600" y="2611438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21600" y="2611438"/>
            <a:ext cx="38100" cy="865188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886700" y="2738438"/>
            <a:ext cx="594533" cy="215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→ 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4100" y="2738438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执行方案下发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6700" y="3030538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（智能体组合、工况、算力）下发至执行层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21600" y="3559175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1600" y="3559175"/>
            <a:ext cx="38100" cy="865188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886700" y="3686175"/>
            <a:ext cx="594533" cy="2159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→ 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74100" y="3686175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结果汇入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86700" y="3978275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执行结果汇入集成层，形成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数字样机与验证结论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1600" y="4506912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21600" y="4506912"/>
            <a:ext cx="38100" cy="8651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86700" y="4633912"/>
            <a:ext cx="594533" cy="215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→ 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74100" y="4633912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86700" y="4926012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：结果回流更新判据与工作流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400" y="5600700"/>
            <a:ext cx="31750" cy="660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4200" y="5600700"/>
            <a:ext cx="1270000" cy="660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路线闭环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905000" y="5791200"/>
            <a:ext cx="863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69" name="Isosceles Triangle 68"/>
          <p:cNvSpPr/>
          <p:nvPr/>
        </p:nvSpPr>
        <p:spPr>
          <a:xfrm rot="5400000">
            <a:off x="28638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060700" y="5791200"/>
            <a:ext cx="1117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任务生成与调度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42735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4704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协同执行</a:t>
            </a:r>
          </a:p>
        </p:txBody>
      </p:sp>
      <p:sp>
        <p:nvSpPr>
          <p:cNvPr id="73" name="Isosceles Triangle 72"/>
          <p:cNvSpPr/>
          <p:nvPr/>
        </p:nvSpPr>
        <p:spPr>
          <a:xfrm rot="5400000">
            <a:off x="53022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4991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结果识别</a:t>
            </a:r>
          </a:p>
        </p:txBody>
      </p:sp>
      <p:sp>
        <p:nvSpPr>
          <p:cNvPr id="75" name="Isosceles Triangle 74"/>
          <p:cNvSpPr/>
          <p:nvPr/>
        </p:nvSpPr>
        <p:spPr>
          <a:xfrm rot="5400000">
            <a:off x="63309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5278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73596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556500" y="5791200"/>
            <a:ext cx="863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更新知识库</a:t>
            </a:r>
          </a:p>
        </p:txBody>
      </p:sp>
      <p:pic>
        <p:nvPicPr>
          <p:cNvPr id="79" name="Picture 78" descr="refresh-C0000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100" y="5810250"/>
            <a:ext cx="254000" cy="254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864600" y="5791200"/>
            <a:ext cx="2921000" cy="2921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闭环迭代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典型验证场景：控速＋能耗验证，全流程交给智能体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输入一句话需求 → ① 任务理解 → ② 任务编排 → ③ 智能体执行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典型验证场景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13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7C889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验证该机车在指定线路上按给定运行图运行时的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70100"/>
            <a:ext cx="28575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70100"/>
            <a:ext cx="28575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200" y="22479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Picture 15" descr="target-arrow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" y="2339975"/>
            <a:ext cx="222250" cy="2222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04900" y="2235200"/>
            <a:ext cx="1587500" cy="241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2476500"/>
            <a:ext cx="1587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→ 变成可执行的验证任务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1844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4200" y="2794000"/>
            <a:ext cx="2501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21" name="Isosceles Triangle 20"/>
          <p:cNvSpPr/>
          <p:nvPr/>
        </p:nvSpPr>
        <p:spPr>
          <a:xfrm rot="5400000">
            <a:off x="3302000" y="3771900"/>
            <a:ext cx="1778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7900" y="2070100"/>
            <a:ext cx="51181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17900" y="2070100"/>
            <a:ext cx="51181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95700" y="22479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ute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775" y="2339975"/>
            <a:ext cx="222250" cy="2222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16400" y="2235200"/>
            <a:ext cx="3848100" cy="241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任务编排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6400" y="2476500"/>
            <a:ext cx="38481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生成数据、工况与环境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6700" y="21844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95700" y="2794000"/>
            <a:ext cx="47625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0" name="Isosceles Triangle 29"/>
          <p:cNvSpPr/>
          <p:nvPr/>
        </p:nvSpPr>
        <p:spPr>
          <a:xfrm rot="5400000">
            <a:off x="8674100" y="3771900"/>
            <a:ext cx="1778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90000" y="2070100"/>
            <a:ext cx="28956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0000" y="2070100"/>
            <a:ext cx="28956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067800" y="22479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4" name="Picture 33" descr="robot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9875" y="2339975"/>
            <a:ext cx="222250" cy="2222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88500" y="2235200"/>
            <a:ext cx="1625600" cy="241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8500" y="2476500"/>
            <a:ext cx="16256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→ 协同求解与结果自评判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300" y="21844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67800" y="2794000"/>
            <a:ext cx="25400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584200" y="29083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验证对象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162300"/>
            <a:ext cx="2501900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牵引控制系统</a:t>
            </a:r>
            <a:br>
              <a:rPr lang="zh-CN" altLang="en-US" sz="1000"/>
            </a:b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（含级位控制、防空转／防滑行）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4200" y="37465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关键性能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4000500"/>
            <a:ext cx="250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速度跟踪偏差、牵引能耗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785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验证判据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4641850"/>
            <a:ext cx="2501900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从设计规范与运用要求中提取，形式化为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的判据条目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95700" y="29083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97300" y="29845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线路模型数据自生成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797300" y="3263900"/>
            <a:ext cx="5842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平纵断面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45000" y="3263900"/>
            <a:ext cx="5842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曲线半径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92700" y="3263900"/>
            <a:ext cx="3683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超高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97300" y="3568700"/>
            <a:ext cx="3683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坡度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9100" y="3568700"/>
            <a:ext cx="8001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轨道不平顺谱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0450" y="29083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2050" y="29845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工况矩阵自生成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42050" y="3225800"/>
            <a:ext cx="190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407150" y="3225800"/>
            <a:ext cx="57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线路条件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5950" y="3225800"/>
            <a:ext cx="14287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长大坡道／小半径曲线／隧道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42050" y="3441700"/>
            <a:ext cx="190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7150" y="3441700"/>
            <a:ext cx="57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65950" y="3441700"/>
            <a:ext cx="14287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干轨／湿轨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050" y="3657600"/>
            <a:ext cx="190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7150" y="3657600"/>
            <a:ext cx="57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载荷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65950" y="3657600"/>
            <a:ext cx="14287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满载／空载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050" y="38862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自动覆盖边界与组合工况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95700" y="42545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97300" y="43307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测试环境自装配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75100" y="4546600"/>
            <a:ext cx="908050" cy="203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牵引控制智能体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7300" y="4787900"/>
            <a:ext cx="152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975100" y="4787900"/>
            <a:ext cx="1016000" cy="203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车辆动力学智能体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7300" y="5029200"/>
            <a:ext cx="152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975100" y="5029200"/>
            <a:ext cx="692150" cy="203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线路智能体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7300" y="5308600"/>
            <a:ext cx="211455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接口对接与算力配置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40450" y="42545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42050" y="43307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保真度分配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2050" y="4572000"/>
            <a:ext cx="21145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常规直线工况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42050" y="4762500"/>
            <a:ext cx="1040508" cy="228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降阶模型（快）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2050" y="5029200"/>
            <a:ext cx="21145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长大下坡、小半径曲线、湿轨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42050" y="5219700"/>
            <a:ext cx="1148458" cy="228600"/>
          </a:xfrm>
          <a:prstGeom prst="roundRect">
            <a:avLst>
              <a:gd name="adj" fmla="val 11111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→ 全保真模型（准）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67800" y="2908300"/>
            <a:ext cx="2540000" cy="444500"/>
          </a:xfrm>
          <a:prstGeom prst="rect">
            <a:avLst/>
          </a:prstGeom>
          <a:noFill/>
        </p:spPr>
        <p:txBody>
          <a:bodyPr wrap="square" anchor="t" lIns="0" tIns="0" rIns="127000" bIns="0">
            <a:noAutofit/>
          </a:bodyPr>
          <a:lstStyle/>
          <a:p>
            <a:pPr algn="l" marL="165100" indent="-165100">
              <a:lnSpc>
                <a:spcPts val="1550"/>
              </a:lnSpc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三类智能体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实时协同求解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，模型参数自动标定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67800" y="33909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逐工况对标判据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671050" y="36576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81" name="Rounded Rectangle 80"/>
          <p:cNvSpPr/>
          <p:nvPr/>
        </p:nvSpPr>
        <p:spPr>
          <a:xfrm>
            <a:off x="9067800" y="38227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定位异常工况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63200" y="3810000"/>
            <a:ext cx="124460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如某小半径曲线段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速度偏差超限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671050" y="40894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84" name="Rounded Rectangle 83"/>
          <p:cNvSpPr/>
          <p:nvPr/>
        </p:nvSpPr>
        <p:spPr>
          <a:xfrm>
            <a:off x="9067800" y="42545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追溯原因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3200" y="4241800"/>
            <a:ext cx="124460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黏着利用不足？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控制参数不匹配？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67800" y="4813300"/>
            <a:ext cx="2540000" cy="609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67800" y="4813300"/>
            <a:ext cx="31750" cy="609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39250" y="4813300"/>
            <a:ext cx="222885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输出：验证报告 ＋ 全要素留痕</a:t>
            </a:r>
            <a:br>
              <a:rPr lang="zh-CN" altLang="en-US" sz="1050"/>
            </a:b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（可回放、可回归）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06400" y="5740400"/>
            <a:ext cx="31750" cy="546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84200" y="5740400"/>
            <a:ext cx="112014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这一次验证里：工况没人手写、线路数据没人准备、环境没人搭、异常没人看图判断。这就是“全流程交给智能体”。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引擎创新内核：先进性不在单项技术，而在调度的维度与粒度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三个技术判断：调度对象是“智能体” · 调度决策多一个维度：模型保真度 · 调度基础是可复现沙箱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引擎创新内核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14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9600" y="15494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robot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675" y="1641475"/>
            <a:ext cx="222250" cy="222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5800" y="1498600"/>
            <a:ext cx="635000" cy="37973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57400"/>
            <a:ext cx="3251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调度对象是“智能体”，不是“模型”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24130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6" name="Rectangle 15"/>
          <p:cNvSpPr/>
          <p:nvPr/>
        </p:nvSpPr>
        <p:spPr>
          <a:xfrm>
            <a:off x="609600" y="25273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781300"/>
            <a:ext cx="32512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调度的是算例</a:t>
            </a:r>
          </a:p>
        </p:txBody>
      </p:sp>
      <p:sp>
        <p:nvSpPr>
          <p:cNvPr id="18" name="Isosceles Triangle 17"/>
          <p:cNvSpPr/>
          <p:nvPr/>
        </p:nvSpPr>
        <p:spPr>
          <a:xfrm rot="10800000">
            <a:off x="2152650" y="31178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3314700"/>
            <a:ext cx="3251200" cy="12446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600" y="3429000"/>
            <a:ext cx="47625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" y="3695700"/>
            <a:ext cx="2997200" cy="609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调度的是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可自主标定、自主判断的智能体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600" y="4203700"/>
            <a:ext cx="874516" cy="241300"/>
          </a:xfrm>
          <a:prstGeom prst="roundRect">
            <a:avLst>
              <a:gd name="adj" fmla="val 10526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跑模型 · 算例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1687316" y="4286250"/>
            <a:ext cx="101600" cy="76200"/>
          </a:xfrm>
          <a:prstGeom prst="triangle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5116" y="4203700"/>
            <a:ext cx="98246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派任务 · 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699000"/>
            <a:ext cx="127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940300"/>
            <a:ext cx="3251200" cy="533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4940300"/>
            <a:ext cx="31750" cy="533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50" y="4940300"/>
            <a:ext cx="294005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调度粒度从“跑模型”提升到“派任务”，人退出执行回路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72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67200" y="1358900"/>
            <a:ext cx="3657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704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adjustments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475" y="164147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086600" y="1498600"/>
            <a:ext cx="635000" cy="37973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0400" y="2057400"/>
            <a:ext cx="3251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调度决策多一个维度：模型保真度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0400" y="24130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6" name="Rectangle 35"/>
          <p:cNvSpPr/>
          <p:nvPr/>
        </p:nvSpPr>
        <p:spPr>
          <a:xfrm>
            <a:off x="4470400" y="25273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0400" y="2781300"/>
            <a:ext cx="32512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在“快”与“准”之间取舍</a:t>
            </a:r>
          </a:p>
        </p:txBody>
      </p:sp>
      <p:sp>
        <p:nvSpPr>
          <p:cNvPr id="38" name="Isosceles Triangle 37"/>
          <p:cNvSpPr/>
          <p:nvPr/>
        </p:nvSpPr>
        <p:spPr>
          <a:xfrm rot="10800000">
            <a:off x="6013450" y="31178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70400" y="3314700"/>
            <a:ext cx="3251200" cy="12446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7400" y="3429000"/>
            <a:ext cx="47625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7400" y="3695700"/>
            <a:ext cx="2997200" cy="609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按工况特征动态分配——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常规工况用降阶模型提速，关键与极端工况强制全保真保精度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7400" y="4203700"/>
            <a:ext cx="65861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降阶 · 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19516" y="4203700"/>
            <a:ext cx="76656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全保真 · 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0400" y="4699000"/>
            <a:ext cx="127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0400" y="4940300"/>
            <a:ext cx="3251200" cy="533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470400" y="4940300"/>
            <a:ext cx="31750" cy="533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41850" y="4940300"/>
            <a:ext cx="294005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80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28000" y="1358900"/>
            <a:ext cx="36576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31200" y="15494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history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275" y="1641475"/>
            <a:ext cx="222250" cy="222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47400" y="1498600"/>
            <a:ext cx="635000" cy="37973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1200" y="2057400"/>
            <a:ext cx="3251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调度基础是可复现沙箱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331200" y="24130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55" name="Rectangle 54"/>
          <p:cNvSpPr/>
          <p:nvPr/>
        </p:nvSpPr>
        <p:spPr>
          <a:xfrm>
            <a:off x="8331200" y="25273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1200" y="2781300"/>
            <a:ext cx="32512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仿真结果难以复现</a:t>
            </a:r>
          </a:p>
        </p:txBody>
      </p:sp>
      <p:sp>
        <p:nvSpPr>
          <p:cNvPr id="57" name="Isosceles Triangle 56"/>
          <p:cNvSpPr/>
          <p:nvPr/>
        </p:nvSpPr>
        <p:spPr>
          <a:xfrm rot="10800000">
            <a:off x="9874250" y="31178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31200" y="3314700"/>
            <a:ext cx="3251200" cy="1244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3429000"/>
            <a:ext cx="47625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695700"/>
            <a:ext cx="2997200" cy="609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参数、模型版本、随机种子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全程留痕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58200" y="4203700"/>
            <a:ext cx="3937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参数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15400" y="4203700"/>
            <a:ext cx="6096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模型版本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88500" y="4203700"/>
            <a:ext cx="6096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随机种子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31200" y="4699000"/>
            <a:ext cx="127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1200" y="4940300"/>
            <a:ext cx="3251200" cy="533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31200" y="4940300"/>
            <a:ext cx="31750" cy="533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02650" y="4940300"/>
            <a:ext cx="294005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验证可回放、可追溯、可回归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400" y="5803900"/>
            <a:ext cx="31750" cy="482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4200" y="5803900"/>
            <a:ext cx="1120140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先进性不在单项技术，而在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调度决策多出的维度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调度对象粒度的提升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技术对标：不重复造轮子，补上智能编排与实时协同这一层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对标六类现有成熟技术：已解决什么 · 未解决什么 · 本课题定位在哪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技术对标与定位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15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75311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现有成熟技术对标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25600"/>
            <a:ext cx="7531100" cy="279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0700" y="1625600"/>
            <a:ext cx="1612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现有成熟技术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1625600"/>
            <a:ext cx="2133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已解决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400" y="1625600"/>
            <a:ext cx="3098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未解决（本课题的定位）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700" y="19050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单系统商用仿真软件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2200" y="19050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单专业高精度仿真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400" y="19050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单系统、离线、人工操作，难以形成列车级协同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5146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20700" y="25146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协同仿真标准与中间件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2200" y="25146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模型封装与数据交换（接得上）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4400" y="25146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只解决接口，不解决智能编排、实时性与算力调度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31242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20700" y="31242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硬件在环（HIL）试验台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2200" y="31242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高保真实时验证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4400" y="31242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成本高、构型专用、工况受限、不可批量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7338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520700" y="37338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实物与线路试验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62200" y="37338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4400" y="37338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周期长、成本高、极端工况难覆盖、不可复现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43434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520700" y="43434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代理模型／降阶模型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2200" y="43434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显著提速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24400" y="43434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外推精度差，极端工况不可直接用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6400" y="49530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520700" y="49530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62200" y="49530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任务编排与工具调用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4400" y="49530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缺多物理域实时协同与时序同步能力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6400" y="55626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8191500" y="1346200"/>
            <a:ext cx="35941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技术定位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15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不做仿真软件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07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不做接口标准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299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不做试验台</a:t>
            </a:r>
          </a:p>
        </p:txBody>
      </p:sp>
      <p:sp>
        <p:nvSpPr>
          <p:cNvPr id="42" name="Isosceles Triangle 41"/>
          <p:cNvSpPr/>
          <p:nvPr/>
        </p:nvSpPr>
        <p:spPr>
          <a:xfrm rot="10800000">
            <a:off x="9912350" y="2070100"/>
            <a:ext cx="1524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1500" y="2273300"/>
            <a:ext cx="3594100" cy="8636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91500" y="2273300"/>
            <a:ext cx="31750" cy="86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9300" y="2362200"/>
            <a:ext cx="3289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在成熟技术之上，补上这一层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9300" y="2578100"/>
            <a:ext cx="32893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面向列车级性能验证的</a:t>
            </a:r>
            <a:br>
              <a:rPr lang="zh-CN" altLang="en-US" sz="1350"/>
            </a:b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智能编排与实时协同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3225800"/>
            <a:ext cx="35941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成熟技术底座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91500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06467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21433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91500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实物与线路试验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06467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代理／降阶模型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21433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4292600"/>
            <a:ext cx="359410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技术定位：不重复造轮子——不做仿真软件、不做接口标准、不做试验台；而是在成熟技术之上，补上“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”这一层。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400" y="5651500"/>
            <a:ext cx="31750" cy="63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4200" y="5749925"/>
            <a:ext cx="112014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与同类工作的差异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5991225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现有工作多聚焦单一系统仿真或通用智能体平台；本课题面向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列车级性能验证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，把“协同运行与调度”做成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可交付的引擎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可复用的方法论体系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未来价值：从“一个课题的交付物”到“可生长的验证能力底座”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能力扩展 · 场景延伸 · 范式转变 · 资产沉淀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引擎的未来价值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16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puzzle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150" y="1549400"/>
            <a:ext cx="3810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64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能力扩展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90650" y="2311400"/>
            <a:ext cx="7620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42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新增一个关键系统＝新一轮建模与集成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6891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3400" y="3505200"/>
            <a:ext cx="2476500" cy="12827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400" y="3619500"/>
            <a:ext cx="80010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按标准化接口接入智能体即可，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引擎不需重构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93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arrows-split-2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1549400"/>
            <a:ext cx="3810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2893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场景延伸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3550" y="2311400"/>
            <a:ext cx="762000" cy="1905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671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71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数字样机只服务研发验证</a:t>
            </a:r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5720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16300" y="3505200"/>
            <a:ext cx="2476500" cy="12827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43300" y="3619500"/>
            <a:ext cx="80010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33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13335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延伸到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（性能复现、状态评估）；方法体系可迁移至其他装备领域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repeat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950" y="1549400"/>
            <a:ext cx="381000" cy="381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722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范式转变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6450" y="2311400"/>
            <a:ext cx="762000" cy="1905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00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验证是项目式、一次性的</a:t>
            </a:r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4549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9200" y="3505200"/>
            <a:ext cx="2476500" cy="1282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26200" y="3619500"/>
            <a:ext cx="80010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62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常态化、可回归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——设计改一次，全工况验证自动重跑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51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database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9850" y="1549400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0551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资产沉淀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39350" y="2311400"/>
            <a:ext cx="76200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329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29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经验在专家个人手里</a:t>
            </a:r>
          </a:p>
        </p:txBody>
      </p:sp>
      <p:sp>
        <p:nvSpPr>
          <p:cNvPr id="45" name="Isosceles Triangle 44"/>
          <p:cNvSpPr/>
          <p:nvPr/>
        </p:nvSpPr>
        <p:spPr>
          <a:xfrm rot="10800000">
            <a:off x="103378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82100" y="3505200"/>
            <a:ext cx="2476500" cy="12827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09100" y="3619500"/>
            <a:ext cx="800100" cy="190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91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判据、工况、结论全程留痕，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个人经验沉淀为组织资产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283200"/>
            <a:ext cx="31750" cy="762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200" y="5391150"/>
            <a:ext cx="54102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21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引擎的价值不在“跑通一次验证”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5721350"/>
            <a:ext cx="54102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而在于把列车性能验证变成一项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可积累、可复用、可生长</a:t>
            </a: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的能力。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23000" y="6045200"/>
            <a:ext cx="55626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23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02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81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61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40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20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899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78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37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17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96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75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55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134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414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693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972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252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31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3" name="Picture 72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5597957"/>
            <a:ext cx="1803400" cy="450850"/>
          </a:xfrm>
          <a:prstGeom prst="rect">
            <a:avLst/>
          </a:prstGeom>
        </p:spPr>
      </p:pic>
      <p:pic>
        <p:nvPicPr>
          <p:cNvPr id="74" name="Picture 73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600" y="5597957"/>
            <a:ext cx="1803400" cy="450850"/>
          </a:xfrm>
          <a:prstGeom prst="rect">
            <a:avLst/>
          </a:prstGeom>
        </p:spPr>
      </p:pic>
      <p:pic>
        <p:nvPicPr>
          <p:cNvPr id="75" name="Picture 74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5597957"/>
            <a:ext cx="1803400" cy="4508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阶段目标与进度：四阶段推进，前一阶段交付即后一阶段输入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研究周期 2027.01—2028.12（24 个月） · 四个里程碑 M1—M4 与阶段交付物对齐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阶段目标与进度安排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3D9E1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25750" cy="3429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587500"/>
            <a:ext cx="4225925" cy="3429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587500"/>
            <a:ext cx="2813050" cy="3429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587500"/>
            <a:ext cx="1400175" cy="3429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030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762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00250"/>
            <a:ext cx="12700" cy="762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00250"/>
            <a:ext cx="12700" cy="762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4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4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13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23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33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442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52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61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1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81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90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00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09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9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28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538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48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57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7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76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86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96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05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215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66" name="Diamond 65"/>
          <p:cNvSpPr/>
          <p:nvPr/>
        </p:nvSpPr>
        <p:spPr>
          <a:xfrm>
            <a:off x="315595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01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1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69" name="Diamond 68"/>
          <p:cNvSpPr/>
          <p:nvPr/>
        </p:nvSpPr>
        <p:spPr>
          <a:xfrm>
            <a:off x="7394575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4052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052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72" name="Diamond 71"/>
          <p:cNvSpPr/>
          <p:nvPr/>
        </p:nvSpPr>
        <p:spPr>
          <a:xfrm>
            <a:off x="10220325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6627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6627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75" name="Diamond 74"/>
          <p:cNvSpPr/>
          <p:nvPr/>
        </p:nvSpPr>
        <p:spPr>
          <a:xfrm>
            <a:off x="1163320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48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8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640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6400" y="3009900"/>
            <a:ext cx="38100" cy="25400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1500" y="3149600"/>
            <a:ext cx="520700" cy="2032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9540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2027.01—2027.06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150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需求分析与总体架构设计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7150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84" name="TextBox 83"/>
          <p:cNvSpPr txBox="1"/>
          <p:nvPr/>
        </p:nvSpPr>
        <p:spPr>
          <a:xfrm>
            <a:off x="57150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150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92C34D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总体架构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92C34D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验证判据知识化方法与标准化接口规范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340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500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（2027.06）架构与接口规范</a:t>
            </a:r>
          </a:p>
        </p:txBody>
      </p:sp>
      <p:sp>
        <p:nvSpPr>
          <p:cNvPr id="88" name="Isosceles Triangle 87"/>
          <p:cNvSpPr/>
          <p:nvPr/>
        </p:nvSpPr>
        <p:spPr>
          <a:xfrm rot="5400000">
            <a:off x="311785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0835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08350" y="3009900"/>
            <a:ext cx="38100" cy="2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3450" y="3149600"/>
            <a:ext cx="520700" cy="203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9735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345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智能体与引擎研制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47345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95" name="TextBox 94"/>
          <p:cNvSpPr txBox="1"/>
          <p:nvPr/>
        </p:nvSpPr>
        <p:spPr>
          <a:xfrm>
            <a:off x="347345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7345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D9A30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D9A30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调度引擎原理样机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3535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53695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（2028.03）智能体与引擎</a:t>
            </a:r>
          </a:p>
        </p:txBody>
      </p:sp>
      <p:sp>
        <p:nvSpPr>
          <p:cNvPr id="99" name="Isosceles Triangle 98"/>
          <p:cNvSpPr/>
          <p:nvPr/>
        </p:nvSpPr>
        <p:spPr>
          <a:xfrm rot="5400000">
            <a:off x="601980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030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0300" y="3009900"/>
            <a:ext cx="38100" cy="2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375400" y="3149600"/>
            <a:ext cx="520700" cy="203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9930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2028.04—2028.09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7540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样机集成与验证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37540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06" name="TextBox 105"/>
          <p:cNvSpPr txBox="1"/>
          <p:nvPr/>
        </p:nvSpPr>
        <p:spPr>
          <a:xfrm>
            <a:off x="637540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7540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00B0F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00B0F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典型工况协同验证结果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3730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3890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（2028.09）数字样机与验证</a:t>
            </a:r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892175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11225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12250" y="3009900"/>
            <a:ext cx="38100" cy="254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277350" y="3149600"/>
            <a:ext cx="520700" cy="203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00125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2028.10—2028.12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27735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927735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17" name="TextBox 116"/>
          <p:cNvSpPr txBox="1"/>
          <p:nvPr/>
        </p:nvSpPr>
        <p:spPr>
          <a:xfrm>
            <a:off x="927735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7735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示范应用与效能评估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方法体系与技术规范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标准草案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23925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34085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（2028.12）示范应用与验收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06400" y="5715000"/>
            <a:ext cx="31750" cy="584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84200" y="579120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阶段间衔接：前一阶段交付物即后一阶段输入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84200" y="60261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判据与接口规范 → 任务生成与智能体接入；智能体与引擎 → 样机集成；样机 → 性能验证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任务分解与考核：四个子任务，交付物逐级成为下一任务输入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子任务1 知识 → 子任务2 调度 → 子任务3 执行 → 子任务4 集成；数据回归更新判据与工作流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18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236855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1500" y="1536700"/>
            <a:ext cx="588137" cy="215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835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866900"/>
            <a:ext cx="203835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测试知识库与任务工作流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2095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对应基础层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150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71500" y="2476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692400"/>
            <a:ext cx="203835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D97706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验证判据知识库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D97706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任务工作流定义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3873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4089400"/>
            <a:ext cx="2038350" cy="406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089400"/>
            <a:ext cx="31750" cy="406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4089400"/>
            <a:ext cx="18034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知识库核验、报告评审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38450" y="3009900"/>
            <a:ext cx="5080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2774950" y="2603500"/>
            <a:ext cx="635000" cy="3556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判据与</a:t>
            </a:r>
            <a:br>
              <a:rPr lang="zh-CN" altLang="en-US" sz="850"/>
            </a:b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工作流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995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09950" y="1358900"/>
            <a:ext cx="236855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75050" y="1536700"/>
            <a:ext cx="588137" cy="215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190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50" y="1866900"/>
            <a:ext cx="203835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任务理解与智能编排调度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5050" y="2095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对应决策层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57505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3575050" y="2476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50" y="2692400"/>
            <a:ext cx="203835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多智能体协同运行与</a:t>
            </a:r>
            <a:br>
              <a:rPr lang="zh-CN" altLang="en-US" sz="1050"/>
            </a:b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调度引擎（软件）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050" y="3873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75050" y="4089400"/>
            <a:ext cx="2038350" cy="406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75050" y="4089400"/>
            <a:ext cx="31750" cy="406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8400" y="4089400"/>
            <a:ext cx="18034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✓ 软件演示、功能核验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42000" y="3009900"/>
            <a:ext cx="5080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38" name="TextBox 37"/>
          <p:cNvSpPr txBox="1"/>
          <p:nvPr/>
        </p:nvSpPr>
        <p:spPr>
          <a:xfrm>
            <a:off x="5778500" y="2603500"/>
            <a:ext cx="635000" cy="3556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1350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13500" y="1358900"/>
            <a:ext cx="236855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78600" y="1536700"/>
            <a:ext cx="588137" cy="2159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545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8600" y="1866900"/>
            <a:ext cx="203835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78600" y="2095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对应执行层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7860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578600" y="2476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8600" y="2692400"/>
            <a:ext cx="203835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仿真智能体／孪生模型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用例与线路数据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验证报告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8600" y="3873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600" y="4089400"/>
            <a:ext cx="2038350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578600" y="40894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11950" y="4089400"/>
            <a:ext cx="18034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模型核验、比对试验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45550" y="3009900"/>
            <a:ext cx="5080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8782050" y="2603500"/>
            <a:ext cx="635000" cy="3556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验证结论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7050" y="1358900"/>
            <a:ext cx="236855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7050" y="1358900"/>
            <a:ext cx="236855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82150" y="1536700"/>
            <a:ext cx="588137" cy="2159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4900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82150" y="1866900"/>
            <a:ext cx="203835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82150" y="2095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对应集成层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582150" y="2374900"/>
            <a:ext cx="20383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9582150" y="2476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82150" y="2692400"/>
            <a:ext cx="203835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构建方法体系与技术规范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82150" y="3873500"/>
            <a:ext cx="20383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82150" y="4089400"/>
            <a:ext cx="203835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82150" y="40894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15500" y="4089400"/>
            <a:ext cx="18034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示范应用验收、第三方验证</a:t>
            </a:r>
          </a:p>
        </p:txBody>
      </p:sp>
      <p:sp>
        <p:nvSpPr>
          <p:cNvPr id="67" name="Freeform 66"/>
          <p:cNvSpPr/>
          <p:nvPr/>
        </p:nvSpPr>
        <p:spPr>
          <a:xfrm>
            <a:off x="1587500" y="4660900"/>
            <a:ext cx="9017000" cy="292100"/>
          </a:xfrm>
          <a:custGeom>
            <a:avLst/>
            <a:gdLst/>
            <a:ahLst/>
            <a:cxnLst/>
            <a:rect l="l" t="t" r="r" b="b"/>
            <a:pathLst>
              <a:path w="1420" h="46">
                <a:moveTo>
                  <a:pt x="1420" y="0"/>
                </a:moveTo>
                <a:lnTo>
                  <a:pt x="1420" y="46"/>
                </a:lnTo>
                <a:lnTo>
                  <a:pt x="0" y="46"/>
                </a:lnTo>
                <a:lnTo>
                  <a:pt x="0" y="2"/>
                </a:lnTo>
              </a:path>
            </a:pathLst>
          </a:custGeom>
          <a:noFill/>
          <a:ln w="15875">
            <a:solidFill>
              <a:srgbClr val="00A37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590675" y="5016500"/>
            <a:ext cx="90106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数据回归：更新判据与工作流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06400" y="5537200"/>
            <a:ext cx="31750" cy="7493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4200" y="564832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每个子任务的交付物即下一子任务的输入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4200" y="595947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形成“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知识—调度—执行—集成</a:t>
            </a: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”的闭环。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预期目标与成果对应：四项目标，每项都有对应成果物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调度引擎 · 数字样机与性能验证 · 方法体系、智能运维与扩展能力 · 示范应用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254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500" y="1346200"/>
            <a:ext cx="254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对应成果物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5875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587500"/>
            <a:ext cx="38100" cy="1117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900" y="17145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0A4CF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900" y="21336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9000" y="15875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3175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多智能体协同运行与调度引擎1套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，支持异构仿真智能体的实时协同运行与算力资源动态调度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7677150" y="20891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37500" y="2006600"/>
            <a:ext cx="3746500" cy="279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9100" y="20066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1000" y="20066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27686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2768600"/>
            <a:ext cx="38100" cy="11176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900" y="28956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7C5CF0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900" y="33147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数字样机与性能验证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000" y="27686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建成包含车辆动力学与线路等关键系统仿真智能体的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，实现对列车速度跟踪控制品质、牵引能耗与再生能量利用、运行平稳性等关键性能的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多工况协同验证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7677150" y="32702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37500" y="28448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9100" y="28448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1000" y="28448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37500" y="31877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31877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1000" y="31877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37500" y="35306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9100" y="35306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1000" y="35306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400" y="39497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6400" y="3949700"/>
            <a:ext cx="38100" cy="1117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900" y="40767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00A37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6900" y="44958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方法体系、智能运维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与扩展能力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9000" y="39497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形成列车级数字样机构建方法体系与标准化集成技术规范，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支持列车关键性能验证与智能运维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，具备向制动、辅助系统等关键系统扩展的能力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7677150" y="44513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37500" y="4368800"/>
            <a:ext cx="3746500" cy="279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9100" y="43688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1000" y="43688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6400" y="51308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400" y="5130800"/>
            <a:ext cx="38100" cy="1117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6900" y="52578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97706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6900" y="56769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59000" y="51308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在典型机车产品上完成示范应用，关键性能验证的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效率与工况覆盖度显著提升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，形成可推广的智能验证能力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7677150" y="56324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37500" y="5378450"/>
            <a:ext cx="3746500" cy="279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39100" y="537845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41000" y="537845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37500" y="5721350"/>
            <a:ext cx="3746500" cy="279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9100" y="572135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专利 · 论文 · 标准草案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41000" y="572135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4项 · 2篇 · 2项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量化指标与效益评估：成果交付 ＋ 示范验证 ＋ 对比评估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说明：量化以成果数量与能力覆盖为主，具体性能限值在课题任务书中进一步细化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46200"/>
            <a:ext cx="4800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成果数量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10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10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软件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945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945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310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280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280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系统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645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615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615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规范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610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10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0975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4945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4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4945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专利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310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280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论文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645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615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615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标准草案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4290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6" name="Rectangle 35"/>
          <p:cNvSpPr/>
          <p:nvPr/>
        </p:nvSpPr>
        <p:spPr>
          <a:xfrm>
            <a:off x="406400" y="3605742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能力覆盖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1900" y="3612092"/>
            <a:ext cx="4711700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异构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仿真智能体接入；支持速度跟踪控制品质、牵引能耗与再生能量利用、运行平稳性等关键性能的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多工况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协同验证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188883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4365625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扩展能力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1900" y="4371975"/>
            <a:ext cx="4711700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可扩展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的智能体接入机制，支持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应用，具备向制动、辅助系统等关键系统扩展的能力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948767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2" name="Rectangle 41"/>
          <p:cNvSpPr/>
          <p:nvPr/>
        </p:nvSpPr>
        <p:spPr>
          <a:xfrm>
            <a:off x="406400" y="5125508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1900" y="5131858"/>
            <a:ext cx="47117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关键性能验证的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效率与工况覆盖度显著提升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06400" y="55118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效益 · 评估方式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7600" y="16256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97600" y="1625600"/>
            <a:ext cx="38100" cy="914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9" name="Picture 48" descr="bulb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642100" y="17399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62700" y="20193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形成列车级数字样机构建方法体系与技术规范，填补多智能体协同调度的领域化应用空白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2700" y="22606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　方法体系与规范交付、示范应用验证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7600" y="26162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97600" y="2616200"/>
            <a:ext cx="38100" cy="914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coins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55900"/>
            <a:ext cx="203200" cy="2032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42100" y="27305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2700" y="30099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62700" y="32512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　试验次数与周期对比评估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7600" y="36068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97600" y="3606800"/>
            <a:ext cx="38100" cy="914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chart-bar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746500"/>
            <a:ext cx="203200" cy="2032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642100" y="37211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管理效益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62700" y="40005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提升关键性能验证的效率与工况覆盖度，支撑研发流程标准化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62700" y="42418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　验证效率与覆盖度对比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97600" y="45974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97600" y="4597400"/>
            <a:ext cx="3810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7" name="Picture 66" descr="world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4737100"/>
            <a:ext cx="203200" cy="2032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6642100" y="47117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推广效益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62700" y="49911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方法体系支持智能运维并具备向制动、辅助系统扩展能力，可在**内推广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62700" y="52324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　扩展性验证与推广方案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400" y="5765800"/>
            <a:ext cx="3175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4200" y="5765800"/>
            <a:ext cx="112014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效益评估以“</a:t>
            </a: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成果交付＋示范验证＋对比评估</a:t>
            </a: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”三层支撑，每项成果均对应一项研究目标。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经费预算：总预算100万元，算力是核心投入且与任务强相关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预算明细 · 分年度 · 合理性说明——无对外技术合作费支出，全部经费用于自主研发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6F7C9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C5CD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108200"/>
            <a:ext cx="6756400" cy="279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845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845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845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845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845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项目参研人员薪酬费用，按投入人月测算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4163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4163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4163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4163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4163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4163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38481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38481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38481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38481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38481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38481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17145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建模数据采集处理 2万；仿真模型校验与第三方验证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4450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4450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4450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4450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4450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4450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发明专利申请 2万；论文版面及标准草案编制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48768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48768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4876800"/>
            <a:ext cx="1485900" cy="609600"/>
          </a:xfrm>
          <a:prstGeom prst="rect">
            <a:avLst/>
          </a:prstGeom>
          <a:noFill/>
        </p:spPr>
        <p:txBody>
          <a:bodyPr wrap="square" anchor="ctr" lIns="0" tIns="0" rIns="6032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与研发活动直接相关的其他费用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4876800"/>
            <a:ext cx="609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4876800"/>
            <a:ext cx="965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4876800"/>
            <a:ext cx="25781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4864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486400"/>
            <a:ext cx="6756400" cy="431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486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4864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4864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4864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4864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59182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41600"/>
            <a:ext cx="635000" cy="88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41600"/>
            <a:ext cx="25400" cy="88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155950"/>
            <a:ext cx="381000" cy="889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155950"/>
            <a:ext cx="25400" cy="889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587750"/>
            <a:ext cx="63500" cy="88900"/>
          </a:xfrm>
          <a:prstGeom prst="rect">
            <a:avLst/>
          </a:prstGeom>
          <a:solidFill>
            <a:srgbClr val="6F7C9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587750"/>
            <a:ext cx="25400" cy="88900"/>
          </a:xfrm>
          <a:prstGeom prst="rect">
            <a:avLst/>
          </a:prstGeom>
          <a:solidFill>
            <a:srgbClr val="6F7C9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4102100"/>
            <a:ext cx="63500" cy="889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4102100"/>
            <a:ext cx="25400" cy="889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616450"/>
            <a:ext cx="63500" cy="889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616450"/>
            <a:ext cx="25400" cy="889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137150"/>
            <a:ext cx="63500" cy="88900"/>
          </a:xfrm>
          <a:prstGeom prst="rect">
            <a:avLst/>
          </a:prstGeom>
          <a:solidFill>
            <a:srgbClr val="C5CD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137150"/>
            <a:ext cx="25400" cy="88900"/>
          </a:xfrm>
          <a:prstGeom prst="rect">
            <a:avLst/>
          </a:prstGeom>
          <a:solidFill>
            <a:srgbClr val="C5CD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3556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算力是核心投入且与任务强相关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：NPU 承担智能体推理与任务编排决策，GPU 承担多物理域模型并行仿真，</a:t>
            </a:r>
            <a:br>
              <a:rPr lang="zh-CN" altLang="en-US" sz="1000"/>
            </a:b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二者协同满足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实时协同运行与保真度切换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要求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：以算法与软件开发为主，属智力密集型研究，占比合理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折旧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：充分利用现有仿真与测试设备，避免重复购置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外协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：用于建模数据采集与第三方验证，保障数据质量与结果客观性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：支撑专利、论文与标准草案产出；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其他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：差旅与会议，用于示范应用与协同交流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无对外技术合作费支出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，全部经费用于自主研发；分年度投入均衡，与四阶段进度匹配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组织架构与任务分配 · 管理流程 · 进度控制与执行力保障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7C889A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84400"/>
            <a:ext cx="647890" cy="190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461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1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判据知识化、工作流建模、知识与流程迭代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3441700"/>
            <a:ext cx="2527300" cy="304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8000" y="3441700"/>
            <a:ext cx="31750" cy="304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9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32893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9300" y="2044700"/>
            <a:ext cx="27305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184400"/>
            <a:ext cx="64789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57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34290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0900" y="3441700"/>
            <a:ext cx="2527300" cy="304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90900" y="3441700"/>
            <a:ext cx="31750" cy="3048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88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61722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044700"/>
            <a:ext cx="27305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11900" y="2184400"/>
            <a:ext cx="64789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86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19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仿真智能体／用例／识别／报告／回归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19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19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智能体研制、用例生成、识别与报告、</a:t>
            </a:r>
            <a:br>
              <a:rPr lang="zh-CN" altLang="en-US" sz="900"/>
            </a:b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3800" y="3441700"/>
            <a:ext cx="2527300" cy="3048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73800" y="3441700"/>
            <a:ext cx="31750" cy="3048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17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交付：仿真智能体／孪生模型、验证报告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52" name="Rectangle 51"/>
          <p:cNvSpPr/>
          <p:nvPr/>
        </p:nvSpPr>
        <p:spPr>
          <a:xfrm>
            <a:off x="90551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55100" y="2044700"/>
            <a:ext cx="27305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94800" y="2184400"/>
            <a:ext cx="64789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315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48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48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91948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948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架构设计、协同运行、沙箱、样机集成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56700" y="3441700"/>
            <a:ext cx="2527300" cy="304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6700" y="3441700"/>
            <a:ext cx="31750" cy="3048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646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交付：列车级数字样机、方法体系与规范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400" y="40259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管理流程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4025900"/>
            <a:ext cx="4826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6400" y="4978400"/>
            <a:ext cx="1333500" cy="13081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6400" y="49784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3400" y="51308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400" y="5130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3400" y="5600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" y="5854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16100" y="4749800"/>
            <a:ext cx="1333500" cy="15367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16100" y="47498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943100" y="49022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943100" y="49022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3100" y="53721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3100" y="56261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18097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25800" y="4521200"/>
            <a:ext cx="1333500" cy="17653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25800" y="45212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800" y="46736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52800" y="46736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52800" y="51435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52800" y="53975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35500" y="4292600"/>
            <a:ext cx="1333500" cy="1993900"/>
          </a:xfrm>
          <a:prstGeom prst="rect">
            <a:avLst/>
          </a:prstGeom>
          <a:solidFill>
            <a:srgbClr val="F4F7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35500" y="42926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762500" y="44450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62500" y="44450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62500" y="49149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62500" y="51689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23000" y="40259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进度控制与执行力保障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223000" y="43307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91" name="Picture 90" descr="flag-0F1A2B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4432300"/>
            <a:ext cx="177800" cy="1778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477000" y="44069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里程碑绑定考核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83500" y="44196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 架构与接口规范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661718" y="4419600"/>
            <a:ext cx="83216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 智能体与引擎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44685" y="44196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 数字样机与验证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522902" y="44196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 示范应用与验收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223000" y="48260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98" name="Picture 97" descr="shield-check-0F1A2B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4927600"/>
            <a:ext cx="177800" cy="17780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477000" y="49022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质量控制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83500" y="4914900"/>
            <a:ext cx="41021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223000" y="52324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102" name="Picture 101" descr="alert-triangle-C00000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0" y="5334000"/>
            <a:ext cx="177800" cy="1778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477000" y="53086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风险管控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3500" y="5321300"/>
            <a:ext cx="41021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技术风险（模型精度、实时性、判据知识化完备性）、进度风险、接口风险，均设置应对预案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223000" y="58547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106" name="Picture 105" descr="server-0F1A2B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5956300"/>
            <a:ext cx="177800" cy="1778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477000" y="59309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资源保障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3500" y="5943600"/>
            <a:ext cx="41021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算力资源、试验与运用数据、样车与试验台资源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6223000" y="62230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团队研究能力：为何由我单位承担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牵头单位：********** · 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23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building-factory-2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1603375"/>
            <a:ext cx="222250" cy="222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2200" y="15113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500" y="20447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0267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15367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7" name="Picture 16" descr="device-desktop-analytics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1603375"/>
            <a:ext cx="222250" cy="222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36067" y="15113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15367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2367" y="20447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4133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9233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3" name="Picture 22" descr="test-pipe-0A4CFF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1603375"/>
            <a:ext cx="222250" cy="222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9933" y="15113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59233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6233" y="20447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【待填：*****、牵引／制动试验台、******等】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1500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9" name="Picture 28" descr="database-0A4CFF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3216275"/>
            <a:ext cx="222250" cy="2222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92200" y="31242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500" y="36576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【待填：机车试验数据与运用数据积累情况】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0267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15367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5" name="Picture 34" descr="clipboard-list-0A4CFF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3216275"/>
            <a:ext cx="222250" cy="2222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36067" y="31242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15367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42367" y="36576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4133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59233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1" name="Picture 40" descr="users-group-0A4CFF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3216275"/>
            <a:ext cx="222250" cy="2222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779933" y="31242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59233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6233" y="36576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400" y="45974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与本课题的匹配性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6400" y="4914900"/>
            <a:ext cx="5613400" cy="1409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6400" y="4914900"/>
            <a:ext cx="31750" cy="1409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circle-check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200" y="5080000"/>
            <a:ext cx="215900" cy="2159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9000" y="5054600"/>
            <a:ext cx="4953000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控制系统与车辆动力学为牵头单位主营业务方向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9000" y="5613400"/>
            <a:ext cx="4914900" cy="4572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6000" y="5613400"/>
            <a:ext cx="46609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【可补充：具体型号或项目实例】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914900"/>
            <a:ext cx="5613400" cy="1409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72200" y="4914900"/>
            <a:ext cx="31750" cy="1409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circle-check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0" y="5080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654800" y="5054600"/>
            <a:ext cx="4953000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具备支撑智能体研制、引擎开发与示范应用的仿真与试验条件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54800" y="5613400"/>
            <a:ext cx="4914900" cy="4572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81800" y="5613400"/>
            <a:ext cx="46609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【可补充：具体平台与台架】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24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4200" y="1549400"/>
            <a:ext cx="457200" cy="4572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75" y="16541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55700" y="1536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900" b="0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5700" y="1727200"/>
            <a:ext cx="2154767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567" y="14986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4200" y="2197100"/>
            <a:ext cx="3335867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84200" y="2324100"/>
            <a:ext cx="3335867" cy="1651000"/>
          </a:xfrm>
          <a:prstGeom prst="rect">
            <a:avLst/>
          </a:prstGeom>
          <a:noFill/>
        </p:spPr>
        <p:txBody>
          <a:bodyPr wrap="square" anchor="t" lIns="0" tIns="0" rIns="6350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完成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任务理解—任务编排—智能体执行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全流程：验证目标解析、环境自装配、保真度与算力调度、执行监控与重规划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支持异构仿真智能体统一接入，</a:t>
            </a:r>
            <a:br>
              <a:rPr lang="zh-CN" altLang="en-US" sz="1000"/>
            </a:b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解决多专业模型“接不上”的问题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面向性能验证提供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实时协同运行能力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0267" y="1358900"/>
            <a:ext cx="3691467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28067" y="1549400"/>
            <a:ext cx="457200" cy="4572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robo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842" y="1654175"/>
            <a:ext cx="247650" cy="2476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99567" y="1536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90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9567" y="1727200"/>
            <a:ext cx="2154767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200"/>
            </a:b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2433" y="14986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28067" y="2197100"/>
            <a:ext cx="3335866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428067" y="2324100"/>
            <a:ext cx="3335867" cy="165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覆盖控制系统、车辆动力学与线路等关键系统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由“被动模型”升级为“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自主智能体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”，具备参数自动标定与结果判断能力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具备标准化接口与可扩展接入机制，支持后续新增系统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4133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4133" y="1358900"/>
            <a:ext cx="3691467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1933" y="1549400"/>
            <a:ext cx="457200" cy="4572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train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6708" y="1654175"/>
            <a:ext cx="247650" cy="2476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43433" y="1536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9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3433" y="1727200"/>
            <a:ext cx="2154767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6300" y="14986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71933" y="2197100"/>
            <a:ext cx="3335867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8271933" y="2324100"/>
            <a:ext cx="3335867" cy="1651000"/>
          </a:xfrm>
          <a:prstGeom prst="rect">
            <a:avLst/>
          </a:prstGeom>
          <a:noFill/>
        </p:spPr>
        <p:txBody>
          <a:bodyPr wrap="square" anchor="t" lIns="0" tIns="0" rIns="19050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集成关键系统仿真智能体，形成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整车级验证环境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支持列车关键性能的多工况协同验证，并支撑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预留制动、辅助系统等关键系统扩展接口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400" y="4229100"/>
            <a:ext cx="5842000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6400" y="4229100"/>
            <a:ext cx="38100" cy="10033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1500" y="4540250"/>
            <a:ext cx="381000" cy="381000"/>
          </a:xfrm>
          <a:prstGeom prst="ellipse">
            <a:avLst/>
          </a:prstGeom>
          <a:solidFill>
            <a:srgbClr val="FCEBD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file-certificate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462915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2200" y="44259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200" y="4679950"/>
            <a:ext cx="4572000" cy="381000"/>
          </a:xfrm>
          <a:prstGeom prst="rect">
            <a:avLst/>
          </a:prstGeom>
          <a:noFill/>
        </p:spPr>
        <p:txBody>
          <a:bodyPr wrap="square" anchor="t" lIns="0" tIns="0" rIns="18097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形成构建方法、集成流程与标准化接口规范，可作为**内推广与后续课题复用的方法支撑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6400" y="5321300"/>
            <a:ext cx="5842000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6400" y="5321300"/>
            <a:ext cx="38100" cy="1003300"/>
          </a:xfrm>
          <a:prstGeom prst="rect">
            <a:avLst/>
          </a:prstGeom>
          <a:solidFill>
            <a:srgbClr val="0098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71500" y="5632450"/>
            <a:ext cx="381000" cy="381000"/>
          </a:xfrm>
          <a:prstGeom prst="ellipse">
            <a:avLst/>
          </a:prstGeom>
          <a:solidFill>
            <a:srgbClr val="DDF1F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5" name="Picture 44" descr="report-analytics-0098D4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5721350"/>
            <a:ext cx="203200" cy="203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92200" y="56070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284C7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2200" y="58610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在典型机车产品上完成关键性能协同验证，形成验证效能评估结论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42037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483100"/>
            <a:ext cx="1744133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5100" y="4584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5100" y="4991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5100" y="5207000"/>
            <a:ext cx="1515533" cy="1054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覆盖任务编排调度机制、保真度与算力调度、实时时序同步、工况自生成等方向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1133" y="4483100"/>
            <a:ext cx="1744133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35433" y="4584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35433" y="4991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5433" y="5207000"/>
            <a:ext cx="1515533" cy="1054100"/>
          </a:xfrm>
          <a:prstGeom prst="rect">
            <a:avLst/>
          </a:prstGeom>
          <a:noFill/>
        </p:spPr>
        <p:txBody>
          <a:bodyPr wrap="square" anchor="t" lIns="0" tIns="0" rIns="508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面向多智能体协同仿真与性能验证方法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41467" y="4483100"/>
            <a:ext cx="1744133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55767" y="4584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55767" y="4991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55767" y="5207000"/>
            <a:ext cx="1515533" cy="1054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列车级数字样机构建与智能体接口相关规范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762000" cy="50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