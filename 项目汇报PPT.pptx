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备注（讲稿）：边界细节——7.1 采用其数据规范与接口，不承担建库；7.2 仅自建验证必需的智能体，不覆盖弓网/牵引/制动等全部关键系统；7.4 承接智能体集成与协同运行；7.5 为优化提供验证支撑；6.2 通用智能体调度平台是通用编排，本课题强调实时协同与多物理域时序。数字样机由关键系统仿真智能体／智能孪生模型经调度引擎集成而成：智能体可单独核验、复用，数字样机作为整车级验证系统交付。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备注（讲稿）：技术表述——研制多智能体协同运行与调度引擎，以 FXN5C 为对象建成列车级数字样机，实现列车关键性能的快速、可复现、全覆盖验证。冻结案例：控制、冷却、动力、线路四个系统耦合，且是回手柄后持续一段时间才出现的长时序过程，HIL 只有控制器在环、其他系统靠经验数据近似，因此复现不出来。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对领域发展的推动作用——性能验证从“单系统、离线、靠现场”转向“列车级、实时协同、研发阶段可回归”，成为研发体系中可持续使用的基础能力；输出的构建方法体系与技术规范，主机企业可按同一流程构建自己的数字样机；新增系统按标准接口接入智能体即可，引擎不需重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《“***”铁路科技创新规划》（****〔****〕**号）将数字孪生列为智能铁路关键技术，要求开展数字孪生平台研发应用，“到****年智能铁路技术全面突破”；用户端年软件支出达数百万元且年均涨价约 5%；指南已将“研发设计软件受制于人”“设计仿真数据割裂”列为待解决事项。数字孪生与智能体技术正从概念验证走向工程落地，等国外工具链先做成，验证环节将重演工业软件受制于人的路径。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备注（讲稿）：与课题要求的对应——高效实时协同运行 → ③④；调度引擎 → ②；列车级数字样机及构建方法体系 → ④；支持关键性能验证与智能运维 → ④。对接项目7总体目标——模型自动标定 → ③；指标实时推演 → ④；性能自动评估 → 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没有判据知识库，任务理解只能靠通用大模型“猜”；没有工作流，编排调度无章可循。判据条目示例：验证对象——牵引控制系统；关键性能——速度跟踪偏差；适用工况——长大下坡、湿轨；判定规则——|实测 − 目标| ≤ 允许偏差；来源——设计规范条款。\n说明：“工程场景”可替换为本单位的实际案例；“示意图”为临时附图（形状组合，可直接编辑），如有实际图片，选中该组合删除后插入即可。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备注（讲稿）：算力为本课题配置的 GPU＋NPU 异构服务器 1 台、一体化工作站 2 台。\n说明：“工程场景”可替换为本单位的实际案例；“示意图”为临时附图（形状组合，可直接编辑），如有实际图片，选中该组合删除后插入即可。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备注（讲稿）：标定数据来自型式试验、线路试验与运用记录。测试识别输出结果可信性判断，是为了解决极端工况实测数据少、结论难以自证的问题。设计修改后，低温工况全量回归重跑。示意图：数据据 2024 年 12 月临哈线现场记录，曲线为示意；防冻限值线仅示意位置，请按设计规范取值；如有现场记录曲线，选中附图组合删除后替换即可。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说明：“工程场景”可替换为本单位的实际案例；“示意图”为临时附图（形状组合，可直接编辑），如有实际图片，选中该组合删除后插入即可。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备注（讲稿）：这一次验证里，工况没人手写、线路数据没人准备、环境没人搭、异常没人看图判断。追溯原因示例：黏着利用不足？控制参数不匹配？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备注（讲稿）：与同类工作的差异——现有工作多聚焦单一系统仿真或通用智能体平台，本课题把协同运行与调度做成可交付的引擎和可复用的方法体系。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阶段交付——一：总体架构、判据知识化方法、接口规范；二：关键系统仿真智能体／智能孪生模型、调度引擎原理样机；三：列车级数字样机、典型工况协同验证结果；四：示范应用与效能评估、方法体系与技术规范、标准草案。前一阶段交付物即后一阶段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备注（讲稿）：子任务分工——子任务1 知识库与工作流（目标 1、3）；子任务2 调度引擎（目标 1）；子任务3 智能体执行（目标 2）；子任务4 集成与示范（目标 2、3、4）。各子任务交付物逐级成为下一任务输入，验证数据回流更新判据与工作流。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折旧——利用现有仿真与测试设备，避免重复购置；外协——数据采集与第三方验证；成果——专利、论文与标准草案；其他——示范应用差旅与会议。人员人工费用测算依据中【待填】为占位，请按“投入人月 × 人月费用标准”填写，合计应为 30 万元。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双周例会——子任务进展同步与问题协调；月度——对照里程碑核查交付物；季度——技术方案与阶段成果评审；年度——目标评估与计划调整。接口与进度风险——接口规范在阶段一先行交付，里程碑绑定考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备注（讲稿）：本页需填入单位实际基础，它是“为什么由我们承担”的直接依据。虚线框内【待填】为占位内容，请替换为牵头单位实际情况。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备注（讲稿）：成果 1—3 中的虚线框为附图预留位置（形状组合）；选中该组合删除后插入实际图片即可。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838200"/>
            <a:ext cx="50800" cy="1905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812800"/>
            <a:ext cx="8890000" cy="241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900"/>
              </a:lnSpc>
              <a:buNone/>
            </a:pPr>
            <a:r>
              <a:rPr lang="zh-CN" altLang="en-US" sz="1250" b="1" spc="150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****“***”科技重大专项课题申报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244600"/>
            <a:ext cx="11379200" cy="146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5500"/>
              </a:lnSpc>
              <a:buNone/>
            </a:pPr>
            <a:r>
              <a:rPr lang="zh-CN" altLang="en-US" sz="3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7.3</a:t>
            </a:r>
            <a:r>
              <a:rPr lang="zh-CN" altLang="en-US" sz="3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轨道交通装备性能验证的</a:t>
            </a:r>
          </a:p>
          <a:p>
            <a:pPr algn="l" marL="0" indent="0">
              <a:lnSpc>
                <a:spcPts val="5500"/>
              </a:lnSpc>
              <a:buNone/>
            </a:pPr>
            <a:r>
              <a:rPr lang="zh-CN" altLang="en-US" sz="3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多智能体协同运行与调度引擎技术研究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2832100"/>
            <a:ext cx="571500" cy="444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3009900"/>
            <a:ext cx="11379200" cy="254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所属项目：7. 基于智能体的轨道交通装备性能数字样机关键技术研究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3352800"/>
            <a:ext cx="11379200" cy="317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zh-CN" altLang="en-US" sz="17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让现场才暴露的问题，在研发阶段先跑出来。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4013200"/>
            <a:ext cx="19050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0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牵头单位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4254500"/>
            <a:ext cx="1905000" cy="342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zh-CN" altLang="en-US" sz="16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**********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1900" y="4038600"/>
            <a:ext cx="12700" cy="5588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2400" y="4013200"/>
            <a:ext cx="15240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0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项目负责人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400" y="4254500"/>
            <a:ext cx="1524000" cy="342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zh-CN" altLang="en-US" sz="16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***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6400" y="4038600"/>
            <a:ext cx="12700" cy="5588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6900" y="4013200"/>
            <a:ext cx="13970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0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申报层级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6900" y="4254500"/>
            <a:ext cx="1397000" cy="342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zh-CN" altLang="en-US" sz="16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课题级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3900" y="4038600"/>
            <a:ext cx="12700" cy="5588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94400" y="4013200"/>
            <a:ext cx="31115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0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4400" y="4254500"/>
            <a:ext cx="3111500" cy="342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zh-CN" altLang="en-US" sz="16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2027年1月—2028年12月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400" y="5994400"/>
            <a:ext cx="11379200" cy="190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5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4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24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03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2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62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41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1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9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59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38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8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7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76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6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35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15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94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3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53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32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12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91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70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50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09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88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67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47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26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06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85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64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744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23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303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582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2" name="Picture 61" descr="locomotive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5320386"/>
            <a:ext cx="2717800" cy="679450"/>
          </a:xfrm>
          <a:prstGeom prst="rect">
            <a:avLst/>
          </a:prstGeom>
        </p:spPr>
      </p:pic>
      <p:pic>
        <p:nvPicPr>
          <p:cNvPr id="63" name="Picture 62" descr="locomotive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5320386"/>
            <a:ext cx="2717800" cy="679450"/>
          </a:xfrm>
          <a:prstGeom prst="rect">
            <a:avLst/>
          </a:prstGeom>
        </p:spPr>
      </p:pic>
      <p:pic>
        <p:nvPicPr>
          <p:cNvPr id="64" name="Picture 63" descr="locomotive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00" y="5320386"/>
            <a:ext cx="2717800" cy="67945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研究周期 2027.01—2028.12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汇报提纲：七个部分，核心是研究内容、技术路线与方法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共 21 页 · 第三部分“主要研究内容、技术路线与方法”为核心章节（第 7—14 页）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14097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DDD8D2"/>
                </a:solidFill>
                <a:latin typeface="Consolas"/>
                <a:ea typeface="微软雅黑"/>
                <a:cs typeface="Consolas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320800" y="1555750"/>
            <a:ext cx="406400" cy="406400"/>
          </a:xfrm>
          <a:prstGeom prst="ellipse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file-description-6F6B67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0" y="1651000"/>
            <a:ext cx="215900" cy="215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05000" y="15113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17907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项目基本信息 · 项目子课题及预计成果物 · 项目预计经费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0" y="17780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3 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5000" y="2108200"/>
            <a:ext cx="9880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584200" y="21082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DDD8D2"/>
                </a:solidFill>
                <a:latin typeface="Consolas"/>
                <a:ea typeface="微软雅黑"/>
                <a:cs typeface="Consolas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1320800" y="2254250"/>
            <a:ext cx="406400" cy="406400"/>
          </a:xfrm>
          <a:prstGeom prst="ellipse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8" name="Picture 17" descr="bulb-6F6B67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050" y="2349500"/>
            <a:ext cx="215900" cy="215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05000" y="22098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研究意义与价值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24892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背景与目的 · 应用价值与效益 · 为什么是现在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4765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4—6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400" y="2832100"/>
            <a:ext cx="11379200" cy="647700"/>
          </a:xfrm>
          <a:prstGeom prst="rect">
            <a:avLst/>
          </a:prstGeom>
          <a:solidFill>
            <a:srgbClr val="FAF3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400" y="2832100"/>
            <a:ext cx="19050" cy="6477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200" y="28067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1320800" y="2952750"/>
            <a:ext cx="406400" cy="40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Picture 25" descr="route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050" y="3048000"/>
            <a:ext cx="215900" cy="215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05000" y="29083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主要研究内容、技术路线与方法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5000" y="31877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总体路线 · 研究内容①—④ · 典型场景 · 创新点 · 阶段与检验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6300" y="2946400"/>
            <a:ext cx="635000" cy="203200"/>
          </a:xfrm>
          <a:prstGeom prst="rect">
            <a:avLst/>
          </a:prstGeom>
          <a:solidFill>
            <a:srgbClr val="FFFFFF"/>
          </a:solidFill>
          <a:ln w="6350">
            <a:solidFill>
              <a:srgbClr val="A61C22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核心章节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0000" y="31750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第 7—14 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5052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DDD8D2"/>
                </a:solidFill>
                <a:latin typeface="Consolas"/>
                <a:ea typeface="微软雅黑"/>
                <a:cs typeface="Consolas"/>
              </a:rPr>
              <a:t>04</a:t>
            </a:r>
          </a:p>
        </p:txBody>
      </p:sp>
      <p:sp>
        <p:nvSpPr>
          <p:cNvPr id="32" name="Oval 31"/>
          <p:cNvSpPr/>
          <p:nvPr/>
        </p:nvSpPr>
        <p:spPr>
          <a:xfrm>
            <a:off x="1320800" y="3651250"/>
            <a:ext cx="406400" cy="406400"/>
          </a:xfrm>
          <a:prstGeom prst="ellipse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3" name="Picture 32" descr="target-arrow-6F6B67-1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050" y="3746500"/>
            <a:ext cx="215900" cy="2159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905000" y="36068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预期成果与效益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5000" y="38862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预期成果与考核方式 · 量化指标与效益评估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38735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15—16 页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05000" y="4203700"/>
            <a:ext cx="9880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8" name="TextBox 37"/>
          <p:cNvSpPr txBox="1"/>
          <p:nvPr/>
        </p:nvSpPr>
        <p:spPr>
          <a:xfrm>
            <a:off x="584200" y="42037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DDD8D2"/>
                </a:solidFill>
                <a:latin typeface="Consolas"/>
                <a:ea typeface="微软雅黑"/>
                <a:cs typeface="Consolas"/>
              </a:rPr>
              <a:t>05</a:t>
            </a:r>
          </a:p>
        </p:txBody>
      </p:sp>
      <p:sp>
        <p:nvSpPr>
          <p:cNvPr id="39" name="Oval 38"/>
          <p:cNvSpPr/>
          <p:nvPr/>
        </p:nvSpPr>
        <p:spPr>
          <a:xfrm>
            <a:off x="1320800" y="4349750"/>
            <a:ext cx="406400" cy="406400"/>
          </a:xfrm>
          <a:prstGeom prst="ellipse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0" name="Picture 39" descr="coins-6F6B67-1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6050" y="4445000"/>
            <a:ext cx="215900" cy="2159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905000" y="43053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经费预算合理性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5000" y="45847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预算明细与测算依据 · 分年度 · 合理性说明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0000" y="45720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17 页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05000" y="4902200"/>
            <a:ext cx="9880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5" name="TextBox 44"/>
          <p:cNvSpPr txBox="1"/>
          <p:nvPr/>
        </p:nvSpPr>
        <p:spPr>
          <a:xfrm>
            <a:off x="584200" y="49022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DDD8D2"/>
                </a:solidFill>
                <a:latin typeface="Consolas"/>
                <a:ea typeface="微软雅黑"/>
                <a:cs typeface="Consolas"/>
              </a:rPr>
              <a:t>06</a:t>
            </a:r>
          </a:p>
        </p:txBody>
      </p:sp>
      <p:sp>
        <p:nvSpPr>
          <p:cNvPr id="46" name="Oval 45"/>
          <p:cNvSpPr/>
          <p:nvPr/>
        </p:nvSpPr>
        <p:spPr>
          <a:xfrm>
            <a:off x="1320800" y="5048250"/>
            <a:ext cx="406400" cy="406400"/>
          </a:xfrm>
          <a:prstGeom prst="ellipse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7" name="Picture 46" descr="sitemap-6F6B67-1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6050" y="5143500"/>
            <a:ext cx="215900" cy="2159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905000" y="50038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项目管理计划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5000" y="52832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任务分配 · 项目流程 · 时间安排 · 执行保障 ｜ 团队研究能力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0000" y="52705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18—19 页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05000" y="5600700"/>
            <a:ext cx="9880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2" name="TextBox 51"/>
          <p:cNvSpPr txBox="1"/>
          <p:nvPr/>
        </p:nvSpPr>
        <p:spPr>
          <a:xfrm>
            <a:off x="584200" y="5600700"/>
            <a:ext cx="698500" cy="698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DDD8D2"/>
                </a:solidFill>
                <a:latin typeface="Consolas"/>
                <a:ea typeface="微软雅黑"/>
                <a:cs typeface="Consolas"/>
              </a:rPr>
              <a:t>07</a:t>
            </a:r>
          </a:p>
        </p:txBody>
      </p:sp>
      <p:sp>
        <p:nvSpPr>
          <p:cNvPr id="53" name="Oval 52"/>
          <p:cNvSpPr/>
          <p:nvPr/>
        </p:nvSpPr>
        <p:spPr>
          <a:xfrm>
            <a:off x="1320800" y="5746750"/>
            <a:ext cx="406400" cy="406400"/>
          </a:xfrm>
          <a:prstGeom prst="ellipse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4" name="Picture 53" descr="trophy-6F6B67-1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6050" y="5842000"/>
            <a:ext cx="215900" cy="2159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905000" y="5702300"/>
            <a:ext cx="7620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200"/>
              </a:lnSpc>
              <a:buNone/>
            </a:pPr>
            <a:r>
              <a:rPr lang="zh-CN" altLang="en-US" sz="15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成果介绍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05000" y="5981700"/>
            <a:ext cx="8445500" cy="2159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五项成果 ＋ 知识产权与标准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60000" y="5969000"/>
            <a:ext cx="1625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800"/>
              </a:lnSpc>
              <a:buNone/>
            </a:pPr>
            <a:r>
              <a:rPr lang="zh-CN" altLang="en-US" sz="10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20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项目简介：研究重心是引擎，数字样机是引擎的集成产物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项目基本信息 · 项目子课题与本课题边界 · 预计成果物 · 预计经费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项目简介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5334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项目基本信息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400" y="1625600"/>
            <a:ext cx="5334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1" name="TextBox 10"/>
          <p:cNvSpPr txBox="1"/>
          <p:nvPr/>
        </p:nvSpPr>
        <p:spPr>
          <a:xfrm>
            <a:off x="469900" y="1625600"/>
            <a:ext cx="482600" cy="4445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1625600"/>
            <a:ext cx="1638300" cy="4445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7. 基于智能体的轨道交通装备</a:t>
            </a:r>
            <a:br>
              <a:rPr lang="zh-CN" altLang="en-US" sz="950"/>
            </a:b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性能数字样机关键技术研究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4800" y="1625600"/>
            <a:ext cx="584200" cy="4445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课题名称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00" y="1625600"/>
            <a:ext cx="2120900" cy="4445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7.3 轨道交通装备性能验证的</a:t>
            </a:r>
            <a:br>
              <a:rPr lang="zh-CN" altLang="en-US" sz="950"/>
            </a:b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多智能体协同运行与调度引擎技术研究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400" y="2070100"/>
            <a:ext cx="5334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469900" y="2070100"/>
            <a:ext cx="4826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牵头单位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" y="2070100"/>
            <a:ext cx="16383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**********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4800" y="2070100"/>
            <a:ext cx="5842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项目负责人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2070100"/>
            <a:ext cx="21209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***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400" y="2343150"/>
            <a:ext cx="5334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1" name="TextBox 20"/>
          <p:cNvSpPr txBox="1"/>
          <p:nvPr/>
        </p:nvSpPr>
        <p:spPr>
          <a:xfrm>
            <a:off x="469900" y="2343150"/>
            <a:ext cx="4826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主管部门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2343150"/>
            <a:ext cx="16383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********部（***）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4800" y="2343150"/>
            <a:ext cx="5842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产业领域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0" y="2343150"/>
            <a:ext cx="21209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轨道交通装备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6400" y="2616200"/>
            <a:ext cx="5334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6" name="TextBox 25"/>
          <p:cNvSpPr txBox="1"/>
          <p:nvPr/>
        </p:nvSpPr>
        <p:spPr>
          <a:xfrm>
            <a:off x="469900" y="2616200"/>
            <a:ext cx="4826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项目目的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500" y="2616200"/>
            <a:ext cx="16383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基础前瞻共性技术研究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4800" y="2616200"/>
            <a:ext cx="5842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研究周期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0" y="2616200"/>
            <a:ext cx="21209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2027.01—2028.12（24个月）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6400" y="2889250"/>
            <a:ext cx="5334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1" name="TextBox 30"/>
          <p:cNvSpPr txBox="1"/>
          <p:nvPr/>
        </p:nvSpPr>
        <p:spPr>
          <a:xfrm>
            <a:off x="469900" y="2889250"/>
            <a:ext cx="4826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总预算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9500" y="2889250"/>
            <a:ext cx="16383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100万元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44800" y="2889250"/>
            <a:ext cx="5842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8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当年预算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6000" y="2889250"/>
            <a:ext cx="2120900" cy="273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50万元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06400" y="3162300"/>
            <a:ext cx="5334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6" name="TextBox 35"/>
          <p:cNvSpPr txBox="1"/>
          <p:nvPr/>
        </p:nvSpPr>
        <p:spPr>
          <a:xfrm>
            <a:off x="406400" y="3302000"/>
            <a:ext cx="5334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预计成果物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5400" y="3302000"/>
            <a:ext cx="444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数字样机由智能体经引擎集成而成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400" y="3594100"/>
            <a:ext cx="1727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6400" y="3594100"/>
            <a:ext cx="17272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0" name="Picture 39" descr="settings-automation-A61C22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708400"/>
            <a:ext cx="190500" cy="1905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1540256" y="3708400"/>
            <a:ext cx="491744" cy="1778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软件1套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000" y="3949700"/>
            <a:ext cx="154940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多智能体协同运行与调度引擎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09800" y="3594100"/>
            <a:ext cx="1727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09800" y="3594100"/>
            <a:ext cx="17272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5" name="Picture 44" descr="robot-A61C22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" y="3708400"/>
            <a:ext cx="190500" cy="190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3343656" y="3708400"/>
            <a:ext cx="491744" cy="1778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模型1套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11400" y="3949700"/>
            <a:ext cx="154940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关键系统仿真智能体／</a:t>
            </a:r>
            <a:br>
              <a:rPr lang="zh-CN" altLang="en-US" sz="900"/>
            </a:b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智能孪生模型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13200" y="3594100"/>
            <a:ext cx="1727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13200" y="3594100"/>
            <a:ext cx="17272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0" name="Picture 49" descr="train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708400"/>
            <a:ext cx="190500" cy="19050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5147056" y="3708400"/>
            <a:ext cx="491744" cy="1778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系统1套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3949700"/>
            <a:ext cx="154940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列车级数字样机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6400" y="4406900"/>
            <a:ext cx="1727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6400" y="4406900"/>
            <a:ext cx="17272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5" name="Picture 54" descr="file-certificate-A61C22-1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521200"/>
            <a:ext cx="190500" cy="19050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540256" y="4521200"/>
            <a:ext cx="491744" cy="1778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规范1套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8000" y="4762500"/>
            <a:ext cx="154940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列车级数字样机构建方法体系与技术规范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09800" y="4406900"/>
            <a:ext cx="1727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09800" y="4406900"/>
            <a:ext cx="17272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0" name="Picture 59" descr="report-analytics-A61C22-1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400" y="4521200"/>
            <a:ext cx="190500" cy="1905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3343656" y="4521200"/>
            <a:ext cx="491744" cy="1778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报告1份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11400" y="4762500"/>
            <a:ext cx="154940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示范应用与验证报告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3200" y="4406900"/>
            <a:ext cx="1727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3200" y="4406900"/>
            <a:ext cx="17272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5" name="Picture 64" descr="certificate-A61C22-1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4521200"/>
            <a:ext cx="190500" cy="19050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4823968" y="4521200"/>
            <a:ext cx="814832" cy="1778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4项／2篇／2项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4762500"/>
            <a:ext cx="154940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发明专利／论文／</a:t>
            </a:r>
            <a:br>
              <a:rPr lang="zh-CN" altLang="en-US" sz="900"/>
            </a:b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企业标准草案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6400" y="5283200"/>
            <a:ext cx="5334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预计经费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" y="5283200"/>
            <a:ext cx="45974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总预算 100 万元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6400" y="5588000"/>
            <a:ext cx="2635250" cy="2540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直接投入 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54350" y="5588000"/>
            <a:ext cx="1581150" cy="254000"/>
          </a:xfrm>
          <a:prstGeom prst="rect">
            <a:avLst/>
          </a:prstGeom>
          <a:solidFill>
            <a:srgbClr val="B45A5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人员 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48200" y="5588000"/>
            <a:ext cx="263525" cy="254000"/>
          </a:xfrm>
          <a:prstGeom prst="rect">
            <a:avLst/>
          </a:prstGeom>
          <a:solidFill>
            <a:srgbClr val="B9B1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24425" y="5588000"/>
            <a:ext cx="263525" cy="254000"/>
          </a:xfrm>
          <a:prstGeom prst="rect">
            <a:avLst/>
          </a:prstGeom>
          <a:solidFill>
            <a:srgbClr val="C9C2B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200650" y="5588000"/>
            <a:ext cx="263525" cy="254000"/>
          </a:xfrm>
          <a:prstGeom prst="rect">
            <a:avLst/>
          </a:prstGeom>
          <a:solidFill>
            <a:srgbClr val="D8D2C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6875" y="5588000"/>
            <a:ext cx="263525" cy="254000"/>
          </a:xfrm>
          <a:prstGeom prst="rect">
            <a:avLst/>
          </a:prstGeom>
          <a:solidFill>
            <a:srgbClr val="E6E1D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6400" y="5880100"/>
            <a:ext cx="2635250" cy="177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GPU+NPU 异构算力服务器 40 · 一体化工作站 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5880100"/>
            <a:ext cx="2540000" cy="177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人员 30 · 折旧 · 外协 · 成果 · 其他 各 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94400" y="1346200"/>
            <a:ext cx="5791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项目子课题与本课题边界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97800" y="1346200"/>
            <a:ext cx="39878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项目7设 5 个子课题 · 本课题攻关“引擎”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94400" y="1625600"/>
            <a:ext cx="579120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94400" y="1625600"/>
            <a:ext cx="4826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7.1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477000" y="1701800"/>
            <a:ext cx="0" cy="49530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83" name="TextBox 82"/>
          <p:cNvSpPr txBox="1"/>
          <p:nvPr/>
        </p:nvSpPr>
        <p:spPr>
          <a:xfrm>
            <a:off x="6604000" y="1724025"/>
            <a:ext cx="4064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高质量数据集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04000" y="1990725"/>
            <a:ext cx="50419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采用其数据规范与接口，不承担建库（7.1 建库、7.3 按需生成）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94400" y="2336800"/>
            <a:ext cx="579120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94400" y="2336800"/>
            <a:ext cx="4826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7.2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477000" y="2413000"/>
            <a:ext cx="0" cy="49530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88" name="TextBox 87"/>
          <p:cNvSpPr txBox="1"/>
          <p:nvPr/>
        </p:nvSpPr>
        <p:spPr>
          <a:xfrm>
            <a:off x="6604000" y="2435225"/>
            <a:ext cx="4064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多物理域建模与仿真智能体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04000" y="2701925"/>
            <a:ext cx="50419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只建验证必需的智能体（控制系统、车辆动力学、线路），不覆盖全部关键系统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94400" y="3048000"/>
            <a:ext cx="5791200" cy="1016000"/>
          </a:xfrm>
          <a:prstGeom prst="rect">
            <a:avLst/>
          </a:prstGeom>
          <a:solidFill>
            <a:srgbClr val="FAF3F2"/>
          </a:solidFill>
          <a:ln w="12700">
            <a:solidFill>
              <a:srgbClr val="A61C22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994400" y="3048000"/>
            <a:ext cx="482600" cy="10160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Consolas"/>
                <a:ea typeface="微软雅黑"/>
                <a:cs typeface="Consolas"/>
              </a:rPr>
              <a:t>7.3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4000" y="3146425"/>
            <a:ext cx="4064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协同运行与调度引擎（本课题）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48700" y="3165475"/>
            <a:ext cx="4318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A61C22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本课题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04000" y="3413125"/>
            <a:ext cx="5041900" cy="5651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核心攻关引擎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，解决多专业智能体“接得上、跑得动、调得灵”；数字样机是引擎承载智能体后的集成产物</a:t>
            </a:r>
            <a:br>
              <a:rPr lang="zh-CN" altLang="en-US" sz="950"/>
            </a:b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分 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4 个子任务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：知识 → 调度 → 执行 → 集成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94400" y="4127500"/>
            <a:ext cx="579120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994400" y="4127500"/>
            <a:ext cx="4826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7.4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477000" y="4203700"/>
            <a:ext cx="0" cy="49530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98" name="TextBox 97"/>
          <p:cNvSpPr txBox="1"/>
          <p:nvPr/>
        </p:nvSpPr>
        <p:spPr>
          <a:xfrm>
            <a:off x="6604000" y="4225925"/>
            <a:ext cx="4064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数字样机构建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04000" y="4492625"/>
            <a:ext cx="50419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承接智能体集成与协同运行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94400" y="4838700"/>
            <a:ext cx="579120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994400" y="4838700"/>
            <a:ext cx="4826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7.5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477000" y="4914900"/>
            <a:ext cx="0" cy="49530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03" name="TextBox 102"/>
          <p:cNvSpPr txBox="1"/>
          <p:nvPr/>
        </p:nvSpPr>
        <p:spPr>
          <a:xfrm>
            <a:off x="6604000" y="4937125"/>
            <a:ext cx="4064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方案优化与智能生成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04000" y="5203825"/>
            <a:ext cx="50419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为优化提供验证支撑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994400" y="5581650"/>
            <a:ext cx="5791200" cy="0"/>
          </a:xfrm>
          <a:prstGeom prst="line">
            <a:avLst/>
          </a:prstGeom>
          <a:ln w="9525">
            <a:solidFill>
              <a:srgbClr val="DCD7D1"/>
            </a:solidFill>
            <a:prstDash val="dash"/>
            <a:round/>
          </a:ln>
        </p:spPr>
      </p:cxnSp>
      <p:sp>
        <p:nvSpPr>
          <p:cNvPr id="106" name="Rectangle 105"/>
          <p:cNvSpPr/>
          <p:nvPr/>
        </p:nvSpPr>
        <p:spPr>
          <a:xfrm>
            <a:off x="5994400" y="5676900"/>
            <a:ext cx="5791200" cy="647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94400" y="5676900"/>
            <a:ext cx="4826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6.2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477000" y="5753100"/>
            <a:ext cx="0" cy="49530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09" name="TextBox 108"/>
          <p:cNvSpPr txBox="1"/>
          <p:nvPr/>
        </p:nvSpPr>
        <p:spPr>
          <a:xfrm>
            <a:off x="6604000" y="5775325"/>
            <a:ext cx="4064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通用智能体调度平台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50200" y="5794375"/>
            <a:ext cx="533400" cy="1778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相邻项目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04000" y="6042025"/>
            <a:ext cx="5041900" cy="196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本课题为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面向性能验证的领域化编排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，强调实时协同与多物理域时序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研究背景与重要性：一次验证 40 人、2 个月，问题仍到现场才暴露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验证现状 · 真实案例 · 症结 · 研究目的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研究意义与价值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04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358900"/>
            <a:ext cx="1794933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000" y="1358900"/>
            <a:ext cx="1591733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6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40</a:t>
            </a:r>
            <a:r>
              <a:rPr lang="zh-CN" altLang="en-US" sz="80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8233" y="1358900"/>
            <a:ext cx="5715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一次投入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7533" y="1358900"/>
            <a:ext cx="1794933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9133" y="1358900"/>
            <a:ext cx="1591733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900" b="0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约</a:t>
            </a:r>
            <a:r>
              <a:rPr lang="zh-CN" altLang="en-US" sz="16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2</a:t>
            </a:r>
            <a:r>
              <a:rPr lang="zh-CN" altLang="en-US" sz="80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367" y="1358900"/>
            <a:ext cx="5715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8667" y="1358900"/>
            <a:ext cx="1794933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0267" y="1358900"/>
            <a:ext cx="1591733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6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−10</a:t>
            </a:r>
            <a:r>
              <a:rPr lang="zh-CN" altLang="en-US" sz="80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 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500" y="1358900"/>
            <a:ext cx="5715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案例环境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400" y="1930400"/>
            <a:ext cx="55372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40 人 ＝ 研发 20 ＋ 测试 10 ＋ 现场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" y="2197100"/>
            <a:ext cx="5537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验证现状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0" y="2476500"/>
            <a:ext cx="5537200" cy="406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控制软件每次迭代：HIL 台架＋经验数据模拟运用工况，重点工况再到现场验证。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" y="2984500"/>
            <a:ext cx="5537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即便如此，问题还是在现场才暴露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400" y="3263900"/>
            <a:ext cx="5537200" cy="1244600"/>
          </a:xfrm>
          <a:prstGeom prst="rect">
            <a:avLst/>
          </a:prstGeom>
          <a:solidFill>
            <a:srgbClr val="FAF3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400" y="3263900"/>
            <a:ext cx="19050" cy="12446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4" name="Picture 23" descr="quote-8A857F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3403600"/>
            <a:ext cx="2032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3600" y="3263900"/>
            <a:ext cx="4902200" cy="1244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0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2024 年 12 月，FXN5C 在临哈线长大下坡、约 −10℃：回手柄后风扇仍以 40Hz 运行，低温水 25℃ → 0℃，高温水 78℃，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散热器冻结</a:t>
            </a:r>
            <a:r>
              <a:rPr lang="zh-CN" altLang="en-US" sz="10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。多系统耦合的长时序问题，台架没有复现出来。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7600" y="1358900"/>
            <a:ext cx="5588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症结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7600" y="1638300"/>
            <a:ext cx="5588000" cy="86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7600" y="1638300"/>
            <a:ext cx="19050" cy="863600"/>
          </a:xfrm>
          <a:prstGeom prst="rect">
            <a:avLst/>
          </a:prstGeom>
          <a:solidFill>
            <a:srgbClr val="CBC4B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2700" y="1778000"/>
            <a:ext cx="5257800" cy="254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2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复杂工况模拟不了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0" y="2095500"/>
            <a:ext cx="532384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多系统耦合、长时序、低温／长大坡道／湿轨组合，台架覆盖不到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7600" y="2603500"/>
            <a:ext cx="5588000" cy="86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2603500"/>
            <a:ext cx="19050" cy="863600"/>
          </a:xfrm>
          <a:prstGeom prst="rect">
            <a:avLst/>
          </a:prstGeom>
          <a:solidFill>
            <a:srgbClr val="CBC4B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2700" y="2743200"/>
            <a:ext cx="5257800" cy="254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2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验证靠人，跟不上迭代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700" y="3060700"/>
            <a:ext cx="532384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工况人工编、环境人工搭、结果人工看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3568700"/>
            <a:ext cx="5588000" cy="86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7600" y="3568700"/>
            <a:ext cx="19050" cy="863600"/>
          </a:xfrm>
          <a:prstGeom prst="rect">
            <a:avLst/>
          </a:prstGeom>
          <a:solidFill>
            <a:srgbClr val="CBC4B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2700" y="3708400"/>
            <a:ext cx="5257800" cy="254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2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经验散在人手里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2700" y="4025900"/>
            <a:ext cx="5323840" cy="33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模型各自为战，判据分散在标准、大纲和专家经验中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400" y="4889500"/>
            <a:ext cx="25400" cy="9525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4200" y="5111750"/>
            <a:ext cx="11201400" cy="241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900"/>
              </a:lnSpc>
              <a:buNone/>
            </a:pPr>
            <a:r>
              <a:rPr lang="zh-CN" altLang="en-US" sz="13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研究目的：让控制软件每改一版，复杂运用工况都能在数字样机上自动跑一遍、自动判读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403850"/>
            <a:ext cx="11201400" cy="241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问题在研发阶段暴露，现场只做确认。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应用价值：一句话需求进去，全工况报告出来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用起来是什么样 · 用在三个环节 · 社会经济效益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研究意义与价值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05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用起来是什么样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46200"/>
            <a:ext cx="101854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以一次控制软件迭代为例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00" y="1625600"/>
            <a:ext cx="3539067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" y="1625600"/>
            <a:ext cx="3539067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8800" y="1778000"/>
            <a:ext cx="355600" cy="3556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message-A61C22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186055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6000" y="1778000"/>
            <a:ext cx="2777067" cy="355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01</a:t>
            </a: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2197100"/>
            <a:ext cx="3234267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“验证新版软件在临哈线全工况下的速度跟踪与牵引能耗”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4059767" y="2044700"/>
            <a:ext cx="152400" cy="1143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6467" y="1625600"/>
            <a:ext cx="3539067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6467" y="1625600"/>
            <a:ext cx="3539067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78867" y="1778000"/>
            <a:ext cx="355600" cy="3556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Picture 20" descr="settings-automation-A61C22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417" y="1860550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36067" y="1778000"/>
            <a:ext cx="2777067" cy="355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02</a:t>
            </a: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引擎自动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8867" y="2197100"/>
            <a:ext cx="3234267" cy="381000"/>
          </a:xfrm>
          <a:prstGeom prst="rect">
            <a:avLst/>
          </a:prstGeom>
          <a:noFill/>
        </p:spPr>
        <p:txBody>
          <a:bodyPr wrap="square" anchor="t" lIns="0" tIns="0" rIns="11430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生成工况 → 装配智能体 → 分配精度与算力 → 协同求解 → 对标判据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7979833" y="2044700"/>
            <a:ext cx="152400" cy="1143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6533" y="1625600"/>
            <a:ext cx="3539067" cy="10033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6533" y="1625600"/>
            <a:ext cx="3539067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8933" y="1778000"/>
            <a:ext cx="355600" cy="3556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Picture 27" descr="report-analytics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483" y="1860550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56133" y="1778000"/>
            <a:ext cx="2777067" cy="355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03</a:t>
            </a: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8933" y="2197100"/>
            <a:ext cx="3234267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验证报告与异常定位，全程可回放；工程师只看异常项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400" y="27940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用在三个环节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6400" y="3352800"/>
            <a:ext cx="113792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33" name="TextBox 32"/>
          <p:cNvSpPr txBox="1"/>
          <p:nvPr/>
        </p:nvSpPr>
        <p:spPr>
          <a:xfrm>
            <a:off x="508000" y="3073400"/>
            <a:ext cx="1955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环节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7000" y="3073400"/>
            <a:ext cx="3352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3000" y="3073400"/>
            <a:ext cx="5461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应用引擎后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" y="3352800"/>
            <a:ext cx="1955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研发：软件迭代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7000" y="3352800"/>
            <a:ext cx="3352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台架＋现场验证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3000" y="3352800"/>
            <a:ext cx="54610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全工况在数字样机上自动回归，减少现场验证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6400" y="37528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0" name="TextBox 39"/>
          <p:cNvSpPr txBox="1"/>
          <p:nvPr/>
        </p:nvSpPr>
        <p:spPr>
          <a:xfrm>
            <a:off x="508000" y="3752850"/>
            <a:ext cx="1955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试验：上线前预试验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7000" y="3752850"/>
            <a:ext cx="3352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低温等工况受季节与线路限制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3000" y="3752850"/>
            <a:ext cx="54610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按试验大纲先在数字样机上预演，缩减上线项目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06400" y="41529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4" name="TextBox 43"/>
          <p:cNvSpPr txBox="1"/>
          <p:nvPr/>
        </p:nvSpPr>
        <p:spPr>
          <a:xfrm>
            <a:off x="508000" y="4152900"/>
            <a:ext cx="1955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运用：问题复现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67000" y="4152900"/>
            <a:ext cx="3352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靠经验排查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23000" y="4152900"/>
            <a:ext cx="54610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用运行记录复现、定位原因，支撑智能运维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06400" y="45529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8" name="TextBox 47"/>
          <p:cNvSpPr txBox="1"/>
          <p:nvPr/>
        </p:nvSpPr>
        <p:spPr>
          <a:xfrm>
            <a:off x="406400" y="47879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社会经济效益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400" y="5067300"/>
            <a:ext cx="3691467" cy="6985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0" name="Picture 49" descr="coins-A61C22-1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5219700"/>
            <a:ext cx="203200" cy="2032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3600" y="5156200"/>
            <a:ext cx="12700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经济效益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3600" y="5372100"/>
            <a:ext cx="3081867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减少现场验证与线路试验投入，缩短迭代周期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0267" y="5067300"/>
            <a:ext cx="3691467" cy="6985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4" name="Picture 53" descr="shield-check-A61C22-1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667" y="5219700"/>
            <a:ext cx="203200" cy="203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707467" y="5156200"/>
            <a:ext cx="12700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社会效益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7467" y="5372100"/>
            <a:ext cx="3081867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复杂工况覆盖度与可信度提升，减少运用故障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4133" y="5067300"/>
            <a:ext cx="3691467" cy="698500"/>
          </a:xfrm>
          <a:prstGeom prst="rect">
            <a:avLst/>
          </a:prstGeom>
          <a:solidFill>
            <a:srgbClr val="FAF4F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8" name="Picture 57" descr="building-factory-2-A61C22-1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6533" y="5219700"/>
            <a:ext cx="203200" cy="2032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51333" y="5156200"/>
            <a:ext cx="12700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产业效益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1333" y="5372100"/>
            <a:ext cx="3081867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方法体系可向制动、辅助系统扩展，在**内主机企业推广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立项必要性与紧迫性：为什么是现在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技术条件 · 工程需求 · 自主可控 ｜ 三个条件刚刚同时具备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研究意义与价值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06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358900"/>
            <a:ext cx="3657600" cy="2730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400" y="1358900"/>
            <a:ext cx="36576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0400" y="1562100"/>
            <a:ext cx="457200" cy="4572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2" name="Picture 11" descr="cpu-A61C22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666875"/>
            <a:ext cx="2476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57300" y="1562100"/>
            <a:ext cx="1854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4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技术条件刚成熟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1000" y="1485900"/>
            <a:ext cx="889000" cy="444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E9E4DF"/>
                </a:solidFill>
                <a:latin typeface="Consolas"/>
                <a:ea typeface="微软雅黑"/>
                <a:cs typeface="Consolas"/>
              </a:rPr>
              <a:t>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0400" y="2159000"/>
            <a:ext cx="3149600" cy="0"/>
          </a:xfrm>
          <a:prstGeom prst="line">
            <a:avLst/>
          </a:prstGeom>
          <a:ln w="9525">
            <a:solidFill>
              <a:srgbClr val="ECE8E3"/>
            </a:solidFill>
            <a:round/>
          </a:ln>
        </p:spPr>
      </p:cxnSp>
      <p:sp>
        <p:nvSpPr>
          <p:cNvPr id="16" name="TextBox 15"/>
          <p:cNvSpPr txBox="1"/>
          <p:nvPr/>
        </p:nvSpPr>
        <p:spPr>
          <a:xfrm>
            <a:off x="660400" y="2311400"/>
            <a:ext cx="3149600" cy="1397000"/>
          </a:xfrm>
          <a:prstGeom prst="rect">
            <a:avLst/>
          </a:prstGeom>
          <a:noFill/>
        </p:spPr>
        <p:txBody>
          <a:bodyPr wrap="square" anchor="t" lIns="0" tIns="0" rIns="20955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1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智能体技术让“任务理解—编排—执行”可自动化；GPU＋NPU 异构算力让实时协同与全保真计算可负担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1358900"/>
            <a:ext cx="3657600" cy="2730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200" y="1358900"/>
            <a:ext cx="36576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1200" y="1562100"/>
            <a:ext cx="457200" cy="4572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0" name="Picture 19" descr="trending-up-A61C22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975" y="1666875"/>
            <a:ext cx="247650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18100" y="1562100"/>
            <a:ext cx="1854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4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工程需求在加压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1485900"/>
            <a:ext cx="889000" cy="444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E9E4DF"/>
                </a:solidFill>
                <a:latin typeface="Consolas"/>
                <a:ea typeface="微软雅黑"/>
                <a:cs typeface="Consolas"/>
              </a:rPr>
              <a:t>02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21200" y="2159000"/>
            <a:ext cx="3149600" cy="0"/>
          </a:xfrm>
          <a:prstGeom prst="line">
            <a:avLst/>
          </a:prstGeom>
          <a:ln w="9525">
            <a:solidFill>
              <a:srgbClr val="ECE8E3"/>
            </a:solidFill>
            <a:round/>
          </a:ln>
        </p:spPr>
      </p:cxnSp>
      <p:sp>
        <p:nvSpPr>
          <p:cNvPr id="24" name="TextBox 23"/>
          <p:cNvSpPr txBox="1"/>
          <p:nvPr/>
        </p:nvSpPr>
        <p:spPr>
          <a:xfrm>
            <a:off x="4521200" y="2311400"/>
            <a:ext cx="3149600" cy="1397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1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软件迭代加快</a:t>
            </a:r>
            <a:r>
              <a:rPr lang="zh-CN" altLang="en-US" sz="110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【可补充：近年迭代次数】</a:t>
            </a:r>
            <a:r>
              <a:rPr lang="zh-CN" altLang="en-US" sz="11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，复杂工况问题增多，“台架＋现场”已跟不上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0" y="1358900"/>
            <a:ext cx="3657600" cy="2730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8000" y="1358900"/>
            <a:ext cx="36576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82000" y="1562100"/>
            <a:ext cx="457200" cy="4572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Picture 27" descr="shield-check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775" y="1666875"/>
            <a:ext cx="247650" cy="2476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78900" y="1562100"/>
            <a:ext cx="1854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4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自主可控有窗口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42600" y="1485900"/>
            <a:ext cx="889000" cy="444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E9E4DF"/>
                </a:solidFill>
                <a:latin typeface="Consolas"/>
                <a:ea typeface="微软雅黑"/>
                <a:cs typeface="Consolas"/>
              </a:rPr>
              <a:t>03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82000" y="2159000"/>
            <a:ext cx="3149600" cy="0"/>
          </a:xfrm>
          <a:prstGeom prst="line">
            <a:avLst/>
          </a:prstGeom>
          <a:ln w="9525">
            <a:solidFill>
              <a:srgbClr val="ECE8E3"/>
            </a:solidFill>
            <a:round/>
          </a:ln>
        </p:spPr>
      </p:cxnSp>
      <p:sp>
        <p:nvSpPr>
          <p:cNvPr id="32" name="TextBox 31"/>
          <p:cNvSpPr txBox="1"/>
          <p:nvPr/>
        </p:nvSpPr>
        <p:spPr>
          <a:xfrm>
            <a:off x="8382000" y="2311400"/>
            <a:ext cx="3149600" cy="1397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1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研发设计类工业软件国产化率约 5%；验证引擎这一层现在自己做，就掌握在自己手里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400" y="4572000"/>
            <a:ext cx="25400" cy="9525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4200" y="4791075"/>
            <a:ext cx="11201400" cy="2476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950"/>
              </a:lnSpc>
              <a:buNone/>
            </a:pPr>
            <a:r>
              <a:rPr lang="zh-CN" altLang="en-US" sz="14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结论：本课题要做的是</a:t>
            </a:r>
            <a:r>
              <a:rPr lang="zh-CN" altLang="en-US" sz="14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验证环节的自主引擎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5089525"/>
            <a:ext cx="11201400" cy="241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1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晚一年布局，就多一年被动。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总体技术路线：四层引擎，把验证工作流交给智能体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目标：像软件回归测试一样——设计改一次，全工况在数字样机上自动重跑一遍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总体技术路线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07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6045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四层架构与分工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46200"/>
            <a:ext cx="48514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第 8—11 页逐层展开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00" y="1625600"/>
            <a:ext cx="6045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" y="1625600"/>
            <a:ext cx="1587500" cy="736600"/>
          </a:xfrm>
          <a:prstGeom prst="rect">
            <a:avLst/>
          </a:prstGeom>
          <a:solidFill>
            <a:srgbClr val="F7F1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400" y="1625600"/>
            <a:ext cx="19050" cy="7366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1765300"/>
            <a:ext cx="13589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200" b="1">
                <a:solidFill>
                  <a:srgbClr val="5B1317"/>
                </a:solidFill>
                <a:latin typeface="微软雅黑"/>
                <a:ea typeface="微软雅黑"/>
                <a:cs typeface="微软雅黑"/>
              </a:rPr>
              <a:t>④ 集成层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019300"/>
            <a:ext cx="13843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架构融合与协同运行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9000" y="1625600"/>
            <a:ext cx="4140200" cy="736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多系统智能体在可复现沙箱中协同运行，形成列车级数字样机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400" y="2425700"/>
            <a:ext cx="6045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2425700"/>
            <a:ext cx="1587500" cy="736600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400" y="2425700"/>
            <a:ext cx="19050" cy="7366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2565400"/>
            <a:ext cx="13589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20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③ 执行层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2819400"/>
            <a:ext cx="13843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智能体执行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9000" y="2425700"/>
            <a:ext cx="4140200" cy="736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跑工况、自动判读、生成报告、结果回流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400" y="3225800"/>
            <a:ext cx="6045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400" y="3225800"/>
            <a:ext cx="1587500" cy="736600"/>
          </a:xfrm>
          <a:prstGeom prst="rect">
            <a:avLst/>
          </a:prstGeom>
          <a:solidFill>
            <a:srgbClr val="FA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400" y="3225800"/>
            <a:ext cx="19050" cy="7366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3365500"/>
            <a:ext cx="13589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200" b="1">
                <a:solidFill>
                  <a:srgbClr val="9A3B41"/>
                </a:solidFill>
                <a:latin typeface="微软雅黑"/>
                <a:ea typeface="微软雅黑"/>
                <a:cs typeface="微软雅黑"/>
              </a:rPr>
              <a:t>② 决策层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3619500"/>
            <a:ext cx="13843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任务理解与智能编排调度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9000" y="3225800"/>
            <a:ext cx="4140200" cy="736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一句话需求 → 任务；自动装配智能体，按工况分配精度与算力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400" y="4025900"/>
            <a:ext cx="60452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400" y="4025900"/>
            <a:ext cx="1587500" cy="736600"/>
          </a:xfrm>
          <a:prstGeom prst="rect">
            <a:avLst/>
          </a:prstGeom>
          <a:solidFill>
            <a:srgbClr val="FBF6F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6400" y="4025900"/>
            <a:ext cx="19050" cy="7366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165600"/>
            <a:ext cx="13589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200" b="1">
                <a:solidFill>
                  <a:srgbClr val="A0525A"/>
                </a:solidFill>
                <a:latin typeface="微软雅黑"/>
                <a:ea typeface="微软雅黑"/>
                <a:cs typeface="微软雅黑"/>
              </a:rPr>
              <a:t>① 基础层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419600"/>
            <a:ext cx="13843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测试知识库与任务工作流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59000" y="4025900"/>
            <a:ext cx="4140200" cy="736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标准、大纲、案例 → 可自动比对的判据、可复用的流程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5600" y="1346200"/>
            <a:ext cx="508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接入现有研发验证体系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6600" y="1346200"/>
            <a:ext cx="3429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不另起炉灶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05600" y="1905000"/>
            <a:ext cx="50800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38" name="TextBox 37"/>
          <p:cNvSpPr txBox="1"/>
          <p:nvPr/>
        </p:nvSpPr>
        <p:spPr>
          <a:xfrm>
            <a:off x="6807200" y="1625600"/>
            <a:ext cx="2082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现有资源与环节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3200" y="1625600"/>
            <a:ext cx="2590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衔接方式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7200" y="1905000"/>
            <a:ext cx="2082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设计规范、试验大纲、问题记录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3200" y="1905000"/>
            <a:ext cx="2590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提取为判据与流程模板（①）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05600" y="2241550"/>
            <a:ext cx="5080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3" name="TextBox 42"/>
          <p:cNvSpPr txBox="1"/>
          <p:nvPr/>
        </p:nvSpPr>
        <p:spPr>
          <a:xfrm>
            <a:off x="6807200" y="2241550"/>
            <a:ext cx="2082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已有仿真模型、HIL 台架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3200" y="2241550"/>
            <a:ext cx="2590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经标准接口封装接入，不重复建模（③④）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05600" y="2578100"/>
            <a:ext cx="5080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6" name="TextBox 45"/>
          <p:cNvSpPr txBox="1"/>
          <p:nvPr/>
        </p:nvSpPr>
        <p:spPr>
          <a:xfrm>
            <a:off x="6807200" y="2578100"/>
            <a:ext cx="2082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型式试验、线路试验与运用数据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3200" y="2578100"/>
            <a:ext cx="2590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智能体自动标定与结果可信性评判（③）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05600" y="2914650"/>
            <a:ext cx="5080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9" name="TextBox 48"/>
          <p:cNvSpPr txBox="1"/>
          <p:nvPr/>
        </p:nvSpPr>
        <p:spPr>
          <a:xfrm>
            <a:off x="6807200" y="2914650"/>
            <a:ext cx="2082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设计评审、软件放行、故障分析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3200" y="2914650"/>
            <a:ext cx="2590800" cy="3365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验证报告与复现结论直接作为依据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05600" y="3251200"/>
            <a:ext cx="50800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2" name="TextBox 51"/>
          <p:cNvSpPr txBox="1"/>
          <p:nvPr/>
        </p:nvSpPr>
        <p:spPr>
          <a:xfrm>
            <a:off x="6705600" y="3467100"/>
            <a:ext cx="508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7400" y="3467100"/>
            <a:ext cx="4648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全程留痕，可回放、可回归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05600" y="3759200"/>
            <a:ext cx="660400" cy="25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CE8E3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判据与流程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7397750" y="3848100"/>
            <a:ext cx="101600" cy="762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31100" y="3759200"/>
            <a:ext cx="660400" cy="25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CE8E3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分解与调度</a:t>
            </a:r>
          </a:p>
        </p:txBody>
      </p:sp>
      <p:sp>
        <p:nvSpPr>
          <p:cNvPr id="57" name="Isosceles Triangle 56"/>
          <p:cNvSpPr/>
          <p:nvPr/>
        </p:nvSpPr>
        <p:spPr>
          <a:xfrm rot="5400000">
            <a:off x="8223250" y="3848100"/>
            <a:ext cx="101600" cy="762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56600" y="3759200"/>
            <a:ext cx="863600" cy="25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CE8E3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协同执行与判读</a:t>
            </a:r>
          </a:p>
        </p:txBody>
      </p:sp>
      <p:sp>
        <p:nvSpPr>
          <p:cNvPr id="59" name="Isosceles Triangle 58"/>
          <p:cNvSpPr/>
          <p:nvPr/>
        </p:nvSpPr>
        <p:spPr>
          <a:xfrm rot="5400000">
            <a:off x="9251950" y="3848100"/>
            <a:ext cx="101600" cy="762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85300" y="3759200"/>
            <a:ext cx="355600" cy="25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CE8E3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61" name="Isosceles Triangle 60"/>
          <p:cNvSpPr/>
          <p:nvPr/>
        </p:nvSpPr>
        <p:spPr>
          <a:xfrm rot="5400000">
            <a:off x="9772650" y="3848100"/>
            <a:ext cx="101600" cy="762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906000" y="3759200"/>
            <a:ext cx="558800" cy="25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CE8E3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数据回归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400" y="5080000"/>
            <a:ext cx="25400" cy="9525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4200" y="5314950"/>
            <a:ext cx="11201400" cy="222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750"/>
              </a:lnSpc>
              <a:buNone/>
            </a:pPr>
            <a:r>
              <a:rPr lang="zh-CN" altLang="en-US" sz="12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怎么算成功：阶段三，数字样机复现临哈线散热器冻结工况并定位原因；阶段四，一次软件迭代完成全工况回归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4200" y="5588000"/>
            <a:ext cx="11201400" cy="2349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zh-CN" altLang="en-US" sz="10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验证周期由约 2 个月缩短至</a:t>
            </a:r>
            <a:r>
              <a:rPr lang="zh-CN" altLang="en-US" sz="10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10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；各阶段检验见第 14 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研究内容① 测试知识库与任务工作流：把判据和流程从人手里拿出来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现状与问题 · 研究内容 · 研究方法 · 示意图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研究内容① 基础层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08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58900"/>
            <a:ext cx="1651000" cy="203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9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四层架构 · 当前位置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" y="16383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400" y="1638300"/>
            <a:ext cx="19050" cy="3937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6827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④ 集成层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8478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架构融合与协同运行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" y="20955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400" y="2095500"/>
            <a:ext cx="19050" cy="3937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21399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③ 执行层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3050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智能体执行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400" y="25527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400" y="2552700"/>
            <a:ext cx="19050" cy="3937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25971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② 决策层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27622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任务理解与智能编排调度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400" y="3009900"/>
            <a:ext cx="1651000" cy="3937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30543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基础层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32194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测试知识库与任务工作流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" y="36068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与上层的关系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3898900"/>
            <a:ext cx="1651000" cy="596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知识库与工作流是②“任务理解与编排调度”的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知识与规则来源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400" y="46482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产出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400" y="4927600"/>
            <a:ext cx="1651000" cy="304800"/>
          </a:xfrm>
          <a:prstGeom prst="rect">
            <a:avLst/>
          </a:prstGeom>
          <a:solidFill>
            <a:srgbClr val="FBF6F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400" y="4927600"/>
            <a:ext cx="19050" cy="3048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650" y="4927600"/>
            <a:ext cx="1479550" cy="304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A0525A"/>
                </a:solidFill>
                <a:latin typeface="微软雅黑"/>
                <a:ea typeface="微软雅黑"/>
                <a:cs typeface="微软雅黑"/>
              </a:rPr>
              <a:t>✓ 验证判据知识库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400" y="5283200"/>
            <a:ext cx="1651000" cy="469900"/>
          </a:xfrm>
          <a:prstGeom prst="rect">
            <a:avLst/>
          </a:prstGeom>
          <a:solidFill>
            <a:srgbClr val="FBF6F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6400" y="5283200"/>
            <a:ext cx="19050" cy="4699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650" y="5283200"/>
            <a:ext cx="1479550" cy="469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A0525A"/>
                </a:solidFill>
                <a:latin typeface="微软雅黑"/>
                <a:ea typeface="微软雅黑"/>
                <a:cs typeface="微软雅黑"/>
              </a:rPr>
              <a:t>✓ 任务工作流定义</a:t>
            </a:r>
            <a:br>
              <a:rPr lang="zh-CN" altLang="en-US" sz="900"/>
            </a:br>
            <a:r>
              <a:rPr lang="zh-CN" altLang="en-US" sz="900" b="1">
                <a:solidFill>
                  <a:srgbClr val="A0525A"/>
                </a:solidFill>
                <a:latin typeface="微软雅黑"/>
                <a:ea typeface="微软雅黑"/>
                <a:cs typeface="微软雅黑"/>
              </a:rPr>
              <a:t>与配置规范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0600" y="1358900"/>
            <a:ext cx="9525000" cy="7112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60600" y="1358900"/>
            <a:ext cx="19050" cy="7112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13000" y="1447800"/>
            <a:ext cx="635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A61C22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现状与问题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3000" y="1676400"/>
            <a:ext cx="53848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判定一个工况是否合格，依据分散在国标、行标、企标、试验大纲和专家经验里，查找比对靠人工。</a:t>
            </a:r>
            <a:r>
              <a:rPr lang="zh-CN" altLang="en-US" sz="90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【可替换为实际案例】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75600" y="1473200"/>
            <a:ext cx="0" cy="482600"/>
          </a:xfrm>
          <a:prstGeom prst="line">
            <a:avLst/>
          </a:prstGeom>
          <a:ln w="6350">
            <a:solidFill>
              <a:srgbClr val="DCD7D1"/>
            </a:solidFill>
            <a:round/>
          </a:ln>
        </p:spPr>
      </p:cxnSp>
      <p:sp>
        <p:nvSpPr>
          <p:cNvPr id="39" name="TextBox 38"/>
          <p:cNvSpPr txBox="1"/>
          <p:nvPr/>
        </p:nvSpPr>
        <p:spPr>
          <a:xfrm>
            <a:off x="8153400" y="1447800"/>
            <a:ext cx="1524000" cy="1778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研究方法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3400" y="1676400"/>
            <a:ext cx="34544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知识工程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——标准规范形式化、领域知识建模、工作流建模；难点是判据多以经验和文档形式存在。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60600" y="2171700"/>
            <a:ext cx="3073400" cy="939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60600" y="2171700"/>
            <a:ext cx="3073400" cy="1905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0300" y="2273300"/>
            <a:ext cx="27940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0525A"/>
                </a:solidFill>
                <a:latin typeface="Consolas"/>
                <a:ea typeface="微软雅黑"/>
                <a:cs typeface="Consolas"/>
              </a:rPr>
              <a:t>01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验证判据知识化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00300" y="2540000"/>
            <a:ext cx="2794000" cy="520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从规范、大纲与历次问题记录中提取判据，形式化为</a:t>
            </a: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可自动比对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的条目；首批覆盖速度跟踪、牵引能耗、运行平稳性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171700"/>
            <a:ext cx="3073400" cy="939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2171700"/>
            <a:ext cx="3073400" cy="1905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6100" y="2273300"/>
            <a:ext cx="27940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0525A"/>
                </a:solidFill>
                <a:latin typeface="Consolas"/>
                <a:ea typeface="微软雅黑"/>
                <a:cs typeface="Consolas"/>
              </a:rPr>
              <a:t>02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任务工作流建模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6100" y="2540000"/>
            <a:ext cx="2794000" cy="520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定义任务的分解、顺序、流转条件与异常分支，形成</a:t>
            </a: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可配置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的流程模板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12200" y="2171700"/>
            <a:ext cx="3073400" cy="939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12200" y="2171700"/>
            <a:ext cx="3073400" cy="1905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51900" y="2273300"/>
            <a:ext cx="27940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0525A"/>
                </a:solidFill>
                <a:latin typeface="Consolas"/>
                <a:ea typeface="微软雅黑"/>
                <a:cs typeface="Consolas"/>
              </a:rPr>
              <a:t>03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知识与流程迭代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51900" y="2540000"/>
            <a:ext cx="2794000" cy="520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验证结果与新问题回流，持续补充判据、修订流程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60600" y="3136900"/>
            <a:ext cx="952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从规范到判据、从判据到工作流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1200" y="3136900"/>
            <a:ext cx="72644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示意图</a:t>
            </a:r>
          </a:p>
        </p:txBody>
      </p:sp>
      <p:grpSp>
        <p:nvGrpSpPr>
          <p:cNvPr id="55" name="附图 · 从规范到判据、从判据到工作流"/>
          <p:cNvGrpSpPr/>
          <p:nvPr/>
        </p:nvGrpSpPr>
        <p:grpSpPr>
          <a:xfrm>
            <a:off x="2260600" y="3429000"/>
            <a:ext cx="9525000" cy="2857500"/>
            <a:chOff x="2260600" y="3429000"/>
            <a:chExt cx="9525000" cy="2857500"/>
          </a:xfrm>
        </p:grpSpPr>
        <p:sp>
          <p:nvSpPr>
            <p:cNvPr id="56" name="Rectangle 55"/>
            <p:cNvSpPr/>
            <p:nvPr/>
          </p:nvSpPr>
          <p:spPr>
            <a:xfrm>
              <a:off x="2260600" y="3429000"/>
              <a:ext cx="9525000" cy="2857500"/>
            </a:xfrm>
            <a:prstGeom prst="rect">
              <a:avLst/>
            </a:prstGeom>
            <a:solidFill>
              <a:srgbClr val="FAF9F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413000" y="3594100"/>
              <a:ext cx="777954" cy="177800"/>
            </a:xfrm>
            <a:prstGeom prst="rect">
              <a:avLst/>
            </a:prstGeom>
            <a:solidFill>
              <a:srgbClr val="FBF6F5"/>
            </a:solidFill>
            <a:ln>
              <a:noFill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01 判据知识化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413000" y="3848100"/>
              <a:ext cx="1333500" cy="330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59" name="Picture 58" descr="file-text-8A857F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200" y="3924300"/>
              <a:ext cx="177800" cy="17780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2730500" y="3879850"/>
              <a:ext cx="9525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设计规范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30500" y="4025900"/>
              <a:ext cx="9525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条款与限值要求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413000" y="4229100"/>
              <a:ext cx="1333500" cy="330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63" name="Picture 62" descr="file-text-8A857F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200" y="4305300"/>
              <a:ext cx="177800" cy="177800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2730500" y="4260850"/>
              <a:ext cx="9525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运用要求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30500" y="4406900"/>
              <a:ext cx="9525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运用条件与指标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413000" y="4610100"/>
              <a:ext cx="1333500" cy="330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67" name="Picture 66" descr="file-text-8A857F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200" y="4686300"/>
              <a:ext cx="177800" cy="17780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2730500" y="4641850"/>
              <a:ext cx="9525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历史案例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730500" y="4787900"/>
              <a:ext cx="9525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故障与异常记录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3810000" y="4394200"/>
              <a:ext cx="5969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71" name="TextBox 70"/>
            <p:cNvSpPr txBox="1"/>
            <p:nvPr/>
          </p:nvSpPr>
          <p:spPr>
            <a:xfrm>
              <a:off x="3746500" y="4203700"/>
              <a:ext cx="7239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提取 · 形式化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483100" y="3848100"/>
              <a:ext cx="2489200" cy="10922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F6EBEA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483100" y="3848100"/>
              <a:ext cx="2489200" cy="228600"/>
            </a:xfrm>
            <a:prstGeom prst="rect">
              <a:avLst/>
            </a:prstGeom>
            <a:solidFill>
              <a:srgbClr val="FBF6F5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572000" y="3848100"/>
              <a:ext cx="23114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判据条目（结构化，可自动比对）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572000" y="4102100"/>
              <a:ext cx="5334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验证对象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143500" y="4102100"/>
              <a:ext cx="17399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牵引控制系统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572000" y="4260850"/>
              <a:ext cx="5334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关键性能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143500" y="4260850"/>
              <a:ext cx="17399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速度跟踪偏差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572000" y="4419600"/>
              <a:ext cx="5334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适用工况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143500" y="4419600"/>
              <a:ext cx="17399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长大下坡 · 湿轨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572000" y="4578350"/>
              <a:ext cx="5334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判定规则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143500" y="4578350"/>
              <a:ext cx="17399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|实测 − 目标| ≤ 允许偏差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572000" y="4737100"/>
              <a:ext cx="5334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来源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143500" y="4737100"/>
              <a:ext cx="1739900" cy="15875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设计规范条款</a:t>
              </a:r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7035800" y="4394200"/>
              <a:ext cx="4445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86" name="TextBox 85"/>
            <p:cNvSpPr txBox="1"/>
            <p:nvPr/>
          </p:nvSpPr>
          <p:spPr>
            <a:xfrm>
              <a:off x="7035800" y="4203700"/>
              <a:ext cx="4445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入库</a:t>
              </a:r>
            </a:p>
          </p:txBody>
        </p:sp>
        <p:sp>
          <p:nvSpPr>
            <p:cNvPr id="87" name="Can 86"/>
            <p:cNvSpPr/>
            <p:nvPr/>
          </p:nvSpPr>
          <p:spPr>
            <a:xfrm>
              <a:off x="7594600" y="3873500"/>
              <a:ext cx="952500" cy="1041400"/>
            </a:xfrm>
            <a:prstGeom prst="can">
              <a:avLst/>
            </a:prstGeom>
            <a:solidFill>
              <a:srgbClr val="FBF6F5"/>
            </a:solidFill>
            <a:ln w="7620">
              <a:solidFill>
                <a:srgbClr val="C47C80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594600" y="4127500"/>
              <a:ext cx="952500" cy="7112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400"/>
                </a:lnSpc>
                <a:buNone/>
              </a:pPr>
              <a:r>
                <a:rPr lang="zh-CN" altLang="en-US" sz="10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判据</a:t>
              </a:r>
              <a:br>
                <a:rPr lang="zh-CN" altLang="en-US" sz="1000"/>
              </a:br>
              <a:r>
                <a:rPr lang="zh-CN" altLang="en-US" sz="10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知识库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8737600" y="3911600"/>
              <a:ext cx="2895600" cy="266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737600" y="3911600"/>
              <a:ext cx="25400" cy="266700"/>
            </a:xfrm>
            <a:prstGeom prst="rect">
              <a:avLst/>
            </a:prstGeom>
            <a:solidFill>
              <a:srgbClr val="C47C80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851900" y="3911600"/>
              <a:ext cx="2032000" cy="2667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判据</a:t>
              </a: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　速度跟踪偏差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8737600" y="4241800"/>
              <a:ext cx="2895600" cy="266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8737600" y="4241800"/>
              <a:ext cx="25400" cy="266700"/>
            </a:xfrm>
            <a:prstGeom prst="rect">
              <a:avLst/>
            </a:prstGeom>
            <a:solidFill>
              <a:srgbClr val="C47C80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851900" y="4241800"/>
              <a:ext cx="2032000" cy="2667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判据</a:t>
              </a: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　牵引能耗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737600" y="4572000"/>
              <a:ext cx="2895600" cy="266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8737600" y="4572000"/>
              <a:ext cx="25400" cy="266700"/>
            </a:xfrm>
            <a:prstGeom prst="rect">
              <a:avLst/>
            </a:prstGeom>
            <a:solidFill>
              <a:srgbClr val="C47C80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851900" y="4572000"/>
              <a:ext cx="2032000" cy="2667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判据</a:t>
              </a: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　运行平稳性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413000" y="5092700"/>
              <a:ext cx="777954" cy="177800"/>
            </a:xfrm>
            <a:prstGeom prst="rect">
              <a:avLst/>
            </a:prstGeom>
            <a:solidFill>
              <a:srgbClr val="FBF6F5"/>
            </a:solidFill>
            <a:ln>
              <a:noFill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02 任务工作流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2413000" y="5359400"/>
              <a:ext cx="952500" cy="2794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9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验证目标</a:t>
              </a:r>
            </a:p>
          </p:txBody>
        </p:sp>
        <p:cxnSp>
          <p:nvCxnSpPr>
            <p:cNvPr id="100" name="Connector 99"/>
            <p:cNvCxnSpPr/>
            <p:nvPr/>
          </p:nvCxnSpPr>
          <p:spPr>
            <a:xfrm>
              <a:off x="3403600" y="5499100"/>
              <a:ext cx="2667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101" name="Rounded Rectangle 100"/>
            <p:cNvSpPr/>
            <p:nvPr/>
          </p:nvSpPr>
          <p:spPr>
            <a:xfrm>
              <a:off x="3708400" y="5359400"/>
              <a:ext cx="952500" cy="2794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9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任务分解</a:t>
              </a:r>
            </a:p>
          </p:txBody>
        </p:sp>
        <p:cxnSp>
          <p:nvCxnSpPr>
            <p:cNvPr id="102" name="Connector 101"/>
            <p:cNvCxnSpPr/>
            <p:nvPr/>
          </p:nvCxnSpPr>
          <p:spPr>
            <a:xfrm>
              <a:off x="4699000" y="5499100"/>
              <a:ext cx="2667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103" name="Rounded Rectangle 102"/>
            <p:cNvSpPr/>
            <p:nvPr/>
          </p:nvSpPr>
          <p:spPr>
            <a:xfrm>
              <a:off x="5003800" y="5359400"/>
              <a:ext cx="952500" cy="2794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9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环境装配</a:t>
              </a:r>
            </a:p>
          </p:txBody>
        </p:sp>
        <p:cxnSp>
          <p:nvCxnSpPr>
            <p:cNvPr id="104" name="Connector 103"/>
            <p:cNvCxnSpPr/>
            <p:nvPr/>
          </p:nvCxnSpPr>
          <p:spPr>
            <a:xfrm>
              <a:off x="5994400" y="5499100"/>
              <a:ext cx="2667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105" name="Rounded Rectangle 104"/>
            <p:cNvSpPr/>
            <p:nvPr/>
          </p:nvSpPr>
          <p:spPr>
            <a:xfrm>
              <a:off x="6299200" y="5359400"/>
              <a:ext cx="952500" cy="2794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9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仿真执行</a:t>
              </a:r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7289800" y="5499100"/>
              <a:ext cx="2667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107" name="Rounded Rectangle 106"/>
            <p:cNvSpPr/>
            <p:nvPr/>
          </p:nvSpPr>
          <p:spPr>
            <a:xfrm>
              <a:off x="7594600" y="5359400"/>
              <a:ext cx="952500" cy="279400"/>
            </a:xfrm>
            <a:prstGeom prst="roundRect">
              <a:avLst>
                <a:gd name="adj" fmla="val 9090"/>
              </a:avLst>
            </a:prstGeom>
            <a:solidFill>
              <a:srgbClr val="FBF6F5"/>
            </a:solidFill>
            <a:ln w="7620">
              <a:solidFill>
                <a:srgbClr val="F6EBEA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9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结果比对</a:t>
              </a:r>
            </a:p>
          </p:txBody>
        </p:sp>
        <p:cxnSp>
          <p:nvCxnSpPr>
            <p:cNvPr id="108" name="Connector 107"/>
            <p:cNvCxnSpPr/>
            <p:nvPr/>
          </p:nvCxnSpPr>
          <p:spPr>
            <a:xfrm>
              <a:off x="8585200" y="5499100"/>
              <a:ext cx="2667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109" name="Rounded Rectangle 108"/>
            <p:cNvSpPr/>
            <p:nvPr/>
          </p:nvSpPr>
          <p:spPr>
            <a:xfrm>
              <a:off x="8890000" y="5359400"/>
              <a:ext cx="952500" cy="279400"/>
            </a:xfrm>
            <a:prstGeom prst="roundRect">
              <a:avLst>
                <a:gd name="adj" fmla="val 9090"/>
              </a:avLst>
            </a:prstGeom>
            <a:solidFill>
              <a:srgbClr val="C47C80"/>
            </a:solidFill>
            <a:ln>
              <a:noFill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9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验证报告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8547100" y="5321300"/>
              <a:ext cx="3429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900"/>
                </a:lnSpc>
                <a:buNone/>
              </a:pPr>
              <a:r>
                <a:rPr lang="zh-CN" altLang="en-US" sz="700" b="1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通过</a:t>
              </a: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5480050" y="5638800"/>
              <a:ext cx="2590800" cy="215900"/>
            </a:xfrm>
            <a:custGeom>
              <a:avLst/>
              <a:gdLst/>
              <a:ahLst/>
              <a:cxnLst/>
              <a:rect l="l" t="t" r="r" b="b"/>
              <a:pathLst>
                <a:path w="408" h="34">
                  <a:moveTo>
                    <a:pt x="408" y="0"/>
                  </a:moveTo>
                  <a:lnTo>
                    <a:pt x="408" y="34"/>
                  </a:lnTo>
                  <a:lnTo>
                    <a:pt x="0" y="34"/>
                  </a:lnTo>
                  <a:lnTo>
                    <a:pt x="0" y="2"/>
                  </a:lnTo>
                </a:path>
              </a:pathLst>
            </a:custGeom>
            <a:noFill/>
            <a:ln w="12700">
              <a:solidFill>
                <a:srgbClr val="A61C22"/>
              </a:solidFill>
              <a:round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80050" y="5892800"/>
              <a:ext cx="2590800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75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未通过 → 异常分支：调整后重跑</a:t>
              </a:r>
            </a:p>
          </p:txBody>
        </p:sp>
        <p:cxnSp>
          <p:nvCxnSpPr>
            <p:cNvPr id="113" name="Connector 112"/>
            <p:cNvCxnSpPr/>
            <p:nvPr/>
          </p:nvCxnSpPr>
          <p:spPr>
            <a:xfrm>
              <a:off x="8070850" y="4927600"/>
              <a:ext cx="0" cy="406400"/>
            </a:xfrm>
            <a:prstGeom prst="line">
              <a:avLst/>
            </a:prstGeom>
            <a:ln w="9525">
              <a:solidFill>
                <a:srgbClr val="C47C80"/>
              </a:solidFill>
              <a:prstDash val="dash"/>
              <a:round/>
              <a:tailEnd type="triangle" w="med" len="med"/>
            </a:ln>
          </p:spPr>
        </p:cxnSp>
        <p:sp>
          <p:nvSpPr>
            <p:cNvPr id="114" name="TextBox 113"/>
            <p:cNvSpPr txBox="1"/>
            <p:nvPr/>
          </p:nvSpPr>
          <p:spPr>
            <a:xfrm>
              <a:off x="8140700" y="5073650"/>
              <a:ext cx="635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调用判据</a:t>
              </a: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9867900" y="4876800"/>
              <a:ext cx="1663700" cy="622300"/>
            </a:xfrm>
            <a:custGeom>
              <a:avLst/>
              <a:gdLst/>
              <a:ahLst/>
              <a:cxnLst/>
              <a:rect l="l" t="t" r="r" b="b"/>
              <a:pathLst>
                <a:path w="262" h="98">
                  <a:moveTo>
                    <a:pt x="0" y="98"/>
                  </a:moveTo>
                  <a:lnTo>
                    <a:pt x="262" y="98"/>
                  </a:lnTo>
                  <a:lnTo>
                    <a:pt x="262" y="0"/>
                  </a:lnTo>
                </a:path>
              </a:pathLst>
            </a:custGeom>
            <a:noFill/>
            <a:ln w="12700">
              <a:solidFill>
                <a:srgbClr val="4E4A45"/>
              </a:solidFill>
              <a:round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9969500" y="4978400"/>
              <a:ext cx="676354" cy="177800"/>
            </a:xfrm>
            <a:prstGeom prst="rect">
              <a:avLst/>
            </a:prstGeom>
            <a:solidFill>
              <a:srgbClr val="FBF6F5"/>
            </a:solidFill>
            <a:ln>
              <a:noFill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A0525A"/>
                  </a:solidFill>
                  <a:latin typeface="微软雅黑"/>
                  <a:ea typeface="微软雅黑"/>
                  <a:cs typeface="微软雅黑"/>
                </a:rPr>
                <a:t>03 迭代机制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969500" y="5181600"/>
              <a:ext cx="14605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结果回流，更新判据与工作流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研究内容② 任务理解与智能编排调度：引擎在此落地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现状与问题 · 研究内容 · 研究方法 · 示意图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研究内容② 决策层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09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58900"/>
            <a:ext cx="1651000" cy="203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9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四层架构 · 当前位置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" y="16383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400" y="1638300"/>
            <a:ext cx="19050" cy="3937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6827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④ 集成层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8478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架构融合与协同运行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" y="20955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400" y="2095500"/>
            <a:ext cx="19050" cy="3937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21399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③ 执行层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3050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智能体执行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400" y="2552700"/>
            <a:ext cx="1651000" cy="3937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25971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决策层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7622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任务理解与智能编排调度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400" y="30099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" y="3009900"/>
            <a:ext cx="19050" cy="3937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30543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① 基础层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32194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测试知识库与任务工作流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" y="36068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上下游关系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3898900"/>
            <a:ext cx="1651000" cy="596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向下承接①的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知识与规则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，向③下发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执行方案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（智能体组合、工况、算力）。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400" y="46482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产出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400" y="4927600"/>
            <a:ext cx="1651000" cy="469900"/>
          </a:xfrm>
          <a:prstGeom prst="rect">
            <a:avLst/>
          </a:prstGeom>
          <a:solidFill>
            <a:srgbClr val="FA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400" y="4927600"/>
            <a:ext cx="19050" cy="4699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650" y="4927600"/>
            <a:ext cx="1479550" cy="469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9A3B41"/>
                </a:solidFill>
                <a:latin typeface="微软雅黑"/>
                <a:ea typeface="微软雅黑"/>
                <a:cs typeface="微软雅黑"/>
              </a:rPr>
              <a:t>✓ 多智能体协同运行与调度引擎（软件1套）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0600" y="1358900"/>
            <a:ext cx="9525000" cy="7112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60600" y="1358900"/>
            <a:ext cx="19050" cy="7112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13000" y="1447800"/>
            <a:ext cx="635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A61C22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现状与问题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3000" y="1676400"/>
            <a:ext cx="53848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工况是区段 × 温度 × 轨面 × 载重 × 手柄序列的组合，全用高精度模型算不完，全用简化模型关键工况又不可信。</a:t>
            </a:r>
            <a:r>
              <a:rPr lang="zh-CN" altLang="en-US" sz="90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【可替换为实际案例】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75600" y="1473200"/>
            <a:ext cx="0" cy="482600"/>
          </a:xfrm>
          <a:prstGeom prst="line">
            <a:avLst/>
          </a:prstGeom>
          <a:ln w="6350">
            <a:solidFill>
              <a:srgbClr val="DCD7D1"/>
            </a:solidFill>
            <a:round/>
          </a:ln>
        </p:spPr>
      </p:cxnSp>
      <p:sp>
        <p:nvSpPr>
          <p:cNvPr id="36" name="TextBox 35"/>
          <p:cNvSpPr txBox="1"/>
          <p:nvPr/>
        </p:nvSpPr>
        <p:spPr>
          <a:xfrm>
            <a:off x="8153400" y="1447800"/>
            <a:ext cx="1524000" cy="1778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研究方法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3400" y="1676400"/>
            <a:ext cx="34544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智能调度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——任务分解与匹配、多目标寻优、保真度—算力协同配置；难点是在线权衡精度与效率，极端工况不能外推。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0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60600" y="2171700"/>
            <a:ext cx="2286000" cy="1905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9A3B41"/>
                </a:solidFill>
                <a:latin typeface="Consolas"/>
                <a:ea typeface="微软雅黑"/>
                <a:cs typeface="Consolas"/>
              </a:rPr>
              <a:t>01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目标解析与任务分解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一句话需求 → 验证对象、关键性能、判据条目，匹配知识库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73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73600" y="2171700"/>
            <a:ext cx="2286000" cy="1905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13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9A3B41"/>
                </a:solidFill>
                <a:latin typeface="Consolas"/>
                <a:ea typeface="微软雅黑"/>
                <a:cs typeface="Consolas"/>
              </a:rPr>
              <a:t>02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测试环境自动装配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3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21590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自动完成智能体组合、接口连接与算力配置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86600" y="2171700"/>
            <a:ext cx="2286000" cy="1905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6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9A3B41"/>
                </a:solidFill>
                <a:latin typeface="Consolas"/>
                <a:ea typeface="微软雅黑"/>
                <a:cs typeface="Consolas"/>
              </a:rPr>
              <a:t>03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保真度与算力自适应调度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6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常规工况降阶提速，关键与极端工况强制全保真；GPU 跑多物理域并行仿真，NPU 做推理与编排决策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9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99600" y="2171700"/>
            <a:ext cx="2286000" cy="1905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39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9A3B41"/>
                </a:solidFill>
                <a:latin typeface="Consolas"/>
                <a:ea typeface="微软雅黑"/>
                <a:cs typeface="Consolas"/>
              </a:rPr>
              <a:t>04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执行监控与失败重规划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39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21590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异常中断后自动重规划，支撑指标实时推演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60600" y="3225800"/>
            <a:ext cx="952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一次验证中的调度过程：按工况切换保真度、分配算力，异常时重规划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2000" y="3225800"/>
            <a:ext cx="4673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示意图</a:t>
            </a:r>
          </a:p>
        </p:txBody>
      </p:sp>
      <p:grpSp>
        <p:nvGrpSpPr>
          <p:cNvPr id="56" name="附图 · 一次验证中的调度过程：按工况切换保真度、分配算力，异常时重规划"/>
          <p:cNvGrpSpPr/>
          <p:nvPr/>
        </p:nvGrpSpPr>
        <p:grpSpPr>
          <a:xfrm>
            <a:off x="2260600" y="3517900"/>
            <a:ext cx="9525000" cy="2768600"/>
            <a:chOff x="2260600" y="3517900"/>
            <a:chExt cx="9525000" cy="2768600"/>
          </a:xfrm>
        </p:grpSpPr>
        <p:sp>
          <p:nvSpPr>
            <p:cNvPr id="57" name="Rectangle 56"/>
            <p:cNvSpPr/>
            <p:nvPr/>
          </p:nvSpPr>
          <p:spPr>
            <a:xfrm>
              <a:off x="2260600" y="3517900"/>
              <a:ext cx="9525000" cy="2768600"/>
            </a:xfrm>
            <a:prstGeom prst="rect">
              <a:avLst/>
            </a:prstGeom>
            <a:solidFill>
              <a:srgbClr val="FAF9F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2413000" y="3632200"/>
              <a:ext cx="1671129" cy="25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验证任务</a:t>
              </a:r>
              <a:r>
                <a:rPr lang="zh-CN" altLang="en-US" sz="8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　速度跟踪 ＋ 牵引能耗</a:t>
              </a:r>
            </a:p>
          </p:txBody>
        </p:sp>
        <p:sp>
          <p:nvSpPr>
            <p:cNvPr id="59" name="Isosceles Triangle 58"/>
            <p:cNvSpPr/>
            <p:nvPr/>
          </p:nvSpPr>
          <p:spPr>
            <a:xfrm rot="5400000">
              <a:off x="4173029" y="3721100"/>
              <a:ext cx="101600" cy="76200"/>
            </a:xfrm>
            <a:prstGeom prst="triangle">
              <a:avLst/>
            </a:prstGeom>
            <a:solidFill>
              <a:srgbClr val="D3CDC6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4363530" y="3632200"/>
              <a:ext cx="1750600" cy="25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01 任务分解</a:t>
              </a:r>
              <a:r>
                <a:rPr lang="zh-CN" altLang="en-US" sz="8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　对象 · 性能 · 判据</a:t>
              </a:r>
            </a:p>
          </p:txBody>
        </p:sp>
        <p:sp>
          <p:nvSpPr>
            <p:cNvPr id="61" name="Isosceles Triangle 60"/>
            <p:cNvSpPr/>
            <p:nvPr/>
          </p:nvSpPr>
          <p:spPr>
            <a:xfrm rot="5400000">
              <a:off x="6203029" y="3721100"/>
              <a:ext cx="101600" cy="76200"/>
            </a:xfrm>
            <a:prstGeom prst="triangle">
              <a:avLst/>
            </a:prstGeom>
            <a:solidFill>
              <a:srgbClr val="D3CDC6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6393529" y="3632200"/>
              <a:ext cx="2563400" cy="25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02 环境装配</a:t>
              </a:r>
              <a:r>
                <a:rPr lang="zh-CN" altLang="en-US" sz="80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　控制系统 · 车辆动力学 · 线路智能体</a:t>
              </a:r>
            </a:p>
          </p:txBody>
        </p:sp>
        <p:sp>
          <p:nvSpPr>
            <p:cNvPr id="63" name="Isosceles Triangle 62"/>
            <p:cNvSpPr/>
            <p:nvPr/>
          </p:nvSpPr>
          <p:spPr>
            <a:xfrm rot="5400000">
              <a:off x="9045829" y="3721100"/>
              <a:ext cx="101600" cy="76200"/>
            </a:xfrm>
            <a:prstGeom prst="triangle">
              <a:avLst/>
            </a:prstGeom>
            <a:solidFill>
              <a:srgbClr val="D3CDC6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236329" y="3632200"/>
              <a:ext cx="1253554" cy="254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7620">
              <a:solidFill>
                <a:srgbClr val="ECE8E3"/>
              </a:solidFill>
              <a:round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03—04 调度执行与监控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413000" y="4000500"/>
              <a:ext cx="990600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工况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413000" y="4305300"/>
              <a:ext cx="990600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03</a:t>
              </a:r>
              <a:r>
                <a:rPr lang="zh-CN" altLang="en-US" sz="8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 模型保真度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413000" y="4635500"/>
              <a:ext cx="990600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03</a:t>
              </a:r>
              <a:r>
                <a:rPr lang="zh-CN" altLang="en-US" sz="8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 算力 · GPU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413000" y="5067300"/>
              <a:ext cx="990600" cy="1905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03</a:t>
              </a:r>
              <a:r>
                <a:rPr lang="zh-CN" altLang="en-US" sz="8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 算力 · NPU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413000" y="5410200"/>
              <a:ext cx="990600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04</a:t>
              </a:r>
              <a:r>
                <a:rPr lang="zh-CN" altLang="en-US" sz="8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 执行监控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4987798" y="3962400"/>
              <a:ext cx="0" cy="1727200"/>
            </a:xfrm>
            <a:prstGeom prst="line">
              <a:avLst/>
            </a:prstGeom>
            <a:ln w="6350">
              <a:solidFill>
                <a:srgbClr val="DCD7D1"/>
              </a:solidFill>
              <a:prstDash val="dash"/>
              <a:round/>
            </a:ln>
          </p:spPr>
        </p:cxnSp>
        <p:cxnSp>
          <p:nvCxnSpPr>
            <p:cNvPr id="71" name="Connector 70"/>
            <p:cNvCxnSpPr/>
            <p:nvPr/>
          </p:nvCxnSpPr>
          <p:spPr>
            <a:xfrm>
              <a:off x="6300470" y="3962400"/>
              <a:ext cx="0" cy="1727200"/>
            </a:xfrm>
            <a:prstGeom prst="line">
              <a:avLst/>
            </a:prstGeom>
            <a:ln w="6350">
              <a:solidFill>
                <a:srgbClr val="DCD7D1"/>
              </a:solidFill>
              <a:prstDash val="dash"/>
              <a:round/>
            </a:ln>
          </p:spPr>
        </p:cxnSp>
        <p:cxnSp>
          <p:nvCxnSpPr>
            <p:cNvPr id="72" name="Connector 71"/>
            <p:cNvCxnSpPr/>
            <p:nvPr/>
          </p:nvCxnSpPr>
          <p:spPr>
            <a:xfrm>
              <a:off x="7859268" y="3962400"/>
              <a:ext cx="0" cy="1727200"/>
            </a:xfrm>
            <a:prstGeom prst="line">
              <a:avLst/>
            </a:prstGeom>
            <a:ln w="6350">
              <a:solidFill>
                <a:srgbClr val="DCD7D1"/>
              </a:solidFill>
              <a:prstDash val="dash"/>
              <a:round/>
            </a:ln>
          </p:spPr>
        </p:cxnSp>
        <p:cxnSp>
          <p:nvCxnSpPr>
            <p:cNvPr id="73" name="Connector 72"/>
            <p:cNvCxnSpPr/>
            <p:nvPr/>
          </p:nvCxnSpPr>
          <p:spPr>
            <a:xfrm>
              <a:off x="10074402" y="3962400"/>
              <a:ext cx="0" cy="1727200"/>
            </a:xfrm>
            <a:prstGeom prst="line">
              <a:avLst/>
            </a:prstGeom>
            <a:ln w="6350">
              <a:solidFill>
                <a:srgbClr val="DCD7D1"/>
              </a:solidFill>
              <a:prstDash val="dash"/>
              <a:round/>
            </a:ln>
          </p:spPr>
        </p:cxnSp>
        <p:sp>
          <p:nvSpPr>
            <p:cNvPr id="74" name="Rectangle 73"/>
            <p:cNvSpPr/>
            <p:nvPr/>
          </p:nvSpPr>
          <p:spPr>
            <a:xfrm>
              <a:off x="3441700" y="4000500"/>
              <a:ext cx="1533398" cy="25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441700" y="4000500"/>
              <a:ext cx="1533398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常规直线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441700" y="4305300"/>
              <a:ext cx="1533398" cy="254000"/>
            </a:xfrm>
            <a:prstGeom prst="rect">
              <a:avLst/>
            </a:prstGeom>
            <a:solidFill>
              <a:srgbClr val="FAF4F4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441700" y="4305300"/>
              <a:ext cx="1533398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降阶模型 · 快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5000498" y="4000500"/>
              <a:ext cx="1287272" cy="25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000498" y="4000500"/>
              <a:ext cx="1287272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小半径曲线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000498" y="4305300"/>
              <a:ext cx="1287272" cy="254000"/>
            </a:xfrm>
            <a:prstGeom prst="rect">
              <a:avLst/>
            </a:prstGeom>
            <a:solidFill>
              <a:srgbClr val="AC454B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000498" y="4305300"/>
              <a:ext cx="1287272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全保真 · 准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313170" y="4000500"/>
              <a:ext cx="1533398" cy="25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313170" y="4000500"/>
              <a:ext cx="1533398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常规直线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313170" y="4305300"/>
              <a:ext cx="1533398" cy="254000"/>
            </a:xfrm>
            <a:prstGeom prst="rect">
              <a:avLst/>
            </a:prstGeom>
            <a:solidFill>
              <a:srgbClr val="FAF4F4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313170" y="4305300"/>
              <a:ext cx="1533398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降阶模型 · 快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7871968" y="4000500"/>
              <a:ext cx="2189734" cy="25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871968" y="4000500"/>
              <a:ext cx="2189734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长大下坡 · 湿轨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7871968" y="4305300"/>
              <a:ext cx="2189734" cy="254000"/>
            </a:xfrm>
            <a:prstGeom prst="rect">
              <a:avLst/>
            </a:prstGeom>
            <a:solidFill>
              <a:srgbClr val="AC454B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871968" y="4305300"/>
              <a:ext cx="2189734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全保真 · 准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0087102" y="4000500"/>
              <a:ext cx="1533398" cy="25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087102" y="4000500"/>
              <a:ext cx="1533398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常规直线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0087102" y="4305300"/>
              <a:ext cx="1533398" cy="254000"/>
            </a:xfrm>
            <a:prstGeom prst="rect">
              <a:avLst/>
            </a:prstGeom>
            <a:solidFill>
              <a:srgbClr val="FAF4F4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087102" y="4305300"/>
              <a:ext cx="1533398" cy="2540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800" b="1">
                  <a:solidFill>
                    <a:srgbClr val="9A3B41"/>
                  </a:solidFill>
                  <a:latin typeface="微软雅黑"/>
                  <a:ea typeface="微软雅黑"/>
                  <a:cs typeface="微软雅黑"/>
                </a:rPr>
                <a:t>降阶模型 · 快</a:t>
              </a:r>
            </a:p>
          </p:txBody>
        </p:sp>
        <p:sp>
          <p:nvSpPr>
            <p:cNvPr id="94" name="Freeform 93"/>
            <p:cNvSpPr/>
            <p:nvPr/>
          </p:nvSpPr>
          <p:spPr>
            <a:xfrm>
              <a:off x="3429000" y="4699000"/>
              <a:ext cx="8204200" cy="292100"/>
            </a:xfrm>
            <a:custGeom>
              <a:avLst/>
              <a:gdLst/>
              <a:ahLst/>
              <a:cxnLst/>
              <a:rect l="l" t="t" r="r" b="b"/>
              <a:pathLst>
                <a:path w="1292" h="46">
                  <a:moveTo>
                    <a:pt x="0" y="46"/>
                  </a:moveTo>
                  <a:lnTo>
                    <a:pt x="0" y="30"/>
                  </a:lnTo>
                  <a:lnTo>
                    <a:pt x="245" y="30"/>
                  </a:lnTo>
                  <a:lnTo>
                    <a:pt x="245" y="0"/>
                  </a:lnTo>
                  <a:lnTo>
                    <a:pt x="452" y="0"/>
                  </a:lnTo>
                  <a:lnTo>
                    <a:pt x="452" y="30"/>
                  </a:lnTo>
                  <a:lnTo>
                    <a:pt x="698" y="30"/>
                  </a:lnTo>
                  <a:lnTo>
                    <a:pt x="698" y="0"/>
                  </a:lnTo>
                  <a:lnTo>
                    <a:pt x="1047" y="0"/>
                  </a:lnTo>
                  <a:lnTo>
                    <a:pt x="1047" y="30"/>
                  </a:lnTo>
                  <a:lnTo>
                    <a:pt x="1292" y="30"/>
                  </a:lnTo>
                  <a:lnTo>
                    <a:pt x="1292" y="46"/>
                  </a:lnTo>
                  <a:close/>
                </a:path>
              </a:pathLst>
            </a:custGeom>
            <a:solidFill>
              <a:srgbClr val="F4E6E6"/>
            </a:solidFill>
            <a:ln w="9525">
              <a:solidFill>
                <a:srgbClr val="AC454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3429000" y="5111750"/>
              <a:ext cx="8204200" cy="146050"/>
            </a:xfrm>
            <a:custGeom>
              <a:avLst/>
              <a:gdLst/>
              <a:ahLst/>
              <a:cxnLst/>
              <a:rect l="l" t="t" r="r" b="b"/>
              <a:pathLst>
                <a:path w="1292" h="23">
                  <a:moveTo>
                    <a:pt x="0" y="23"/>
                  </a:moveTo>
                  <a:lnTo>
                    <a:pt x="0" y="16"/>
                  </a:lnTo>
                  <a:lnTo>
                    <a:pt x="230" y="16"/>
                  </a:lnTo>
                  <a:lnTo>
                    <a:pt x="245" y="0"/>
                  </a:lnTo>
                  <a:lnTo>
                    <a:pt x="260" y="16"/>
                  </a:lnTo>
                  <a:lnTo>
                    <a:pt x="437" y="16"/>
                  </a:lnTo>
                  <a:lnTo>
                    <a:pt x="452" y="0"/>
                  </a:lnTo>
                  <a:lnTo>
                    <a:pt x="467" y="16"/>
                  </a:lnTo>
                  <a:lnTo>
                    <a:pt x="683" y="16"/>
                  </a:lnTo>
                  <a:lnTo>
                    <a:pt x="698" y="0"/>
                  </a:lnTo>
                  <a:lnTo>
                    <a:pt x="713" y="16"/>
                  </a:lnTo>
                  <a:lnTo>
                    <a:pt x="1032" y="16"/>
                  </a:lnTo>
                  <a:lnTo>
                    <a:pt x="1047" y="0"/>
                  </a:lnTo>
                  <a:lnTo>
                    <a:pt x="1062" y="16"/>
                  </a:lnTo>
                  <a:lnTo>
                    <a:pt x="1292" y="16"/>
                  </a:lnTo>
                  <a:lnTo>
                    <a:pt x="1292" y="23"/>
                  </a:lnTo>
                  <a:close/>
                </a:path>
              </a:pathLst>
            </a:custGeom>
            <a:solidFill>
              <a:srgbClr val="F4E6E6"/>
            </a:solidFill>
            <a:ln w="9525">
              <a:solidFill>
                <a:srgbClr val="AC454B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728200" y="4660900"/>
              <a:ext cx="18542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多物理域模型并行仿真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728200" y="5080000"/>
              <a:ext cx="18542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切换时的推理与编排决策</a:t>
              </a:r>
            </a:p>
          </p:txBody>
        </p:sp>
        <p:cxnSp>
          <p:nvCxnSpPr>
            <p:cNvPr id="98" name="Connector 97"/>
            <p:cNvCxnSpPr/>
            <p:nvPr/>
          </p:nvCxnSpPr>
          <p:spPr>
            <a:xfrm>
              <a:off x="3429000" y="5537200"/>
              <a:ext cx="8204200" cy="0"/>
            </a:xfrm>
            <a:prstGeom prst="line">
              <a:avLst/>
            </a:prstGeom>
            <a:ln w="12700">
              <a:solidFill>
                <a:srgbClr val="DCD7D1"/>
              </a:solidFill>
              <a:round/>
            </a:ln>
          </p:spPr>
        </p:cxnSp>
        <p:pic>
          <p:nvPicPr>
            <p:cNvPr id="99" name="Picture 98" descr="circle-check-4E4A45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8549" y="5467350"/>
              <a:ext cx="139700" cy="139700"/>
            </a:xfrm>
            <a:prstGeom prst="rect">
              <a:avLst/>
            </a:prstGeom>
          </p:spPr>
        </p:pic>
        <p:pic>
          <p:nvPicPr>
            <p:cNvPr id="100" name="Picture 99" descr="circle-check-4E4A45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284" y="5467350"/>
              <a:ext cx="139700" cy="139700"/>
            </a:xfrm>
            <a:prstGeom prst="rect">
              <a:avLst/>
            </a:prstGeom>
          </p:spPr>
        </p:pic>
        <p:pic>
          <p:nvPicPr>
            <p:cNvPr id="101" name="Picture 100" descr="circle-check-4E4A45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0019" y="5467350"/>
              <a:ext cx="139700" cy="139700"/>
            </a:xfrm>
            <a:prstGeom prst="rect">
              <a:avLst/>
            </a:prstGeom>
          </p:spPr>
        </p:pic>
        <p:pic>
          <p:nvPicPr>
            <p:cNvPr id="102" name="Picture 101" descr="circle-check-4E4A45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3202" y="5467350"/>
              <a:ext cx="139700" cy="139700"/>
            </a:xfrm>
            <a:prstGeom prst="rect">
              <a:avLst/>
            </a:prstGeom>
          </p:spPr>
        </p:pic>
        <p:pic>
          <p:nvPicPr>
            <p:cNvPr id="103" name="Picture 102" descr="alert-circle-A61C22-1_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50101" y="5454650"/>
              <a:ext cx="165100" cy="16510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9346951" y="5346700"/>
              <a:ext cx="762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异常中断</a:t>
              </a: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7962900" y="5613400"/>
              <a:ext cx="1270000" cy="101600"/>
            </a:xfrm>
            <a:custGeom>
              <a:avLst/>
              <a:gdLst/>
              <a:ahLst/>
              <a:cxnLst/>
              <a:rect l="l" t="t" r="r" b="b"/>
              <a:pathLst>
                <a:path w="200" h="16">
                  <a:moveTo>
                    <a:pt x="200" y="1"/>
                  </a:moveTo>
                  <a:lnTo>
                    <a:pt x="200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A61C22"/>
              </a:solidFill>
              <a:round/>
              <a:tailEnd type="triangle" w="med" len="me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960868" y="5727700"/>
              <a:ext cx="1271783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重规划</a:t>
              </a:r>
            </a:p>
          </p:txBody>
        </p:sp>
        <p:pic>
          <p:nvPicPr>
            <p:cNvPr id="107" name="Picture 106" descr="circle-check-4E4A45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83951" y="5467350"/>
              <a:ext cx="139700" cy="139700"/>
            </a:xfrm>
            <a:prstGeom prst="rect">
              <a:avLst/>
            </a:prstGeom>
          </p:spPr>
        </p:pic>
        <p:cxnSp>
          <p:nvCxnSpPr>
            <p:cNvPr id="108" name="Connector 107"/>
            <p:cNvCxnSpPr/>
            <p:nvPr/>
          </p:nvCxnSpPr>
          <p:spPr>
            <a:xfrm>
              <a:off x="3429000" y="6083300"/>
              <a:ext cx="8204200" cy="0"/>
            </a:xfrm>
            <a:prstGeom prst="line">
              <a:avLst/>
            </a:prstGeom>
            <a:ln w="12700">
              <a:solidFill>
                <a:srgbClr val="C5BFB8"/>
              </a:solidFill>
              <a:round/>
              <a:tailEnd type="triangle" w="med" len="med"/>
            </a:ln>
          </p:spPr>
        </p:cxnSp>
        <p:sp>
          <p:nvSpPr>
            <p:cNvPr id="109" name="TextBox 108"/>
            <p:cNvSpPr txBox="1"/>
            <p:nvPr/>
          </p:nvSpPr>
          <p:spPr>
            <a:xfrm>
              <a:off x="10109200" y="5918200"/>
              <a:ext cx="14986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仿真推进（里程）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研究内容③ 智能体执行：把 −10℃ 现场的问题在研发室里跑出来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一条执行链：仿真智能体 → 用例生成 → 测试识别 → 报告与回归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研究内容③ 执行层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10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58900"/>
            <a:ext cx="1651000" cy="203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9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四层架构 · 当前位置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" y="16383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400" y="1638300"/>
            <a:ext cx="19050" cy="3937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6827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④ 集成层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8478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架构融合与协同运行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" y="2095500"/>
            <a:ext cx="1651000" cy="3937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21399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执行层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3050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智能体执行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400" y="25527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2552700"/>
            <a:ext cx="19050" cy="3937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25971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② 决策层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7622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任务理解与智能编排调度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400" y="30099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" y="3009900"/>
            <a:ext cx="19050" cy="3937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30543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① 基础层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32194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测试知识库与任务工作流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" y="36068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对接项目7总体目标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3898900"/>
            <a:ext cx="16510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spcAft>
                <a:spcPts val="400"/>
              </a:spcAft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模型自动标定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→ 仿真智能体</a:t>
            </a:r>
          </a:p>
          <a:p>
            <a:pPr algn="l" marL="0" indent="0">
              <a:lnSpc>
                <a:spcPts val="15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性能自动评估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→ 测试识别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400" y="45085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产出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400" y="4787900"/>
            <a:ext cx="1651000" cy="469900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400" y="4787900"/>
            <a:ext cx="19050" cy="4699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650" y="4787900"/>
            <a:ext cx="1479550" cy="469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✓ 关键系统仿真智能体／</a:t>
            </a:r>
            <a:br>
              <a:rPr lang="zh-CN" altLang="en-US" sz="900"/>
            </a:br>
            <a:r>
              <a:rPr lang="zh-CN" altLang="en-US" sz="90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智能孪生模型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400" y="5308600"/>
            <a:ext cx="1651000" cy="304800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6400" y="5308600"/>
            <a:ext cx="19050" cy="3048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650" y="5308600"/>
            <a:ext cx="1479550" cy="304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✓ 用例与线路数据集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400" y="5664200"/>
            <a:ext cx="1651000" cy="304800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400" y="5664200"/>
            <a:ext cx="19050" cy="3048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650" y="5664200"/>
            <a:ext cx="1479550" cy="304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✓ 验证报告与追溯记录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0600" y="1358900"/>
            <a:ext cx="9525000" cy="7112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60600" y="1358900"/>
            <a:ext cx="19050" cy="7112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13000" y="1447800"/>
            <a:ext cx="635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A61C22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现状与问题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3000" y="1676400"/>
            <a:ext cx="53848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仿真结果靠人看曲线，多系统、长时序问题（如临哈线散热器冻结）难发现、难定位。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75600" y="1473200"/>
            <a:ext cx="0" cy="482600"/>
          </a:xfrm>
          <a:prstGeom prst="line">
            <a:avLst/>
          </a:prstGeom>
          <a:ln w="6350">
            <a:solidFill>
              <a:srgbClr val="DCD7D1"/>
            </a:solidFill>
            <a:round/>
          </a:ln>
        </p:spPr>
      </p:cxnSp>
      <p:sp>
        <p:nvSpPr>
          <p:cNvPr id="42" name="TextBox 41"/>
          <p:cNvSpPr txBox="1"/>
          <p:nvPr/>
        </p:nvSpPr>
        <p:spPr>
          <a:xfrm>
            <a:off x="8153400" y="1447800"/>
            <a:ext cx="1524000" cy="1778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研究方法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3400" y="1676400"/>
            <a:ext cx="34544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实时协同与可信评判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——分布式协同仿真、时序同步、自动标定与不确定度量化；难点是步长差异大、极端工况数据少。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60600" y="2171700"/>
            <a:ext cx="226695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60600" y="2171700"/>
            <a:ext cx="2266950" cy="1905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00300" y="2273300"/>
            <a:ext cx="198755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8C1D23"/>
                </a:solidFill>
                <a:latin typeface="Consolas"/>
                <a:ea typeface="微软雅黑"/>
                <a:cs typeface="Consolas"/>
              </a:rPr>
              <a:t>01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仿真智能体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00300" y="2514600"/>
            <a:ext cx="198755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7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研制与接入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0300" y="2705100"/>
            <a:ext cx="198755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控制系统、车辆动力学、线路等智能体与孪生模型，标准化接入、时序同步，用试验与运用数据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自动标定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4540250" y="27622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79950" y="2171700"/>
            <a:ext cx="226695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79950" y="2171700"/>
            <a:ext cx="2266950" cy="1905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19650" y="2273300"/>
            <a:ext cx="198755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8C1D23"/>
                </a:solidFill>
                <a:latin typeface="Consolas"/>
                <a:ea typeface="微软雅黑"/>
                <a:cs typeface="Consolas"/>
              </a:rPr>
              <a:t>02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用例生成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9650" y="2514600"/>
            <a:ext cx="198755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7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按需自生成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9650" y="2705100"/>
            <a:ext cx="198755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按线路资料与覆盖要求生成用例与线路数据（平纵断面、曲线、超高、坡度、不平顺谱）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6959600" y="27622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99300" y="2171700"/>
            <a:ext cx="226695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99300" y="2171700"/>
            <a:ext cx="2266950" cy="1905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39000" y="2273300"/>
            <a:ext cx="198755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8C1D23"/>
                </a:solidFill>
                <a:latin typeface="Consolas"/>
                <a:ea typeface="微软雅黑"/>
                <a:cs typeface="Consolas"/>
              </a:rPr>
              <a:t>03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测试识别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39000" y="2514600"/>
            <a:ext cx="198755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7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结果评判 · 异常定位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9000" y="2705100"/>
            <a:ext cx="198755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逐工况对标判据，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识别异常、定位原因</a:t>
            </a: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，给出可信性判断</a:t>
            </a:r>
          </a:p>
        </p:txBody>
      </p:sp>
      <p:sp>
        <p:nvSpPr>
          <p:cNvPr id="61" name="Isosceles Triangle 60"/>
          <p:cNvSpPr/>
          <p:nvPr/>
        </p:nvSpPr>
        <p:spPr>
          <a:xfrm rot="5400000">
            <a:off x="9378950" y="27622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8650" y="2171700"/>
            <a:ext cx="226695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18650" y="2171700"/>
            <a:ext cx="2266950" cy="1905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58350" y="2273300"/>
            <a:ext cx="198755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8C1D23"/>
                </a:solidFill>
                <a:latin typeface="Consolas"/>
                <a:ea typeface="微软雅黑"/>
                <a:cs typeface="Consolas"/>
              </a:rPr>
              <a:t>04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报告与回归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58350" y="2514600"/>
            <a:ext cx="198755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7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可追溯 · 回归重跑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58350" y="2705100"/>
            <a:ext cx="198755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结论自动汇总、可追溯；结果回流迭代标定与判据，设计变更后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回归重跑</a:t>
            </a:r>
          </a:p>
        </p:txBody>
      </p:sp>
      <p:sp>
        <p:nvSpPr>
          <p:cNvPr id="67" name="Freeform 66"/>
          <p:cNvSpPr/>
          <p:nvPr/>
        </p:nvSpPr>
        <p:spPr>
          <a:xfrm>
            <a:off x="3390900" y="3441700"/>
            <a:ext cx="7264400" cy="139700"/>
          </a:xfrm>
          <a:custGeom>
            <a:avLst/>
            <a:gdLst/>
            <a:ahLst/>
            <a:cxnLst/>
            <a:rect l="l" t="t" r="r" b="b"/>
            <a:pathLst>
              <a:path w="1144" h="22">
                <a:moveTo>
                  <a:pt x="1144" y="0"/>
                </a:moveTo>
                <a:lnTo>
                  <a:pt x="1144" y="22"/>
                </a:lnTo>
                <a:lnTo>
                  <a:pt x="0" y="22"/>
                </a:lnTo>
                <a:lnTo>
                  <a:pt x="0" y="2"/>
                </a:lnTo>
              </a:path>
            </a:pathLst>
          </a:custGeom>
          <a:noFill/>
          <a:ln w="12700">
            <a:solidFill>
              <a:srgbClr val="4E4A45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34734" y="3505200"/>
            <a:ext cx="3576733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34734" y="3505200"/>
            <a:ext cx="3576733" cy="152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数据回归：结果回流，迭代模型标定、判据与工况集 · 设计变更后回归重跑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60600" y="3733800"/>
            <a:ext cx="952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以临哈线散热器冻结为例：逐工况对标判据，识别异常并定位原因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7200" y="3733800"/>
            <a:ext cx="49784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示意图 · 数据据现场记录 · 防冻限值【待填】</a:t>
            </a:r>
          </a:p>
        </p:txBody>
      </p:sp>
      <p:grpSp>
        <p:nvGrpSpPr>
          <p:cNvPr id="72" name="附图 · 以临哈线散热器冻结为例：逐工况对标判据，识别异常并定位原因"/>
          <p:cNvGrpSpPr/>
          <p:nvPr/>
        </p:nvGrpSpPr>
        <p:grpSpPr>
          <a:xfrm>
            <a:off x="2260600" y="4025900"/>
            <a:ext cx="9525000" cy="2260600"/>
            <a:chOff x="2260600" y="4025900"/>
            <a:chExt cx="9525000" cy="2260600"/>
          </a:xfrm>
        </p:grpSpPr>
        <p:sp>
          <p:nvSpPr>
            <p:cNvPr id="73" name="Rectangle 72"/>
            <p:cNvSpPr/>
            <p:nvPr/>
          </p:nvSpPr>
          <p:spPr>
            <a:xfrm>
              <a:off x="2260600" y="4025900"/>
              <a:ext cx="9525000" cy="2260600"/>
            </a:xfrm>
            <a:prstGeom prst="rect">
              <a:avLst/>
            </a:prstGeom>
            <a:solidFill>
              <a:srgbClr val="FAF9F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177915" y="4267200"/>
              <a:ext cx="1950085" cy="1193800"/>
            </a:xfrm>
            <a:prstGeom prst="rect">
              <a:avLst/>
            </a:prstGeom>
            <a:solidFill>
              <a:srgbClr val="FAF3F2"/>
            </a:solidFill>
            <a:ln w="6350">
              <a:solidFill>
                <a:srgbClr val="A61C22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75" name="Picture 74" descr="alert-circle-A61C22-1_6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1415" y="4864523"/>
              <a:ext cx="114300" cy="114300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6381115" y="4851823"/>
              <a:ext cx="1708785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低温水越限：过冷 → 散热器冻结</a:t>
              </a:r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2857500" y="5383953"/>
              <a:ext cx="5270500" cy="0"/>
            </a:xfrm>
            <a:prstGeom prst="line">
              <a:avLst/>
            </a:prstGeom>
            <a:ln w="9525">
              <a:solidFill>
                <a:srgbClr val="A61C22"/>
              </a:solidFill>
              <a:prstDash val="dash"/>
              <a:round/>
            </a:ln>
          </p:spPr>
        </p:cxnSp>
        <p:sp>
          <p:nvSpPr>
            <p:cNvPr id="78" name="TextBox 77"/>
            <p:cNvSpPr txBox="1"/>
            <p:nvPr/>
          </p:nvSpPr>
          <p:spPr>
            <a:xfrm>
              <a:off x="2908300" y="5244253"/>
              <a:ext cx="12700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防冻限值（判据）</a:t>
              </a:r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3911600" y="4254500"/>
              <a:ext cx="0" cy="1206500"/>
            </a:xfrm>
            <a:prstGeom prst="line">
              <a:avLst/>
            </a:prstGeom>
            <a:ln w="7620">
              <a:solidFill>
                <a:srgbClr val="6F6B67"/>
              </a:solidFill>
              <a:prstDash val="dash"/>
              <a:round/>
            </a:ln>
          </p:spPr>
        </p:cxnSp>
        <p:sp>
          <p:nvSpPr>
            <p:cNvPr id="80" name="TextBox 79"/>
            <p:cNvSpPr txBox="1"/>
            <p:nvPr/>
          </p:nvSpPr>
          <p:spPr>
            <a:xfrm>
              <a:off x="3949700" y="4254500"/>
              <a:ext cx="5715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回手柄</a:t>
              </a:r>
            </a:p>
          </p:txBody>
        </p:sp>
        <p:sp>
          <p:nvSpPr>
            <p:cNvPr id="81" name="Freeform 80"/>
            <p:cNvSpPr/>
            <p:nvPr/>
          </p:nvSpPr>
          <p:spPr>
            <a:xfrm>
              <a:off x="2857500" y="4432300"/>
              <a:ext cx="5270500" cy="25400"/>
            </a:xfrm>
            <a:custGeom>
              <a:avLst/>
              <a:gdLst/>
              <a:ahLst/>
              <a:cxnLst/>
              <a:rect l="l" t="t" r="r" b="b"/>
              <a:pathLst>
                <a:path w="830" h="4">
                  <a:moveTo>
                    <a:pt x="0" y="0"/>
                  </a:moveTo>
                  <a:lnTo>
                    <a:pt x="6" y="0"/>
                  </a:lnTo>
                  <a:lnTo>
                    <a:pt x="15" y="0"/>
                  </a:lnTo>
                  <a:lnTo>
                    <a:pt x="25" y="1"/>
                  </a:lnTo>
                  <a:lnTo>
                    <a:pt x="36" y="1"/>
                  </a:lnTo>
                  <a:lnTo>
                    <a:pt x="48" y="1"/>
                  </a:lnTo>
                  <a:lnTo>
                    <a:pt x="60" y="1"/>
                  </a:lnTo>
                  <a:lnTo>
                    <a:pt x="72" y="1"/>
                  </a:lnTo>
                  <a:lnTo>
                    <a:pt x="83" y="1"/>
                  </a:lnTo>
                  <a:lnTo>
                    <a:pt x="93" y="1"/>
                  </a:lnTo>
                  <a:lnTo>
                    <a:pt x="103" y="1"/>
                  </a:lnTo>
                  <a:lnTo>
                    <a:pt x="112" y="2"/>
                  </a:lnTo>
                  <a:lnTo>
                    <a:pt x="122" y="2"/>
                  </a:lnTo>
                  <a:lnTo>
                    <a:pt x="132" y="2"/>
                  </a:lnTo>
                  <a:lnTo>
                    <a:pt x="142" y="2"/>
                  </a:lnTo>
                  <a:lnTo>
                    <a:pt x="154" y="2"/>
                  </a:lnTo>
                  <a:lnTo>
                    <a:pt x="166" y="2"/>
                  </a:lnTo>
                  <a:lnTo>
                    <a:pt x="180" y="2"/>
                  </a:lnTo>
                  <a:lnTo>
                    <a:pt x="194" y="3"/>
                  </a:lnTo>
                  <a:lnTo>
                    <a:pt x="210" y="3"/>
                  </a:lnTo>
                  <a:lnTo>
                    <a:pt x="226" y="3"/>
                  </a:lnTo>
                  <a:lnTo>
                    <a:pt x="242" y="3"/>
                  </a:lnTo>
                  <a:lnTo>
                    <a:pt x="258" y="4"/>
                  </a:lnTo>
                  <a:lnTo>
                    <a:pt x="275" y="4"/>
                  </a:lnTo>
                  <a:lnTo>
                    <a:pt x="290" y="4"/>
                  </a:lnTo>
                  <a:lnTo>
                    <a:pt x="306" y="4"/>
                  </a:lnTo>
                  <a:lnTo>
                    <a:pt x="321" y="4"/>
                  </a:lnTo>
                  <a:lnTo>
                    <a:pt x="335" y="4"/>
                  </a:lnTo>
                  <a:lnTo>
                    <a:pt x="350" y="4"/>
                  </a:lnTo>
                  <a:lnTo>
                    <a:pt x="365" y="4"/>
                  </a:lnTo>
                  <a:lnTo>
                    <a:pt x="381" y="4"/>
                  </a:lnTo>
                  <a:lnTo>
                    <a:pt x="397" y="4"/>
                  </a:lnTo>
                  <a:lnTo>
                    <a:pt x="415" y="4"/>
                  </a:lnTo>
                  <a:lnTo>
                    <a:pt x="434" y="4"/>
                  </a:lnTo>
                  <a:lnTo>
                    <a:pt x="455" y="4"/>
                  </a:lnTo>
                  <a:lnTo>
                    <a:pt x="476" y="4"/>
                  </a:lnTo>
                  <a:lnTo>
                    <a:pt x="498" y="4"/>
                  </a:lnTo>
                  <a:lnTo>
                    <a:pt x="520" y="4"/>
                  </a:lnTo>
                  <a:lnTo>
                    <a:pt x="541" y="4"/>
                  </a:lnTo>
                  <a:lnTo>
                    <a:pt x="562" y="4"/>
                  </a:lnTo>
                  <a:lnTo>
                    <a:pt x="581" y="4"/>
                  </a:lnTo>
                  <a:lnTo>
                    <a:pt x="599" y="4"/>
                  </a:lnTo>
                  <a:lnTo>
                    <a:pt x="615" y="4"/>
                  </a:lnTo>
                  <a:lnTo>
                    <a:pt x="631" y="4"/>
                  </a:lnTo>
                  <a:lnTo>
                    <a:pt x="646" y="4"/>
                  </a:lnTo>
                  <a:lnTo>
                    <a:pt x="661" y="4"/>
                  </a:lnTo>
                  <a:lnTo>
                    <a:pt x="675" y="4"/>
                  </a:lnTo>
                  <a:lnTo>
                    <a:pt x="690" y="4"/>
                  </a:lnTo>
                  <a:lnTo>
                    <a:pt x="706" y="4"/>
                  </a:lnTo>
                  <a:lnTo>
                    <a:pt x="722" y="4"/>
                  </a:lnTo>
                  <a:lnTo>
                    <a:pt x="740" y="4"/>
                  </a:lnTo>
                  <a:lnTo>
                    <a:pt x="758" y="4"/>
                  </a:lnTo>
                  <a:lnTo>
                    <a:pt x="776" y="4"/>
                  </a:lnTo>
                  <a:lnTo>
                    <a:pt x="792" y="4"/>
                  </a:lnTo>
                  <a:lnTo>
                    <a:pt x="808" y="4"/>
                  </a:lnTo>
                  <a:lnTo>
                    <a:pt x="820" y="4"/>
                  </a:lnTo>
                  <a:lnTo>
                    <a:pt x="830" y="4"/>
                  </a:lnTo>
                </a:path>
              </a:pathLst>
            </a:custGeom>
            <a:noFill/>
            <a:ln w="15875">
              <a:solidFill>
                <a:srgbClr val="6F6B67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2857500" y="5130800"/>
              <a:ext cx="5270500" cy="330200"/>
            </a:xfrm>
            <a:custGeom>
              <a:avLst/>
              <a:gdLst/>
              <a:ahLst/>
              <a:cxnLst/>
              <a:rect l="l" t="t" r="r" b="b"/>
              <a:pathLst>
                <a:path w="830" h="52">
                  <a:moveTo>
                    <a:pt x="0" y="1"/>
                  </a:moveTo>
                  <a:lnTo>
                    <a:pt x="6" y="1"/>
                  </a:lnTo>
                  <a:lnTo>
                    <a:pt x="15" y="1"/>
                  </a:lnTo>
                  <a:lnTo>
                    <a:pt x="25" y="1"/>
                  </a:lnTo>
                  <a:lnTo>
                    <a:pt x="36" y="1"/>
                  </a:lnTo>
                  <a:lnTo>
                    <a:pt x="48" y="1"/>
                  </a:lnTo>
                  <a:lnTo>
                    <a:pt x="60" y="1"/>
                  </a:lnTo>
                  <a:lnTo>
                    <a:pt x="72" y="1"/>
                  </a:lnTo>
                  <a:lnTo>
                    <a:pt x="83" y="1"/>
                  </a:lnTo>
                  <a:lnTo>
                    <a:pt x="93" y="1"/>
                  </a:lnTo>
                  <a:lnTo>
                    <a:pt x="104" y="1"/>
                  </a:lnTo>
                  <a:lnTo>
                    <a:pt x="114" y="1"/>
                  </a:lnTo>
                  <a:lnTo>
                    <a:pt x="124" y="0"/>
                  </a:lnTo>
                  <a:lnTo>
                    <a:pt x="135" y="1"/>
                  </a:lnTo>
                  <a:lnTo>
                    <a:pt x="145" y="1"/>
                  </a:lnTo>
                  <a:lnTo>
                    <a:pt x="156" y="1"/>
                  </a:lnTo>
                  <a:lnTo>
                    <a:pt x="166" y="1"/>
                  </a:lnTo>
                  <a:lnTo>
                    <a:pt x="176" y="2"/>
                  </a:lnTo>
                  <a:lnTo>
                    <a:pt x="186" y="3"/>
                  </a:lnTo>
                  <a:lnTo>
                    <a:pt x="196" y="4"/>
                  </a:lnTo>
                  <a:lnTo>
                    <a:pt x="206" y="5"/>
                  </a:lnTo>
                  <a:lnTo>
                    <a:pt x="217" y="6"/>
                  </a:lnTo>
                  <a:lnTo>
                    <a:pt x="227" y="7"/>
                  </a:lnTo>
                  <a:lnTo>
                    <a:pt x="238" y="8"/>
                  </a:lnTo>
                  <a:lnTo>
                    <a:pt x="249" y="10"/>
                  </a:lnTo>
                  <a:lnTo>
                    <a:pt x="261" y="11"/>
                  </a:lnTo>
                  <a:lnTo>
                    <a:pt x="273" y="12"/>
                  </a:lnTo>
                  <a:lnTo>
                    <a:pt x="285" y="14"/>
                  </a:lnTo>
                  <a:lnTo>
                    <a:pt x="297" y="15"/>
                  </a:lnTo>
                  <a:lnTo>
                    <a:pt x="310" y="17"/>
                  </a:lnTo>
                  <a:lnTo>
                    <a:pt x="323" y="19"/>
                  </a:lnTo>
                  <a:lnTo>
                    <a:pt x="336" y="20"/>
                  </a:lnTo>
                  <a:lnTo>
                    <a:pt x="349" y="22"/>
                  </a:lnTo>
                  <a:lnTo>
                    <a:pt x="362" y="23"/>
                  </a:lnTo>
                  <a:lnTo>
                    <a:pt x="375" y="25"/>
                  </a:lnTo>
                  <a:lnTo>
                    <a:pt x="389" y="26"/>
                  </a:lnTo>
                  <a:lnTo>
                    <a:pt x="403" y="28"/>
                  </a:lnTo>
                  <a:lnTo>
                    <a:pt x="416" y="29"/>
                  </a:lnTo>
                  <a:lnTo>
                    <a:pt x="430" y="31"/>
                  </a:lnTo>
                  <a:lnTo>
                    <a:pt x="443" y="32"/>
                  </a:lnTo>
                  <a:lnTo>
                    <a:pt x="456" y="34"/>
                  </a:lnTo>
                  <a:lnTo>
                    <a:pt x="469" y="35"/>
                  </a:lnTo>
                  <a:lnTo>
                    <a:pt x="482" y="36"/>
                  </a:lnTo>
                  <a:lnTo>
                    <a:pt x="495" y="38"/>
                  </a:lnTo>
                  <a:lnTo>
                    <a:pt x="507" y="39"/>
                  </a:lnTo>
                  <a:lnTo>
                    <a:pt x="520" y="40"/>
                  </a:lnTo>
                  <a:lnTo>
                    <a:pt x="532" y="41"/>
                  </a:lnTo>
                  <a:lnTo>
                    <a:pt x="544" y="42"/>
                  </a:lnTo>
                  <a:lnTo>
                    <a:pt x="556" y="43"/>
                  </a:lnTo>
                  <a:lnTo>
                    <a:pt x="568" y="44"/>
                  </a:lnTo>
                  <a:lnTo>
                    <a:pt x="580" y="45"/>
                  </a:lnTo>
                  <a:lnTo>
                    <a:pt x="592" y="45"/>
                  </a:lnTo>
                  <a:lnTo>
                    <a:pt x="604" y="46"/>
                  </a:lnTo>
                  <a:lnTo>
                    <a:pt x="615" y="47"/>
                  </a:lnTo>
                  <a:lnTo>
                    <a:pt x="627" y="48"/>
                  </a:lnTo>
                  <a:lnTo>
                    <a:pt x="637" y="48"/>
                  </a:lnTo>
                  <a:lnTo>
                    <a:pt x="647" y="49"/>
                  </a:lnTo>
                  <a:lnTo>
                    <a:pt x="657" y="49"/>
                  </a:lnTo>
                  <a:lnTo>
                    <a:pt x="665" y="50"/>
                  </a:lnTo>
                  <a:lnTo>
                    <a:pt x="672" y="50"/>
                  </a:lnTo>
                  <a:lnTo>
                    <a:pt x="679" y="51"/>
                  </a:lnTo>
                  <a:lnTo>
                    <a:pt x="686" y="51"/>
                  </a:lnTo>
                  <a:lnTo>
                    <a:pt x="694" y="51"/>
                  </a:lnTo>
                  <a:lnTo>
                    <a:pt x="703" y="51"/>
                  </a:lnTo>
                  <a:lnTo>
                    <a:pt x="714" y="52"/>
                  </a:lnTo>
                  <a:lnTo>
                    <a:pt x="727" y="52"/>
                  </a:lnTo>
                  <a:lnTo>
                    <a:pt x="742" y="52"/>
                  </a:lnTo>
                  <a:lnTo>
                    <a:pt x="759" y="52"/>
                  </a:lnTo>
                  <a:lnTo>
                    <a:pt x="776" y="52"/>
                  </a:lnTo>
                  <a:lnTo>
                    <a:pt x="793" y="52"/>
                  </a:lnTo>
                  <a:lnTo>
                    <a:pt x="808" y="52"/>
                  </a:lnTo>
                  <a:lnTo>
                    <a:pt x="821" y="52"/>
                  </a:lnTo>
                  <a:lnTo>
                    <a:pt x="830" y="52"/>
                  </a:lnTo>
                </a:path>
              </a:pathLst>
            </a:custGeom>
            <a:noFill/>
            <a:ln w="15875">
              <a:solidFill>
                <a:srgbClr val="8C1D23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438650" y="4294293"/>
              <a:ext cx="1270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高温水 维持 78℃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502150" y="5012972"/>
              <a:ext cx="1270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C1D23"/>
                  </a:solidFill>
                  <a:latin typeface="微软雅黑"/>
                  <a:ea typeface="微软雅黑"/>
                  <a:cs typeface="微软雅黑"/>
                </a:rPr>
                <a:t>低温水 25℃ → 0℃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501900" y="4395893"/>
              <a:ext cx="3048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650" b="0">
                  <a:solidFill>
                    <a:srgbClr val="8A857F"/>
                  </a:solidFill>
                  <a:latin typeface="Consolas"/>
                  <a:ea typeface="微软雅黑"/>
                  <a:cs typeface="Consolas"/>
                </a:rPr>
                <a:t>78℃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501900" y="5076472"/>
              <a:ext cx="3048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650" b="0">
                  <a:solidFill>
                    <a:srgbClr val="8A857F"/>
                  </a:solidFill>
                  <a:latin typeface="Consolas"/>
                  <a:ea typeface="微软雅黑"/>
                  <a:cs typeface="Consolas"/>
                </a:rPr>
                <a:t>25℃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501900" y="5397500"/>
              <a:ext cx="3048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650" b="0">
                  <a:solidFill>
                    <a:srgbClr val="8A857F"/>
                  </a:solidFill>
                  <a:latin typeface="Consolas"/>
                  <a:ea typeface="微软雅黑"/>
                  <a:cs typeface="Consolas"/>
                </a:rPr>
                <a:t>0℃</a:t>
              </a:r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2857500" y="5461000"/>
              <a:ext cx="5410200" cy="0"/>
            </a:xfrm>
            <a:prstGeom prst="line">
              <a:avLst/>
            </a:prstGeom>
            <a:ln w="9525">
              <a:solidFill>
                <a:srgbClr val="8A857F"/>
              </a:solidFill>
              <a:round/>
              <a:tailEnd type="triangle" w="med" len="med"/>
            </a:ln>
          </p:spPr>
        </p:cxnSp>
        <p:cxnSp>
          <p:nvCxnSpPr>
            <p:cNvPr id="89" name="Connector 88"/>
            <p:cNvCxnSpPr/>
            <p:nvPr/>
          </p:nvCxnSpPr>
          <p:spPr>
            <a:xfrm flipV="1">
              <a:off x="2857500" y="4165600"/>
              <a:ext cx="0" cy="1295400"/>
            </a:xfrm>
            <a:prstGeom prst="line">
              <a:avLst/>
            </a:prstGeom>
            <a:ln w="9525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90" name="TextBox 89"/>
            <p:cNvSpPr txBox="1"/>
            <p:nvPr/>
          </p:nvSpPr>
          <p:spPr>
            <a:xfrm>
              <a:off x="2476500" y="4114800"/>
              <a:ext cx="3302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水温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937500" y="5308600"/>
              <a:ext cx="330200" cy="1270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时间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413000" y="5524500"/>
              <a:ext cx="3810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手柄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863850" y="5524500"/>
              <a:ext cx="1041400" cy="165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863850" y="5524500"/>
              <a:ext cx="10414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牵引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3917950" y="5524500"/>
              <a:ext cx="4203700" cy="165100"/>
            </a:xfrm>
            <a:prstGeom prst="rect">
              <a:avLst/>
            </a:prstGeom>
            <a:solidFill>
              <a:srgbClr val="F9F2F2"/>
            </a:solidFill>
            <a:ln w="6350">
              <a:solidFill>
                <a:srgbClr val="F2E2E2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917950" y="5524500"/>
              <a:ext cx="42037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C1D23"/>
                  </a:solidFill>
                  <a:latin typeface="微软雅黑"/>
                  <a:ea typeface="微软雅黑"/>
                  <a:cs typeface="微软雅黑"/>
                </a:rPr>
                <a:t>回手柄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2413000" y="5715000"/>
              <a:ext cx="3810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风扇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863850" y="5715000"/>
              <a:ext cx="1041400" cy="165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3917950" y="5715000"/>
              <a:ext cx="4203700" cy="165100"/>
            </a:xfrm>
            <a:prstGeom prst="rect">
              <a:avLst/>
            </a:prstGeom>
            <a:solidFill>
              <a:srgbClr val="FAF3F2"/>
            </a:solidFill>
            <a:ln w="6350">
              <a:solidFill>
                <a:srgbClr val="A61C22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917950" y="5715000"/>
              <a:ext cx="42037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冷却风扇 40Hz 持续运行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413000" y="5905500"/>
              <a:ext cx="3810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线路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863850" y="5905500"/>
              <a:ext cx="5257800" cy="1651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863850" y="5905500"/>
              <a:ext cx="5257800" cy="1651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000"/>
                </a:lnSpc>
                <a:buNone/>
              </a:pPr>
              <a:r>
                <a:rPr lang="zh-CN" altLang="en-US" sz="70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临哈线长大下坡 · 环境约 −10℃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8648700" y="4102100"/>
              <a:ext cx="2984500" cy="1778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300"/>
                </a:lnSpc>
                <a:buNone/>
              </a:pPr>
              <a:r>
                <a:rPr lang="zh-CN" altLang="en-US" sz="9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识别结果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712200" y="4318000"/>
              <a:ext cx="1016000" cy="1524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工况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791700" y="4318000"/>
              <a:ext cx="889000" cy="1524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判据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0744200" y="4318000"/>
              <a:ext cx="889000" cy="1524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结论</a:t>
              </a:r>
            </a:p>
          </p:txBody>
        </p:sp>
        <p:cxnSp>
          <p:nvCxnSpPr>
            <p:cNvPr id="108" name="Connector 107"/>
            <p:cNvCxnSpPr/>
            <p:nvPr/>
          </p:nvCxnSpPr>
          <p:spPr>
            <a:xfrm>
              <a:off x="8648700" y="4483100"/>
              <a:ext cx="2984500" cy="0"/>
            </a:xfrm>
            <a:prstGeom prst="line">
              <a:avLst/>
            </a:prstGeom>
            <a:ln w="7620">
              <a:solidFill>
                <a:srgbClr val="6F6B67"/>
              </a:solidFill>
              <a:round/>
            </a:ln>
          </p:spPr>
        </p:cxnSp>
        <p:sp>
          <p:nvSpPr>
            <p:cNvPr id="109" name="TextBox 108"/>
            <p:cNvSpPr txBox="1"/>
            <p:nvPr/>
          </p:nvSpPr>
          <p:spPr>
            <a:xfrm>
              <a:off x="8712200" y="4495800"/>
              <a:ext cx="1016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牵引工况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791700" y="4495800"/>
              <a:ext cx="889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低温水防冻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744200" y="4495800"/>
              <a:ext cx="889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3E3A36"/>
                  </a:solidFill>
                  <a:latin typeface="微软雅黑"/>
                  <a:ea typeface="微软雅黑"/>
                  <a:cs typeface="微软雅黑"/>
                </a:rPr>
                <a:t>✓ 满足</a:t>
              </a:r>
            </a:p>
          </p:txBody>
        </p:sp>
        <p:cxnSp>
          <p:nvCxnSpPr>
            <p:cNvPr id="112" name="Connector 111"/>
            <p:cNvCxnSpPr/>
            <p:nvPr/>
          </p:nvCxnSpPr>
          <p:spPr>
            <a:xfrm>
              <a:off x="8648700" y="4724400"/>
              <a:ext cx="2984500" cy="0"/>
            </a:xfrm>
            <a:prstGeom prst="line">
              <a:avLst/>
            </a:prstGeom>
            <a:ln w="6350">
              <a:solidFill>
                <a:srgbClr val="ECE8E3"/>
              </a:solidFill>
              <a:round/>
            </a:ln>
          </p:spPr>
        </p:cxnSp>
        <p:sp>
          <p:nvSpPr>
            <p:cNvPr id="113" name="Rectangle 112"/>
            <p:cNvSpPr/>
            <p:nvPr/>
          </p:nvSpPr>
          <p:spPr>
            <a:xfrm>
              <a:off x="8648700" y="4724400"/>
              <a:ext cx="2984500" cy="228600"/>
            </a:xfrm>
            <a:prstGeom prst="rect">
              <a:avLst/>
            </a:prstGeom>
            <a:solidFill>
              <a:srgbClr val="FAF3F2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8712200" y="4724400"/>
              <a:ext cx="1016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回手柄 · 长大下坡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791700" y="4724400"/>
              <a:ext cx="889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低温水防冻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0744200" y="4724400"/>
              <a:ext cx="889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✗ 过冷</a:t>
              </a:r>
            </a:p>
          </p:txBody>
        </p:sp>
        <p:cxnSp>
          <p:nvCxnSpPr>
            <p:cNvPr id="117" name="Connector 116"/>
            <p:cNvCxnSpPr/>
            <p:nvPr/>
          </p:nvCxnSpPr>
          <p:spPr>
            <a:xfrm>
              <a:off x="8648700" y="4953000"/>
              <a:ext cx="2984500" cy="0"/>
            </a:xfrm>
            <a:prstGeom prst="line">
              <a:avLst/>
            </a:prstGeom>
            <a:ln w="6350">
              <a:solidFill>
                <a:srgbClr val="ECE8E3"/>
              </a:solidFill>
              <a:round/>
            </a:ln>
          </p:spPr>
        </p:cxnSp>
        <p:sp>
          <p:nvSpPr>
            <p:cNvPr id="118" name="TextBox 117"/>
            <p:cNvSpPr txBox="1"/>
            <p:nvPr/>
          </p:nvSpPr>
          <p:spPr>
            <a:xfrm>
              <a:off x="8712200" y="4953000"/>
              <a:ext cx="1016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回手柄 · 长大下坡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791700" y="4953000"/>
              <a:ext cx="889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高温水温度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0744200" y="4953000"/>
              <a:ext cx="889000" cy="228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3E3A36"/>
                  </a:solidFill>
                  <a:latin typeface="微软雅黑"/>
                  <a:ea typeface="微软雅黑"/>
                  <a:cs typeface="微软雅黑"/>
                </a:rPr>
                <a:t>✓ 正常</a:t>
              </a:r>
            </a:p>
          </p:txBody>
        </p:sp>
        <p:cxnSp>
          <p:nvCxnSpPr>
            <p:cNvPr id="121" name="Connector 120"/>
            <p:cNvCxnSpPr/>
            <p:nvPr/>
          </p:nvCxnSpPr>
          <p:spPr>
            <a:xfrm>
              <a:off x="8648700" y="5181600"/>
              <a:ext cx="2984500" cy="0"/>
            </a:xfrm>
            <a:prstGeom prst="line">
              <a:avLst/>
            </a:prstGeom>
            <a:ln w="6350">
              <a:solidFill>
                <a:srgbClr val="ECE8E3"/>
              </a:solidFill>
              <a:round/>
            </a:ln>
          </p:spPr>
        </p:cxnSp>
        <p:sp>
          <p:nvSpPr>
            <p:cNvPr id="122" name="Rectangle 121"/>
            <p:cNvSpPr/>
            <p:nvPr/>
          </p:nvSpPr>
          <p:spPr>
            <a:xfrm>
              <a:off x="8648700" y="5270500"/>
              <a:ext cx="2984500" cy="533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A61C22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750300" y="5321300"/>
              <a:ext cx="27813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A61C22"/>
                  </a:solidFill>
                  <a:latin typeface="微软雅黑"/>
                  <a:ea typeface="微软雅黑"/>
                  <a:cs typeface="微软雅黑"/>
                </a:rPr>
                <a:t>原因定位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750300" y="5473700"/>
              <a:ext cx="2781300" cy="304800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回手柄后柴油机发热量下降，风扇仍以 40Hz 运行，低温水回路被过度冷却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648700" y="5880100"/>
              <a:ext cx="29845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50" b="1">
                  <a:solidFill>
                    <a:srgbClr val="8C1D23"/>
                  </a:solidFill>
                  <a:latin typeface="微软雅黑"/>
                  <a:ea typeface="微软雅黑"/>
                  <a:cs typeface="微软雅黑"/>
                </a:rPr>
                <a:t>→ 写入验证报告；设计修改后，低温工况全量回归重跑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研究内容④ 架构融合与协同运行：融合成一个能跑起来的整体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现状与问题 · 研究内容 · 研究方法 · 示意图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研究内容④ 集成层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11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58900"/>
            <a:ext cx="1651000" cy="203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900" b="1" spc="50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四层架构 · 当前位置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" y="1638300"/>
            <a:ext cx="1651000" cy="3937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16827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集成层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8478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架构融合与协同运行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" y="20955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400" y="2095500"/>
            <a:ext cx="19050" cy="3937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21399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③ 执行层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3050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智能体执行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400" y="25527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" y="2552700"/>
            <a:ext cx="19050" cy="3937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25971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② 决策层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7622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任务理解与智能编排调度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400" y="3009900"/>
            <a:ext cx="1651000" cy="39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" y="3009900"/>
            <a:ext cx="19050" cy="3937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305435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① 基础层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3219450"/>
            <a:ext cx="14605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测试知识库与任务工作流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" y="36068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对接项目7总体目标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" y="3898900"/>
            <a:ext cx="1651000" cy="215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指标实时推演</a:t>
            </a: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→ 协同运行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400" y="4267200"/>
            <a:ext cx="1651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产出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400" y="4546600"/>
            <a:ext cx="1651000" cy="304800"/>
          </a:xfrm>
          <a:prstGeom prst="rect">
            <a:avLst/>
          </a:prstGeom>
          <a:solidFill>
            <a:srgbClr val="F7F1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400" y="4546600"/>
            <a:ext cx="19050" cy="3048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650" y="4546600"/>
            <a:ext cx="1479550" cy="304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5B1317"/>
                </a:solidFill>
                <a:latin typeface="微软雅黑"/>
                <a:ea typeface="微软雅黑"/>
                <a:cs typeface="微软雅黑"/>
              </a:rPr>
              <a:t>✓ 列车级数字样机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400" y="4902200"/>
            <a:ext cx="1651000" cy="469900"/>
          </a:xfrm>
          <a:prstGeom prst="rect">
            <a:avLst/>
          </a:prstGeom>
          <a:solidFill>
            <a:srgbClr val="F7F1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6400" y="4902200"/>
            <a:ext cx="19050" cy="4699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650" y="4902200"/>
            <a:ext cx="1479550" cy="469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00" b="1">
                <a:solidFill>
                  <a:srgbClr val="5B1317"/>
                </a:solidFill>
                <a:latin typeface="微软雅黑"/>
                <a:ea typeface="微软雅黑"/>
                <a:cs typeface="微软雅黑"/>
              </a:rPr>
              <a:t>✓ 列车级数字样机构建方法体系与集成技术规范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60600" y="1358900"/>
            <a:ext cx="9525000" cy="7112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60600" y="1358900"/>
            <a:ext cx="19050" cy="7112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13000" y="1447800"/>
            <a:ext cx="6350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A61C22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现状与问题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3000" y="1676400"/>
            <a:ext cx="53848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台架以控制器为核心，其他系统靠经验数据近似，控制、冷却、动力、线路等系统难以在同一环境中协同运行，复杂场景无法模拟。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75600" y="1473200"/>
            <a:ext cx="0" cy="482600"/>
          </a:xfrm>
          <a:prstGeom prst="line">
            <a:avLst/>
          </a:prstGeom>
          <a:ln w="6350">
            <a:solidFill>
              <a:srgbClr val="DCD7D1"/>
            </a:solidFill>
            <a:round/>
          </a:ln>
        </p:spPr>
      </p:cxnSp>
      <p:sp>
        <p:nvSpPr>
          <p:cNvPr id="39" name="TextBox 38"/>
          <p:cNvSpPr txBox="1"/>
          <p:nvPr/>
        </p:nvSpPr>
        <p:spPr>
          <a:xfrm>
            <a:off x="8153400" y="1447800"/>
            <a:ext cx="1524000" cy="1778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研究方法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3400" y="1676400"/>
            <a:ext cx="3454400" cy="3683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系统集成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——标准化接口、服务化封装、沙箱化运行与全程留痕；难点是异构模型实时协同下的稳定性与可复现。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60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60600" y="2171700"/>
            <a:ext cx="2286000" cy="1905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0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5B1317"/>
                </a:solidFill>
                <a:latin typeface="Consolas"/>
                <a:ea typeface="微软雅黑"/>
                <a:cs typeface="Consolas"/>
              </a:rPr>
              <a:t>01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总体架构与接口规范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00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10795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定义四层的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接口、数据流与控制流</a:t>
            </a: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；已有模型与 HIL 台架经标准接口接入，不重复建设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73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73600" y="2171700"/>
            <a:ext cx="2286000" cy="1905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3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5B1317"/>
                </a:solidFill>
                <a:latin typeface="Consolas"/>
                <a:ea typeface="微软雅黑"/>
                <a:cs typeface="Consolas"/>
              </a:rPr>
              <a:t>02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多智能体协同运行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3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异构智能体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实时协同求解、时序同步与状态同步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86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86600" y="2171700"/>
            <a:ext cx="2286000" cy="1905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6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5B1317"/>
                </a:solidFill>
                <a:latin typeface="Consolas"/>
                <a:ea typeface="微软雅黑"/>
                <a:cs typeface="Consolas"/>
              </a:rPr>
              <a:t>03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可复现沙箱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6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隔离</a:t>
            </a: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（单路发散不扩散）、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记录</a:t>
            </a: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（参数、模型版本、随机种子）、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回放</a:t>
            </a: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（任意一次验证可复现）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99600" y="2171700"/>
            <a:ext cx="22860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99600" y="2171700"/>
            <a:ext cx="2286000" cy="1905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39300" y="2273300"/>
            <a:ext cx="200660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5B1317"/>
                </a:solidFill>
                <a:latin typeface="Consolas"/>
                <a:ea typeface="微软雅黑"/>
                <a:cs typeface="Consolas"/>
              </a:rPr>
              <a:t>04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列车级数字样机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9300" y="2540000"/>
            <a:ext cx="20066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以 </a:t>
            </a: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FXN5C</a:t>
            </a: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为示范对象集成关键系统智能体，支持性能验证与智能运维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60600" y="3225800"/>
            <a:ext cx="952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列车级数字样机构成：关键系统智能体经标准化接口接入引擎，在沙箱中协同运行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74000" y="3225800"/>
            <a:ext cx="3911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示意图</a:t>
            </a:r>
          </a:p>
        </p:txBody>
      </p:sp>
      <p:grpSp>
        <p:nvGrpSpPr>
          <p:cNvPr id="59" name="附图 · 列车级数字样机构成：关键系统智能体经标准化接口接入引擎，在沙箱中协同运行"/>
          <p:cNvGrpSpPr/>
          <p:nvPr/>
        </p:nvGrpSpPr>
        <p:grpSpPr>
          <a:xfrm>
            <a:off x="2260600" y="3517900"/>
            <a:ext cx="9525000" cy="2768600"/>
            <a:chOff x="2260600" y="3517900"/>
            <a:chExt cx="9525000" cy="2768600"/>
          </a:xfrm>
        </p:grpSpPr>
        <p:sp>
          <p:nvSpPr>
            <p:cNvPr id="60" name="Rectangle 59"/>
            <p:cNvSpPr/>
            <p:nvPr/>
          </p:nvSpPr>
          <p:spPr>
            <a:xfrm>
              <a:off x="2260600" y="3517900"/>
              <a:ext cx="9525000" cy="2768600"/>
            </a:xfrm>
            <a:prstGeom prst="rect">
              <a:avLst/>
            </a:prstGeom>
            <a:solidFill>
              <a:srgbClr val="FAF9F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413000" y="3733800"/>
              <a:ext cx="6807200" cy="2438400"/>
            </a:xfrm>
            <a:prstGeom prst="rect">
              <a:avLst/>
            </a:prstGeom>
            <a:noFill/>
            <a:ln w="9525">
              <a:solidFill>
                <a:srgbClr val="CCC6BF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2565400" y="3619500"/>
              <a:ext cx="1886220" cy="228600"/>
            </a:xfrm>
            <a:prstGeom prst="roundRect">
              <a:avLst>
                <a:gd name="adj" fmla="val 22222"/>
              </a:avLst>
            </a:prstGeom>
            <a:solidFill>
              <a:srgbClr val="3E3A36"/>
            </a:solidFill>
            <a:ln>
              <a:noFill/>
            </a:ln>
          </p:spPr>
          <p:txBody>
            <a:bodyPr rtlCol="0" anchor="ctr" lIns="0" rIns="0" tIns="0" bIns="0" wrap="none">
              <a:noAutofit/>
            </a:bodyPr>
            <a:lstStyle/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800" b="1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03 可复现沙箱：隔离 · 记录 · 回放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565400" y="3975100"/>
              <a:ext cx="1020233" cy="355600"/>
            </a:xfrm>
            <a:prstGeom prst="rect">
              <a:avLst/>
            </a:prstGeom>
            <a:solidFill>
              <a:srgbClr val="F7F1F1"/>
            </a:solidFill>
            <a:ln w="7620">
              <a:solidFill>
                <a:srgbClr val="EEE0E0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565400" y="3975100"/>
              <a:ext cx="1020233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控制系统</a:t>
              </a:r>
              <a:br>
                <a:rPr lang="zh-CN" altLang="en-US" sz="850"/>
              </a:b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智能体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3075517" y="4330700"/>
              <a:ext cx="0" cy="177800"/>
            </a:xfrm>
            <a:prstGeom prst="line">
              <a:avLst/>
            </a:prstGeom>
            <a:ln w="9525">
              <a:solidFill>
                <a:srgbClr val="8A857F"/>
              </a:solidFill>
              <a:round/>
            </a:ln>
          </p:spPr>
        </p:cxnSp>
        <p:sp>
          <p:nvSpPr>
            <p:cNvPr id="66" name="Rectangle 65"/>
            <p:cNvSpPr/>
            <p:nvPr/>
          </p:nvSpPr>
          <p:spPr>
            <a:xfrm>
              <a:off x="3043767" y="4508500"/>
              <a:ext cx="63500" cy="63500"/>
            </a:xfrm>
            <a:prstGeom prst="rect">
              <a:avLst/>
            </a:prstGeom>
            <a:solidFill>
              <a:srgbClr val="5B131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661833" y="3975100"/>
              <a:ext cx="1020233" cy="355600"/>
            </a:xfrm>
            <a:prstGeom prst="rect">
              <a:avLst/>
            </a:prstGeom>
            <a:solidFill>
              <a:srgbClr val="F7F1F1"/>
            </a:solidFill>
            <a:ln w="7620">
              <a:solidFill>
                <a:srgbClr val="EEE0E0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661833" y="3975100"/>
              <a:ext cx="1020233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车辆动力学</a:t>
              </a:r>
              <a:br>
                <a:rPr lang="zh-CN" altLang="en-US" sz="850"/>
              </a:b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智能体</a:t>
              </a:r>
            </a:p>
          </p:txBody>
        </p:sp>
        <p:cxnSp>
          <p:nvCxnSpPr>
            <p:cNvPr id="69" name="Connector 68"/>
            <p:cNvCxnSpPr/>
            <p:nvPr/>
          </p:nvCxnSpPr>
          <p:spPr>
            <a:xfrm>
              <a:off x="4171950" y="4330700"/>
              <a:ext cx="0" cy="177800"/>
            </a:xfrm>
            <a:prstGeom prst="line">
              <a:avLst/>
            </a:prstGeom>
            <a:ln w="9525">
              <a:solidFill>
                <a:srgbClr val="8A857F"/>
              </a:solidFill>
              <a:round/>
            </a:ln>
          </p:spPr>
        </p:cxnSp>
        <p:sp>
          <p:nvSpPr>
            <p:cNvPr id="70" name="Rectangle 69"/>
            <p:cNvSpPr/>
            <p:nvPr/>
          </p:nvSpPr>
          <p:spPr>
            <a:xfrm>
              <a:off x="4140200" y="4508500"/>
              <a:ext cx="63500" cy="63500"/>
            </a:xfrm>
            <a:prstGeom prst="rect">
              <a:avLst/>
            </a:prstGeom>
            <a:solidFill>
              <a:srgbClr val="5B131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4758267" y="3975100"/>
              <a:ext cx="1020233" cy="355600"/>
            </a:xfrm>
            <a:prstGeom prst="rect">
              <a:avLst/>
            </a:prstGeom>
            <a:solidFill>
              <a:srgbClr val="F7F1F1"/>
            </a:solidFill>
            <a:ln w="7620">
              <a:solidFill>
                <a:srgbClr val="EEE0E0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758267" y="3975100"/>
              <a:ext cx="1020233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线路</a:t>
              </a:r>
              <a:br>
                <a:rPr lang="zh-CN" altLang="en-US" sz="850"/>
              </a:b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智能体</a:t>
              </a:r>
            </a:p>
          </p:txBody>
        </p:sp>
        <p:cxnSp>
          <p:nvCxnSpPr>
            <p:cNvPr id="73" name="Connector 72"/>
            <p:cNvCxnSpPr/>
            <p:nvPr/>
          </p:nvCxnSpPr>
          <p:spPr>
            <a:xfrm>
              <a:off x="5268383" y="4330700"/>
              <a:ext cx="0" cy="177800"/>
            </a:xfrm>
            <a:prstGeom prst="line">
              <a:avLst/>
            </a:prstGeom>
            <a:ln w="9525">
              <a:solidFill>
                <a:srgbClr val="8A857F"/>
              </a:solidFill>
              <a:round/>
            </a:ln>
          </p:spPr>
        </p:cxnSp>
        <p:sp>
          <p:nvSpPr>
            <p:cNvPr id="74" name="Rectangle 73"/>
            <p:cNvSpPr/>
            <p:nvPr/>
          </p:nvSpPr>
          <p:spPr>
            <a:xfrm>
              <a:off x="5236633" y="4508500"/>
              <a:ext cx="63500" cy="63500"/>
            </a:xfrm>
            <a:prstGeom prst="rect">
              <a:avLst/>
            </a:prstGeom>
            <a:solidFill>
              <a:srgbClr val="5B131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854700" y="3975100"/>
              <a:ext cx="1020233" cy="355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CD7D1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854700" y="3975100"/>
              <a:ext cx="1020233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8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牵引系统</a:t>
              </a:r>
              <a:br>
                <a:rPr lang="zh-CN" altLang="en-US" sz="850"/>
              </a:b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预留扩展</a:t>
              </a:r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6364817" y="4330700"/>
              <a:ext cx="0" cy="177800"/>
            </a:xfrm>
            <a:prstGeom prst="line">
              <a:avLst/>
            </a:prstGeom>
            <a:ln w="9525">
              <a:solidFill>
                <a:srgbClr val="DCD7D1"/>
              </a:solidFill>
              <a:prstDash val="dash"/>
              <a:round/>
            </a:ln>
          </p:spPr>
        </p:cxnSp>
        <p:sp>
          <p:nvSpPr>
            <p:cNvPr id="78" name="Rectangle 77"/>
            <p:cNvSpPr/>
            <p:nvPr/>
          </p:nvSpPr>
          <p:spPr>
            <a:xfrm>
              <a:off x="6333067" y="4508500"/>
              <a:ext cx="63500" cy="63500"/>
            </a:xfrm>
            <a:prstGeom prst="rect">
              <a:avLst/>
            </a:prstGeom>
            <a:solidFill>
              <a:srgbClr val="DCD7D1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951133" y="3975100"/>
              <a:ext cx="1020233" cy="355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CD7D1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951133" y="3975100"/>
              <a:ext cx="1020233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8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制动系统</a:t>
              </a:r>
              <a:br>
                <a:rPr lang="zh-CN" altLang="en-US" sz="850"/>
              </a:b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预留扩展</a:t>
              </a:r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7461250" y="4330700"/>
              <a:ext cx="0" cy="177800"/>
            </a:xfrm>
            <a:prstGeom prst="line">
              <a:avLst/>
            </a:prstGeom>
            <a:ln w="9525">
              <a:solidFill>
                <a:srgbClr val="DCD7D1"/>
              </a:solidFill>
              <a:prstDash val="dash"/>
              <a:round/>
            </a:ln>
          </p:spPr>
        </p:cxnSp>
        <p:sp>
          <p:nvSpPr>
            <p:cNvPr id="82" name="Rectangle 81"/>
            <p:cNvSpPr/>
            <p:nvPr/>
          </p:nvSpPr>
          <p:spPr>
            <a:xfrm>
              <a:off x="7429500" y="4508500"/>
              <a:ext cx="63500" cy="63500"/>
            </a:xfrm>
            <a:prstGeom prst="rect">
              <a:avLst/>
            </a:prstGeom>
            <a:solidFill>
              <a:srgbClr val="DCD7D1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047567" y="3975100"/>
              <a:ext cx="1020233" cy="3556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CD7D1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047567" y="3975100"/>
              <a:ext cx="1020233" cy="3556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150"/>
                </a:lnSpc>
                <a:buNone/>
              </a:pPr>
              <a:r>
                <a:rPr lang="zh-CN" altLang="en-US" sz="85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辅助系统</a:t>
              </a:r>
              <a:br>
                <a:rPr lang="zh-CN" altLang="en-US" sz="850"/>
              </a:br>
              <a:r>
                <a:rPr lang="zh-CN" altLang="en-US" sz="700" b="0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预留扩展</a:t>
              </a:r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8557683" y="4330700"/>
              <a:ext cx="0" cy="177800"/>
            </a:xfrm>
            <a:prstGeom prst="line">
              <a:avLst/>
            </a:prstGeom>
            <a:ln w="9525">
              <a:solidFill>
                <a:srgbClr val="DCD7D1"/>
              </a:solidFill>
              <a:prstDash val="dash"/>
              <a:round/>
            </a:ln>
          </p:spPr>
        </p:cxnSp>
        <p:sp>
          <p:nvSpPr>
            <p:cNvPr id="86" name="Rectangle 85"/>
            <p:cNvSpPr/>
            <p:nvPr/>
          </p:nvSpPr>
          <p:spPr>
            <a:xfrm>
              <a:off x="8525933" y="4508500"/>
              <a:ext cx="63500" cy="63500"/>
            </a:xfrm>
            <a:prstGeom prst="rect">
              <a:avLst/>
            </a:prstGeom>
            <a:solidFill>
              <a:srgbClr val="DCD7D1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2565400" y="4572000"/>
              <a:ext cx="6502400" cy="393700"/>
            </a:xfrm>
            <a:prstGeom prst="rect">
              <a:avLst/>
            </a:prstGeom>
            <a:solidFill>
              <a:srgbClr val="5B131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565400" y="4572000"/>
              <a:ext cx="6502400" cy="393700"/>
            </a:xfrm>
            <a:prstGeom prst="rect">
              <a:avLst/>
            </a:prstGeom>
            <a:noFill/>
          </p:spPr>
          <p:txBody>
            <a:bodyPr wrap="none" anchor="ctr" lIns="0" tIns="0" rIns="0" bIns="0">
              <a:noAutofit/>
            </a:bodyPr>
            <a:lstStyle/>
            <a:p>
              <a:pPr algn="ctr" marL="0" indent="0">
                <a:lnSpc>
                  <a:spcPts val="1350"/>
                </a:lnSpc>
                <a:buNone/>
              </a:pPr>
              <a:r>
                <a:rPr lang="zh-CN" altLang="en-US" sz="1000" b="1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02 多智能体协同运行与调度引擎</a:t>
              </a:r>
            </a:p>
            <a:p>
              <a:pPr algn="ctr" marL="0" indent="0">
                <a:lnSpc>
                  <a:spcPts val="1050"/>
                </a:lnSpc>
                <a:buNone/>
              </a:pPr>
              <a:r>
                <a:rPr lang="zh-CN" altLang="en-US" sz="750" b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经 01 标准化接口接入 · 实时协同求解 · 时序同步 · 状态同步</a:t>
              </a:r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5816600" y="4978400"/>
              <a:ext cx="0" cy="29210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  <p:sp>
          <p:nvSpPr>
            <p:cNvPr id="90" name="TextBox 89"/>
            <p:cNvSpPr txBox="1"/>
            <p:nvPr/>
          </p:nvSpPr>
          <p:spPr>
            <a:xfrm>
              <a:off x="5880100" y="5003800"/>
              <a:ext cx="508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000"/>
                </a:lnSpc>
                <a:buNone/>
              </a:pPr>
              <a:r>
                <a:rPr lang="zh-CN" altLang="en-US" sz="700" b="1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集成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565400" y="6070600"/>
              <a:ext cx="6502400" cy="127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5654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7940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30226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32512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4798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7084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9370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1656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3942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6228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8514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50800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3086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5372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7658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9944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62230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64516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6802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69088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1374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73660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75946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8232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80518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82804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85090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87376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8966200" y="6083300"/>
              <a:ext cx="12700" cy="50800"/>
            </a:xfrm>
            <a:prstGeom prst="rect">
              <a:avLst/>
            </a:prstGeom>
            <a:solidFill>
              <a:srgbClr val="C5BFB8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21" name="Picture 120" descr="locomotive_premiu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3600" y="5314696"/>
              <a:ext cx="3048000" cy="762000"/>
            </a:xfrm>
            <a:prstGeom prst="rect">
              <a:avLst/>
            </a:prstGeom>
          </p:spPr>
        </p:pic>
        <p:sp>
          <p:nvSpPr>
            <p:cNvPr id="122" name="TextBox 121"/>
            <p:cNvSpPr txBox="1"/>
            <p:nvPr/>
          </p:nvSpPr>
          <p:spPr>
            <a:xfrm>
              <a:off x="2565400" y="5334000"/>
              <a:ext cx="1587500" cy="1905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400"/>
                </a:lnSpc>
                <a:buNone/>
              </a:pPr>
              <a:r>
                <a:rPr lang="zh-CN" altLang="en-US" sz="100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04 列车级数字样机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565400" y="5562600"/>
              <a:ext cx="1524000" cy="304800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关键系统仿真智能体 ＋ 协同运行与调度引擎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9474200" y="4381500"/>
              <a:ext cx="2159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可接入现有条件</a:t>
              </a: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9474200" y="4546600"/>
              <a:ext cx="2159000" cy="444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9474200" y="4546600"/>
              <a:ext cx="19050" cy="444500"/>
            </a:xfrm>
            <a:prstGeom prst="rect">
              <a:avLst/>
            </a:prstGeom>
            <a:solidFill>
              <a:srgbClr val="3E3A36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9601200" y="4597400"/>
              <a:ext cx="1930400" cy="1651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200"/>
                </a:lnSpc>
                <a:buNone/>
              </a:pPr>
              <a:r>
                <a:rPr lang="zh-CN" altLang="en-US" sz="850" b="1">
                  <a:solidFill>
                    <a:srgbClr val="1E1E1E"/>
                  </a:solidFill>
                  <a:latin typeface="微软雅黑"/>
                  <a:ea typeface="微软雅黑"/>
                  <a:cs typeface="微软雅黑"/>
                </a:rPr>
                <a:t>HIL 台架：控制器在环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9601200" y="4787900"/>
              <a:ext cx="1930400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6F6B67"/>
                  </a:solidFill>
                  <a:latin typeface="微软雅黑"/>
                  <a:ea typeface="微软雅黑"/>
                  <a:cs typeface="微软雅黑"/>
                </a:rPr>
                <a:t>经验数据用于智能体标定</a:t>
              </a:r>
            </a:p>
          </p:txBody>
        </p:sp>
        <p:cxnSp>
          <p:nvCxnSpPr>
            <p:cNvPr id="129" name="Connector 128"/>
            <p:cNvCxnSpPr/>
            <p:nvPr/>
          </p:nvCxnSpPr>
          <p:spPr>
            <a:xfrm flipH="1">
              <a:off x="9105900" y="4768850"/>
              <a:ext cx="342900" cy="0"/>
            </a:xfrm>
            <a:prstGeom prst="line">
              <a:avLst/>
            </a:prstGeom>
            <a:ln w="11430">
              <a:solidFill>
                <a:srgbClr val="3E3A36"/>
              </a:solidFill>
              <a:prstDash val="dash"/>
              <a:round/>
              <a:tailEnd type="triangle" w="med" len="med"/>
            </a:ln>
          </p:spPr>
        </p:cxnSp>
        <p:sp>
          <p:nvSpPr>
            <p:cNvPr id="130" name="TextBox 129"/>
            <p:cNvSpPr txBox="1"/>
            <p:nvPr/>
          </p:nvSpPr>
          <p:spPr>
            <a:xfrm>
              <a:off x="9474200" y="5029200"/>
              <a:ext cx="2159000" cy="1397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1">
                  <a:solidFill>
                    <a:srgbClr val="8A857F"/>
                  </a:solidFill>
                  <a:latin typeface="微软雅黑"/>
                  <a:ea typeface="微软雅黑"/>
                  <a:cs typeface="微软雅黑"/>
                </a:rPr>
                <a:t>支撑</a:t>
              </a: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9474200" y="5219700"/>
              <a:ext cx="2159000" cy="9525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8E3"/>
              </a:solidFill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9474200" y="5219700"/>
              <a:ext cx="19050" cy="952500"/>
            </a:xfrm>
            <a:prstGeom prst="rect">
              <a:avLst/>
            </a:prstGeom>
            <a:solidFill>
              <a:srgbClr val="5B1317"/>
            </a:solidFill>
            <a:ln>
              <a:noFill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9601200" y="5295900"/>
              <a:ext cx="1930400" cy="1651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200"/>
                </a:lnSpc>
                <a:buNone/>
              </a:pP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列车关键性能验证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601200" y="5486400"/>
              <a:ext cx="1930400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速度跟踪 · 牵引能耗 · 运行平稳性</a:t>
              </a:r>
            </a:p>
          </p:txBody>
        </p:sp>
        <p:cxnSp>
          <p:nvCxnSpPr>
            <p:cNvPr id="135" name="Connector 134"/>
            <p:cNvCxnSpPr/>
            <p:nvPr/>
          </p:nvCxnSpPr>
          <p:spPr>
            <a:xfrm>
              <a:off x="9601200" y="5702300"/>
              <a:ext cx="1905000" cy="0"/>
            </a:xfrm>
            <a:prstGeom prst="line">
              <a:avLst/>
            </a:prstGeom>
            <a:ln w="6350">
              <a:solidFill>
                <a:srgbClr val="ECE8E3"/>
              </a:solidFill>
              <a:round/>
            </a:ln>
          </p:spPr>
        </p:cxnSp>
        <p:sp>
          <p:nvSpPr>
            <p:cNvPr id="136" name="TextBox 135"/>
            <p:cNvSpPr txBox="1"/>
            <p:nvPr/>
          </p:nvSpPr>
          <p:spPr>
            <a:xfrm>
              <a:off x="9601200" y="5765800"/>
              <a:ext cx="1930400" cy="1651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200"/>
                </a:lnSpc>
                <a:buNone/>
              </a:pPr>
              <a:r>
                <a:rPr lang="zh-CN" altLang="en-US" sz="850" b="1">
                  <a:solidFill>
                    <a:srgbClr val="5B1317"/>
                  </a:solidFill>
                  <a:latin typeface="微软雅黑"/>
                  <a:ea typeface="微软雅黑"/>
                  <a:cs typeface="微软雅黑"/>
                </a:rPr>
                <a:t>智能运维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9601200" y="5956300"/>
              <a:ext cx="1930400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l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474543"/>
                  </a:solidFill>
                  <a:latin typeface="微软雅黑"/>
                  <a:ea typeface="微软雅黑"/>
                  <a:cs typeface="微软雅黑"/>
                </a:rPr>
                <a:t>性能复现 · 状态评估</a:t>
              </a:r>
            </a:p>
          </p:txBody>
        </p:sp>
        <p:cxnSp>
          <p:nvCxnSpPr>
            <p:cNvPr id="138" name="Connector 137"/>
            <p:cNvCxnSpPr/>
            <p:nvPr/>
          </p:nvCxnSpPr>
          <p:spPr>
            <a:xfrm>
              <a:off x="9245600" y="5695950"/>
              <a:ext cx="190500" cy="0"/>
            </a:xfrm>
            <a:prstGeom prst="line">
              <a:avLst/>
            </a:prstGeom>
            <a:ln w="12700">
              <a:solidFill>
                <a:srgbClr val="8A857F"/>
              </a:solidFill>
              <a:round/>
              <a:tailEnd type="triangle" w="med" len="med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典型应用场景：FXN5C 临哈线控速＋能耗验证，全流程交给智能体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输入一句话需求 → 引擎自动完成五步 → 验证报告 ＋ 全要素留痕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典型应用场景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12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358900"/>
            <a:ext cx="1587500" cy="533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 · 一句话需求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3900" y="1358900"/>
            <a:ext cx="9791700" cy="5334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quote-8A857F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0" y="151130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01900" y="1358900"/>
            <a:ext cx="91440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验证 FXN5C 在临哈线上按给定运行图运行时的</a:t>
            </a:r>
            <a:r>
              <a:rPr lang="zh-CN" altLang="en-US" sz="1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速度跟踪</a:t>
            </a: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lang="zh-CN" altLang="en-US" sz="1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牵引能耗</a:t>
            </a: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是否满足要求。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20955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引擎自动完成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" y="2374900"/>
            <a:ext cx="21539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400" y="2374900"/>
            <a:ext cx="215392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100" y="2476500"/>
            <a:ext cx="187452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01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任务理解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100" y="2743200"/>
            <a:ext cx="1874520" cy="1104900"/>
          </a:xfrm>
          <a:prstGeom prst="rect">
            <a:avLst/>
          </a:prstGeom>
          <a:noFill/>
        </p:spPr>
        <p:txBody>
          <a:bodyPr wrap="square" anchor="t" lIns="0" tIns="0" rIns="11430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对象——牵引控制系统；性能——速度跟踪偏差、牵引能耗；判据取自知识库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2573020" y="30924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12720" y="2374900"/>
            <a:ext cx="21539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12720" y="2374900"/>
            <a:ext cx="215392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420" y="2476500"/>
            <a:ext cx="187452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02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工况生成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420" y="2743200"/>
            <a:ext cx="1874520" cy="1104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临哈线线路数据 × 轨面（干／湿）× 载荷（满／空）× 线路条件（长大坡道／小半径曲线／隧道）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879340" y="30924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19040" y="2374900"/>
            <a:ext cx="21539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19040" y="2374900"/>
            <a:ext cx="215392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8740" y="2476500"/>
            <a:ext cx="187452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03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装配与调度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8740" y="2743200"/>
            <a:ext cx="1874520" cy="1104900"/>
          </a:xfrm>
          <a:prstGeom prst="rect">
            <a:avLst/>
          </a:prstGeom>
          <a:noFill/>
        </p:spPr>
        <p:txBody>
          <a:bodyPr wrap="square" anchor="t" lIns="0" tIns="0" rIns="22860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牵引控制、车辆动力学、线路智能体自动装配，按工况分配精度与算力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7185660" y="30924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5360" y="2374900"/>
            <a:ext cx="21539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5360" y="2374900"/>
            <a:ext cx="215392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5060" y="2476500"/>
            <a:ext cx="187452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04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执行与判读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5060" y="2743200"/>
            <a:ext cx="1874520" cy="1104900"/>
          </a:xfrm>
          <a:prstGeom prst="rect">
            <a:avLst/>
          </a:prstGeom>
          <a:noFill/>
        </p:spPr>
        <p:txBody>
          <a:bodyPr wrap="square" anchor="t" lIns="0" tIns="0" rIns="34290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协同求解、自动标定；定位异常（如某曲线段速度超差），追溯原因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9491980" y="3092450"/>
            <a:ext cx="127000" cy="88900"/>
          </a:xfrm>
          <a:prstGeom prst="triangle">
            <a:avLst/>
          </a:prstGeom>
          <a:solidFill>
            <a:srgbClr val="D3CDC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31680" y="2374900"/>
            <a:ext cx="2153920" cy="15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31680" y="2374900"/>
            <a:ext cx="215392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71380" y="2476500"/>
            <a:ext cx="1874520" cy="2032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1000" b="1">
                <a:solidFill>
                  <a:srgbClr val="A61C22"/>
                </a:solidFill>
                <a:latin typeface="Consolas"/>
                <a:ea typeface="微软雅黑"/>
                <a:cs typeface="Consolas"/>
              </a:rPr>
              <a:t>05</a:t>
            </a: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 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1380" y="2743200"/>
            <a:ext cx="1874520" cy="1104900"/>
          </a:xfrm>
          <a:prstGeom prst="rect">
            <a:avLst/>
          </a:prstGeom>
          <a:noFill/>
        </p:spPr>
        <p:txBody>
          <a:bodyPr wrap="square" anchor="t" lIns="0" tIns="0" rIns="11430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验证报告＋全要素留痕，可回放、可回归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400" y="41529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与现有做法对比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6400" y="4711700"/>
            <a:ext cx="113792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40" name="TextBox 39"/>
          <p:cNvSpPr txBox="1"/>
          <p:nvPr/>
        </p:nvSpPr>
        <p:spPr>
          <a:xfrm>
            <a:off x="508000" y="4432300"/>
            <a:ext cx="1955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环节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7000" y="4432300"/>
            <a:ext cx="3352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3000" y="4432300"/>
            <a:ext cx="5461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应用引擎后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000" y="4711700"/>
            <a:ext cx="19558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工况准备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7000" y="4711700"/>
            <a:ext cx="33528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人工编写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3000" y="4711700"/>
            <a:ext cx="54610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按线路资料与判据自动生成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6400" y="50863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7" name="TextBox 46"/>
          <p:cNvSpPr txBox="1"/>
          <p:nvPr/>
        </p:nvSpPr>
        <p:spPr>
          <a:xfrm>
            <a:off x="508000" y="5086350"/>
            <a:ext cx="19558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环境搭建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67000" y="5086350"/>
            <a:ext cx="33528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台架＋人工联调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3000" y="5086350"/>
            <a:ext cx="54610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自动装配智能体与算力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06400" y="54610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1" name="TextBox 50"/>
          <p:cNvSpPr txBox="1"/>
          <p:nvPr/>
        </p:nvSpPr>
        <p:spPr>
          <a:xfrm>
            <a:off x="508000" y="5461000"/>
            <a:ext cx="19558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结果判读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7000" y="5461000"/>
            <a:ext cx="33528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人工看曲线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23000" y="5461000"/>
            <a:ext cx="5461000" cy="3746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自动比对判据、定位原因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06400" y="58356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创新点与技术定位：先进性不在单项技术，而在调度的维度与粒度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三项突破 · 技术定位：不替代现有工具，把它们接起来、调度起来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13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三项突破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400" y="1905000"/>
            <a:ext cx="113792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11" name="TextBox 10"/>
          <p:cNvSpPr txBox="1"/>
          <p:nvPr/>
        </p:nvSpPr>
        <p:spPr>
          <a:xfrm>
            <a:off x="508000" y="1625600"/>
            <a:ext cx="2590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突破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0" y="1625600"/>
            <a:ext cx="5257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技术机制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0" y="1625600"/>
            <a:ext cx="2921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带来的变化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1905000"/>
            <a:ext cx="25908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① 调度对象升级为智能体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000" y="1905000"/>
            <a:ext cx="52578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智能体自主标定、自主判读，引擎按任务调度智能体而非算例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0" y="1905000"/>
            <a:ext cx="29210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人退出执行回路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400" y="23368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8" name="TextBox 17"/>
          <p:cNvSpPr txBox="1"/>
          <p:nvPr/>
        </p:nvSpPr>
        <p:spPr>
          <a:xfrm>
            <a:off x="508000" y="2336800"/>
            <a:ext cx="25908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② 调度多一个维度：保真度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000" y="2336800"/>
            <a:ext cx="52578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工况驱动的降阶／全保真切换，GPU、NPU 算力随之调配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0" y="2336800"/>
            <a:ext cx="29210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批量提速与关键工况精度同时成立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6400" y="27686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2" name="TextBox 21"/>
          <p:cNvSpPr txBox="1"/>
          <p:nvPr/>
        </p:nvSpPr>
        <p:spPr>
          <a:xfrm>
            <a:off x="508000" y="2768600"/>
            <a:ext cx="25908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③ 调度基础是可复现沙箱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2000" y="2768600"/>
            <a:ext cx="52578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参数、模型版本、随机种子全程留痕与回放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0" y="2768600"/>
            <a:ext cx="29210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现场问题可复现，改进后可回归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6400" y="32004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6" name="TextBox 25"/>
          <p:cNvSpPr txBox="1"/>
          <p:nvPr/>
        </p:nvSpPr>
        <p:spPr>
          <a:xfrm>
            <a:off x="406400" y="34163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技术定位：不替代现有工具，把它们接起来、调度起来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6400" y="3975100"/>
            <a:ext cx="55626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28" name="TextBox 27"/>
          <p:cNvSpPr txBox="1"/>
          <p:nvPr/>
        </p:nvSpPr>
        <p:spPr>
          <a:xfrm>
            <a:off x="508000" y="3695700"/>
            <a:ext cx="1701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现有手段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3000" y="3695700"/>
            <a:ext cx="1574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能做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0" y="3695700"/>
            <a:ext cx="16764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做不到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3975100"/>
            <a:ext cx="1701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商用仿真软件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13000" y="3975100"/>
            <a:ext cx="1574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E4A45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lang="zh-CN" altLang="en-US" sz="950" b="0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  单专业高精度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1000" y="3975100"/>
            <a:ext cx="16764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 列车级协同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6400" y="43307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5" name="TextBox 34"/>
          <p:cNvSpPr txBox="1"/>
          <p:nvPr/>
        </p:nvSpPr>
        <p:spPr>
          <a:xfrm>
            <a:off x="508000" y="4330700"/>
            <a:ext cx="1701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协同仿真标准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13000" y="4330700"/>
            <a:ext cx="1574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E4A45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lang="zh-CN" altLang="en-US" sz="950" b="0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  模型封装与交换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1000" y="4330700"/>
            <a:ext cx="16764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 智能编排、实时性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6400" y="46863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9" name="TextBox 38"/>
          <p:cNvSpPr txBox="1"/>
          <p:nvPr/>
        </p:nvSpPr>
        <p:spPr>
          <a:xfrm>
            <a:off x="508000" y="4686300"/>
            <a:ext cx="1701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HIL 试验台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3000" y="4686300"/>
            <a:ext cx="1574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E4A45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lang="zh-CN" altLang="en-US" sz="950" b="0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  控制器实时验证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91000" y="4686300"/>
            <a:ext cx="16764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 工况受限、不可批量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6400" y="50419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cxnSp>
        <p:nvCxnSpPr>
          <p:cNvPr id="43" name="Connector 42"/>
          <p:cNvCxnSpPr/>
          <p:nvPr/>
        </p:nvCxnSpPr>
        <p:spPr>
          <a:xfrm>
            <a:off x="6223000" y="3975100"/>
            <a:ext cx="55626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44" name="TextBox 43"/>
          <p:cNvSpPr txBox="1"/>
          <p:nvPr/>
        </p:nvSpPr>
        <p:spPr>
          <a:xfrm>
            <a:off x="6324600" y="3695700"/>
            <a:ext cx="1701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现有手段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695700"/>
            <a:ext cx="1574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能做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07600" y="3695700"/>
            <a:ext cx="16764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做不到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600" y="3975100"/>
            <a:ext cx="1701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线路试验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975100"/>
            <a:ext cx="1574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E4A45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lang="zh-CN" altLang="en-US" sz="950" b="0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  结果权威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7600" y="3975100"/>
            <a:ext cx="16764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 周期长、不可复现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23000" y="43307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1" name="TextBox 50"/>
          <p:cNvSpPr txBox="1"/>
          <p:nvPr/>
        </p:nvSpPr>
        <p:spPr>
          <a:xfrm>
            <a:off x="6324600" y="4330700"/>
            <a:ext cx="1701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降阶模型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330700"/>
            <a:ext cx="1574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E4A45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lang="zh-CN" altLang="en-US" sz="950" b="0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  提速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07600" y="4330700"/>
            <a:ext cx="16764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 极端工况不能外推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23000" y="46863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5" name="TextBox 54"/>
          <p:cNvSpPr txBox="1"/>
          <p:nvPr/>
        </p:nvSpPr>
        <p:spPr>
          <a:xfrm>
            <a:off x="6324600" y="4686300"/>
            <a:ext cx="1701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通用智能体框架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686300"/>
            <a:ext cx="15748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E4A45"/>
                </a:solidFill>
                <a:latin typeface="微软雅黑"/>
                <a:ea typeface="微软雅黑"/>
                <a:cs typeface="微软雅黑"/>
              </a:rPr>
              <a:t>✓</a:t>
            </a:r>
            <a:r>
              <a:rPr lang="zh-CN" altLang="en-US" sz="950" b="0">
                <a:solidFill>
                  <a:srgbClr val="3E3A36"/>
                </a:solidFill>
                <a:latin typeface="微软雅黑"/>
                <a:ea typeface="微软雅黑"/>
                <a:cs typeface="微软雅黑"/>
              </a:rPr>
              <a:t>  任务编排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7600" y="4686300"/>
            <a:ext cx="1676400" cy="355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 多物理域实时协同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223000" y="50419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9" name="Rectangle 58"/>
          <p:cNvSpPr/>
          <p:nvPr/>
        </p:nvSpPr>
        <p:spPr>
          <a:xfrm>
            <a:off x="406400" y="5473700"/>
            <a:ext cx="25400" cy="6858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4200" y="5588000"/>
            <a:ext cx="11201400" cy="222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750"/>
              </a:lnSpc>
              <a:buNone/>
            </a:pPr>
            <a:r>
              <a:rPr lang="zh-CN" altLang="en-US" sz="12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在成熟技术之上，补上“</a:t>
            </a:r>
            <a:r>
              <a:rPr lang="zh-CN" altLang="en-US" sz="12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面向列车级性能验证的智能编排与实时协同</a:t>
            </a:r>
            <a:r>
              <a:rPr lang="zh-CN" altLang="en-US" sz="12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”这一层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5848350"/>
            <a:ext cx="11201400" cy="222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不做仿真软件、不做接口标准、不做试验台。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阶段目标与进度：四个阶段，每个里程碑一道考题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研究周期 2027.01—2028.12（24 个月） · 完成 → 突破 → 建成 → 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阶段目标与进度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14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56515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2027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7900" y="1346200"/>
            <a:ext cx="5651500" cy="190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2028 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57900" y="1346200"/>
            <a:ext cx="0" cy="876300"/>
          </a:xfrm>
          <a:prstGeom prst="line">
            <a:avLst/>
          </a:prstGeom>
          <a:ln w="9525">
            <a:solidFill>
              <a:srgbClr val="DCD7D1"/>
            </a:solidFill>
            <a:prstDash val="dash"/>
            <a:round/>
          </a:ln>
        </p:spPr>
      </p:cxnSp>
      <p:sp>
        <p:nvSpPr>
          <p:cNvPr id="12" name="Rectangle 11"/>
          <p:cNvSpPr/>
          <p:nvPr/>
        </p:nvSpPr>
        <p:spPr>
          <a:xfrm>
            <a:off x="406400" y="1587500"/>
            <a:ext cx="2825750" cy="342900"/>
          </a:xfrm>
          <a:prstGeom prst="rect">
            <a:avLst/>
          </a:prstGeom>
          <a:solidFill>
            <a:srgbClr val="D6A7A9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阶段一 · 架构与规范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4850" y="1587500"/>
            <a:ext cx="4225925" cy="342900"/>
          </a:xfrm>
          <a:prstGeom prst="rect">
            <a:avLst/>
          </a:prstGeom>
          <a:solidFill>
            <a:srgbClr val="B75A5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阶段二 · 智能体与引擎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83475" y="1587500"/>
            <a:ext cx="2813050" cy="3429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阶段三 · 样机与验证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09225" y="1587500"/>
            <a:ext cx="1400175" cy="3429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阶段四 · 示范与验收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" y="1981200"/>
            <a:ext cx="11303000" cy="190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0050" y="2000250"/>
            <a:ext cx="12700" cy="762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1008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41967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12925" y="2000250"/>
            <a:ext cx="12700" cy="508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3883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4842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25800" y="2000250"/>
            <a:ext cx="12700" cy="508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96758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7717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38675" y="2000250"/>
            <a:ext cx="12700" cy="508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09633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80592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51550" y="2000250"/>
            <a:ext cx="12700" cy="762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22508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93467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4425" y="2000250"/>
            <a:ext cx="12700" cy="508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35383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06342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77300" y="2000250"/>
            <a:ext cx="12700" cy="508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48258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19217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90175" y="2000250"/>
            <a:ext cx="12700" cy="508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61133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232092" y="2000250"/>
            <a:ext cx="12700" cy="317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703050" y="2000250"/>
            <a:ext cx="12700" cy="762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479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438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1396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2354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3312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44271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5229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6188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7146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8104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99062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70021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0979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938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2896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53854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4812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95771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6729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37688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08646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79604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50562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21521" y="2070100"/>
            <a:ext cx="3048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000"/>
              </a:lnSpc>
              <a:buNone/>
            </a:pPr>
            <a:r>
              <a:rPr lang="zh-CN" altLang="en-US" sz="750" b="0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12</a:t>
            </a:r>
          </a:p>
        </p:txBody>
      </p:sp>
      <p:sp>
        <p:nvSpPr>
          <p:cNvPr id="66" name="Diamond 65"/>
          <p:cNvSpPr/>
          <p:nvPr/>
        </p:nvSpPr>
        <p:spPr>
          <a:xfrm>
            <a:off x="3155950" y="2311400"/>
            <a:ext cx="152400" cy="152400"/>
          </a:xfrm>
          <a:prstGeom prst="diamond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01900" y="24892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M1 · 2027.06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01900" y="26543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架构与接口规范</a:t>
            </a:r>
          </a:p>
        </p:txBody>
      </p:sp>
      <p:sp>
        <p:nvSpPr>
          <p:cNvPr id="69" name="Diamond 68"/>
          <p:cNvSpPr/>
          <p:nvPr/>
        </p:nvSpPr>
        <p:spPr>
          <a:xfrm>
            <a:off x="7394575" y="2311400"/>
            <a:ext cx="152400" cy="152400"/>
          </a:xfrm>
          <a:prstGeom prst="diamond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40525" y="24892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M2 · 2028.03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0525" y="26543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智能体与引擎</a:t>
            </a:r>
          </a:p>
        </p:txBody>
      </p:sp>
      <p:sp>
        <p:nvSpPr>
          <p:cNvPr id="72" name="Diamond 71"/>
          <p:cNvSpPr/>
          <p:nvPr/>
        </p:nvSpPr>
        <p:spPr>
          <a:xfrm>
            <a:off x="10220325" y="2311400"/>
            <a:ext cx="152400" cy="152400"/>
          </a:xfrm>
          <a:prstGeom prst="diamond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66275" y="24892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M3 · 2028.09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66275" y="26543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数字样机与验证</a:t>
            </a:r>
          </a:p>
        </p:txBody>
      </p:sp>
      <p:sp>
        <p:nvSpPr>
          <p:cNvPr id="75" name="Diamond 74"/>
          <p:cNvSpPr/>
          <p:nvPr/>
        </p:nvSpPr>
        <p:spPr>
          <a:xfrm>
            <a:off x="11633200" y="2311400"/>
            <a:ext cx="152400" cy="152400"/>
          </a:xfrm>
          <a:prstGeom prst="diamond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48900" y="24892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M4 · 2028.12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8900" y="2654300"/>
            <a:ext cx="14605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示范应用与验收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06400" y="3263900"/>
            <a:ext cx="113792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79" name="TextBox 78"/>
          <p:cNvSpPr txBox="1"/>
          <p:nvPr/>
        </p:nvSpPr>
        <p:spPr>
          <a:xfrm>
            <a:off x="508000" y="2984500"/>
            <a:ext cx="1701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阶段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13000" y="2984500"/>
            <a:ext cx="4241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0" y="2984500"/>
            <a:ext cx="4826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检验（考题）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8000" y="3263900"/>
            <a:ext cx="170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阶段一</a:t>
            </a:r>
            <a:br>
              <a:rPr lang="zh-CN" altLang="en-US" sz="950"/>
            </a:b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2027.01—2027.06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13000" y="3263900"/>
            <a:ext cx="424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完成总体架构与接口规范设计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0" y="3263900"/>
            <a:ext cx="48260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规范通过评审；判据首批覆盖三项关键性能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06400" y="37973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86" name="TextBox 85"/>
          <p:cNvSpPr txBox="1"/>
          <p:nvPr/>
        </p:nvSpPr>
        <p:spPr>
          <a:xfrm>
            <a:off x="508000" y="3797300"/>
            <a:ext cx="170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阶段二</a:t>
            </a:r>
            <a:br>
              <a:rPr lang="zh-CN" altLang="en-US" sz="950"/>
            </a:b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2027.07—2028.03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13000" y="3797300"/>
            <a:ext cx="424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突破实时协同与保真度调度技术，研制智能体与引擎原理样机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3797300"/>
            <a:ext cx="48260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原理样机完成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个工况自动装配与调度；智能体与实测比对达标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06400" y="43307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90" name="TextBox 89"/>
          <p:cNvSpPr txBox="1"/>
          <p:nvPr/>
        </p:nvSpPr>
        <p:spPr>
          <a:xfrm>
            <a:off x="508000" y="4330700"/>
            <a:ext cx="170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阶段三</a:t>
            </a:r>
            <a:br>
              <a:rPr lang="zh-CN" altLang="en-US" sz="950"/>
            </a:b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2028.04—2028.09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13000" y="4330700"/>
            <a:ext cx="424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建成 FXN5C 列车级数字样机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0" y="4330700"/>
            <a:ext cx="48260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复现临哈线散热器冻结工况并定位原因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06400" y="48641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94" name="TextBox 93"/>
          <p:cNvSpPr txBox="1"/>
          <p:nvPr/>
        </p:nvSpPr>
        <p:spPr>
          <a:xfrm>
            <a:off x="508000" y="4864100"/>
            <a:ext cx="170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阶段四</a:t>
            </a:r>
            <a:br>
              <a:rPr lang="zh-CN" altLang="en-US" sz="950"/>
            </a:br>
            <a:r>
              <a:rPr lang="zh-CN" altLang="en-US" sz="9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2028.10—2028.12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13000" y="4864100"/>
            <a:ext cx="42418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在临哈线典型区段完成示范应用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0" y="4864100"/>
            <a:ext cx="4826000" cy="533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一次软件迭代完成全工况回归，验证周期由约 2 个月缩短至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；第三方验证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06400" y="53975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预期成果与考核方式：四项目标，每项有成果物和考核方式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目标 → 成果物 → 考核方式 ｜ 知识产权与标准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预期成果与效益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15 / 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400" y="1638300"/>
            <a:ext cx="113792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10" name="TextBox 9"/>
          <p:cNvSpPr txBox="1"/>
          <p:nvPr/>
        </p:nvSpPr>
        <p:spPr>
          <a:xfrm>
            <a:off x="508000" y="1358900"/>
            <a:ext cx="4876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预期目标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0" y="1358900"/>
            <a:ext cx="30988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成果物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0" y="1358900"/>
            <a:ext cx="2794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考核方式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1638300"/>
            <a:ext cx="4876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1 调度引擎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：实现异构智能体实时协同运行与算力动态调度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1638300"/>
            <a:ext cx="3098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引擎软件 1 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1638300"/>
            <a:ext cx="27940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软件演示、功能核验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400" y="20383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7" name="TextBox 16"/>
          <p:cNvSpPr txBox="1"/>
          <p:nvPr/>
        </p:nvSpPr>
        <p:spPr>
          <a:xfrm>
            <a:off x="508000" y="2038350"/>
            <a:ext cx="4876800" cy="584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 数字样机与性能验证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：建成 FXN5C 数字样机，实现速度跟踪、牵引能耗、运行平稳性等关键性能的多工况协同验证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000" y="2038350"/>
            <a:ext cx="3098800" cy="584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智能体／孪生模型 1 套</a:t>
            </a:r>
            <a:br>
              <a:rPr lang="zh-CN" altLang="en-US" sz="950"/>
            </a:b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数字样机 1 套（由智能体集成而成）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0" y="2038350"/>
            <a:ext cx="2794000" cy="584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智能体——与实测比对</a:t>
            </a:r>
            <a:br>
              <a:rPr lang="zh-CN" altLang="en-US" sz="950"/>
            </a:b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数字样机——整车级协同验证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400" y="26225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1" name="TextBox 20"/>
          <p:cNvSpPr txBox="1"/>
          <p:nvPr/>
        </p:nvSpPr>
        <p:spPr>
          <a:xfrm>
            <a:off x="508000" y="2622550"/>
            <a:ext cx="4876800" cy="584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3 方法体系与扩展能力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：形成构建方法体系与集成规范，可向制动、辅助系统扩展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000" y="2622550"/>
            <a:ext cx="3098800" cy="584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方法体系与技术规范 1 套</a:t>
            </a:r>
            <a:br>
              <a:rPr lang="zh-CN" altLang="en-US" sz="950"/>
            </a:b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判据知识库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2622550"/>
            <a:ext cx="2794000" cy="584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知识库核验、报告评审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400" y="320675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5" name="TextBox 24"/>
          <p:cNvSpPr txBox="1"/>
          <p:nvPr/>
        </p:nvSpPr>
        <p:spPr>
          <a:xfrm>
            <a:off x="508000" y="3206750"/>
            <a:ext cx="4876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4 示范应用</a:t>
            </a: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：在临哈线典型区段完成 FXN5C 示范，实现全工况自动回归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0" y="3206750"/>
            <a:ext cx="30988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示范应用与验证报告 1 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3206750"/>
            <a:ext cx="2794000" cy="4000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示范验收、第三方验证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400" y="3606800"/>
            <a:ext cx="11379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9" name="TextBox 28"/>
          <p:cNvSpPr txBox="1"/>
          <p:nvPr/>
        </p:nvSpPr>
        <p:spPr>
          <a:xfrm>
            <a:off x="406400" y="3860800"/>
            <a:ext cx="11379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知识产权与标准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400" y="4140200"/>
            <a:ext cx="9525" cy="12700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100" y="4241800"/>
            <a:ext cx="3412067" cy="3683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100" y="4648200"/>
            <a:ext cx="3412067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发明专利申请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00" y="4864100"/>
            <a:ext cx="3412067" cy="482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任务编排调度、保真度与算力调度、实时时序同步、工况自生成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0267" y="4140200"/>
            <a:ext cx="9525" cy="12700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967" y="4241800"/>
            <a:ext cx="3412067" cy="3683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967" y="4648200"/>
            <a:ext cx="3412067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核心论文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967" y="4864100"/>
            <a:ext cx="3412067" cy="482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多智能体协同仿真与性能验证方法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4133" y="4140200"/>
            <a:ext cx="9525" cy="12700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33833" y="4241800"/>
            <a:ext cx="3412067" cy="3683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3833" y="4648200"/>
            <a:ext cx="3412067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企业标准草案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3833" y="4864100"/>
            <a:ext cx="3412067" cy="482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列车级数字样机构建、智能体接口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量化指标与效益评估：与现状对比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指标：现状 → 目标 ｜ 效益评估：成果交付 ＋ 示范验证 ＋ 与现状对比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预期成果与效益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16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5537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指标：与现状对比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600" y="1346200"/>
            <a:ext cx="4191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目标值由课题组提供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400" y="1905000"/>
            <a:ext cx="55372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12" name="TextBox 11"/>
          <p:cNvSpPr txBox="1"/>
          <p:nvPr/>
        </p:nvSpPr>
        <p:spPr>
          <a:xfrm>
            <a:off x="508000" y="1625600"/>
            <a:ext cx="18923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3500" y="1625600"/>
            <a:ext cx="13843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0" y="1625600"/>
            <a:ext cx="16510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150"/>
              </a:lnSpc>
              <a:buNone/>
            </a:pPr>
            <a:r>
              <a:rPr lang="zh-CN" altLang="en-US" sz="9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1905000"/>
            <a:ext cx="1892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一次软件迭代的验证周期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3500" y="1905000"/>
            <a:ext cx="1384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约 2 个月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0" y="1905000"/>
            <a:ext cx="16510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缩短 ≥ 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400" y="2317750"/>
            <a:ext cx="5537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508000" y="2317750"/>
            <a:ext cx="1892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现场验证人员投入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3500" y="2317750"/>
            <a:ext cx="1384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10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0" y="2317750"/>
            <a:ext cx="16510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减少 ≥ 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400" y="2730500"/>
            <a:ext cx="5537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3" name="TextBox 22"/>
          <p:cNvSpPr txBox="1"/>
          <p:nvPr/>
        </p:nvSpPr>
        <p:spPr>
          <a:xfrm>
            <a:off x="508000" y="2730500"/>
            <a:ext cx="1892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工况覆盖度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3500" y="2730500"/>
            <a:ext cx="1384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受台架与现场条件限制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1000" y="2730500"/>
            <a:ext cx="16510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提升 ≥ 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6400" y="3143250"/>
            <a:ext cx="5537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27" name="TextBox 26"/>
          <p:cNvSpPr txBox="1"/>
          <p:nvPr/>
        </p:nvSpPr>
        <p:spPr>
          <a:xfrm>
            <a:off x="508000" y="3143250"/>
            <a:ext cx="1892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接入异构仿真智能体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3500" y="3143250"/>
            <a:ext cx="1384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1000" y="3143250"/>
            <a:ext cx="16510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≥ 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6400" y="3556000"/>
            <a:ext cx="5537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1" name="TextBox 30"/>
          <p:cNvSpPr txBox="1"/>
          <p:nvPr/>
        </p:nvSpPr>
        <p:spPr>
          <a:xfrm>
            <a:off x="508000" y="3556000"/>
            <a:ext cx="1892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协同验证典型工况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3500" y="3556000"/>
            <a:ext cx="13843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1000" y="3556000"/>
            <a:ext cx="1651000" cy="41275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≥ </a:t>
            </a:r>
            <a:r>
              <a:rPr lang="zh-CN" altLang="en-US" sz="9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</a:t>
            </a: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6400" y="3968750"/>
            <a:ext cx="55372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5" name="TextBox 34"/>
          <p:cNvSpPr txBox="1"/>
          <p:nvPr/>
        </p:nvSpPr>
        <p:spPr>
          <a:xfrm>
            <a:off x="6197600" y="1346200"/>
            <a:ext cx="5588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效益评估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4200" y="1346200"/>
            <a:ext cx="48514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成果交付 ＋ 示范验证 ＋ 与现状对比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1625600"/>
            <a:ext cx="5588000" cy="88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7600" y="1625600"/>
            <a:ext cx="19050" cy="8890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9" name="Picture 38" descr="bulb-A61C22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765300"/>
            <a:ext cx="203200" cy="203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42100" y="1739900"/>
            <a:ext cx="1905000" cy="254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技术效益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2700" y="2044700"/>
            <a:ext cx="525780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方法体系与规范交付；专利 4 项、论文 2 篇、标准草案 2 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7600" y="2603500"/>
            <a:ext cx="5588000" cy="11303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7600" y="2603500"/>
            <a:ext cx="19050" cy="11303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4" name="Picture 43" descr="coins-A61C22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2743200"/>
            <a:ext cx="203200" cy="203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42100" y="2717800"/>
            <a:ext cx="1905000" cy="254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经济效益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2700" y="3022600"/>
            <a:ext cx="525780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减少实物试验与样车试制投入，缩短研制迭代周期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62700" y="3403600"/>
            <a:ext cx="1705480" cy="2159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减少实物试验　</a:t>
            </a:r>
            <a:r>
              <a:rPr lang="zh-CN" altLang="en-US" sz="8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≥【待填】次/年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1680" y="3403600"/>
            <a:ext cx="1597530" cy="2159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节约费用　</a:t>
            </a:r>
            <a:r>
              <a:rPr lang="zh-CN" altLang="en-US" sz="85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≥【待填】万元/年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7600" y="3822700"/>
            <a:ext cx="5588000" cy="88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7600" y="3822700"/>
            <a:ext cx="19050" cy="8890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1" name="Picture 50" descr="world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3962400"/>
            <a:ext cx="203200" cy="203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42100" y="3937000"/>
            <a:ext cx="1905000" cy="254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管理与推广效益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2700" y="4241800"/>
            <a:ext cx="525780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5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验证流程标准化，经验沉淀为判据库；可向制动、辅助系统扩展，在**内推广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经费预算：总预算 100 万元，算力是核心投入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预算明细与测算依据 · 分年度 · 合理性说明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经费预算合理性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17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08100"/>
            <a:ext cx="1524000" cy="5080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3800"/>
              </a:lnSpc>
              <a:buNone/>
            </a:pPr>
            <a:r>
              <a:rPr lang="zh-CN" altLang="en-US" sz="30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100</a:t>
            </a:r>
            <a:r>
              <a:rPr lang="zh-CN" altLang="en-US" sz="120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" y="1778000"/>
            <a:ext cx="1524000" cy="1778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总预算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900" y="1435100"/>
            <a:ext cx="2552700" cy="3556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25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直接投入 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9300" y="1435100"/>
            <a:ext cx="1531620" cy="355600"/>
          </a:xfrm>
          <a:prstGeom prst="rect">
            <a:avLst/>
          </a:prstGeom>
          <a:solidFill>
            <a:srgbClr val="B45A5F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250"/>
              </a:lnSpc>
              <a:buNone/>
            </a:pPr>
            <a:r>
              <a:rPr lang="zh-CN" altLang="en-US"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人员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3620" y="1435100"/>
            <a:ext cx="255270" cy="355600"/>
          </a:xfrm>
          <a:prstGeom prst="rect">
            <a:avLst/>
          </a:prstGeom>
          <a:solidFill>
            <a:srgbClr val="B9B1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1590" y="1435100"/>
            <a:ext cx="255270" cy="355600"/>
          </a:xfrm>
          <a:prstGeom prst="rect">
            <a:avLst/>
          </a:prstGeom>
          <a:solidFill>
            <a:srgbClr val="C9C2B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39560" y="1435100"/>
            <a:ext cx="255270" cy="355600"/>
          </a:xfrm>
          <a:prstGeom prst="rect">
            <a:avLst/>
          </a:prstGeom>
          <a:solidFill>
            <a:srgbClr val="D8D2C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7530" y="1435100"/>
            <a:ext cx="255270" cy="355600"/>
          </a:xfrm>
          <a:prstGeom prst="rect">
            <a:avLst/>
          </a:prstGeom>
          <a:solidFill>
            <a:srgbClr val="E6E1D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900" y="1828800"/>
            <a:ext cx="51689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11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折旧 · 外协 · 成果 · 其他 各 5 万元（灰色段）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400" y="2387600"/>
            <a:ext cx="6756400" cy="0"/>
          </a:xfrm>
          <a:prstGeom prst="line">
            <a:avLst/>
          </a:prstGeom>
          <a:ln w="7620">
            <a:solidFill>
              <a:srgbClr val="6F6B67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495300" y="2108200"/>
            <a:ext cx="2286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序号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700" y="2108200"/>
            <a:ext cx="14859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科目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5400" y="2108200"/>
            <a:ext cx="6096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金额（万元）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800" y="2108200"/>
            <a:ext cx="9652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800" y="2108200"/>
            <a:ext cx="2578100" cy="279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050"/>
              </a:lnSpc>
              <a:buNone/>
            </a:pPr>
            <a:r>
              <a:rPr lang="zh-CN" altLang="en-US" sz="8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测算依据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300" y="2387600"/>
            <a:ext cx="2286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2387600"/>
            <a:ext cx="14859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直接投入费用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5400" y="2387600"/>
            <a:ext cx="6096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2800" y="2387600"/>
            <a:ext cx="9652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800" y="2387600"/>
            <a:ext cx="25781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AI算力服务器（GPU+NPU异构）1台 40万；仿真与调度一体化工作站 2台 10万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6400" y="29845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0" name="TextBox 29"/>
          <p:cNvSpPr txBox="1"/>
          <p:nvPr/>
        </p:nvSpPr>
        <p:spPr>
          <a:xfrm>
            <a:off x="495300" y="2984500"/>
            <a:ext cx="2286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700" y="2984500"/>
            <a:ext cx="14859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人员人工费用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5400" y="2984500"/>
            <a:ext cx="6096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2984500"/>
            <a:ext cx="9652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5800" y="2984500"/>
            <a:ext cx="25781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按投入人月测算：</a:t>
            </a:r>
            <a:br>
              <a:rPr lang="zh-CN" altLang="en-US" sz="900"/>
            </a:br>
            <a:r>
              <a:rPr lang="zh-CN" altLang="en-US" sz="900" b="1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【待填】人·月 × 【待填】万元/人·月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06400" y="35814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36" name="TextBox 35"/>
          <p:cNvSpPr txBox="1"/>
          <p:nvPr/>
        </p:nvSpPr>
        <p:spPr>
          <a:xfrm>
            <a:off x="495300" y="3581400"/>
            <a:ext cx="2286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700" y="3581400"/>
            <a:ext cx="14859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固定资产相关费用（折旧）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5400" y="3581400"/>
            <a:ext cx="6096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2800" y="3581400"/>
            <a:ext cx="9652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5800" y="3581400"/>
            <a:ext cx="25781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现有仿真与测试设备折旧分摊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6400" y="40132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2" name="TextBox 41"/>
          <p:cNvSpPr txBox="1"/>
          <p:nvPr/>
        </p:nvSpPr>
        <p:spPr>
          <a:xfrm>
            <a:off x="495300" y="4013200"/>
            <a:ext cx="2286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700" y="4013200"/>
            <a:ext cx="14859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试验检验及试制外协费用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5400" y="4013200"/>
            <a:ext cx="6096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4013200"/>
            <a:ext cx="965200" cy="5969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5800" y="4013200"/>
            <a:ext cx="2578100" cy="596900"/>
          </a:xfrm>
          <a:prstGeom prst="rect">
            <a:avLst/>
          </a:prstGeom>
          <a:noFill/>
        </p:spPr>
        <p:txBody>
          <a:bodyPr wrap="square" anchor="ctr" lIns="0" tIns="0" rIns="40005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建模数据采集处理 2万；模型校验与第三方验证 3万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06400" y="46101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48" name="TextBox 47"/>
          <p:cNvSpPr txBox="1"/>
          <p:nvPr/>
        </p:nvSpPr>
        <p:spPr>
          <a:xfrm>
            <a:off x="495300" y="4610100"/>
            <a:ext cx="2286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700" y="4610100"/>
            <a:ext cx="14859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研发成果相关费用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5400" y="4610100"/>
            <a:ext cx="6096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2800" y="4610100"/>
            <a:ext cx="9652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5800" y="4610100"/>
            <a:ext cx="25781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发明专利申请 2万；论文与标准草案编制 3万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06400" y="50419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54" name="TextBox 53"/>
          <p:cNvSpPr txBox="1"/>
          <p:nvPr/>
        </p:nvSpPr>
        <p:spPr>
          <a:xfrm>
            <a:off x="495300" y="5041900"/>
            <a:ext cx="228600" cy="609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1700" y="5041900"/>
            <a:ext cx="1485900" cy="609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与研发活动直接相关的</a:t>
            </a:r>
            <a:br>
              <a:rPr lang="zh-CN" altLang="en-US" sz="950"/>
            </a:b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其他费用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5400" y="5041900"/>
            <a:ext cx="609600" cy="609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2800" y="5041900"/>
            <a:ext cx="965200" cy="609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5800" y="5041900"/>
            <a:ext cx="2578100" cy="609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差旅费 3万；会议费 2万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06400" y="56515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60" name="Rectangle 59"/>
          <p:cNvSpPr/>
          <p:nvPr/>
        </p:nvSpPr>
        <p:spPr>
          <a:xfrm>
            <a:off x="406400" y="5651500"/>
            <a:ext cx="6756400" cy="4318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5300" y="5651500"/>
            <a:ext cx="2286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901700" y="5651500"/>
            <a:ext cx="14859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合计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5400" y="5651500"/>
            <a:ext cx="6096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100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52800" y="5651500"/>
            <a:ext cx="9652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marL="0" indent="0">
              <a:lnSpc>
                <a:spcPts val="1400"/>
              </a:lnSpc>
              <a:buNone/>
            </a:pPr>
            <a:r>
              <a:rPr lang="zh-CN" altLang="en-US" sz="95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95800" y="5651500"/>
            <a:ext cx="2578100" cy="431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06400" y="6083300"/>
            <a:ext cx="67564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sp>
        <p:nvSpPr>
          <p:cNvPr id="67" name="Rectangle 66"/>
          <p:cNvSpPr/>
          <p:nvPr/>
        </p:nvSpPr>
        <p:spPr>
          <a:xfrm>
            <a:off x="3352800" y="2641600"/>
            <a:ext cx="635000" cy="889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4500" y="2641600"/>
            <a:ext cx="25400" cy="889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52800" y="3238500"/>
            <a:ext cx="381000" cy="88900"/>
          </a:xfrm>
          <a:prstGeom prst="rect">
            <a:avLst/>
          </a:prstGeom>
          <a:solidFill>
            <a:srgbClr val="B45A5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4500" y="3238500"/>
            <a:ext cx="25400" cy="88900"/>
          </a:xfrm>
          <a:prstGeom prst="rect">
            <a:avLst/>
          </a:prstGeom>
          <a:solidFill>
            <a:srgbClr val="B45A5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52800" y="3752850"/>
            <a:ext cx="63500" cy="88900"/>
          </a:xfrm>
          <a:prstGeom prst="rect">
            <a:avLst/>
          </a:prstGeom>
          <a:solidFill>
            <a:srgbClr val="B9B1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4500" y="3752850"/>
            <a:ext cx="25400" cy="88900"/>
          </a:xfrm>
          <a:prstGeom prst="rect">
            <a:avLst/>
          </a:prstGeom>
          <a:solidFill>
            <a:srgbClr val="B9B1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52800" y="4267200"/>
            <a:ext cx="63500" cy="88900"/>
          </a:xfrm>
          <a:prstGeom prst="rect">
            <a:avLst/>
          </a:prstGeom>
          <a:solidFill>
            <a:srgbClr val="C9C2B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4500" y="4267200"/>
            <a:ext cx="25400" cy="88900"/>
          </a:xfrm>
          <a:prstGeom prst="rect">
            <a:avLst/>
          </a:prstGeom>
          <a:solidFill>
            <a:srgbClr val="C9C2B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52800" y="4781550"/>
            <a:ext cx="63500" cy="88900"/>
          </a:xfrm>
          <a:prstGeom prst="rect">
            <a:avLst/>
          </a:prstGeom>
          <a:solidFill>
            <a:srgbClr val="D8D2C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44500" y="4781550"/>
            <a:ext cx="25400" cy="88900"/>
          </a:xfrm>
          <a:prstGeom prst="rect">
            <a:avLst/>
          </a:prstGeom>
          <a:solidFill>
            <a:srgbClr val="D8D2C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52800" y="5302250"/>
            <a:ext cx="63500" cy="88900"/>
          </a:xfrm>
          <a:prstGeom prst="rect">
            <a:avLst/>
          </a:prstGeom>
          <a:solidFill>
            <a:srgbClr val="E6E1D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4500" y="5302250"/>
            <a:ext cx="25400" cy="88900"/>
          </a:xfrm>
          <a:prstGeom prst="rect">
            <a:avLst/>
          </a:prstGeom>
          <a:solidFill>
            <a:srgbClr val="E6E1D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16800" y="1346200"/>
            <a:ext cx="43688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分年度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01000" y="1346200"/>
            <a:ext cx="3784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投入均衡，与四阶段进度匹配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16800" y="1625600"/>
            <a:ext cx="2133600" cy="6096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56500" y="1625600"/>
            <a:ext cx="889000" cy="609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2027 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05800" y="1625600"/>
            <a:ext cx="1117600" cy="609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2800"/>
              </a:lnSpc>
              <a:buNone/>
            </a:pPr>
            <a:r>
              <a:rPr lang="zh-CN" altLang="en-US" sz="22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50</a:t>
            </a:r>
            <a:r>
              <a:rPr lang="zh-CN" altLang="en-US" sz="100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 万元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52000" y="1625600"/>
            <a:ext cx="2133600" cy="6096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91700" y="1625600"/>
            <a:ext cx="889000" cy="609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2028 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41000" y="1625600"/>
            <a:ext cx="1117600" cy="609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2800"/>
              </a:lnSpc>
              <a:buNone/>
            </a:pPr>
            <a:r>
              <a:rPr lang="zh-CN" altLang="en-US" sz="2200" b="1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50</a:t>
            </a:r>
            <a:r>
              <a:rPr lang="zh-CN" altLang="en-US" sz="1000" b="0">
                <a:solidFill>
                  <a:srgbClr val="6F6B67"/>
                </a:solidFill>
                <a:latin typeface="Consolas"/>
                <a:ea typeface="微软雅黑"/>
                <a:cs typeface="Consolas"/>
              </a:rPr>
              <a:t> 万元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16800" y="2413000"/>
            <a:ext cx="43688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合理性说明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16800" y="2692400"/>
            <a:ext cx="4368800" cy="254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5100" indent="-165100">
              <a:lnSpc>
                <a:spcPts val="1650"/>
              </a:lnSpc>
              <a:spcAft>
                <a:spcPts val="13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10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算力与任务强相关</a:t>
            </a:r>
            <a:r>
              <a:rPr lang="zh-CN" altLang="en-US" sz="10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：NPU 做智能体推理与编排决策，GPU 做多物理域并行仿真，满足实时协同与保真度切换</a:t>
            </a:r>
          </a:p>
          <a:p>
            <a:pPr algn="l" marL="165100" indent="-165100">
              <a:lnSpc>
                <a:spcPts val="1650"/>
              </a:lnSpc>
              <a:spcAft>
                <a:spcPts val="13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10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人员占比 30%</a:t>
            </a:r>
            <a:r>
              <a:rPr lang="zh-CN" altLang="en-US" sz="10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：以算法与软件开发为主，属智力密集型研究</a:t>
            </a:r>
          </a:p>
          <a:p>
            <a:pPr algn="l" marL="165100" indent="-165100">
              <a:lnSpc>
                <a:spcPts val="1650"/>
              </a:lnSpc>
              <a:spcAft>
                <a:spcPts val="13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10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无对外技术合作费</a:t>
            </a:r>
            <a:r>
              <a:rPr lang="zh-CN" altLang="en-US" sz="10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，全部用于自主研发；分年度投入均衡，与四阶段进度匹配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项目管理计划：按四层分组承担，按里程碑绑定考核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任务分配 · 项目流程 · 时间安排 · 执行保障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项目管理计划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18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346200"/>
            <a:ext cx="571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组织架构与任务分配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6500" y="1358900"/>
            <a:ext cx="2159000" cy="368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user-star-FFFFFF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447800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0" y="1358900"/>
            <a:ext cx="1333500" cy="368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项目负责人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1727200"/>
            <a:ext cx="0" cy="152400"/>
          </a:xfrm>
          <a:prstGeom prst="line">
            <a:avLst/>
          </a:prstGeom>
          <a:ln w="9525">
            <a:solidFill>
              <a:srgbClr val="8A857F"/>
            </a:solidFill>
            <a:round/>
          </a:ln>
        </p:spPr>
      </p:cxnSp>
      <p:cxnSp>
        <p:nvCxnSpPr>
          <p:cNvPr id="14" name="Connector 13"/>
          <p:cNvCxnSpPr/>
          <p:nvPr/>
        </p:nvCxnSpPr>
        <p:spPr>
          <a:xfrm>
            <a:off x="1771650" y="1879600"/>
            <a:ext cx="8648700" cy="0"/>
          </a:xfrm>
          <a:prstGeom prst="line">
            <a:avLst/>
          </a:prstGeom>
          <a:ln w="9525">
            <a:solidFill>
              <a:srgbClr val="8A857F"/>
            </a:solidFill>
            <a:round/>
          </a:ln>
        </p:spPr>
      </p:cxnSp>
      <p:cxnSp>
        <p:nvCxnSpPr>
          <p:cNvPr id="15" name="Connector 14"/>
          <p:cNvCxnSpPr/>
          <p:nvPr/>
        </p:nvCxnSpPr>
        <p:spPr>
          <a:xfrm>
            <a:off x="1771650" y="1879600"/>
            <a:ext cx="0" cy="152400"/>
          </a:xfrm>
          <a:prstGeom prst="line">
            <a:avLst/>
          </a:prstGeom>
          <a:ln w="9525">
            <a:solidFill>
              <a:srgbClr val="8A857F"/>
            </a:solidFill>
            <a:round/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406400" y="2044700"/>
            <a:ext cx="2730500" cy="147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400" y="2044700"/>
            <a:ext cx="2730500" cy="1905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6100" y="2171700"/>
            <a:ext cx="64789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C47C80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50" b="1">
                <a:solidFill>
                  <a:srgbClr val="C47C80"/>
                </a:solidFill>
                <a:latin typeface="微软雅黑"/>
                <a:ea typeface="微软雅黑"/>
                <a:cs typeface="微软雅黑"/>
              </a:rPr>
              <a:t>子任务1组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2890" y="2171700"/>
            <a:ext cx="1714500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0525A"/>
                </a:solidFill>
                <a:latin typeface="微软雅黑"/>
                <a:ea typeface="微软雅黑"/>
                <a:cs typeface="微软雅黑"/>
              </a:rPr>
              <a:t>对应①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100" y="2425700"/>
            <a:ext cx="24511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测试知识库与任务工作流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2705100"/>
            <a:ext cx="762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主要任务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" y="2857500"/>
            <a:ext cx="2451100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判据知识化、工作流建模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3124200"/>
            <a:ext cx="2527300" cy="292100"/>
          </a:xfrm>
          <a:prstGeom prst="rect">
            <a:avLst/>
          </a:prstGeom>
          <a:solidFill>
            <a:srgbClr val="FBF6F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000" y="3124200"/>
            <a:ext cx="19050" cy="292100"/>
          </a:xfrm>
          <a:prstGeom prst="rect">
            <a:avLst/>
          </a:prstGeom>
          <a:solidFill>
            <a:srgbClr val="C47C8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250" y="3124200"/>
            <a:ext cx="2355850" cy="292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850" b="1">
                <a:solidFill>
                  <a:srgbClr val="A0525A"/>
                </a:solidFill>
                <a:latin typeface="微软雅黑"/>
                <a:ea typeface="微软雅黑"/>
                <a:cs typeface="微软雅黑"/>
              </a:rPr>
              <a:t>交付：判据知识库、工作流定义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54550" y="1879600"/>
            <a:ext cx="0" cy="152400"/>
          </a:xfrm>
          <a:prstGeom prst="line">
            <a:avLst/>
          </a:prstGeom>
          <a:ln w="9525">
            <a:solidFill>
              <a:srgbClr val="8A857F"/>
            </a:solidFill>
            <a:round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3289300" y="2044700"/>
            <a:ext cx="2730500" cy="147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89300" y="2044700"/>
            <a:ext cx="2730500" cy="1905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2171700"/>
            <a:ext cx="64789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AC454B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50" b="1">
                <a:solidFill>
                  <a:srgbClr val="AC454B"/>
                </a:solidFill>
                <a:latin typeface="微软雅黑"/>
                <a:ea typeface="微软雅黑"/>
                <a:cs typeface="微软雅黑"/>
              </a:rPr>
              <a:t>子任务2组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5790" y="2171700"/>
            <a:ext cx="1714500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9A3B41"/>
                </a:solidFill>
                <a:latin typeface="微软雅黑"/>
                <a:ea typeface="微软雅黑"/>
                <a:cs typeface="微软雅黑"/>
              </a:rPr>
              <a:t>对应②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425700"/>
            <a:ext cx="24511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任务理解与智能编排调度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2705100"/>
            <a:ext cx="762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主要任务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857500"/>
            <a:ext cx="2451100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任务解析、环境装配、保真度与算力调度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90900" y="3124200"/>
            <a:ext cx="2527300" cy="292100"/>
          </a:xfrm>
          <a:prstGeom prst="rect">
            <a:avLst/>
          </a:prstGeom>
          <a:solidFill>
            <a:srgbClr val="FAF4F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90900" y="3124200"/>
            <a:ext cx="19050" cy="292100"/>
          </a:xfrm>
          <a:prstGeom prst="rect">
            <a:avLst/>
          </a:prstGeom>
          <a:solidFill>
            <a:srgbClr val="AC45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86150" y="3124200"/>
            <a:ext cx="2355850" cy="292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850" b="1">
                <a:solidFill>
                  <a:srgbClr val="9A3B41"/>
                </a:solidFill>
                <a:latin typeface="微软雅黑"/>
                <a:ea typeface="微软雅黑"/>
                <a:cs typeface="微软雅黑"/>
              </a:rPr>
              <a:t>交付：协同运行与调度引擎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37450" y="1879600"/>
            <a:ext cx="0" cy="152400"/>
          </a:xfrm>
          <a:prstGeom prst="line">
            <a:avLst/>
          </a:prstGeom>
          <a:ln w="9525">
            <a:solidFill>
              <a:srgbClr val="8A857F"/>
            </a:solidFill>
            <a:round/>
            <a:tailEnd type="triangle" w="med" len="med"/>
          </a:ln>
        </p:spPr>
      </p:cxnSp>
      <p:sp>
        <p:nvSpPr>
          <p:cNvPr id="38" name="Rectangle 37"/>
          <p:cNvSpPr/>
          <p:nvPr/>
        </p:nvSpPr>
        <p:spPr>
          <a:xfrm>
            <a:off x="6172200" y="2044700"/>
            <a:ext cx="2730500" cy="147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2044700"/>
            <a:ext cx="2730500" cy="1905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11900" y="2171700"/>
            <a:ext cx="64789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8C1D23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子任务3组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690" y="2171700"/>
            <a:ext cx="1714500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对应③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1900" y="2425700"/>
            <a:ext cx="24511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智能体执行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1900" y="2705100"/>
            <a:ext cx="762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主要任务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1900" y="2857500"/>
            <a:ext cx="2451100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智能体研制、用例生成、识别与报告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3800" y="3124200"/>
            <a:ext cx="2527300" cy="292100"/>
          </a:xfrm>
          <a:prstGeom prst="rect">
            <a:avLst/>
          </a:prstGeom>
          <a:solidFill>
            <a:srgbClr val="F9F2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73800" y="3124200"/>
            <a:ext cx="19050" cy="292100"/>
          </a:xfrm>
          <a:prstGeom prst="rect">
            <a:avLst/>
          </a:prstGeom>
          <a:solidFill>
            <a:srgbClr val="8C1D2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9050" y="3124200"/>
            <a:ext cx="2355850" cy="292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850" b="1">
                <a:solidFill>
                  <a:srgbClr val="8C1D23"/>
                </a:solidFill>
                <a:latin typeface="微软雅黑"/>
                <a:ea typeface="微软雅黑"/>
                <a:cs typeface="微软雅黑"/>
              </a:rPr>
              <a:t>交付：仿真智能体、验证报告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420350" y="1879600"/>
            <a:ext cx="0" cy="152400"/>
          </a:xfrm>
          <a:prstGeom prst="line">
            <a:avLst/>
          </a:prstGeom>
          <a:ln w="9525">
            <a:solidFill>
              <a:srgbClr val="8A857F"/>
            </a:solidFill>
            <a:round/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9055100" y="2044700"/>
            <a:ext cx="2730500" cy="147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55100" y="2044700"/>
            <a:ext cx="2730500" cy="1905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94800" y="2171700"/>
            <a:ext cx="64789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5B1317"/>
            </a:solidFill>
            <a:round/>
          </a:ln>
        </p:spPr>
        <p:txBody>
          <a:bodyPr rtlCol="0" anchor="ctr" lIns="0" rIns="0" tIns="0" bIns="0" wrap="none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850" b="1">
                <a:solidFill>
                  <a:srgbClr val="5B1317"/>
                </a:solidFill>
                <a:latin typeface="微软雅黑"/>
                <a:ea typeface="微软雅黑"/>
                <a:cs typeface="微软雅黑"/>
              </a:rPr>
              <a:t>子任务4组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31590" y="2171700"/>
            <a:ext cx="1714500" cy="1905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5B1317"/>
                </a:solidFill>
                <a:latin typeface="微软雅黑"/>
                <a:ea typeface="微软雅黑"/>
                <a:cs typeface="微软雅黑"/>
              </a:rPr>
              <a:t>对应④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94800" y="2425700"/>
            <a:ext cx="2451100" cy="203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架构融合与协同运行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4800" y="2705100"/>
            <a:ext cx="762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100"/>
              </a:lnSpc>
              <a:buNone/>
            </a:pPr>
            <a:r>
              <a:rPr lang="zh-CN" altLang="en-US" sz="80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主要任务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94800" y="2857500"/>
            <a:ext cx="2451100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8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架构、沙箱、样机集成、FXN5C 示范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56700" y="3124200"/>
            <a:ext cx="2527300" cy="292100"/>
          </a:xfrm>
          <a:prstGeom prst="rect">
            <a:avLst/>
          </a:prstGeom>
          <a:solidFill>
            <a:srgbClr val="F7F1F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56700" y="3124200"/>
            <a:ext cx="19050" cy="2921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51950" y="3124200"/>
            <a:ext cx="2355850" cy="2921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250"/>
              </a:lnSpc>
              <a:buNone/>
            </a:pPr>
            <a:r>
              <a:rPr lang="zh-CN" altLang="en-US" sz="850" b="1">
                <a:solidFill>
                  <a:srgbClr val="5B1317"/>
                </a:solidFill>
                <a:latin typeface="微软雅黑"/>
                <a:ea typeface="微软雅黑"/>
                <a:cs typeface="微软雅黑"/>
              </a:rPr>
              <a:t>交付：数字样机、方法体系与规范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400" y="3695700"/>
            <a:ext cx="5562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项目管理流程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7800" y="3695700"/>
            <a:ext cx="45212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双周 → 月度 → 季度 → 年度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6400" y="4851400"/>
            <a:ext cx="1333500" cy="1435100"/>
          </a:xfrm>
          <a:prstGeom prst="rect">
            <a:avLst/>
          </a:prstGeom>
          <a:solidFill>
            <a:srgbClr val="FAF9F7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6400" y="4851400"/>
            <a:ext cx="13335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33400" y="5003800"/>
            <a:ext cx="381000" cy="381000"/>
          </a:xfrm>
          <a:prstGeom prst="ellipse">
            <a:avLst/>
          </a:prstGeom>
          <a:solidFill>
            <a:srgbClr val="F4E8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3400" y="5003800"/>
            <a:ext cx="381000" cy="381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双周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400" y="5473700"/>
            <a:ext cx="10795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双周例会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5727700"/>
            <a:ext cx="1104900" cy="508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子任务进展同步与问题协调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16100" y="4597400"/>
            <a:ext cx="1333500" cy="1689100"/>
          </a:xfrm>
          <a:prstGeom prst="rect">
            <a:avLst/>
          </a:prstGeom>
          <a:solidFill>
            <a:srgbClr val="FAF9F7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16100" y="4597400"/>
            <a:ext cx="13335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943100" y="4749800"/>
            <a:ext cx="381000" cy="381000"/>
          </a:xfrm>
          <a:prstGeom prst="ellipse">
            <a:avLst/>
          </a:prstGeom>
          <a:solidFill>
            <a:srgbClr val="F4E8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43100" y="4749800"/>
            <a:ext cx="381000" cy="381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月度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43100" y="5219700"/>
            <a:ext cx="10795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月度节点检查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43100" y="5473700"/>
            <a:ext cx="1104900" cy="508000"/>
          </a:xfrm>
          <a:prstGeom prst="rect">
            <a:avLst/>
          </a:prstGeom>
          <a:noFill/>
        </p:spPr>
        <p:txBody>
          <a:bodyPr wrap="square" anchor="t" lIns="0" tIns="0" rIns="180975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对照里程碑核查交付物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25800" y="4343400"/>
            <a:ext cx="1333500" cy="1943100"/>
          </a:xfrm>
          <a:prstGeom prst="rect">
            <a:avLst/>
          </a:prstGeom>
          <a:solidFill>
            <a:srgbClr val="FAF9F7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25800" y="4343400"/>
            <a:ext cx="13335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52800" y="4495800"/>
            <a:ext cx="381000" cy="381000"/>
          </a:xfrm>
          <a:prstGeom prst="ellipse">
            <a:avLst/>
          </a:prstGeom>
          <a:solidFill>
            <a:srgbClr val="F4E8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52800" y="4495800"/>
            <a:ext cx="381000" cy="381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季度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52800" y="4965700"/>
            <a:ext cx="10795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季度评审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52800" y="5219700"/>
            <a:ext cx="1104900" cy="508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技术方案评审与阶段成果确认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35500" y="4089400"/>
            <a:ext cx="1333500" cy="2197100"/>
          </a:xfrm>
          <a:prstGeom prst="rect">
            <a:avLst/>
          </a:prstGeom>
          <a:solidFill>
            <a:srgbClr val="FAF4F3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35500" y="4089400"/>
            <a:ext cx="1333500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762500" y="4241800"/>
            <a:ext cx="381000" cy="381000"/>
          </a:xfrm>
          <a:prstGeom prst="ellipse">
            <a:avLst/>
          </a:prstGeom>
          <a:solidFill>
            <a:srgbClr val="F4E8E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62500" y="4241800"/>
            <a:ext cx="381000" cy="3810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9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年度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62500" y="4711700"/>
            <a:ext cx="10795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年度总结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62500" y="4965700"/>
            <a:ext cx="1104900" cy="508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目标达成评估与下年度计划调整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23000" y="3695700"/>
            <a:ext cx="55626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时间安排与执行保障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1600" y="3695700"/>
            <a:ext cx="4064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300"/>
              </a:lnSpc>
              <a:buNone/>
            </a:pPr>
            <a:r>
              <a:rPr lang="zh-CN" altLang="en-US" sz="950" b="1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里程碑绑定阶段交付物，按节点考核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23000" y="4013200"/>
            <a:ext cx="1384300" cy="368300"/>
          </a:xfrm>
          <a:prstGeom prst="rect">
            <a:avLst/>
          </a:prstGeom>
          <a:solidFill>
            <a:srgbClr val="D6A7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23000" y="4013200"/>
            <a:ext cx="1384300" cy="368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阶段一</a:t>
            </a:r>
          </a:p>
          <a:p>
            <a:pPr algn="ctr" marL="0" indent="0">
              <a:lnSpc>
                <a:spcPts val="1000"/>
              </a:lnSpc>
              <a:buNone/>
            </a:pPr>
            <a:r>
              <a:rPr lang="zh-CN" altLang="en-US" sz="700" b="0">
                <a:solidFill>
                  <a:srgbClr val="1E1E1E"/>
                </a:solidFill>
                <a:latin typeface="Consolas"/>
                <a:ea typeface="微软雅黑"/>
                <a:cs typeface="Consolas"/>
              </a:rPr>
              <a:t>2027.01—06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7150" y="4457700"/>
            <a:ext cx="1016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M1 · 2027.06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7150" y="4635500"/>
            <a:ext cx="1016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7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架构与接口规范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20000" y="4013200"/>
            <a:ext cx="2073275" cy="368300"/>
          </a:xfrm>
          <a:prstGeom prst="rect">
            <a:avLst/>
          </a:prstGeom>
          <a:solidFill>
            <a:srgbClr val="B75A5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20000" y="4013200"/>
            <a:ext cx="2073275" cy="368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阶段二</a:t>
            </a:r>
          </a:p>
          <a:p>
            <a:pPr algn="ctr" marL="0" indent="0">
              <a:lnSpc>
                <a:spcPts val="1000"/>
              </a:lnSpc>
              <a:buNone/>
            </a:pPr>
            <a:r>
              <a:rPr lang="zh-CN" altLang="en-US" sz="700" b="0">
                <a:solidFill>
                  <a:srgbClr val="FFFFFF"/>
                </a:solidFill>
                <a:latin typeface="Consolas"/>
                <a:ea typeface="微软雅黑"/>
                <a:cs typeface="Consolas"/>
              </a:rPr>
              <a:t>2027.07—2028.03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48638" y="4457700"/>
            <a:ext cx="1016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M2 · 2028.03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48638" y="4635500"/>
            <a:ext cx="1016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7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智能体与引擎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05975" y="4013200"/>
            <a:ext cx="1377950" cy="3683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05975" y="4013200"/>
            <a:ext cx="1377950" cy="368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阶段三</a:t>
            </a:r>
          </a:p>
          <a:p>
            <a:pPr algn="ctr" marL="0" indent="0">
              <a:lnSpc>
                <a:spcPts val="1000"/>
              </a:lnSpc>
              <a:buNone/>
            </a:pPr>
            <a:r>
              <a:rPr lang="zh-CN" altLang="en-US" sz="700" b="0">
                <a:solidFill>
                  <a:srgbClr val="FFFFFF"/>
                </a:solidFill>
                <a:latin typeface="Consolas"/>
                <a:ea typeface="微软雅黑"/>
                <a:cs typeface="Consolas"/>
              </a:rPr>
              <a:t>2028.04—09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86950" y="4457700"/>
            <a:ext cx="1016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M3 · 2028.09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86950" y="4635500"/>
            <a:ext cx="1016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7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数字样机与验证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096625" y="4013200"/>
            <a:ext cx="688975" cy="368300"/>
          </a:xfrm>
          <a:prstGeom prst="rect">
            <a:avLst/>
          </a:prstGeom>
          <a:solidFill>
            <a:srgbClr val="5B131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96625" y="4013200"/>
            <a:ext cx="688975" cy="368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阶段四</a:t>
            </a:r>
          </a:p>
          <a:p>
            <a:pPr algn="ctr" marL="0" indent="0">
              <a:lnSpc>
                <a:spcPts val="1000"/>
              </a:lnSpc>
              <a:buNone/>
            </a:pPr>
            <a:r>
              <a:rPr lang="zh-CN" altLang="en-US" sz="700" b="0">
                <a:solidFill>
                  <a:srgbClr val="FFFFFF"/>
                </a:solidFill>
                <a:latin typeface="Consolas"/>
                <a:ea typeface="微软雅黑"/>
                <a:cs typeface="Consolas"/>
              </a:rPr>
              <a:t>2028.10—12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887219" y="4457700"/>
            <a:ext cx="1016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M4 · 2028.12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87219" y="4635500"/>
            <a:ext cx="1016000" cy="1524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 marL="0" indent="0">
              <a:lnSpc>
                <a:spcPts val="1100"/>
              </a:lnSpc>
              <a:buNone/>
            </a:pPr>
            <a:r>
              <a:rPr lang="zh-CN" altLang="en-US" sz="7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示范应用与验收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223000" y="49149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pic>
        <p:nvPicPr>
          <p:cNvPr id="104" name="Picture 103" descr="shield-check-1E1E1E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4991100"/>
            <a:ext cx="177800" cy="177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477000" y="4965700"/>
            <a:ext cx="1270000" cy="2286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质量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83500" y="4978400"/>
            <a:ext cx="41021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内部评审 ＋ 第三方验证，交付物可核查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223000" y="52832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pic>
        <p:nvPicPr>
          <p:cNvPr id="108" name="Picture 107" descr="alert-triangle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59400"/>
            <a:ext cx="177800" cy="1778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6477000" y="5334000"/>
            <a:ext cx="1270000" cy="2286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风险 → 应对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83500" y="5346700"/>
            <a:ext cx="4102100" cy="63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判据不完备 → 首批聚焦三项性能、持续回流｜实时同步失真 → 分层步长、关键工况全保真校核｜极端工况数据少 → 试验与运用数据标定、第三方验证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223000" y="60325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  <p:pic>
        <p:nvPicPr>
          <p:cNvPr id="112" name="Picture 111" descr="server-1E1E1E-1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0" y="6108700"/>
            <a:ext cx="177800" cy="17780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6477000" y="6083300"/>
            <a:ext cx="1270000" cy="2286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683500" y="6096000"/>
            <a:ext cx="4102100" cy="254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350"/>
              </a:lnSpc>
              <a:buNone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算力平台、HIL 台架、FXN5C 试验与运用数据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223000" y="6362700"/>
            <a:ext cx="5562600" cy="0"/>
          </a:xfrm>
          <a:prstGeom prst="line">
            <a:avLst/>
          </a:prstGeom>
          <a:ln w="6350">
            <a:solidFill>
              <a:srgbClr val="ECE8E3"/>
            </a:solidFill>
            <a:round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团队研究能力：为什么由我们承担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牵头单位：********** · 研发平台 · 仿真能力 · 试验能力 · 数据积累 · 在研项目 · 人才队伍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团队研究能力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19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358900"/>
            <a:ext cx="11379200" cy="609600"/>
          </a:xfrm>
          <a:prstGeom prst="rect">
            <a:avLst/>
          </a:prstGeom>
          <a:solidFill>
            <a:srgbClr val="FAF3F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400" y="1358900"/>
            <a:ext cx="19050" cy="6096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1358900"/>
            <a:ext cx="11049000" cy="6096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600"/>
              </a:lnSpc>
              <a:buNone/>
            </a:pPr>
            <a:r>
              <a:rPr lang="zh-CN" altLang="en-US" sz="10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控制系统与车辆动力学是主营方向；FXN5C 的研制、试验与运用数据在手；有 HIL 台架和现场问题记录——</a:t>
            </a:r>
            <a:r>
              <a:rPr lang="zh-CN" altLang="en-US" sz="10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判据来源、标定数据、验证对象都是现成的</a:t>
            </a:r>
            <a:r>
              <a:rPr lang="zh-CN" altLang="en-US" sz="105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。</a:t>
            </a:r>
            <a:r>
              <a:rPr lang="zh-CN" altLang="en-US" sz="10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【按实际情况调整】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400" y="2159000"/>
            <a:ext cx="3691467" cy="190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" y="2311400"/>
            <a:ext cx="406400" cy="4064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building-factory-2-A61C22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" y="2403475"/>
            <a:ext cx="222250" cy="222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2200" y="2311400"/>
            <a:ext cx="2865967" cy="406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研发平台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2844800"/>
            <a:ext cx="3361267" cy="10668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2844800"/>
            <a:ext cx="3107267" cy="1066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【待填：机车总体设计／控制系统开发等平台】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0267" y="2159000"/>
            <a:ext cx="3691467" cy="190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5367" y="2311400"/>
            <a:ext cx="406400" cy="4064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0" name="Picture 19" descr="device-desktop-analytics-A61C22-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42" y="2403475"/>
            <a:ext cx="222250" cy="222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36067" y="2311400"/>
            <a:ext cx="2865967" cy="406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仿真能力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5367" y="2844800"/>
            <a:ext cx="3361267" cy="10668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2367" y="2844800"/>
            <a:ext cx="3107267" cy="1066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【待填：已有的车辆动力学、牵引电传动、控制等仿真模型与软件】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4133" y="2159000"/>
            <a:ext cx="3691467" cy="190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59233" y="2311400"/>
            <a:ext cx="406400" cy="4064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Picture 25" descr="test-pipe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308" y="2403475"/>
            <a:ext cx="222250" cy="222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79933" y="2311400"/>
            <a:ext cx="2865967" cy="406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试验能力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9233" y="2844800"/>
            <a:ext cx="3361267" cy="10668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6233" y="2844800"/>
            <a:ext cx="3107267" cy="1066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HIL 试验台，结合经验数据模拟运用工况；【待填：其他试验台架】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400" y="4216400"/>
            <a:ext cx="3691467" cy="190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1500" y="4368800"/>
            <a:ext cx="406400" cy="4064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2" name="Picture 31" descr="database-A61C22-1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" y="4460875"/>
            <a:ext cx="222250" cy="222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2200" y="4368800"/>
            <a:ext cx="2865967" cy="406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数据积累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4902200"/>
            <a:ext cx="3361267" cy="10668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500" y="4902200"/>
            <a:ext cx="3107267" cy="1066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【待填：FXN5C 型式试验、线路试验数据与运用记录】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0267" y="4216400"/>
            <a:ext cx="3691467" cy="190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15367" y="4368800"/>
            <a:ext cx="406400" cy="4064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8" name="Picture 37" descr="clipboard-list-A61C22-1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442" y="4460875"/>
            <a:ext cx="222250" cy="2222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36067" y="4368800"/>
            <a:ext cx="2865967" cy="406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在研项目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15367" y="4902200"/>
            <a:ext cx="3361267" cy="10668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2367" y="4902200"/>
            <a:ext cx="3107267" cy="1066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【待填：**级****项目数量与名称】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4133" y="4216400"/>
            <a:ext cx="3691467" cy="190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59233" y="4368800"/>
            <a:ext cx="406400" cy="4064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4" name="Picture 43" descr="users-group-A61C22-1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308" y="4460875"/>
            <a:ext cx="222250" cy="2222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779933" y="4368800"/>
            <a:ext cx="2865967" cy="406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人才队伍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9233" y="4902200"/>
            <a:ext cx="3361267" cy="1066800"/>
          </a:xfrm>
          <a:prstGeom prst="rect">
            <a:avLst/>
          </a:prstGeom>
          <a:solidFill>
            <a:srgbClr val="FBF6EC"/>
          </a:solidFill>
          <a:ln w="7620">
            <a:solidFill>
              <a:srgbClr val="9E6F28"/>
            </a:solidFill>
            <a:prstDash val="dash"/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6233" y="4902200"/>
            <a:ext cx="3107267" cy="10668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875D1C"/>
                </a:solidFill>
                <a:latin typeface="微软雅黑"/>
                <a:ea typeface="微软雅黑"/>
                <a:cs typeface="微软雅黑"/>
              </a:rPr>
              <a:t>【待填：参研人员规模与职称结构】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304800"/>
            <a:ext cx="11379200" cy="5334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3500"/>
              </a:lnSpc>
              <a:buNone/>
            </a:pPr>
            <a:r>
              <a:rPr lang="zh-CN" altLang="en-US" sz="2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成果介绍：五项成果 ＋ 知识产权与标准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400" y="863600"/>
            <a:ext cx="457200" cy="317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6400" y="990600"/>
            <a:ext cx="11379200" cy="2667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3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调度引擎 · 仿真智能体／智能孪生模型 · 列车级数字样机 · 方法体系与技术规范 · 示范应用与验证报告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成果介绍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20 /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358900"/>
            <a:ext cx="3691467" cy="2984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400" y="1358900"/>
            <a:ext cx="3691467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8800" y="1524000"/>
            <a:ext cx="355600" cy="3556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2" name="Picture 11" descr="settings-automation-A61C22-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1606550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6000" y="1498600"/>
            <a:ext cx="1905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成果1</a:t>
            </a:r>
            <a:r>
              <a:rPr lang="zh-CN" altLang="en-US" sz="850" b="0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软件1套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1663700"/>
            <a:ext cx="2421467" cy="393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多智能体协同运行与调度引擎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7467" y="1473200"/>
            <a:ext cx="508000" cy="29718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2350"/>
              </a:lnSpc>
              <a:buNone/>
            </a:pPr>
            <a:r>
              <a:rPr lang="zh-CN" altLang="en-US" sz="1800" b="1">
                <a:solidFill>
                  <a:srgbClr val="E9E4DF"/>
                </a:solidFill>
                <a:latin typeface="Consolas"/>
                <a:ea typeface="微软雅黑"/>
                <a:cs typeface="Consolas"/>
              </a:rPr>
              <a:t>01</a:t>
            </a:r>
          </a:p>
        </p:txBody>
      </p:sp>
      <p:grpSp>
        <p:nvGrpSpPr>
          <p:cNvPr id="16" name="附图位置 · 调度引擎软件"/>
          <p:cNvGrpSpPr/>
          <p:nvPr/>
        </p:nvGrpSpPr>
        <p:grpSpPr>
          <a:xfrm>
            <a:off x="558800" y="2133600"/>
            <a:ext cx="3386667" cy="1016000"/>
            <a:chOff x="558800" y="2133600"/>
            <a:chExt cx="3386667" cy="1016000"/>
          </a:xfrm>
        </p:grpSpPr>
        <p:sp>
          <p:nvSpPr>
            <p:cNvPr id="17" name="Rectangle 16"/>
            <p:cNvSpPr/>
            <p:nvPr/>
          </p:nvSpPr>
          <p:spPr>
            <a:xfrm>
              <a:off x="558800" y="2133600"/>
              <a:ext cx="3386667" cy="1016000"/>
            </a:xfrm>
            <a:prstGeom prst="rect">
              <a:avLst/>
            </a:prstGeom>
            <a:solidFill>
              <a:srgbClr val="FBF6EC"/>
            </a:solidFill>
            <a:ln w="7620">
              <a:solidFill>
                <a:srgbClr val="9E6F28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18" name="Picture 17" descr="photo-9E6F28-1_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5133" y="2298700"/>
              <a:ext cx="254000" cy="2540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660400" y="2603500"/>
              <a:ext cx="3183467" cy="1778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300"/>
                </a:lnSpc>
                <a:buNone/>
              </a:pPr>
              <a:r>
                <a:rPr lang="zh-CN" altLang="en-US" sz="900" b="1">
                  <a:solidFill>
                    <a:srgbClr val="875D1C"/>
                  </a:solidFill>
                  <a:latin typeface="微软雅黑"/>
                  <a:ea typeface="微软雅黑"/>
                  <a:cs typeface="微软雅黑"/>
                </a:rPr>
                <a:t>附图位置 · 调度引擎软件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0400" y="2794000"/>
              <a:ext cx="3183467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875D1C"/>
                  </a:solidFill>
                  <a:latin typeface="微软雅黑"/>
                  <a:ea typeface="微软雅黑"/>
                  <a:cs typeface="微软雅黑"/>
                </a:rPr>
                <a:t>建议：软件界面截图或系统架构图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58800" y="3263900"/>
            <a:ext cx="3386667" cy="1028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5100" indent="-165100">
              <a:lnSpc>
                <a:spcPts val="1350"/>
              </a:lnSpc>
              <a:spcAft>
                <a:spcPts val="4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输入验证需求，自动完成</a:t>
            </a: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分解、装配、调度、监控与报告</a:t>
            </a:r>
          </a:p>
          <a:p>
            <a:pPr algn="l" marL="165100" indent="-165100">
              <a:lnSpc>
                <a:spcPts val="1350"/>
              </a:lnSpc>
              <a:spcAft>
                <a:spcPts val="4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支持异构仿真智能体统一接入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0267" y="1358900"/>
            <a:ext cx="3691467" cy="2984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0267" y="1358900"/>
            <a:ext cx="3691467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02667" y="1524000"/>
            <a:ext cx="355600" cy="3556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5" name="Picture 24" descr="robot-A61C22-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217" y="1606550"/>
            <a:ext cx="19050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59867" y="1498600"/>
            <a:ext cx="1905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成果2</a:t>
            </a:r>
            <a:r>
              <a:rPr lang="zh-CN" altLang="en-US" sz="850" b="0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1套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9867" y="1663700"/>
            <a:ext cx="2421467" cy="393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关键系统仿真智能体／</a:t>
            </a:r>
            <a:br>
              <a:rPr lang="zh-CN" altLang="en-US" sz="1150"/>
            </a:b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智能孪生模型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333" y="1473200"/>
            <a:ext cx="508000" cy="29718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2350"/>
              </a:lnSpc>
              <a:buNone/>
            </a:pPr>
            <a:r>
              <a:rPr lang="zh-CN" altLang="en-US" sz="1800" b="1">
                <a:solidFill>
                  <a:srgbClr val="E9E4DF"/>
                </a:solidFill>
                <a:latin typeface="Consolas"/>
                <a:ea typeface="微软雅黑"/>
                <a:cs typeface="Consolas"/>
              </a:rPr>
              <a:t>02</a:t>
            </a:r>
          </a:p>
        </p:txBody>
      </p:sp>
      <p:grpSp>
        <p:nvGrpSpPr>
          <p:cNvPr id="29" name="附图位置 · 仿真智能体／孪生模型"/>
          <p:cNvGrpSpPr/>
          <p:nvPr/>
        </p:nvGrpSpPr>
        <p:grpSpPr>
          <a:xfrm>
            <a:off x="4402667" y="2133600"/>
            <a:ext cx="3386667" cy="1016000"/>
            <a:chOff x="4402667" y="2133600"/>
            <a:chExt cx="3386667" cy="1016000"/>
          </a:xfrm>
        </p:grpSpPr>
        <p:sp>
          <p:nvSpPr>
            <p:cNvPr id="30" name="Rectangle 29"/>
            <p:cNvSpPr/>
            <p:nvPr/>
          </p:nvSpPr>
          <p:spPr>
            <a:xfrm>
              <a:off x="4402667" y="2133600"/>
              <a:ext cx="3386667" cy="1016000"/>
            </a:xfrm>
            <a:prstGeom prst="rect">
              <a:avLst/>
            </a:prstGeom>
            <a:solidFill>
              <a:srgbClr val="FBF6EC"/>
            </a:solidFill>
            <a:ln w="7620">
              <a:solidFill>
                <a:srgbClr val="9E6F28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1" name="Picture 30" descr="photo-9E6F28-1_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69000" y="2298700"/>
              <a:ext cx="254000" cy="254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4504267" y="2603500"/>
              <a:ext cx="3183467" cy="1778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300"/>
                </a:lnSpc>
                <a:buNone/>
              </a:pPr>
              <a:r>
                <a:rPr lang="zh-CN" altLang="en-US" sz="900" b="1">
                  <a:solidFill>
                    <a:srgbClr val="875D1C"/>
                  </a:solidFill>
                  <a:latin typeface="微软雅黑"/>
                  <a:ea typeface="微软雅黑"/>
                  <a:cs typeface="微软雅黑"/>
                </a:rPr>
                <a:t>附图位置 · 仿真智能体／孪生模型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4267" y="2794000"/>
              <a:ext cx="3183467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875D1C"/>
                  </a:solidFill>
                  <a:latin typeface="微软雅黑"/>
                  <a:ea typeface="微软雅黑"/>
                  <a:cs typeface="微软雅黑"/>
                </a:rPr>
                <a:t>建议：模型结构图或仿真运行界面截图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402667" y="3263900"/>
            <a:ext cx="3386667" cy="1028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165100" indent="-165100">
              <a:lnSpc>
                <a:spcPts val="1350"/>
              </a:lnSpc>
              <a:spcAft>
                <a:spcPts val="4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控制系统、车辆动力学、线路等关键系统</a:t>
            </a:r>
          </a:p>
          <a:p>
            <a:pPr algn="l" marL="165100" indent="-165100">
              <a:lnSpc>
                <a:spcPts val="1350"/>
              </a:lnSpc>
              <a:spcAft>
                <a:spcPts val="4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可按实测数据</a:t>
            </a: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自动标定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，标准接口可扩展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4133" y="1358900"/>
            <a:ext cx="3691467" cy="29845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4133" y="1358900"/>
            <a:ext cx="3691467" cy="190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46533" y="1524000"/>
            <a:ext cx="355600" cy="3556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8" name="Picture 37" descr="train-A61C22-1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083" y="1606550"/>
            <a:ext cx="190500" cy="190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703733" y="1498600"/>
            <a:ext cx="1905000" cy="165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成果3</a:t>
            </a:r>
            <a:r>
              <a:rPr lang="zh-CN" altLang="en-US" sz="850" b="0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lang="zh-CN" altLang="en-US" sz="85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1套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3733" y="1663700"/>
            <a:ext cx="2421467" cy="393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1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列车级数字样机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5200" y="1473200"/>
            <a:ext cx="508000" cy="29718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r" marL="0" indent="0">
              <a:lnSpc>
                <a:spcPts val="2350"/>
              </a:lnSpc>
              <a:buNone/>
            </a:pPr>
            <a:r>
              <a:rPr lang="zh-CN" altLang="en-US" sz="1800" b="1">
                <a:solidFill>
                  <a:srgbClr val="E9E4DF"/>
                </a:solidFill>
                <a:latin typeface="Consolas"/>
                <a:ea typeface="微软雅黑"/>
                <a:cs typeface="Consolas"/>
              </a:rPr>
              <a:t>03</a:t>
            </a:r>
          </a:p>
        </p:txBody>
      </p:sp>
      <p:grpSp>
        <p:nvGrpSpPr>
          <p:cNvPr id="42" name="附图位置 · 列车级数字样机"/>
          <p:cNvGrpSpPr/>
          <p:nvPr/>
        </p:nvGrpSpPr>
        <p:grpSpPr>
          <a:xfrm>
            <a:off x="8246533" y="2133600"/>
            <a:ext cx="3386667" cy="1016000"/>
            <a:chOff x="8246533" y="2133600"/>
            <a:chExt cx="3386667" cy="1016000"/>
          </a:xfrm>
        </p:grpSpPr>
        <p:sp>
          <p:nvSpPr>
            <p:cNvPr id="43" name="Rectangle 42"/>
            <p:cNvSpPr/>
            <p:nvPr/>
          </p:nvSpPr>
          <p:spPr>
            <a:xfrm>
              <a:off x="8246533" y="2133600"/>
              <a:ext cx="3386667" cy="1016000"/>
            </a:xfrm>
            <a:prstGeom prst="rect">
              <a:avLst/>
            </a:prstGeom>
            <a:solidFill>
              <a:srgbClr val="FBF6EC"/>
            </a:solidFill>
            <a:ln w="7620">
              <a:solidFill>
                <a:srgbClr val="9E6F28"/>
              </a:solidFill>
              <a:prstDash val="dash"/>
              <a:round/>
            </a:ln>
          </p:spPr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44" name="Picture 43" descr="photo-9E6F28-1_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2867" y="2298700"/>
              <a:ext cx="254000" cy="25400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8348133" y="2603500"/>
              <a:ext cx="3183467" cy="1778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300"/>
                </a:lnSpc>
                <a:buNone/>
              </a:pPr>
              <a:r>
                <a:rPr lang="zh-CN" altLang="en-US" sz="900" b="1">
                  <a:solidFill>
                    <a:srgbClr val="875D1C"/>
                  </a:solidFill>
                  <a:latin typeface="微软雅黑"/>
                  <a:ea typeface="微软雅黑"/>
                  <a:cs typeface="微软雅黑"/>
                </a:rPr>
                <a:t>附图位置 · 列车级数字样机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48133" y="2794000"/>
              <a:ext cx="3183467" cy="152400"/>
            </a:xfrm>
            <a:prstGeom prst="rect">
              <a:avLst/>
            </a:prstGeom>
            <a:noFill/>
          </p:spPr>
          <p:txBody>
            <a:bodyPr wrap="none" anchor="t" lIns="0" tIns="0" rIns="0" bIns="0">
              <a:noAutofit/>
            </a:bodyPr>
            <a:lstStyle/>
            <a:p>
              <a:pPr algn="ctr" marL="0" indent="0">
                <a:lnSpc>
                  <a:spcPts val="1100"/>
                </a:lnSpc>
                <a:buNone/>
              </a:pPr>
              <a:r>
                <a:rPr lang="zh-CN" altLang="en-US" sz="750" b="0">
                  <a:solidFill>
                    <a:srgbClr val="875D1C"/>
                  </a:solidFill>
                  <a:latin typeface="微软雅黑"/>
                  <a:ea typeface="微软雅黑"/>
                  <a:cs typeface="微软雅黑"/>
                </a:rPr>
                <a:t>建议：数字样机三维模型或运行界面截图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8246533" y="3263900"/>
            <a:ext cx="3386667" cy="1028700"/>
          </a:xfrm>
          <a:prstGeom prst="rect">
            <a:avLst/>
          </a:prstGeom>
          <a:noFill/>
        </p:spPr>
        <p:txBody>
          <a:bodyPr wrap="square" anchor="t" lIns="0" tIns="0" rIns="228600" bIns="0">
            <a:noAutofit/>
          </a:bodyPr>
          <a:lstStyle/>
          <a:p>
            <a:pPr algn="l" marL="165100" indent="-165100">
              <a:lnSpc>
                <a:spcPts val="1350"/>
              </a:lnSpc>
              <a:spcAft>
                <a:spcPts val="4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成果 2 经成果 1 集成，以 </a:t>
            </a:r>
            <a:r>
              <a:rPr lang="zh-CN" altLang="en-US" sz="9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FXN5C</a:t>
            </a: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 为对象的整车级验证环境</a:t>
            </a:r>
          </a:p>
          <a:p>
            <a:pPr algn="l" marL="165100" indent="-165100">
              <a:lnSpc>
                <a:spcPts val="1350"/>
              </a:lnSpc>
              <a:spcAft>
                <a:spcPts val="400"/>
              </a:spcAft>
              <a:buClr>
                <a:srgbClr val="A61C22"/>
              </a:buClr>
              <a:buSzPct val="62000"/>
              <a:buFont typeface="Arial" pitchFamily="34" charset="0"/>
              <a:buChar char="►"/>
            </a:pPr>
            <a:r>
              <a:rPr lang="zh-CN" altLang="en-US" sz="90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用于回归验证与问题复现（智能运维），预留制动、辅助系统接口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400" y="4483100"/>
            <a:ext cx="584200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6400" y="4483100"/>
            <a:ext cx="19050" cy="8763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1500" y="4730750"/>
            <a:ext cx="381000" cy="3810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1" name="Picture 50" descr="file-certificate-A61C22-1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4819650"/>
            <a:ext cx="203200" cy="203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92200" y="4705350"/>
            <a:ext cx="4572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成果4</a:t>
            </a:r>
            <a:r>
              <a:rPr lang="zh-CN" altLang="en-US" sz="10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　列车级数字样机构建方法体系与技术规范　</a:t>
            </a:r>
            <a:r>
              <a:rPr lang="zh-CN" altLang="en-US" sz="10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1套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2200" y="4959350"/>
            <a:ext cx="4572000" cy="203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构建方法、集成流程与接口规范，可在**内推广、后续课题复用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6400" y="5448300"/>
            <a:ext cx="584200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ECE8E3"/>
            </a:solidFill>
            <a:round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6400" y="5448300"/>
            <a:ext cx="19050" cy="8763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1500" y="5695950"/>
            <a:ext cx="381000" cy="381000"/>
          </a:xfrm>
          <a:prstGeom prst="ellipse">
            <a:avLst/>
          </a:prstGeom>
          <a:solidFill>
            <a:srgbClr val="F6F2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7" name="Picture 56" descr="report-analytics-A61C22-1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5784850"/>
            <a:ext cx="203200" cy="2032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92200" y="5670550"/>
            <a:ext cx="4572000" cy="2159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zh-CN" altLang="en-US" sz="105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成果5</a:t>
            </a:r>
            <a:r>
              <a:rPr lang="zh-CN" altLang="en-US" sz="105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　示范应用与验证报告　</a:t>
            </a:r>
            <a:r>
              <a:rPr lang="zh-CN" altLang="en-US" sz="1050" b="1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1份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2200" y="5924550"/>
            <a:ext cx="4572000" cy="203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950" b="0">
                <a:solidFill>
                  <a:srgbClr val="474543"/>
                </a:solidFill>
                <a:latin typeface="微软雅黑"/>
                <a:ea typeface="微软雅黑"/>
                <a:cs typeface="微软雅黑"/>
              </a:rPr>
              <a:t>FXN5C 临哈线典型区段关键性能协同验证与效能评估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457700"/>
            <a:ext cx="53848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550"/>
              </a:lnSpc>
              <a:buNone/>
            </a:pPr>
            <a:r>
              <a:rPr lang="zh-CN" altLang="en-US" sz="1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知识产权与标准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737100"/>
            <a:ext cx="9525" cy="15875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5100" y="4838700"/>
            <a:ext cx="1515533" cy="3683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5100" y="5245100"/>
            <a:ext cx="1515533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发明专利申请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5100" y="5461000"/>
            <a:ext cx="1515533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任务编排调度、保真度与算力调度、实时时序同步、工况自生成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1133" y="4737100"/>
            <a:ext cx="9525" cy="15875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5433" y="4838700"/>
            <a:ext cx="1515533" cy="3683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5433" y="5245100"/>
            <a:ext cx="1515533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核心论文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5433" y="5461000"/>
            <a:ext cx="1515533" cy="800100"/>
          </a:xfrm>
          <a:prstGeom prst="rect">
            <a:avLst/>
          </a:prstGeom>
          <a:noFill/>
        </p:spPr>
        <p:txBody>
          <a:bodyPr wrap="square" anchor="t" lIns="0" tIns="0" rIns="25400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多智能体协同仿真与性能验证方法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41467" y="4737100"/>
            <a:ext cx="9525" cy="1587500"/>
          </a:xfrm>
          <a:prstGeom prst="rect">
            <a:avLst/>
          </a:prstGeom>
          <a:solidFill>
            <a:srgbClr val="ECE8E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55767" y="4838700"/>
            <a:ext cx="1515533" cy="3683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900"/>
              </a:lnSpc>
              <a:buNone/>
            </a:pPr>
            <a:r>
              <a:rPr lang="zh-CN" altLang="en-US" sz="2300" b="1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10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 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55767" y="5245100"/>
            <a:ext cx="1515533" cy="177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ts val="1400"/>
              </a:lnSpc>
              <a:buNone/>
            </a:pPr>
            <a:r>
              <a:rPr lang="zh-CN" altLang="en-US" sz="10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企业标准草案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55767" y="5461000"/>
            <a:ext cx="1515533" cy="800100"/>
          </a:xfrm>
          <a:prstGeom prst="rect">
            <a:avLst/>
          </a:prstGeom>
          <a:noFill/>
        </p:spPr>
        <p:txBody>
          <a:bodyPr wrap="square" anchor="t" lIns="0" tIns="0" rIns="25400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列车级数字样机构建、智能体接口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400" y="2159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838200"/>
            <a:ext cx="50800" cy="19050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812800"/>
            <a:ext cx="8890000" cy="2413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700"/>
              </a:lnSpc>
              <a:buNone/>
            </a:pPr>
            <a:r>
              <a:rPr lang="zh-CN" altLang="en-US" sz="1250" b="1" spc="150">
                <a:solidFill>
                  <a:srgbClr val="A61C22"/>
                </a:solidFill>
                <a:latin typeface="微软雅黑"/>
                <a:ea typeface="微软雅黑"/>
                <a:cs typeface="微软雅黑"/>
              </a:rPr>
              <a:t>****“***”科技重大专项课题申报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663700"/>
            <a:ext cx="11379200" cy="8890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6700"/>
              </a:lnSpc>
              <a:buNone/>
            </a:pPr>
            <a:r>
              <a:rPr lang="zh-CN" altLang="en-US" sz="52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恳请各位专家指导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2743200"/>
            <a:ext cx="571500" cy="44450"/>
          </a:xfrm>
          <a:prstGeom prst="rect">
            <a:avLst/>
          </a:prstGeom>
          <a:solidFill>
            <a:srgbClr val="A61C2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400" y="3022600"/>
            <a:ext cx="11379200" cy="3175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zh-CN" altLang="en-US" sz="170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**********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3416300"/>
            <a:ext cx="11379200" cy="2921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l" marL="0" indent="0">
              <a:lnSpc>
                <a:spcPts val="2000"/>
              </a:lnSpc>
              <a:buNone/>
            </a:pPr>
            <a:r>
              <a:rPr lang="zh-CN" altLang="en-US" sz="1400" b="0">
                <a:solidFill>
                  <a:srgbClr val="6F6B67"/>
                </a:solidFill>
                <a:latin typeface="微软雅黑"/>
                <a:ea typeface="微软雅黑"/>
                <a:cs typeface="微软雅黑"/>
              </a:rPr>
              <a:t>7.3 轨道交通装备性能验证的多智能体协同运行与调度引擎技术研究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5994400"/>
            <a:ext cx="11379200" cy="1905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5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44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4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3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82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41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1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9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59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38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8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97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56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35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94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3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53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2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12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91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70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0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9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88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67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47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26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06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85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648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0236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030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582400" y="6013450"/>
            <a:ext cx="12700" cy="63500"/>
          </a:xfrm>
          <a:prstGeom prst="rect">
            <a:avLst/>
          </a:prstGeom>
          <a:solidFill>
            <a:srgbClr val="C5BFB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1" name="Picture 50" descr="locomotive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5320386"/>
            <a:ext cx="2717800" cy="679450"/>
          </a:xfrm>
          <a:prstGeom prst="rect">
            <a:avLst/>
          </a:prstGeom>
        </p:spPr>
      </p:pic>
      <p:pic>
        <p:nvPicPr>
          <p:cNvPr id="52" name="Picture 51" descr="locomotive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5320386"/>
            <a:ext cx="2717800" cy="679450"/>
          </a:xfrm>
          <a:prstGeom prst="rect">
            <a:avLst/>
          </a:prstGeom>
        </p:spPr>
      </p:pic>
      <p:pic>
        <p:nvPicPr>
          <p:cNvPr id="53" name="Picture 52" descr="locomotive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00" y="5320386"/>
            <a:ext cx="2717800" cy="67945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406400" y="6413500"/>
            <a:ext cx="11379200" cy="6350"/>
          </a:xfrm>
          <a:prstGeom prst="rect">
            <a:avLst/>
          </a:prstGeom>
          <a:solidFill>
            <a:srgbClr val="DCD7D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400" y="6502400"/>
            <a:ext cx="8255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7.3 多智能体协同运行与调度引擎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课题申报汇报</a:t>
            </a:r>
            <a:r>
              <a:rPr lang="zh-CN" altLang="en-US" sz="850" b="1" spc="125">
                <a:solidFill>
                  <a:srgbClr val="DCD7D1"/>
                </a:solidFill>
                <a:latin typeface="微软雅黑"/>
                <a:ea typeface="微软雅黑"/>
                <a:cs typeface="微软雅黑"/>
              </a:rPr>
              <a:t>   |   </a:t>
            </a:r>
            <a:r>
              <a:rPr lang="zh-CN" altLang="en-US" sz="850" b="1" spc="125">
                <a:solidFill>
                  <a:srgbClr val="8A857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5600" y="6502400"/>
            <a:ext cx="2540000" cy="228600"/>
          </a:xfrm>
          <a:prstGeom prst="rect">
            <a:avLst/>
          </a:prstGeom>
          <a:noFill/>
        </p:spPr>
        <p:txBody>
          <a:bodyPr wrap="none" anchor="ctr" lIns="0" tIns="0" rIns="0" bIns="0">
            <a:noAutofit/>
          </a:bodyPr>
          <a:lstStyle/>
          <a:p>
            <a:pPr algn="r" marL="0" indent="0">
              <a:lnSpc>
                <a:spcPts val="1200"/>
              </a:lnSpc>
              <a:buNone/>
            </a:pPr>
            <a:r>
              <a:rPr lang="zh-CN" altLang="en-US" sz="850" b="1">
                <a:solidFill>
                  <a:srgbClr val="8A857F"/>
                </a:solidFill>
                <a:latin typeface="Consolas"/>
                <a:ea typeface="微软雅黑"/>
                <a:cs typeface="Consola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7.3 轨道交通装备性能验证的多智能体协同运行与调度引擎技术研究 · 课题申报汇报</dc:title>
  <dc:subject>课题申报汇报</dc:subject>
  <dc:creator/>
  <cp:keywords>多智能体; 协同运行; 调度引擎; 数字样机; 性能验证</cp:keywords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